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1" r:id="rId4"/>
    <p:sldId id="262" r:id="rId5"/>
    <p:sldId id="265" r:id="rId6"/>
    <p:sldId id="272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63C"/>
    <a:srgbClr val="F0F7FE"/>
    <a:srgbClr val="7D7D7F"/>
    <a:srgbClr val="10833B"/>
    <a:srgbClr val="B1C7E4"/>
    <a:srgbClr val="C8E1FE"/>
    <a:srgbClr val="219F4D"/>
    <a:srgbClr val="EDEDF9"/>
    <a:srgbClr val="DDF4E7"/>
    <a:srgbClr val="F1F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0073" autoAdjust="0"/>
  </p:normalViewPr>
  <p:slideViewPr>
    <p:cSldViewPr snapToGrid="0">
      <p:cViewPr varScale="1">
        <p:scale>
          <a:sx n="71" d="100"/>
          <a:sy n="71" d="100"/>
        </p:scale>
        <p:origin x="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 b="1" dirty="0"/>
              <a:t>Avance acumulado del proyecto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Planificado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2.5533109994658288E-2"/>
                  <c:y val="-4.63812380447512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7A8-41F3-891E-10CA2F7C178C}"/>
                </c:ext>
              </c:extLst>
            </c:dLbl>
            <c:dLbl>
              <c:idx val="1"/>
              <c:layout>
                <c:manualLayout>
                  <c:x val="-3.9281707684089721E-2"/>
                  <c:y val="-7.49235383799829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7A8-41F3-891E-10CA2F7C178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7A8-41F3-891E-10CA2F7C178C}"/>
                </c:ext>
              </c:extLst>
            </c:dLbl>
            <c:dLbl>
              <c:idx val="3"/>
              <c:layout>
                <c:manualLayout>
                  <c:x val="-3.9281707684089701E-2"/>
                  <c:y val="-4.994902558665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7A8-41F3-891E-10CA2F7C178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7A8-41F3-891E-10CA2F7C178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7A8-41F3-891E-10CA2F7C178C}"/>
                </c:ext>
              </c:extLst>
            </c:dLbl>
            <c:dLbl>
              <c:idx val="6"/>
              <c:layout>
                <c:manualLayout>
                  <c:x val="-3.9281707684089777E-2"/>
                  <c:y val="-5.35168131285591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7A8-41F3-891E-10CA2F7C178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7A8-41F3-891E-10CA2F7C178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7A8-41F3-891E-10CA2F7C178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A8-41F3-891E-10CA2F7C178C}"/>
                </c:ext>
              </c:extLst>
            </c:dLbl>
            <c:dLbl>
              <c:idx val="10"/>
              <c:layout>
                <c:manualLayout>
                  <c:x val="-3.9281707684089777E-2"/>
                  <c:y val="-6.4220175754271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7A8-41F3-891E-10CA2F7C178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7A8-41F3-891E-10CA2F7C178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A8-41F3-891E-10CA2F7C178C}"/>
                </c:ext>
              </c:extLst>
            </c:dLbl>
            <c:dLbl>
              <c:idx val="13"/>
              <c:layout>
                <c:manualLayout>
                  <c:x val="-2.5533109994658305E-2"/>
                  <c:y val="4.63812380447512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7A8-41F3-891E-10CA2F7C178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7A8-41F3-891E-10CA2F7C178C}"/>
                </c:ext>
              </c:extLst>
            </c:dLbl>
            <c:dLbl>
              <c:idx val="15"/>
              <c:layout>
                <c:manualLayout>
                  <c:x val="-1.571268307363588E-2"/>
                  <c:y val="5.70846006704631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7A8-41F3-891E-10CA2F7C17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Hoja1!$A$2:$A$17</c:f>
              <c:strCache>
                <c:ptCount val="16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</c:strCache>
            </c:strRef>
          </c:cat>
          <c:val>
            <c:numRef>
              <c:f>Hoja1!$B$2:$B$17</c:f>
              <c:numCache>
                <c:formatCode>0%</c:formatCode>
                <c:ptCount val="16"/>
                <c:pt idx="0">
                  <c:v>0.05</c:v>
                </c:pt>
                <c:pt idx="1">
                  <c:v>0.12</c:v>
                </c:pt>
                <c:pt idx="2">
                  <c:v>0.18</c:v>
                </c:pt>
                <c:pt idx="3">
                  <c:v>0.25</c:v>
                </c:pt>
                <c:pt idx="4">
                  <c:v>0.3</c:v>
                </c:pt>
                <c:pt idx="5">
                  <c:v>0.35</c:v>
                </c:pt>
                <c:pt idx="6">
                  <c:v>0.4</c:v>
                </c:pt>
                <c:pt idx="7">
                  <c:v>0.45</c:v>
                </c:pt>
                <c:pt idx="8">
                  <c:v>0.5</c:v>
                </c:pt>
                <c:pt idx="9">
                  <c:v>0.55000000000000004</c:v>
                </c:pt>
                <c:pt idx="10">
                  <c:v>0.6</c:v>
                </c:pt>
                <c:pt idx="11">
                  <c:v>0.7</c:v>
                </c:pt>
                <c:pt idx="12">
                  <c:v>0.75</c:v>
                </c:pt>
                <c:pt idx="13">
                  <c:v>0.8</c:v>
                </c:pt>
                <c:pt idx="14">
                  <c:v>0.9</c:v>
                </c:pt>
                <c:pt idx="1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75-4B63-A7E7-D87B76CDC16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Real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Hoja1!$A$2:$A$17</c:f>
              <c:strCache>
                <c:ptCount val="16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</c:strCache>
            </c:strRef>
          </c:cat>
          <c:val>
            <c:numRef>
              <c:f>Hoja1!$C$2:$C$17</c:f>
              <c:numCache>
                <c:formatCode>0%</c:formatCode>
                <c:ptCount val="16"/>
                <c:pt idx="0">
                  <c:v>0.05</c:v>
                </c:pt>
                <c:pt idx="1">
                  <c:v>0.12</c:v>
                </c:pt>
                <c:pt idx="2">
                  <c:v>0.18</c:v>
                </c:pt>
                <c:pt idx="3">
                  <c:v>0.25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75-4B63-A7E7-D87B76CDC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6266416"/>
        <c:axId val="1009051920"/>
      </c:lineChart>
      <c:catAx>
        <c:axId val="117626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009051920"/>
        <c:crosses val="autoZero"/>
        <c:auto val="1"/>
        <c:lblAlgn val="ctr"/>
        <c:lblOffset val="100"/>
        <c:noMultiLvlLbl val="0"/>
      </c:catAx>
      <c:valAx>
        <c:axId val="1009051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176266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A2173-2289-4A9F-BC36-5B710C4D3E06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8742B-81F4-4D0A-B0F7-579C5140FE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33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838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7698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7103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8995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7840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1014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C14CF-4D2C-E1D2-90A3-1C39B489F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A0FE20-2136-425C-7DF5-40DD88F6A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D4055-E52D-3EC6-CDF6-E9057AB8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B9B075-E7D7-204D-087E-F7C29D8B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7017A-2F18-3DDB-BEC6-66AD9104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411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091CF-97DA-A986-3DF0-91B64CAC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E571B1-5C49-AA57-F049-E62DD9B0B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07D312-27EE-813D-4346-581CAA1D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EF2409-F63C-6E27-BABF-E5BD9829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82A669-54A3-D001-B727-BD0B1885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60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C80F6-11EB-7EFD-4112-64F55FDD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CC2DB3-F2A4-D72C-44C9-7F965CF55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040F1-5C67-E08E-9238-81BAF815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6C4A5-281D-4197-AF67-8A7812B6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3B88F4-E1B3-D8F1-E87B-E4CC7F46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57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FA7B5-8128-A3D3-18FC-DF051AC3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F0BF64-F055-74BE-0C14-4060D8E07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D5D10E-6893-7A59-4A30-16284F100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431D57-20D7-8149-B228-4F7164ED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85FD30-642E-810B-B8AA-C2B47C17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884C1F-B4DC-1955-F18F-F89B6A75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4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40E98-9801-1E33-1DCC-2E944FF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DB9EA6-F885-F2BB-BB51-9DD05A7A4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3409D0-FDB0-6DCA-1C03-C43BCE784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82A3CC-6CB5-16B9-F714-B0AFFDA2A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C16B0-ACE4-836E-D3BA-4CFF38438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4B3149-7F77-69C0-B3C5-2915C5B0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C1AAB5-5B3A-E126-7B3C-0196D87E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1369EB-634B-CB53-3A8C-5885CE7D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85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2CC79-7E20-3ACB-76BC-D1FE035F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E0A2F5-5561-2122-97EA-F3D6AD26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CDE3D8-BAE8-FE63-FA43-2D4FBD47C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4D7D6B-ED4F-2673-6F6F-C721731F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293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B66A1F-3EAB-6BA4-9F2F-332FEBA9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3118C8-F115-F7A1-8DF4-6EF18297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2FB715-D69E-7DBB-44EA-9906FC26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950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7E6EF-151F-9665-2CBD-86F79EA8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8544A0-BF6B-C783-1638-BA7CBC3A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CF4C5-4B87-C46A-DEB8-E4132D421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E2849C-4C5C-2847-940E-3E9C3E44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3FFAE8-AE09-B11D-9898-D7E24E21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0C027B-4A6B-2D04-D68C-04BEAEEB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589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37BAE-759F-2159-F3D9-B77EB88A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370057-FA56-FE74-1945-EADD0F351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59A018-DB57-06E8-BFDA-AC5439300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36FE7A-CFFB-B8D1-ED04-A72C3853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A38814-3758-63A4-576C-212A0F03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E4830-033E-5DDA-47BD-652D92FA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511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F649A-B42E-A2B3-1218-DBE027ED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AD4F82-FD1B-63A9-58E9-A76C6E099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A303CD-DEC6-D8B7-1E7F-FDFF2C0A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C5CFC4-FCB7-A353-81A9-94AB5066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AFDB8E-6F67-E72E-0AD6-0D017C28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987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965078-E1F3-3C29-5240-0FC9C15A2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10F72C-D2A4-4C18-4908-7A90AF444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2F814A-7D38-0407-F2CE-884BBCFC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C76F-A6B4-4829-D619-1FFF30D8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27323D-59F4-429D-7C69-037FC0A4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27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A655BC-98A0-4920-A673-55763995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1D65A0-693E-5D1D-820C-1E5A56FE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4A6CD9-F47A-4547-885F-516BA1984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674D7-8D83-4C70-BCF0-236F4D4FBFF9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0D01E-2D7D-6E92-FACA-A96C2E4D0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B3FD35-9A87-F2FA-DDFB-891776E73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151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12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0.png"/><Relationship Id="rId5" Type="http://schemas.openxmlformats.org/officeDocument/2006/relationships/chart" Target="../charts/chart1.xml"/><Relationship Id="rId10" Type="http://schemas.openxmlformats.org/officeDocument/2006/relationships/image" Target="../media/image15.sv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19.svg"/><Relationship Id="rId5" Type="http://schemas.openxmlformats.org/officeDocument/2006/relationships/image" Target="../media/image10.png"/><Relationship Id="rId10" Type="http://schemas.openxmlformats.org/officeDocument/2006/relationships/image" Target="../media/image18.svg"/><Relationship Id="rId4" Type="http://schemas.openxmlformats.org/officeDocument/2006/relationships/image" Target="../media/image7.png"/><Relationship Id="rId9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186E-EDF9-BB6C-ACC9-4071D7A2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A07EAB-BD97-1533-B899-B4E175221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7" name="Hexágono 16">
            <a:extLst>
              <a:ext uri="{FF2B5EF4-FFF2-40B4-BE49-F238E27FC236}">
                <a16:creationId xmlns:a16="http://schemas.microsoft.com/office/drawing/2014/main" id="{CECE04F8-0312-C3A1-3899-CF3D87AD7BA9}"/>
              </a:ext>
            </a:extLst>
          </p:cNvPr>
          <p:cNvSpPr/>
          <p:nvPr/>
        </p:nvSpPr>
        <p:spPr>
          <a:xfrm rot="5400000">
            <a:off x="7137592" y="520044"/>
            <a:ext cx="970161" cy="834189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Hexágono 18">
            <a:extLst>
              <a:ext uri="{FF2B5EF4-FFF2-40B4-BE49-F238E27FC236}">
                <a16:creationId xmlns:a16="http://schemas.microsoft.com/office/drawing/2014/main" id="{946E67EE-5AB2-C0D8-9597-CB1F51EED898}"/>
              </a:ext>
            </a:extLst>
          </p:cNvPr>
          <p:cNvSpPr>
            <a:spLocks noChangeAspect="1"/>
          </p:cNvSpPr>
          <p:nvPr/>
        </p:nvSpPr>
        <p:spPr>
          <a:xfrm rot="5400000">
            <a:off x="5743717" y="3695219"/>
            <a:ext cx="879227" cy="756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Hexágono 20">
            <a:extLst>
              <a:ext uri="{FF2B5EF4-FFF2-40B4-BE49-F238E27FC236}">
                <a16:creationId xmlns:a16="http://schemas.microsoft.com/office/drawing/2014/main" id="{9B4BD62D-A88E-5CDF-6774-A38F07B2BBE5}"/>
              </a:ext>
            </a:extLst>
          </p:cNvPr>
          <p:cNvSpPr>
            <a:spLocks noChangeAspect="1"/>
          </p:cNvSpPr>
          <p:nvPr/>
        </p:nvSpPr>
        <p:spPr>
          <a:xfrm rot="5400000">
            <a:off x="10466889" y="5186017"/>
            <a:ext cx="921095" cy="792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Hexágono 22">
            <a:extLst>
              <a:ext uri="{FF2B5EF4-FFF2-40B4-BE49-F238E27FC236}">
                <a16:creationId xmlns:a16="http://schemas.microsoft.com/office/drawing/2014/main" id="{E9FC54E3-8950-1E23-FDB0-3BD795FEC542}"/>
              </a:ext>
            </a:extLst>
          </p:cNvPr>
          <p:cNvSpPr>
            <a:spLocks noChangeAspect="1"/>
          </p:cNvSpPr>
          <p:nvPr/>
        </p:nvSpPr>
        <p:spPr>
          <a:xfrm rot="5400000">
            <a:off x="11267692" y="3731219"/>
            <a:ext cx="795491" cy="684000"/>
          </a:xfrm>
          <a:prstGeom prst="hexagon">
            <a:avLst>
              <a:gd name="adj" fmla="val 28526"/>
              <a:gd name="vf" fmla="val 115470"/>
            </a:avLst>
          </a:prstGeom>
          <a:noFill/>
          <a:ln w="25400">
            <a:solidFill>
              <a:srgbClr val="04E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5" name="Gráfico 24" descr="Database con relleno sólido">
            <a:extLst>
              <a:ext uri="{FF2B5EF4-FFF2-40B4-BE49-F238E27FC236}">
                <a16:creationId xmlns:a16="http://schemas.microsoft.com/office/drawing/2014/main" id="{8C38799A-DAD2-55FE-F3E2-2DD276857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3330" y="3692752"/>
            <a:ext cx="720000" cy="720000"/>
          </a:xfrm>
          <a:prstGeom prst="rect">
            <a:avLst/>
          </a:prstGeom>
        </p:spPr>
      </p:pic>
      <p:pic>
        <p:nvPicPr>
          <p:cNvPr id="27" name="Gráfico 26" descr="Smart Phone con relleno sólido">
            <a:extLst>
              <a:ext uri="{FF2B5EF4-FFF2-40B4-BE49-F238E27FC236}">
                <a16:creationId xmlns:a16="http://schemas.microsoft.com/office/drawing/2014/main" id="{E0A68A4C-1EB3-DBFE-FC13-35610EEE1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1544" y="5293489"/>
            <a:ext cx="663616" cy="621146"/>
          </a:xfrm>
          <a:prstGeom prst="rect">
            <a:avLst/>
          </a:prstGeom>
        </p:spPr>
      </p:pic>
      <p:pic>
        <p:nvPicPr>
          <p:cNvPr id="29" name="Gráfico 28" descr="Lock con relleno sólido">
            <a:extLst>
              <a:ext uri="{FF2B5EF4-FFF2-40B4-BE49-F238E27FC236}">
                <a16:creationId xmlns:a16="http://schemas.microsoft.com/office/drawing/2014/main" id="{F2091388-D6B4-130B-F7C6-4F80790CDF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4076" y="3810425"/>
            <a:ext cx="547841" cy="525587"/>
          </a:xfrm>
          <a:prstGeom prst="rect">
            <a:avLst/>
          </a:prstGeom>
        </p:spPr>
      </p:pic>
      <p:pic>
        <p:nvPicPr>
          <p:cNvPr id="31" name="Gráfico 30" descr="Upload con relleno sólido">
            <a:extLst>
              <a:ext uri="{FF2B5EF4-FFF2-40B4-BE49-F238E27FC236}">
                <a16:creationId xmlns:a16="http://schemas.microsoft.com/office/drawing/2014/main" id="{7E2CA7E8-2609-6A3E-5FA2-637FC8E14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584" y="598051"/>
            <a:ext cx="642177" cy="637363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C52E30-DCD1-3D85-F924-E031F37B8894}"/>
              </a:ext>
            </a:extLst>
          </p:cNvPr>
          <p:cNvSpPr txBox="1"/>
          <p:nvPr/>
        </p:nvSpPr>
        <p:spPr>
          <a:xfrm>
            <a:off x="544945" y="365409"/>
            <a:ext cx="5278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>
                <a:solidFill>
                  <a:srgbClr val="0070C0"/>
                </a:solidFill>
                <a:latin typeface="Abadi" panose="020B0604020104020204" pitchFamily="34" charset="0"/>
              </a:rPr>
              <a:t>CAPSTONE · INGENIERÍA EN INFORMÁTICA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FCEC520-DE40-FBD2-074B-4EC2D0F6CCD0}"/>
              </a:ext>
            </a:extLst>
          </p:cNvPr>
          <p:cNvSpPr txBox="1"/>
          <p:nvPr/>
        </p:nvSpPr>
        <p:spPr>
          <a:xfrm>
            <a:off x="544945" y="678869"/>
            <a:ext cx="7398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latin typeface="Arial Narrow" panose="020B0606020202030204" pitchFamily="34" charset="0"/>
              </a:rPr>
              <a:t>CASO · DIRECCIÓN GENERAL DE CONCESIONES DE OBRAS PUBLICAS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5B2825C-83A2-B244-2B34-90018D619E51}"/>
              </a:ext>
            </a:extLst>
          </p:cNvPr>
          <p:cNvSpPr txBox="1"/>
          <p:nvPr/>
        </p:nvSpPr>
        <p:spPr>
          <a:xfrm>
            <a:off x="544945" y="846337"/>
            <a:ext cx="26456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600" b="1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GATI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C316CE1-284C-5B4B-4AE0-DF83F3074ED0}"/>
              </a:ext>
            </a:extLst>
          </p:cNvPr>
          <p:cNvSpPr txBox="1"/>
          <p:nvPr/>
        </p:nvSpPr>
        <p:spPr>
          <a:xfrm>
            <a:off x="560862" y="3347253"/>
            <a:ext cx="4126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>
                <a:latin typeface="Arial Narrow" panose="020B0606020202030204" pitchFamily="34" charset="0"/>
              </a:rPr>
              <a:t>Trazabilidad verificable durante todo el </a:t>
            </a:r>
          </a:p>
          <a:p>
            <a:r>
              <a:rPr lang="es-CL" sz="2000" b="1" dirty="0">
                <a:latin typeface="Arial Narrow" panose="020B0606020202030204" pitchFamily="34" charset="0"/>
              </a:rPr>
              <a:t>ciclo de vida del activo.</a:t>
            </a:r>
          </a:p>
        </p:txBody>
      </p:sp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055562E0-26CE-36CE-92B7-86AF74334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558112"/>
              </p:ext>
            </p:extLst>
          </p:nvPr>
        </p:nvGraphicFramePr>
        <p:xfrm>
          <a:off x="561670" y="4188030"/>
          <a:ext cx="5085881" cy="2072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5773">
                  <a:extLst>
                    <a:ext uri="{9D8B030D-6E8A-4147-A177-3AD203B41FA5}">
                      <a16:colId xmlns:a16="http://schemas.microsoft.com/office/drawing/2014/main" val="1343934128"/>
                    </a:ext>
                  </a:extLst>
                </a:gridCol>
                <a:gridCol w="212691">
                  <a:extLst>
                    <a:ext uri="{9D8B030D-6E8A-4147-A177-3AD203B41FA5}">
                      <a16:colId xmlns:a16="http://schemas.microsoft.com/office/drawing/2014/main" val="847530165"/>
                    </a:ext>
                  </a:extLst>
                </a:gridCol>
                <a:gridCol w="3777417">
                  <a:extLst>
                    <a:ext uri="{9D8B030D-6E8A-4147-A177-3AD203B41FA5}">
                      <a16:colId xmlns:a16="http://schemas.microsoft.com/office/drawing/2014/main" val="166017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Asignatura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CAPSTONE_011V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91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Profesor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Fernando Herrera Francesconi.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24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Fecha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04 de Septiembre de 2026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7896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Integrantes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Carlos Araya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Eduardo Compan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Alejandro Gysling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Ruben Mansilla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4482321"/>
                  </a:ext>
                </a:extLst>
              </a:tr>
            </a:tbl>
          </a:graphicData>
        </a:graphic>
      </p:graphicFrame>
      <p:sp>
        <p:nvSpPr>
          <p:cNvPr id="39" name="CuadroTexto 38">
            <a:extLst>
              <a:ext uri="{FF2B5EF4-FFF2-40B4-BE49-F238E27FC236}">
                <a16:creationId xmlns:a16="http://schemas.microsoft.com/office/drawing/2014/main" id="{3A694859-DAC1-5ED2-2B2B-EFE65E726D72}"/>
              </a:ext>
            </a:extLst>
          </p:cNvPr>
          <p:cNvSpPr txBox="1"/>
          <p:nvPr/>
        </p:nvSpPr>
        <p:spPr>
          <a:xfrm>
            <a:off x="1016000" y="6399349"/>
            <a:ext cx="1665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Avance semanal</a:t>
            </a:r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E5DAAFFC-A10B-6F72-B497-ACA7A4543531}"/>
              </a:ext>
            </a:extLst>
          </p:cNvPr>
          <p:cNvSpPr>
            <a:spLocks noChangeAspect="1"/>
          </p:cNvSpPr>
          <p:nvPr/>
        </p:nvSpPr>
        <p:spPr>
          <a:xfrm>
            <a:off x="631172" y="6357382"/>
            <a:ext cx="360000" cy="360000"/>
          </a:xfrm>
          <a:prstGeom prst="flowChartConnector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2" name="Gráfico 41" descr="Daily calendar con relleno sólido">
            <a:extLst>
              <a:ext uri="{FF2B5EF4-FFF2-40B4-BE49-F238E27FC236}">
                <a16:creationId xmlns:a16="http://schemas.microsoft.com/office/drawing/2014/main" id="{A4B293F2-40EF-EB23-3F92-0B8FCD070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155" y="6378365"/>
            <a:ext cx="318033" cy="318033"/>
          </a:xfrm>
          <a:prstGeom prst="rect">
            <a:avLst/>
          </a:prstGeom>
        </p:spPr>
      </p:pic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BB6889B5-1DFF-5E8B-FBC1-8966FB0EA6E3}"/>
              </a:ext>
            </a:extLst>
          </p:cNvPr>
          <p:cNvSpPr/>
          <p:nvPr/>
        </p:nvSpPr>
        <p:spPr>
          <a:xfrm>
            <a:off x="278101" y="319852"/>
            <a:ext cx="85521" cy="633682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7ED6EEAE-D0B3-09A2-94C0-D4F85FCE2A74}"/>
              </a:ext>
            </a:extLst>
          </p:cNvPr>
          <p:cNvCxnSpPr/>
          <p:nvPr/>
        </p:nvCxnSpPr>
        <p:spPr>
          <a:xfrm>
            <a:off x="652155" y="6273244"/>
            <a:ext cx="3661363" cy="0"/>
          </a:xfrm>
          <a:prstGeom prst="line">
            <a:avLst/>
          </a:prstGeom>
          <a:ln>
            <a:solidFill>
              <a:srgbClr val="04E1F6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70D211E7-AD85-DB61-AE05-3E5D6BB53B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ECF18B8-FF40-2A9E-C960-400773E12BDE}"/>
              </a:ext>
            </a:extLst>
          </p:cNvPr>
          <p:cNvSpPr/>
          <p:nvPr/>
        </p:nvSpPr>
        <p:spPr>
          <a:xfrm>
            <a:off x="4884233" y="2381865"/>
            <a:ext cx="1584683" cy="914400"/>
          </a:xfrm>
          <a:prstGeom prst="roundRect">
            <a:avLst/>
          </a:prstGeom>
          <a:solidFill>
            <a:srgbClr val="F6F6F8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26A05BF-95A7-42F9-FD31-5ACE41F05391}"/>
              </a:ext>
            </a:extLst>
          </p:cNvPr>
          <p:cNvSpPr txBox="1"/>
          <p:nvPr/>
        </p:nvSpPr>
        <p:spPr>
          <a:xfrm>
            <a:off x="561670" y="2073008"/>
            <a:ext cx="60758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latin typeface="Abadi" panose="020B0604020104020204" pitchFamily="34" charset="0"/>
              </a:rPr>
              <a:t>Gestión de Activos</a:t>
            </a:r>
            <a:br>
              <a:rPr lang="es-CL" sz="3600" b="1" dirty="0">
                <a:latin typeface="Abadi" panose="020B0604020104020204" pitchFamily="34" charset="0"/>
              </a:rPr>
            </a:br>
            <a:r>
              <a:rPr lang="es-CL" sz="3600" b="1" dirty="0">
                <a:latin typeface="Abadi" panose="020B0604020104020204" pitchFamily="34" charset="0"/>
              </a:rPr>
              <a:t>Tecnológicos e Informáticos 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D12DB09-85CB-C3AD-FA7C-3813BDED7D73}"/>
              </a:ext>
            </a:extLst>
          </p:cNvPr>
          <p:cNvCxnSpPr/>
          <p:nvPr/>
        </p:nvCxnSpPr>
        <p:spPr>
          <a:xfrm>
            <a:off x="2704269" y="6473317"/>
            <a:ext cx="0" cy="224758"/>
          </a:xfrm>
          <a:prstGeom prst="line">
            <a:avLst/>
          </a:prstGeom>
          <a:ln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78AEDCD7-9599-15C2-9E89-322243AB70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459" y="6381052"/>
            <a:ext cx="1436666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3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AA8AF8A-E586-1613-71EA-452802691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81371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9D885997-485F-A77A-65B2-688BAE0DB3FE}"/>
              </a:ext>
            </a:extLst>
          </p:cNvPr>
          <p:cNvSpPr/>
          <p:nvPr/>
        </p:nvSpPr>
        <p:spPr>
          <a:xfrm>
            <a:off x="447389" y="4690686"/>
            <a:ext cx="4782363" cy="1033246"/>
          </a:xfrm>
          <a:prstGeom prst="rect">
            <a:avLst/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AEACC36-4BA3-D0B9-5C0F-5460DBE8FFF9}"/>
              </a:ext>
            </a:extLst>
          </p:cNvPr>
          <p:cNvSpPr txBox="1"/>
          <p:nvPr/>
        </p:nvSpPr>
        <p:spPr>
          <a:xfrm>
            <a:off x="356398" y="526820"/>
            <a:ext cx="91529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b="1" dirty="0">
                <a:solidFill>
                  <a:srgbClr val="002060"/>
                </a:solidFill>
                <a:latin typeface="Abadi" panose="020B0604020104020204" pitchFamily="34" charset="0"/>
              </a:rPr>
              <a:t>GATI nace de una necesidad real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A771AD5-ACDB-608D-BD39-AF36FA5B9C5E}"/>
              </a:ext>
            </a:extLst>
          </p:cNvPr>
          <p:cNvCxnSpPr>
            <a:cxnSpLocks/>
          </p:cNvCxnSpPr>
          <p:nvPr/>
        </p:nvCxnSpPr>
        <p:spPr>
          <a:xfrm>
            <a:off x="555646" y="1218838"/>
            <a:ext cx="3666881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9BFC0C5-21C2-952F-7EFD-2EDFB9D01B82}"/>
              </a:ext>
            </a:extLst>
          </p:cNvPr>
          <p:cNvSpPr txBox="1"/>
          <p:nvPr/>
        </p:nvSpPr>
        <p:spPr>
          <a:xfrm>
            <a:off x="481264" y="1858817"/>
            <a:ext cx="2620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269DDE"/>
                </a:solidFill>
                <a:latin typeface="Abadi" panose="020B0604020104020204" pitchFamily="34" charset="0"/>
              </a:rPr>
              <a:t>ORGANIZACIÓN BENEFICIARIA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7497BF2-3793-931F-0243-25C93D7D4CD1}"/>
              </a:ext>
            </a:extLst>
          </p:cNvPr>
          <p:cNvSpPr txBox="1"/>
          <p:nvPr/>
        </p:nvSpPr>
        <p:spPr>
          <a:xfrm>
            <a:off x="501329" y="2107233"/>
            <a:ext cx="5039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002060"/>
                </a:solidFill>
                <a:latin typeface="Abadi" panose="020B0604020104020204" pitchFamily="34" charset="0"/>
              </a:rPr>
              <a:t>Dirección</a:t>
            </a:r>
            <a:r>
              <a:rPr lang="es-CL" sz="1600" b="1" dirty="0">
                <a:solidFill>
                  <a:srgbClr val="002060"/>
                </a:solidFill>
                <a:latin typeface="Abadi" panose="020B0604020104020204" pitchFamily="34" charset="0"/>
              </a:rPr>
              <a:t> General de Concesiones de Obras Publicas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13C726-87FB-B1D6-9530-90DCFED66471}"/>
              </a:ext>
            </a:extLst>
          </p:cNvPr>
          <p:cNvSpPr txBox="1"/>
          <p:nvPr/>
        </p:nvSpPr>
        <p:spPr>
          <a:xfrm>
            <a:off x="492416" y="2415010"/>
            <a:ext cx="469231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500" dirty="0">
                <a:latin typeface="Arial Narrow" panose="020B0606020202030204" pitchFamily="34" charset="0"/>
              </a:rPr>
              <a:t>Servicio del Ministerio de Obras Públicas encargado de proveer </a:t>
            </a:r>
          </a:p>
          <a:p>
            <a:r>
              <a:rPr lang="es-MX" sz="1500" dirty="0">
                <a:latin typeface="Arial Narrow" panose="020B0606020202030204" pitchFamily="34" charset="0"/>
              </a:rPr>
              <a:t>y gestionar infraestructura pública mediante el sistema de</a:t>
            </a:r>
          </a:p>
          <a:p>
            <a:r>
              <a:rPr lang="es-MX" sz="1500" dirty="0">
                <a:latin typeface="Arial Narrow" panose="020B0606020202030204" pitchFamily="34" charset="0"/>
              </a:rPr>
              <a:t>concesiones y asociaciones público-privadas.</a:t>
            </a:r>
            <a:endParaRPr lang="es-CL" sz="1500" dirty="0">
              <a:latin typeface="Arial Narrow" panose="020B0606020202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B0CC816-4835-A730-20D3-160266075366}"/>
              </a:ext>
            </a:extLst>
          </p:cNvPr>
          <p:cNvSpPr txBox="1"/>
          <p:nvPr/>
        </p:nvSpPr>
        <p:spPr>
          <a:xfrm>
            <a:off x="501329" y="3417912"/>
            <a:ext cx="389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>
                <a:solidFill>
                  <a:srgbClr val="269DDE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dirty="0"/>
              <a:t>ÁREA QUE PRESENTA LA NECESIDAD</a:t>
            </a:r>
            <a:endParaRPr lang="es-CL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9136FD2-EE7E-D6BB-F5C4-8B45A0A2917D}"/>
              </a:ext>
            </a:extLst>
          </p:cNvPr>
          <p:cNvSpPr txBox="1"/>
          <p:nvPr/>
        </p:nvSpPr>
        <p:spPr>
          <a:xfrm>
            <a:off x="512300" y="3687599"/>
            <a:ext cx="17924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CL" dirty="0"/>
              <a:t>Soporte Informático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37044B9-84C8-E510-E911-FC2C561C9CB1}"/>
              </a:ext>
            </a:extLst>
          </p:cNvPr>
          <p:cNvSpPr txBox="1"/>
          <p:nvPr/>
        </p:nvSpPr>
        <p:spPr>
          <a:xfrm>
            <a:off x="512300" y="3943761"/>
            <a:ext cx="40943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500">
                <a:latin typeface="Arial Narrow" panose="020B0606020202030204" pitchFamily="34" charset="0"/>
              </a:defRPr>
            </a:lvl1pPr>
          </a:lstStyle>
          <a:p>
            <a:r>
              <a:rPr lang="es-MX" dirty="0"/>
              <a:t>Responsable de administrar el inventario de hardware y</a:t>
            </a:r>
          </a:p>
          <a:p>
            <a:r>
              <a:rPr lang="es-MX" dirty="0"/>
              <a:t>licencias asignados a los funcionarios.</a:t>
            </a:r>
            <a:endParaRPr lang="es-CL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C7E019-5633-1239-8916-C0321D93DDDB}"/>
              </a:ext>
            </a:extLst>
          </p:cNvPr>
          <p:cNvSpPr txBox="1"/>
          <p:nvPr/>
        </p:nvSpPr>
        <p:spPr>
          <a:xfrm>
            <a:off x="512300" y="4754303"/>
            <a:ext cx="2163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>
                <a:solidFill>
                  <a:srgbClr val="269DDE"/>
                </a:solidFill>
                <a:latin typeface="Abadi" panose="020B0604020104020204" pitchFamily="34" charset="0"/>
              </a:defRPr>
            </a:lvl1pPr>
          </a:lstStyle>
          <a:p>
            <a:r>
              <a:rPr lang="es-CL" sz="1600" dirty="0"/>
              <a:t>NECESIDAD CENTRAL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0FB5980-BC7D-1F15-93C0-1B1F08644642}"/>
              </a:ext>
            </a:extLst>
          </p:cNvPr>
          <p:cNvSpPr txBox="1"/>
          <p:nvPr/>
        </p:nvSpPr>
        <p:spPr>
          <a:xfrm>
            <a:off x="501329" y="5054619"/>
            <a:ext cx="481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sz="1800" dirty="0"/>
              <a:t>Centralizar la información y asegurar la</a:t>
            </a:r>
          </a:p>
          <a:p>
            <a:r>
              <a:rPr lang="es-MX" sz="1800" dirty="0"/>
              <a:t>trazabilidad del ciclo de vida de cada activo.</a:t>
            </a:r>
            <a:endParaRPr lang="es-CL" sz="1800" dirty="0"/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931C60E8-10EF-F037-8C00-3C3B0D2590FA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F3194531-8DB8-7414-F31B-636D7AF62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0E8B3392-F7B5-96CC-B2B6-8BF17DB35205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02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BE63302-E662-4129-BB5C-1C1A8C4532AB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1577E9E8-7FCE-75A1-BBD9-603DB3715234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0852280F-38EE-DE9E-ECCE-9E3676D74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40" name="Imagen 39">
            <a:extLst>
              <a:ext uri="{FF2B5EF4-FFF2-40B4-BE49-F238E27FC236}">
                <a16:creationId xmlns:a16="http://schemas.microsoft.com/office/drawing/2014/main" id="{230C985B-A3A6-6C1F-8715-94445724BE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1AEA1C2-F3C2-668F-AC14-F9D139A1D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615270"/>
              </p:ext>
            </p:extLst>
          </p:nvPr>
        </p:nvGraphicFramePr>
        <p:xfrm>
          <a:off x="6209964" y="2493454"/>
          <a:ext cx="4685144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144">
                  <a:extLst>
                    <a:ext uri="{9D8B030D-6E8A-4147-A177-3AD203B41FA5}">
                      <a16:colId xmlns:a16="http://schemas.microsoft.com/office/drawing/2014/main" val="2665085114"/>
                    </a:ext>
                  </a:extLst>
                </a:gridCol>
                <a:gridCol w="3924000">
                  <a:extLst>
                    <a:ext uri="{9D8B030D-6E8A-4147-A177-3AD203B41FA5}">
                      <a16:colId xmlns:a16="http://schemas.microsoft.com/office/drawing/2014/main" val="333294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14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HARDWARE</a:t>
                      </a:r>
                    </a:p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Inventario administrado mediante archivos Excel.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857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02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LICENCIAS</a:t>
                      </a:r>
                    </a:p>
                    <a:p>
                      <a:r>
                        <a:rPr lang="es-MX" sz="1600" dirty="0">
                          <a:latin typeface="Arial Narrow" panose="020B0606020202030204" pitchFamily="34" charset="0"/>
                        </a:rPr>
                        <a:t>Sin un inventario único y centralizado.</a:t>
                      </a:r>
                      <a:endParaRPr lang="es-CL" sz="160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3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03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COMPRAS Y ASIGNACIONES</a:t>
                      </a:r>
                    </a:p>
                    <a:p>
                      <a:r>
                        <a:rPr lang="es-MX" sz="1600" dirty="0">
                          <a:latin typeface="Arial Narrow" panose="020B0606020202030204" pitchFamily="34" charset="0"/>
                        </a:rPr>
                        <a:t>Órdenes de compra, correos y actas</a:t>
                      </a:r>
                    </a:p>
                    <a:p>
                      <a:r>
                        <a:rPr lang="es-MX" sz="1600" dirty="0">
                          <a:latin typeface="Arial Narrow" panose="020B0606020202030204" pitchFamily="34" charset="0"/>
                        </a:rPr>
                        <a:t>separados del inventario.</a:t>
                      </a:r>
                      <a:endParaRPr lang="es-CL" sz="160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8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04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DEVOLUCIONES</a:t>
                      </a:r>
                    </a:p>
                    <a:p>
                      <a:r>
                        <a:rPr lang="es-MX" sz="1600" dirty="0">
                          <a:latin typeface="Arial Narrow" panose="020B0606020202030204" pitchFamily="34" charset="0"/>
                        </a:rPr>
                        <a:t>Historial difícil de reconstruir y validar.</a:t>
                      </a:r>
                      <a:endParaRPr lang="es-CL" sz="160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85122496"/>
                  </a:ext>
                </a:extLst>
              </a:tr>
            </a:tbl>
          </a:graphicData>
        </a:graphic>
      </p:graphicFrame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659B1F8-E40F-D9BB-2193-16B7B5E3F404}"/>
              </a:ext>
            </a:extLst>
          </p:cNvPr>
          <p:cNvSpPr/>
          <p:nvPr/>
        </p:nvSpPr>
        <p:spPr>
          <a:xfrm>
            <a:off x="6231480" y="5361834"/>
            <a:ext cx="4471533" cy="690320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2D91EF-2AA4-5E41-069D-2C3B7522EE83}"/>
              </a:ext>
            </a:extLst>
          </p:cNvPr>
          <p:cNvSpPr txBox="1"/>
          <p:nvPr/>
        </p:nvSpPr>
        <p:spPr>
          <a:xfrm>
            <a:off x="6294118" y="5403404"/>
            <a:ext cx="4348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pPr algn="ctr"/>
            <a:r>
              <a:rPr lang="es-MX" dirty="0"/>
              <a:t>¿Quién tiene el activo y qué documento</a:t>
            </a:r>
          </a:p>
          <a:p>
            <a:pPr algn="ctr"/>
            <a:r>
              <a:rPr lang="es-MX" dirty="0"/>
              <a:t>respalda su movimiento?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E1E8097-1371-65BB-1C37-8866A69D67A2}"/>
              </a:ext>
            </a:extLst>
          </p:cNvPr>
          <p:cNvSpPr txBox="1"/>
          <p:nvPr/>
        </p:nvSpPr>
        <p:spPr>
          <a:xfrm>
            <a:off x="6135967" y="2084232"/>
            <a:ext cx="5581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>
                <a:latin typeface="Arial Narrow" panose="020B0606020202030204" pitchFamily="34" charset="0"/>
              </a:defRPr>
            </a:lvl1pPr>
          </a:lstStyle>
          <a:p>
            <a:r>
              <a:rPr lang="es-MX" sz="1600" dirty="0">
                <a:solidFill>
                  <a:srgbClr val="002060"/>
                </a:solidFill>
                <a:latin typeface="Abadi" panose="020B0604020104020204" pitchFamily="34" charset="0"/>
              </a:rPr>
              <a:t>Trabajo con antecedentes distribuidos en distintas fuentes.</a:t>
            </a:r>
            <a:endParaRPr lang="es-CL" sz="1600" dirty="0">
              <a:solidFill>
                <a:srgbClr val="00206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6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FFBCB0-4231-C6BC-5113-09BA6DCF8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D87FFFF3-77C8-91C6-7BB5-BDD4841FE45E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0EBFE9B-55D6-9B5D-F9AA-959593C7B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8009A78-F56F-5CAF-8EB3-6461BD55ACC6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03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2981C0AA-065D-7DF9-F895-951ADB2EA8FD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C724D648-DAB8-71DA-952A-16900B92F849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7487D95-F32D-28C7-391B-D1BCAC412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4AA19360-00A0-0341-CD9A-26B5245E89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B1F48C3-3D2D-2A5B-11C2-7915ADC8BF26}"/>
              </a:ext>
            </a:extLst>
          </p:cNvPr>
          <p:cNvSpPr txBox="1"/>
          <p:nvPr/>
        </p:nvSpPr>
        <p:spPr>
          <a:xfrm>
            <a:off x="263452" y="548437"/>
            <a:ext cx="50561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36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dirty="0"/>
              <a:t>GATI conectara todo el</a:t>
            </a:r>
          </a:p>
          <a:p>
            <a:r>
              <a:rPr lang="es-MX" dirty="0"/>
              <a:t>ciclo de vida del activo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85C9A85-50C9-392E-311B-B41F97D8435B}"/>
              </a:ext>
            </a:extLst>
          </p:cNvPr>
          <p:cNvSpPr txBox="1"/>
          <p:nvPr/>
        </p:nvSpPr>
        <p:spPr>
          <a:xfrm>
            <a:off x="296635" y="1820444"/>
            <a:ext cx="4812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b="1">
                <a:latin typeface="Arial Narrow" panose="020B0606020202030204" pitchFamily="34" charset="0"/>
              </a:defRPr>
            </a:lvl1pPr>
          </a:lstStyle>
          <a:p>
            <a:r>
              <a:rPr lang="es-MX" dirty="0"/>
              <a:t>Una fuente central relaciona activos, responsables,</a:t>
            </a:r>
          </a:p>
          <a:p>
            <a:r>
              <a:rPr lang="es-MX" dirty="0"/>
              <a:t>documentos y movimientos.</a:t>
            </a:r>
            <a:endParaRPr lang="es-CL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F2662E-706F-FA58-5DA8-B25BACD96214}"/>
              </a:ext>
            </a:extLst>
          </p:cNvPr>
          <p:cNvCxnSpPr>
            <a:cxnSpLocks/>
          </p:cNvCxnSpPr>
          <p:nvPr/>
        </p:nvCxnSpPr>
        <p:spPr>
          <a:xfrm>
            <a:off x="418502" y="1738769"/>
            <a:ext cx="4572000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2E34CB93-E4A4-B9BF-628D-0EE7DF568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77233"/>
              </p:ext>
            </p:extLst>
          </p:nvPr>
        </p:nvGraphicFramePr>
        <p:xfrm>
          <a:off x="245660" y="2471056"/>
          <a:ext cx="5184000" cy="266855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8082240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30474018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25085589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551596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33294842"/>
                    </a:ext>
                  </a:extLst>
                </a:gridCol>
              </a:tblGrid>
              <a:tr h="673518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01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ORDEN DE COMPRA</a:t>
                      </a:r>
                    </a:p>
                    <a:p>
                      <a:pPr algn="l"/>
                      <a:r>
                        <a:rPr lang="es-MX" sz="12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Origen de la adquisición y registro.</a:t>
                      </a:r>
                      <a:endParaRPr lang="es-CL" sz="12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02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ACTIVO O LICENCIA</a:t>
                      </a:r>
                      <a:endParaRPr lang="es-CL" sz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385770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03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200" b="1" kern="1200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INVENTARIO</a:t>
                      </a:r>
                    </a:p>
                    <a:p>
                      <a:pPr marL="0" algn="l" defTabSz="914400" rtl="0" eaLnBrk="1" latinLnBrk="0" hangingPunct="1"/>
                      <a:r>
                        <a:rPr lang="es-MX" sz="12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Estado del activo y responsable.</a:t>
                      </a:r>
                      <a:endParaRPr lang="es-CL" sz="12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04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USUARIO</a:t>
                      </a:r>
                      <a:endParaRPr lang="es-CL" sz="12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2838583"/>
                  </a:ext>
                </a:extLst>
              </a:tr>
              <a:tr h="673518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05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2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ACTA</a:t>
                      </a:r>
                    </a:p>
                    <a:p>
                      <a:pPr algn="l"/>
                      <a:r>
                        <a:rPr lang="es-CL" sz="12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Evidencia documental y trazabilidad.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06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HISTORIAL</a:t>
                      </a:r>
                      <a:endParaRPr lang="es-CL" sz="12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38537"/>
                  </a:ext>
                </a:extLst>
              </a:tr>
              <a:tr h="673518"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07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DEVOLUCIÓN</a:t>
                      </a:r>
                    </a:p>
                    <a:p>
                      <a:pPr algn="l"/>
                      <a:r>
                        <a:rPr lang="es-MX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</a:rPr>
                        <a:t>Movimiento final y cierre del ciclo.</a:t>
                      </a:r>
                      <a:endParaRPr lang="es-CL" sz="12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b="1" dirty="0">
                          <a:solidFill>
                            <a:srgbClr val="269DDE"/>
                          </a:solidFill>
                        </a:rPr>
                        <a:t>08</a:t>
                      </a:r>
                      <a:endParaRPr lang="es-CL" sz="2400" b="1" dirty="0">
                        <a:solidFill>
                          <a:srgbClr val="269DDE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REASIGNACIÓN </a:t>
                      </a:r>
                    </a:p>
                    <a:p>
                      <a:r>
                        <a:rPr lang="es-MX" sz="1200" b="1" dirty="0">
                          <a:solidFill>
                            <a:srgbClr val="002060"/>
                          </a:solidFill>
                          <a:latin typeface="Abadi" panose="020B0604020104020204" pitchFamily="34" charset="0"/>
                        </a:rPr>
                        <a:t>O BAJA</a:t>
                      </a:r>
                      <a:endParaRPr lang="es-CL" sz="12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5122496"/>
                  </a:ext>
                </a:extLst>
              </a:tr>
            </a:tbl>
          </a:graphicData>
        </a:graphic>
      </p:graphicFrame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F6005EC-066E-DC5F-C702-414EC67B2AFF}"/>
              </a:ext>
            </a:extLst>
          </p:cNvPr>
          <p:cNvCxnSpPr>
            <a:cxnSpLocks/>
          </p:cNvCxnSpPr>
          <p:nvPr/>
        </p:nvCxnSpPr>
        <p:spPr>
          <a:xfrm>
            <a:off x="2941039" y="2665370"/>
            <a:ext cx="222736" cy="0"/>
          </a:xfrm>
          <a:prstGeom prst="straightConnector1">
            <a:avLst/>
          </a:prstGeom>
          <a:ln w="25400">
            <a:solidFill>
              <a:srgbClr val="269DD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BAFEF534-F5E3-C4CA-A475-60D7A60D56D7}"/>
              </a:ext>
            </a:extLst>
          </p:cNvPr>
          <p:cNvCxnSpPr>
            <a:cxnSpLocks/>
          </p:cNvCxnSpPr>
          <p:nvPr/>
        </p:nvCxnSpPr>
        <p:spPr>
          <a:xfrm>
            <a:off x="2919727" y="3399222"/>
            <a:ext cx="222736" cy="0"/>
          </a:xfrm>
          <a:prstGeom prst="straightConnector1">
            <a:avLst/>
          </a:prstGeom>
          <a:ln w="25400">
            <a:solidFill>
              <a:srgbClr val="269DD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AEC14E9-7BA9-C944-6EE0-671FDD6681E3}"/>
              </a:ext>
            </a:extLst>
          </p:cNvPr>
          <p:cNvCxnSpPr>
            <a:cxnSpLocks/>
          </p:cNvCxnSpPr>
          <p:nvPr/>
        </p:nvCxnSpPr>
        <p:spPr>
          <a:xfrm>
            <a:off x="2941039" y="4014853"/>
            <a:ext cx="222736" cy="0"/>
          </a:xfrm>
          <a:prstGeom prst="straightConnector1">
            <a:avLst/>
          </a:prstGeom>
          <a:ln w="25400">
            <a:solidFill>
              <a:srgbClr val="269DD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2BA895A-823A-F2EF-9EC9-01AA1F541A5C}"/>
              </a:ext>
            </a:extLst>
          </p:cNvPr>
          <p:cNvCxnSpPr>
            <a:cxnSpLocks/>
          </p:cNvCxnSpPr>
          <p:nvPr/>
        </p:nvCxnSpPr>
        <p:spPr>
          <a:xfrm>
            <a:off x="2919727" y="4678738"/>
            <a:ext cx="222736" cy="0"/>
          </a:xfrm>
          <a:prstGeom prst="straightConnector1">
            <a:avLst/>
          </a:prstGeom>
          <a:ln w="25400">
            <a:solidFill>
              <a:srgbClr val="269DD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CA277017-C904-7800-92FF-A48D4E83F892}"/>
              </a:ext>
            </a:extLst>
          </p:cNvPr>
          <p:cNvSpPr/>
          <p:nvPr/>
        </p:nvSpPr>
        <p:spPr>
          <a:xfrm>
            <a:off x="301163" y="5211288"/>
            <a:ext cx="4471533" cy="841549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89DB001-B6B8-239D-E6A1-ABED722384DE}"/>
              </a:ext>
            </a:extLst>
          </p:cNvPr>
          <p:cNvSpPr txBox="1"/>
          <p:nvPr/>
        </p:nvSpPr>
        <p:spPr>
          <a:xfrm>
            <a:off x="396481" y="5202726"/>
            <a:ext cx="2572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pPr algn="ctr"/>
            <a:r>
              <a:rPr lang="es-CL" dirty="0"/>
              <a:t>PROPUESTA DE VALOR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8169C2E-D399-A1A8-4662-6F8D60E1C3FA}"/>
              </a:ext>
            </a:extLst>
          </p:cNvPr>
          <p:cNvSpPr txBox="1"/>
          <p:nvPr/>
        </p:nvSpPr>
        <p:spPr>
          <a:xfrm>
            <a:off x="418502" y="5482493"/>
            <a:ext cx="381226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latin typeface="Arial Narrow" panose="020B0606020202030204" pitchFamily="34" charset="0"/>
              </a:rPr>
              <a:t>No digitaliza una planilla: conecta datos, responsables, </a:t>
            </a:r>
          </a:p>
          <a:p>
            <a:r>
              <a:rPr lang="es-MX" sz="1400" dirty="0">
                <a:latin typeface="Arial Narrow" panose="020B0606020202030204" pitchFamily="34" charset="0"/>
              </a:rPr>
              <a:t>documentos y movimientos.</a:t>
            </a:r>
            <a:endParaRPr lang="es-CL" sz="1400" dirty="0">
              <a:latin typeface="Arial Narrow" panose="020B0606020202030204" pitchFamily="34" charset="0"/>
            </a:endParaRPr>
          </a:p>
          <a:p>
            <a:endParaRPr lang="es-CL" sz="1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65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4FD7D97-49EF-53E6-04C2-FE6D0D1AC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3" name="Rectángulo: esquinas superiores redondeadas 52">
            <a:extLst>
              <a:ext uri="{FF2B5EF4-FFF2-40B4-BE49-F238E27FC236}">
                <a16:creationId xmlns:a16="http://schemas.microsoft.com/office/drawing/2014/main" id="{102FF031-DC9F-9403-9646-7A9530FBD265}"/>
              </a:ext>
            </a:extLst>
          </p:cNvPr>
          <p:cNvSpPr/>
          <p:nvPr/>
        </p:nvSpPr>
        <p:spPr>
          <a:xfrm rot="10800000">
            <a:off x="1486927" y="2535799"/>
            <a:ext cx="2494956" cy="914400"/>
          </a:xfrm>
          <a:prstGeom prst="round2SameRect">
            <a:avLst>
              <a:gd name="adj1" fmla="val 7375"/>
              <a:gd name="adj2" fmla="val 0"/>
            </a:avLst>
          </a:prstGeom>
          <a:noFill/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7" name="Rectángulo: esquinas superiores redondeadas 56">
            <a:extLst>
              <a:ext uri="{FF2B5EF4-FFF2-40B4-BE49-F238E27FC236}">
                <a16:creationId xmlns:a16="http://schemas.microsoft.com/office/drawing/2014/main" id="{DF0FDBD5-F560-72CF-CE3E-15A2894904BC}"/>
              </a:ext>
            </a:extLst>
          </p:cNvPr>
          <p:cNvSpPr/>
          <p:nvPr/>
        </p:nvSpPr>
        <p:spPr>
          <a:xfrm rot="10800000">
            <a:off x="2070857" y="2403833"/>
            <a:ext cx="1327094" cy="305822"/>
          </a:xfrm>
          <a:prstGeom prst="round2SameRect">
            <a:avLst>
              <a:gd name="adj1" fmla="val 7375"/>
              <a:gd name="adj2" fmla="val 0"/>
            </a:avLst>
          </a:prstGeom>
          <a:solidFill>
            <a:srgbClr val="F3F4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45A52B7-3444-69FD-47AE-15255FCF4B45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42C4946-ADC5-89A0-1183-159672522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3F9909E-3956-AD7D-0035-785C8208BC8B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04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ED0CAD85-6621-5EF7-F79F-94C407BD4C7C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511EF86-918A-B533-77A2-6778C74B1EA1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BC97A8CE-3D7A-31A1-82E8-8E9BE6D28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4AE89E57-2E7B-3358-590B-85A98AC3B4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B6CFBA49-7957-31DE-9BBD-200C7804DFD4}"/>
              </a:ext>
            </a:extLst>
          </p:cNvPr>
          <p:cNvSpPr txBox="1"/>
          <p:nvPr/>
        </p:nvSpPr>
        <p:spPr>
          <a:xfrm>
            <a:off x="301163" y="526577"/>
            <a:ext cx="51755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36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dirty="0"/>
              <a:t>Web y móvil comparten</a:t>
            </a:r>
          </a:p>
          <a:p>
            <a:r>
              <a:rPr lang="es-MX" dirty="0"/>
              <a:t>una arquitectura central</a:t>
            </a:r>
            <a:endParaRPr lang="es-CL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3EDD818-9266-6D60-3D05-892A8B0D026E}"/>
              </a:ext>
            </a:extLst>
          </p:cNvPr>
          <p:cNvSpPr txBox="1"/>
          <p:nvPr/>
        </p:nvSpPr>
        <p:spPr>
          <a:xfrm>
            <a:off x="362021" y="1720717"/>
            <a:ext cx="4031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b="1">
                <a:latin typeface="Arial Narrow" panose="020B0606020202030204" pitchFamily="34" charset="0"/>
              </a:defRPr>
            </a:lvl1pPr>
          </a:lstStyle>
          <a:p>
            <a:r>
              <a:rPr lang="es-CL" dirty="0"/>
              <a:t>Una misma solución conecta web y móvil, </a:t>
            </a:r>
          </a:p>
          <a:p>
            <a:r>
              <a:rPr lang="es-CL" dirty="0"/>
              <a:t>compartiendo una base de datos central.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EC46FCD-AB97-687D-2D90-C0F967D12343}"/>
              </a:ext>
            </a:extLst>
          </p:cNvPr>
          <p:cNvCxnSpPr>
            <a:cxnSpLocks/>
          </p:cNvCxnSpPr>
          <p:nvPr/>
        </p:nvCxnSpPr>
        <p:spPr>
          <a:xfrm>
            <a:off x="418502" y="1738769"/>
            <a:ext cx="4572000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75986FD0-747D-F714-5006-BE19E5FE9902}"/>
              </a:ext>
            </a:extLst>
          </p:cNvPr>
          <p:cNvSpPr/>
          <p:nvPr/>
        </p:nvSpPr>
        <p:spPr>
          <a:xfrm>
            <a:off x="452735" y="2449742"/>
            <a:ext cx="2093769" cy="711259"/>
          </a:xfrm>
          <a:prstGeom prst="roundRect">
            <a:avLst>
              <a:gd name="adj" fmla="val 11919"/>
            </a:avLst>
          </a:prstGeom>
          <a:solidFill>
            <a:srgbClr val="EEF8FC"/>
          </a:solidFill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EFBB9-69E8-F14E-C9A7-C88D99E83993}"/>
              </a:ext>
            </a:extLst>
          </p:cNvPr>
          <p:cNvSpPr txBox="1"/>
          <p:nvPr/>
        </p:nvSpPr>
        <p:spPr>
          <a:xfrm>
            <a:off x="671851" y="2482206"/>
            <a:ext cx="1614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SISTEMA WEB</a:t>
            </a:r>
          </a:p>
          <a:p>
            <a:pPr algn="ctr"/>
            <a:r>
              <a:rPr lang="es-MX" sz="1200" dirty="0">
                <a:latin typeface="Arial Narrow" panose="020B0606020202030204" pitchFamily="34" charset="0"/>
              </a:rPr>
              <a:t>Administración, consultas</a:t>
            </a:r>
          </a:p>
          <a:p>
            <a:pPr algn="ctr"/>
            <a:r>
              <a:rPr lang="es-MX" sz="1200" dirty="0">
                <a:latin typeface="Arial Narrow" panose="020B0606020202030204" pitchFamily="34" charset="0"/>
              </a:rPr>
              <a:t>e indicadores.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521EFA7D-12B5-FEAB-11D6-CDA885327E6E}"/>
              </a:ext>
            </a:extLst>
          </p:cNvPr>
          <p:cNvSpPr/>
          <p:nvPr/>
        </p:nvSpPr>
        <p:spPr>
          <a:xfrm>
            <a:off x="2905258" y="2449741"/>
            <a:ext cx="2093769" cy="711259"/>
          </a:xfrm>
          <a:prstGeom prst="roundRect">
            <a:avLst>
              <a:gd name="adj" fmla="val 11919"/>
            </a:avLst>
          </a:prstGeom>
          <a:solidFill>
            <a:srgbClr val="EEF8FC"/>
          </a:solidFill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505D04C-A647-789B-C045-5FC78D130BF4}"/>
              </a:ext>
            </a:extLst>
          </p:cNvPr>
          <p:cNvSpPr/>
          <p:nvPr/>
        </p:nvSpPr>
        <p:spPr>
          <a:xfrm>
            <a:off x="1451994" y="3717612"/>
            <a:ext cx="2564825" cy="646331"/>
          </a:xfrm>
          <a:prstGeom prst="roundRect">
            <a:avLst>
              <a:gd name="adj" fmla="val 11919"/>
            </a:avLst>
          </a:prstGeom>
          <a:solidFill>
            <a:srgbClr val="EEF8FC"/>
          </a:solidFill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1EA0318-A384-EABE-EB9B-7EE7EEECE243}"/>
              </a:ext>
            </a:extLst>
          </p:cNvPr>
          <p:cNvSpPr txBox="1"/>
          <p:nvPr/>
        </p:nvSpPr>
        <p:spPr>
          <a:xfrm>
            <a:off x="3058730" y="2412956"/>
            <a:ext cx="185339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100" b="1" dirty="0">
                <a:solidFill>
                  <a:srgbClr val="002060"/>
                </a:solidFill>
                <a:latin typeface="Abadi" panose="020B0604020104020204" pitchFamily="34" charset="0"/>
              </a:rPr>
              <a:t>APLICACIÓN MOVIL</a:t>
            </a:r>
          </a:p>
          <a:p>
            <a:pPr algn="ctr"/>
            <a:r>
              <a:rPr lang="es-CL" sz="1100" dirty="0"/>
              <a:t>Escaneo QR, consulta de </a:t>
            </a:r>
          </a:p>
          <a:p>
            <a:pPr algn="ctr"/>
            <a:r>
              <a:rPr lang="es-CL" sz="1100" dirty="0"/>
              <a:t>activos, asignaciones, </a:t>
            </a:r>
          </a:p>
          <a:p>
            <a:pPr algn="ctr"/>
            <a:r>
              <a:rPr lang="es-CL" sz="1100" dirty="0"/>
              <a:t>devoluciones y evidencias.</a:t>
            </a:r>
            <a:r>
              <a:rPr lang="es-MX" sz="1200" dirty="0">
                <a:latin typeface="Arial Narrow" panose="020B0606020202030204" pitchFamily="34" charset="0"/>
              </a:rPr>
              <a:t>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DAACA26-7407-8A36-6122-7D9F75FA03A7}"/>
              </a:ext>
            </a:extLst>
          </p:cNvPr>
          <p:cNvSpPr txBox="1"/>
          <p:nvPr/>
        </p:nvSpPr>
        <p:spPr>
          <a:xfrm>
            <a:off x="1513018" y="3743732"/>
            <a:ext cx="2400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b="1" dirty="0">
                <a:solidFill>
                  <a:srgbClr val="0F4376"/>
                </a:solidFill>
                <a:latin typeface="Abadi" panose="020B0604020104020204" pitchFamily="34" charset="0"/>
              </a:rPr>
              <a:t>CAPA DE SERVICIO</a:t>
            </a:r>
          </a:p>
          <a:p>
            <a:pPr algn="ctr"/>
            <a:r>
              <a:rPr lang="es-ES" sz="1200" dirty="0">
                <a:latin typeface="Arial Narrow" panose="020B0606020202030204" pitchFamily="34" charset="0"/>
              </a:rPr>
              <a:t>Servicios compartidos para web y móvil</a:t>
            </a:r>
            <a:endParaRPr lang="es-CL" sz="1200" dirty="0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0042884C-DB3D-0B22-0F3C-1600553C07B0}"/>
              </a:ext>
            </a:extLst>
          </p:cNvPr>
          <p:cNvSpPr/>
          <p:nvPr/>
        </p:nvSpPr>
        <p:spPr>
          <a:xfrm>
            <a:off x="1470574" y="4695883"/>
            <a:ext cx="2564825" cy="530136"/>
          </a:xfrm>
          <a:prstGeom prst="roundRect">
            <a:avLst>
              <a:gd name="adj" fmla="val 11919"/>
            </a:avLst>
          </a:prstGeom>
          <a:solidFill>
            <a:srgbClr val="EEF8FC"/>
          </a:solidFill>
          <a:ln>
            <a:solidFill>
              <a:srgbClr val="269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20F3378-15F2-36B7-50E5-73F94588423F}"/>
              </a:ext>
            </a:extLst>
          </p:cNvPr>
          <p:cNvSpPr txBox="1"/>
          <p:nvPr/>
        </p:nvSpPr>
        <p:spPr>
          <a:xfrm>
            <a:off x="1796792" y="4727585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b="1" dirty="0">
                <a:solidFill>
                  <a:srgbClr val="002060"/>
                </a:solidFill>
                <a:latin typeface="Abadi" panose="020B0604020104020204" pitchFamily="34" charset="0"/>
              </a:rPr>
              <a:t>BASE DE DATOS CENTRAL</a:t>
            </a:r>
          </a:p>
          <a:p>
            <a:pPr algn="ctr"/>
            <a:r>
              <a:rPr lang="es-MX" sz="1200" dirty="0">
                <a:latin typeface="Arial Narrow" panose="020B0606020202030204" pitchFamily="34" charset="0"/>
              </a:rPr>
              <a:t>Una única fuente de información.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C6639F7E-744E-F596-5A1F-506D6EE9F84E}"/>
              </a:ext>
            </a:extLst>
          </p:cNvPr>
          <p:cNvSpPr/>
          <p:nvPr/>
        </p:nvSpPr>
        <p:spPr>
          <a:xfrm>
            <a:off x="452735" y="5363264"/>
            <a:ext cx="4546292" cy="838607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6BE72B0-3077-3E15-8BF7-BC059F30AB96}"/>
              </a:ext>
            </a:extLst>
          </p:cNvPr>
          <p:cNvSpPr txBox="1"/>
          <p:nvPr/>
        </p:nvSpPr>
        <p:spPr>
          <a:xfrm>
            <a:off x="834978" y="5400049"/>
            <a:ext cx="37818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002060"/>
                </a:solidFill>
                <a:latin typeface="Abadi" panose="020B0604020104020204" pitchFamily="34" charset="0"/>
              </a:rPr>
              <a:t>ALCANCE DEL SISTEMA</a:t>
            </a:r>
          </a:p>
          <a:p>
            <a:pPr algn="ctr"/>
            <a:r>
              <a:rPr lang="es-CL" sz="1100" dirty="0">
                <a:latin typeface="Arial Narrow" panose="020B0606020202030204" pitchFamily="34" charset="0"/>
              </a:rPr>
              <a:t>Activos · licencias · movimientos · evidencias · consultas · indicadores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B1610521-2E2B-8288-A9E7-7825B13AB428}"/>
              </a:ext>
            </a:extLst>
          </p:cNvPr>
          <p:cNvCxnSpPr>
            <a:cxnSpLocks/>
          </p:cNvCxnSpPr>
          <p:nvPr/>
        </p:nvCxnSpPr>
        <p:spPr>
          <a:xfrm>
            <a:off x="593201" y="5833654"/>
            <a:ext cx="4248000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3180B1A-CFB7-A6B6-B322-022B64B26D41}"/>
              </a:ext>
            </a:extLst>
          </p:cNvPr>
          <p:cNvSpPr txBox="1"/>
          <p:nvPr/>
        </p:nvSpPr>
        <p:spPr>
          <a:xfrm>
            <a:off x="741348" y="5890203"/>
            <a:ext cx="3409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>
                <a:solidFill>
                  <a:srgbClr val="002060"/>
                </a:solidFill>
                <a:latin typeface="Arial Narrow" panose="020B0606020202030204" pitchFamily="34" charset="0"/>
              </a:rPr>
              <a:t>Fuera de alcance: </a:t>
            </a:r>
            <a:r>
              <a:rPr lang="es-MX" sz="1100" dirty="0">
                <a:latin typeface="Arial Narrow" panose="020B0606020202030204" pitchFamily="34" charset="0"/>
              </a:rPr>
              <a:t>ERP completo, contratos y mantenimiento.</a:t>
            </a:r>
            <a:endParaRPr lang="es-CL" sz="1100" dirty="0">
              <a:latin typeface="Arial Narrow" panose="020B0606020202030204" pitchFamily="34" charset="0"/>
            </a:endParaRP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B6D870CE-5F0C-6571-EA19-744005B27BB4}"/>
              </a:ext>
            </a:extLst>
          </p:cNvPr>
          <p:cNvCxnSpPr>
            <a:cxnSpLocks/>
          </p:cNvCxnSpPr>
          <p:nvPr/>
        </p:nvCxnSpPr>
        <p:spPr>
          <a:xfrm>
            <a:off x="2725726" y="3450200"/>
            <a:ext cx="0" cy="274329"/>
          </a:xfrm>
          <a:prstGeom prst="straightConnector1">
            <a:avLst/>
          </a:prstGeom>
          <a:ln>
            <a:solidFill>
              <a:srgbClr val="269D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A106729B-3076-6CDE-15CC-C6CEEAC5BD70}"/>
              </a:ext>
            </a:extLst>
          </p:cNvPr>
          <p:cNvCxnSpPr>
            <a:cxnSpLocks/>
          </p:cNvCxnSpPr>
          <p:nvPr/>
        </p:nvCxnSpPr>
        <p:spPr>
          <a:xfrm>
            <a:off x="2735377" y="4363943"/>
            <a:ext cx="0" cy="274329"/>
          </a:xfrm>
          <a:prstGeom prst="straightConnector1">
            <a:avLst/>
          </a:prstGeom>
          <a:ln>
            <a:solidFill>
              <a:srgbClr val="269D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33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D89B112-946E-E975-BB00-6DF620EDD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38" y="0"/>
            <a:ext cx="12722161" cy="6858000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6E249A35-6B75-7E6B-10F0-6374401916BC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60EC0E8-66DA-BC5B-A7DE-9C27D1C3A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FDC3B5CF-6709-818B-6BDB-B1440DD145BD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05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4B717DBB-4DCD-4747-69E9-1A6B7F08F44A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BE64D95A-8FB2-53FE-CC15-22581817C4F5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560211B4-07E8-6669-3EB9-94499AA4F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60710397-1883-019E-6F7C-10AD9B41B1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689FA16-F817-9E94-0E65-A2646C9C2646}"/>
              </a:ext>
            </a:extLst>
          </p:cNvPr>
          <p:cNvSpPr txBox="1"/>
          <p:nvPr/>
        </p:nvSpPr>
        <p:spPr>
          <a:xfrm>
            <a:off x="301163" y="542567"/>
            <a:ext cx="60265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2800" b="1">
                <a:solidFill>
                  <a:srgbClr val="002060"/>
                </a:solidFill>
                <a:latin typeface="Abadi" panose="020B0604020104020204" pitchFamily="34" charset="0"/>
              </a:defRPr>
            </a:lvl1pPr>
          </a:lstStyle>
          <a:p>
            <a:r>
              <a:rPr lang="es-MX" dirty="0"/>
              <a:t>Metodología Tradicional en Cascada</a:t>
            </a:r>
            <a:endParaRPr lang="es-CL" dirty="0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2DF0A5C-DBC5-3C5D-F0DE-4CDB8E717FF1}"/>
              </a:ext>
            </a:extLst>
          </p:cNvPr>
          <p:cNvSpPr/>
          <p:nvPr/>
        </p:nvSpPr>
        <p:spPr>
          <a:xfrm>
            <a:off x="418503" y="5507753"/>
            <a:ext cx="2743797" cy="542863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C55A043-C5F5-D652-2483-D31E8141609B}"/>
              </a:ext>
            </a:extLst>
          </p:cNvPr>
          <p:cNvSpPr txBox="1"/>
          <p:nvPr/>
        </p:nvSpPr>
        <p:spPr>
          <a:xfrm>
            <a:off x="564654" y="5473563"/>
            <a:ext cx="25010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500" b="1" dirty="0">
                <a:solidFill>
                  <a:srgbClr val="269DDE"/>
                </a:solidFill>
                <a:latin typeface="Abadi" panose="020B0604020104020204" pitchFamily="34" charset="0"/>
              </a:rPr>
              <a:t>REVISIONES SEMANALES</a:t>
            </a:r>
          </a:p>
          <a:p>
            <a:r>
              <a:rPr lang="es-MX" sz="1500" dirty="0">
                <a:latin typeface="Arial Narrow" panose="020B0606020202030204" pitchFamily="34" charset="0"/>
              </a:rPr>
              <a:t>Seguimiento, riesgos y cambios..</a:t>
            </a:r>
            <a:endParaRPr lang="es-CL" sz="1500" dirty="0">
              <a:latin typeface="Arial Narrow" panose="020B0606020202030204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795BD45-8883-AA13-8BEF-6BD7CAF6A341}"/>
              </a:ext>
            </a:extLst>
          </p:cNvPr>
          <p:cNvCxnSpPr>
            <a:cxnSpLocks/>
          </p:cNvCxnSpPr>
          <p:nvPr/>
        </p:nvCxnSpPr>
        <p:spPr>
          <a:xfrm>
            <a:off x="389668" y="1208915"/>
            <a:ext cx="5256000" cy="0"/>
          </a:xfrm>
          <a:prstGeom prst="line">
            <a:avLst/>
          </a:prstGeom>
          <a:ln w="25400"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upo 47">
            <a:extLst>
              <a:ext uri="{FF2B5EF4-FFF2-40B4-BE49-F238E27FC236}">
                <a16:creationId xmlns:a16="http://schemas.microsoft.com/office/drawing/2014/main" id="{EDBB6C5F-EE87-6C5C-5AB4-437EE6C3885F}"/>
              </a:ext>
            </a:extLst>
          </p:cNvPr>
          <p:cNvGrpSpPr/>
          <p:nvPr/>
        </p:nvGrpSpPr>
        <p:grpSpPr>
          <a:xfrm>
            <a:off x="368300" y="1625600"/>
            <a:ext cx="5194300" cy="3594100"/>
            <a:chOff x="4749800" y="2413000"/>
            <a:chExt cx="5194300" cy="3594100"/>
          </a:xfrm>
        </p:grpSpPr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CDABBD0E-736B-84DE-D33E-67F476F8801E}"/>
                </a:ext>
              </a:extLst>
            </p:cNvPr>
            <p:cNvSpPr/>
            <p:nvPr/>
          </p:nvSpPr>
          <p:spPr>
            <a:xfrm>
              <a:off x="4749800" y="2413000"/>
              <a:ext cx="3009900" cy="5588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600" b="1" dirty="0">
                  <a:solidFill>
                    <a:schemeClr val="tx1"/>
                  </a:solidFill>
                </a:rPr>
                <a:t>1. Definición y planificación</a:t>
              </a:r>
              <a:br>
                <a:rPr lang="es-CL" dirty="0">
                  <a:solidFill>
                    <a:schemeClr val="tx1"/>
                  </a:solidFill>
                </a:rPr>
              </a:br>
              <a:r>
                <a:rPr lang="es-CL" sz="1300" dirty="0">
                  <a:solidFill>
                    <a:schemeClr val="tx1"/>
                  </a:solidFill>
                </a:rPr>
                <a:t>Problema, alcance y plan de trabajo</a:t>
              </a:r>
            </a:p>
          </p:txBody>
        </p:sp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EEB68253-8FAB-AA39-BE85-38CB84F058DF}"/>
                </a:ext>
              </a:extLst>
            </p:cNvPr>
            <p:cNvSpPr/>
            <p:nvPr/>
          </p:nvSpPr>
          <p:spPr>
            <a:xfrm>
              <a:off x="5321300" y="3187700"/>
              <a:ext cx="3009900" cy="55880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600" b="1" dirty="0">
                  <a:solidFill>
                    <a:schemeClr val="tx1"/>
                  </a:solidFill>
                </a:rPr>
                <a:t>2. Requisitos y Diseño</a:t>
              </a:r>
              <a:br>
                <a:rPr lang="es-CL" dirty="0">
                  <a:solidFill>
                    <a:schemeClr val="tx1"/>
                  </a:solidFill>
                </a:rPr>
              </a:br>
              <a:r>
                <a:rPr lang="es-CL" sz="1300" dirty="0">
                  <a:solidFill>
                    <a:schemeClr val="tx1"/>
                  </a:solidFill>
                </a:rPr>
                <a:t>ERS, DAS y criterios de aceptación</a:t>
              </a:r>
            </a:p>
          </p:txBody>
        </p:sp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3570BA7F-65BD-34D4-484A-6C715846C96F}"/>
                </a:ext>
              </a:extLst>
            </p:cNvPr>
            <p:cNvSpPr/>
            <p:nvPr/>
          </p:nvSpPr>
          <p:spPr>
            <a:xfrm>
              <a:off x="5842000" y="3962400"/>
              <a:ext cx="3009900" cy="558800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600" b="1" dirty="0">
                  <a:solidFill>
                    <a:schemeClr val="bg1">
                      <a:lumMod val="95000"/>
                    </a:schemeClr>
                  </a:solidFill>
                </a:rPr>
                <a:t>3. Construcción</a:t>
              </a:r>
              <a:br>
                <a:rPr lang="es-CL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s-CL" sz="1300" dirty="0">
                  <a:solidFill>
                    <a:schemeClr val="bg1">
                      <a:lumMod val="95000"/>
                    </a:schemeClr>
                  </a:solidFill>
                </a:rPr>
                <a:t>Sistema web, aplicación móvil y API</a:t>
              </a:r>
            </a:p>
          </p:txBody>
        </p:sp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F42F2AC6-BBE9-202C-940F-0AC7A8A24119}"/>
                </a:ext>
              </a:extLst>
            </p:cNvPr>
            <p:cNvSpPr/>
            <p:nvPr/>
          </p:nvSpPr>
          <p:spPr>
            <a:xfrm>
              <a:off x="6400800" y="4699000"/>
              <a:ext cx="3009900" cy="558800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600" b="1" dirty="0">
                  <a:solidFill>
                    <a:schemeClr val="bg1">
                      <a:lumMod val="85000"/>
                    </a:schemeClr>
                  </a:solidFill>
                </a:rPr>
                <a:t>4. Pruebas y Despliegue</a:t>
              </a:r>
              <a:br>
                <a:rPr lang="es-CL" dirty="0">
                  <a:solidFill>
                    <a:schemeClr val="bg1">
                      <a:lumMod val="85000"/>
                    </a:schemeClr>
                  </a:solidFill>
                </a:rPr>
              </a:br>
              <a:r>
                <a:rPr lang="es-CL" sz="1300" dirty="0">
                  <a:solidFill>
                    <a:schemeClr val="bg1">
                      <a:lumMod val="85000"/>
                    </a:schemeClr>
                  </a:solidFill>
                </a:rPr>
                <a:t>Calidad y entrega controlada</a:t>
              </a:r>
            </a:p>
          </p:txBody>
        </p:sp>
        <p:sp>
          <p:nvSpPr>
            <p:cNvPr id="47" name="Rectángulo: esquinas redondeadas 46">
              <a:extLst>
                <a:ext uri="{FF2B5EF4-FFF2-40B4-BE49-F238E27FC236}">
                  <a16:creationId xmlns:a16="http://schemas.microsoft.com/office/drawing/2014/main" id="{93B14BD5-CA8C-61D7-15E0-15B6D9EE389D}"/>
                </a:ext>
              </a:extLst>
            </p:cNvPr>
            <p:cNvSpPr/>
            <p:nvPr/>
          </p:nvSpPr>
          <p:spPr>
            <a:xfrm>
              <a:off x="6934200" y="5448300"/>
              <a:ext cx="3009900" cy="558800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600" b="1" dirty="0">
                  <a:solidFill>
                    <a:schemeClr val="bg1">
                      <a:lumMod val="85000"/>
                    </a:schemeClr>
                  </a:solidFill>
                </a:rPr>
                <a:t>5. Cierre y Aceptación</a:t>
              </a:r>
              <a:br>
                <a:rPr lang="es-CL" dirty="0">
                  <a:solidFill>
                    <a:schemeClr val="bg1">
                      <a:lumMod val="85000"/>
                    </a:schemeClr>
                  </a:solidFill>
                </a:rPr>
              </a:br>
              <a:r>
                <a:rPr lang="es-CL" sz="1300" dirty="0">
                  <a:solidFill>
                    <a:schemeClr val="bg1">
                      <a:lumMod val="85000"/>
                    </a:schemeClr>
                  </a:solidFill>
                </a:rPr>
                <a:t>Aceptación, evidencias y cierre formal.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981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9E77942-8CBA-4B69-838F-AC793CE73A79}"/>
              </a:ext>
            </a:extLst>
          </p:cNvPr>
          <p:cNvSpPr>
            <a:spLocks noGrp="1"/>
          </p:cNvSpPr>
          <p:nvPr/>
        </p:nvSpPr>
        <p:spPr>
          <a:xfrm>
            <a:off x="2628900" y="2262123"/>
            <a:ext cx="3551725" cy="2329279"/>
          </a:xfrm>
          <a:prstGeom prst="roundRect">
            <a:avLst/>
          </a:prstGeom>
          <a:solidFill>
            <a:srgbClr val="F6F7F8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7AA381D-6E81-9B08-9339-8CE0746F9197}"/>
              </a:ext>
            </a:extLst>
          </p:cNvPr>
          <p:cNvSpPr>
            <a:spLocks noGrp="1"/>
          </p:cNvSpPr>
          <p:nvPr/>
        </p:nvSpPr>
        <p:spPr>
          <a:xfrm>
            <a:off x="1225414" y="126900"/>
            <a:ext cx="29598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9DDE"/>
                </a:solidFill>
                <a:latin typeface="Arial Narrow"/>
                <a:ea typeface="Arial Narrow"/>
                <a:cs typeface="Arial Narrow"/>
              </a:rPr>
              <a:t>AVANCE SEMANA N.º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6C6070-D2F0-E0D5-8C8A-4167AAAB1DE6}"/>
              </a:ext>
            </a:extLst>
          </p:cNvPr>
          <p:cNvSpPr>
            <a:spLocks noGrp="1"/>
          </p:cNvSpPr>
          <p:nvPr/>
        </p:nvSpPr>
        <p:spPr>
          <a:xfrm>
            <a:off x="245660" y="96123"/>
            <a:ext cx="9040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9DDE"/>
                </a:solidFill>
                <a:latin typeface="+mj-lt"/>
                <a:ea typeface="+mj-lt"/>
                <a:cs typeface="+mj-lt"/>
              </a:rPr>
              <a:t>GATI</a:t>
            </a:r>
            <a:endParaRPr sz="3600" b="1">
              <a:solidFill>
                <a:srgbClr val="269DDE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49A188D4-3E4F-14F5-19A6-2914CD4400D8}"/>
              </a:ext>
            </a:extLst>
          </p:cNvPr>
          <p:cNvSpPr>
            <a:spLocks noGrp="1"/>
          </p:cNvSpPr>
          <p:nvPr/>
        </p:nvSpPr>
        <p:spPr>
          <a:xfrm>
            <a:off x="1117414" y="303733"/>
            <a:ext cx="108000" cy="108000"/>
          </a:xfrm>
          <a:prstGeom prst="flowChartConnector">
            <a:avLst/>
          </a:prstGeom>
          <a:solidFill>
            <a:srgbClr val="269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88619CFB-7042-405E-8599-7170A4888E38}"/>
              </a:ext>
            </a:extLst>
          </p:cNvPr>
          <p:cNvSpPr>
            <a:spLocks noGrp="1"/>
          </p:cNvSpPr>
          <p:nvPr/>
        </p:nvSpPr>
        <p:spPr>
          <a:xfrm>
            <a:off x="362021" y="539681"/>
            <a:ext cx="3666881" cy="0"/>
          </a:xfrm>
          <a:prstGeom prst="line">
            <a:avLst/>
          </a:prstGeom>
          <a:ln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L"/>
          </a:p>
        </p:txBody>
      </p:sp>
      <p:pic>
        <p:nvPicPr>
          <p:cNvPr id="41" name="Imagen 7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2021" y="6264961"/>
            <a:ext cx="479526" cy="4795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8E5767B-3482-1409-976A-0FA40A796BC0}"/>
              </a:ext>
            </a:extLst>
          </p:cNvPr>
          <p:cNvSpPr>
            <a:spLocks noGrp="1"/>
          </p:cNvSpPr>
          <p:nvPr/>
        </p:nvSpPr>
        <p:spPr>
          <a:xfrm>
            <a:off x="418502" y="6330118"/>
            <a:ext cx="4058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L" sz="1600" b="1" dirty="0">
                <a:solidFill>
                  <a:srgbClr val="0A3E6F"/>
                </a:solidFill>
                <a:latin typeface="Aptos Display"/>
                <a:ea typeface="Aptos Display"/>
                <a:cs typeface="Aptos Display"/>
              </a:rPr>
              <a:t>06</a:t>
            </a:r>
            <a:endParaRPr sz="1600" b="1" dirty="0">
              <a:solidFill>
                <a:srgbClr val="0A3E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D0D229F-7BAE-076A-C910-345E8D4C8704}"/>
              </a:ext>
            </a:extLst>
          </p:cNvPr>
          <p:cNvSpPr>
            <a:spLocks noGrp="1"/>
          </p:cNvSpPr>
          <p:nvPr/>
        </p:nvSpPr>
        <p:spPr>
          <a:xfrm>
            <a:off x="841547" y="6372387"/>
            <a:ext cx="24956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Arial Narrow"/>
                <a:ea typeface="Arial Narrow"/>
                <a:cs typeface="Arial Narrow"/>
              </a:rPr>
              <a:t>CAPSTONE · Ingeniería en Informática</a:t>
            </a:r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DFB03F53-9A6A-4E7E-AE58-420D216F669D}"/>
              </a:ext>
            </a:extLst>
          </p:cNvPr>
          <p:cNvSpPr>
            <a:spLocks noGrp="1"/>
          </p:cNvSpPr>
          <p:nvPr/>
        </p:nvSpPr>
        <p:spPr>
          <a:xfrm>
            <a:off x="3326720" y="6398507"/>
            <a:ext cx="0" cy="224758"/>
          </a:xfrm>
          <a:prstGeom prst="line">
            <a:avLst/>
          </a:prstGeom>
          <a:ln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L"/>
          </a:p>
        </p:txBody>
      </p:sp>
      <p:pic>
        <p:nvPicPr>
          <p:cNvPr id="45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930" y="6296972"/>
            <a:ext cx="1436666" cy="324000"/>
          </a:xfrm>
          <a:prstGeom prst="rect">
            <a:avLst/>
          </a:prstGeom>
        </p:spPr>
      </p:pic>
      <p:pic>
        <p:nvPicPr>
          <p:cNvPr id="46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CD55293-97E7-CB9D-105D-898F54204FC7}"/>
              </a:ext>
            </a:extLst>
          </p:cNvPr>
          <p:cNvSpPr>
            <a:spLocks noGrp="1"/>
          </p:cNvSpPr>
          <p:nvPr/>
        </p:nvSpPr>
        <p:spPr>
          <a:xfrm>
            <a:off x="362021" y="653722"/>
            <a:ext cx="609327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3600" b="1">
                <a:solidFill>
                  <a:srgbClr val="002060"/>
                </a:solidFill>
                <a:latin typeface="Abadi"/>
                <a:ea typeface="Abadi"/>
                <a:cs typeface="Abadi"/>
              </a:defRPr>
            </a:lvl1pPr>
          </a:lstStyle>
          <a:p>
            <a:r>
              <a:rPr sz="2800"/>
              <a:t>Responsabilidades claras,</a:t>
            </a:r>
          </a:p>
          <a:p>
            <a:r>
              <a:rPr sz="2800"/>
              <a:t>trabajo compartido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5559E407-E635-4D6B-93D5-063177728B2F}"/>
              </a:ext>
            </a:extLst>
          </p:cNvPr>
          <p:cNvSpPr>
            <a:spLocks noGrp="1"/>
          </p:cNvSpPr>
          <p:nvPr/>
        </p:nvSpPr>
        <p:spPr>
          <a:xfrm>
            <a:off x="418502" y="1605042"/>
            <a:ext cx="3924000" cy="0"/>
          </a:xfrm>
          <a:prstGeom prst="line">
            <a:avLst/>
          </a:prstGeom>
          <a:ln w="25400">
            <a:solidFill>
              <a:srgbClr val="269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CL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12B7581-E714-6F18-ABB7-EF6BFE0A0561}"/>
              </a:ext>
            </a:extLst>
          </p:cNvPr>
          <p:cNvSpPr>
            <a:spLocks noGrp="1"/>
          </p:cNvSpPr>
          <p:nvPr/>
        </p:nvSpPr>
        <p:spPr>
          <a:xfrm>
            <a:off x="382341" y="1615792"/>
            <a:ext cx="5586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</a:lstStyle>
          <a:p>
            <a:r>
              <a:rPr b="0"/>
              <a:t>Cada integrante lidera un frente y participa en la revisión cruzada de entregables críticos.</a:t>
            </a:r>
          </a:p>
        </p:txBody>
      </p:sp>
      <p:graphicFrame>
        <p:nvGraphicFramePr>
          <p:cNvPr id="50" name="Tabla 22"/>
          <p:cNvGraphicFramePr/>
          <p:nvPr/>
        </p:nvGraphicFramePr>
        <p:xfrm>
          <a:off x="418502" y="2376199"/>
          <a:ext cx="5762123" cy="22152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8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801">
                <a:tc>
                  <a:txBody>
                    <a:bodyPr/>
                    <a:lstStyle/>
                    <a:p>
                      <a:pPr marL="0" algn="ctr" defTabSz="914400">
                        <a:buNone/>
                      </a:pPr>
                      <a:r>
                        <a:rPr sz="2400" b="1">
                          <a:solidFill>
                            <a:srgbClr val="269DDE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anchor="ctr">
                    <a:lnR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CARLOS ARAYA</a:t>
                      </a:r>
                    </a:p>
                  </a:txBody>
                  <a:tcPr anchor="ctr">
                    <a:lnL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 Narrow"/>
                          <a:ea typeface="Arial Narrow"/>
                          <a:cs typeface="Arial Narrow"/>
                        </a:rPr>
                        <a:t>Jefe de Proyecto</a:t>
                      </a:r>
                    </a:p>
                  </a:txBody>
                  <a:tcPr anchor="ctr">
                    <a:lnL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L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269DDE"/>
                          </a:solidFill>
                        </a:rPr>
                        <a:t>02</a:t>
                      </a:r>
                    </a:p>
                  </a:txBody>
                  <a:tcPr anchor="ctr">
                    <a:lnR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RUBÉN MANSILLA</a:t>
                      </a:r>
                    </a:p>
                  </a:txBody>
                  <a:tcPr anchor="ctr">
                    <a:lnL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 Narrow"/>
                          <a:ea typeface="Arial Narrow"/>
                          <a:cs typeface="Arial Narrow"/>
                        </a:rPr>
                        <a:t>Analista de Sistemas / Requisitos</a:t>
                      </a:r>
                    </a:p>
                  </a:txBody>
                  <a:tcPr anchor="ctr">
                    <a:lnL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L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8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269DDE"/>
                          </a:solidFill>
                        </a:rPr>
                        <a:t>03</a:t>
                      </a:r>
                    </a:p>
                  </a:txBody>
                  <a:tcPr anchor="ctr">
                    <a:lnR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EDUARDO COMPAN</a:t>
                      </a:r>
                    </a:p>
                  </a:txBody>
                  <a:tcPr anchor="ctr">
                    <a:lnL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 Narrow"/>
                          <a:ea typeface="Arial Narrow"/>
                          <a:cs typeface="Arial Narrow"/>
                        </a:rPr>
                        <a:t>Desarrollador / Arquitecto de Software</a:t>
                      </a:r>
                    </a:p>
                  </a:txBody>
                  <a:tcPr anchor="ctr">
                    <a:lnL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L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269DDE"/>
                          </a:solidFill>
                        </a:rPr>
                        <a:t>04</a:t>
                      </a:r>
                    </a:p>
                  </a:txBody>
                  <a:tcPr anchor="ctr">
                    <a:lnR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ALEJANDRO GYSLING</a:t>
                      </a:r>
                    </a:p>
                  </a:txBody>
                  <a:tcPr anchor="ctr">
                    <a:lnL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 Narrow"/>
                          <a:ea typeface="Arial Narrow"/>
                          <a:cs typeface="Arial Narrow"/>
                        </a:rPr>
                        <a:t>Diseñador / QA</a:t>
                      </a:r>
                    </a:p>
                  </a:txBody>
                  <a:tcPr anchor="ctr">
                    <a:lnL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L>
                    <a:lnT w="12700" cmpd="sng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BCBCCA4-E4A6-D58A-9EBE-D8F53866ADA3}"/>
              </a:ext>
            </a:extLst>
          </p:cNvPr>
          <p:cNvSpPr>
            <a:spLocks noGrp="1"/>
          </p:cNvSpPr>
          <p:nvPr/>
        </p:nvSpPr>
        <p:spPr>
          <a:xfrm>
            <a:off x="463128" y="4876460"/>
            <a:ext cx="5359159" cy="1103443"/>
          </a:xfrm>
          <a:prstGeom prst="roundRect">
            <a:avLst>
              <a:gd name="adj" fmla="val 10299"/>
            </a:avLst>
          </a:prstGeom>
          <a:solidFill>
            <a:srgbClr val="DF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24C0833-F772-8DB4-C2FB-54F6A03BF653}"/>
              </a:ext>
            </a:extLst>
          </p:cNvPr>
          <p:cNvSpPr>
            <a:spLocks noGrp="1"/>
          </p:cNvSpPr>
          <p:nvPr/>
        </p:nvSpPr>
        <p:spPr>
          <a:xfrm>
            <a:off x="463128" y="4987791"/>
            <a:ext cx="535915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69DDE"/>
                </a:solidFill>
                <a:latin typeface="Abadi"/>
                <a:ea typeface="Abadi"/>
                <a:cs typeface="Abadi"/>
              </a:rPr>
              <a:t>TRABAJO COMPARTIDO</a:t>
            </a:r>
          </a:p>
          <a:p>
            <a:endParaRPr sz="1400" b="1">
              <a:solidFill>
                <a:srgbClr val="269DDE"/>
              </a:solidFill>
              <a:latin typeface="Abadi"/>
              <a:ea typeface="Abadi"/>
              <a:cs typeface="Abadi"/>
            </a:endParaRPr>
          </a:p>
          <a:p>
            <a:r>
              <a:rPr sz="1400" b="1">
                <a:latin typeface="Arial Narrow"/>
                <a:ea typeface="Arial Narrow"/>
                <a:cs typeface="Arial Narrow"/>
              </a:rPr>
              <a:t>200 h por integrante · 800 h totales</a:t>
            </a:r>
            <a:r>
              <a:rPr sz="1400">
                <a:latin typeface="Arial Narrow"/>
                <a:ea typeface="Arial Narrow"/>
                <a:cs typeface="Arial Narrow"/>
              </a:rPr>
              <a:t>
25% de participación por persona.</a:t>
            </a:r>
          </a:p>
        </p:txBody>
      </p:sp>
    </p:spTree>
    <p:extLst>
      <p:ext uri="{BB962C8B-B14F-4D97-AF65-F5344CB8AC3E}">
        <p14:creationId xmlns:p14="http://schemas.microsoft.com/office/powerpoint/2010/main" val="75000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n 92">
            <a:extLst>
              <a:ext uri="{FF2B5EF4-FFF2-40B4-BE49-F238E27FC236}">
                <a16:creationId xmlns:a16="http://schemas.microsoft.com/office/drawing/2014/main" id="{8E9F337E-7285-C564-86FA-E4221400D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798C028B-1A4F-D11A-4A4C-11B791AD9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90AD2E76-9E19-7396-4815-FD0F47CAC919}"/>
              </a:ext>
            </a:extLst>
          </p:cNvPr>
          <p:cNvSpPr/>
          <p:nvPr/>
        </p:nvSpPr>
        <p:spPr>
          <a:xfrm>
            <a:off x="2060952" y="217310"/>
            <a:ext cx="5529220" cy="390349"/>
          </a:xfrm>
          <a:prstGeom prst="roundRect">
            <a:avLst>
              <a:gd name="adj" fmla="val 3200"/>
            </a:avLst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EF462465-A4FE-045F-1058-0287C49BF2F5}"/>
              </a:ext>
            </a:extLst>
          </p:cNvPr>
          <p:cNvSpPr/>
          <p:nvPr/>
        </p:nvSpPr>
        <p:spPr>
          <a:xfrm>
            <a:off x="245660" y="792975"/>
            <a:ext cx="11402054" cy="4620771"/>
          </a:xfrm>
          <a:prstGeom prst="roundRect">
            <a:avLst>
              <a:gd name="adj" fmla="val 3200"/>
            </a:avLst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6B2397A-4E4D-C2A2-9E3C-50A632F8C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329798"/>
              </p:ext>
            </p:extLst>
          </p:nvPr>
        </p:nvGraphicFramePr>
        <p:xfrm>
          <a:off x="347870" y="949960"/>
          <a:ext cx="11160000" cy="439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3589802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5782322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5263659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47810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3660803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8472924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6869009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682795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305353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218788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1405722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222475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144973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998482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5508234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655501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765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Semanas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10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Hitos Principales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652958"/>
                  </a:ext>
                </a:extLst>
              </a:tr>
              <a:tr h="481864">
                <a:tc>
                  <a:txBody>
                    <a:bodyPr/>
                    <a:lstStyle/>
                    <a:p>
                      <a:pPr lvl="1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Propuesta e inicio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Problema, valor, objetivos, 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metodología, acta y planificación inicial.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Requisitos, diseño y arquitectura</a:t>
                      </a:r>
                    </a:p>
                    <a:p>
                      <a:pPr lvl="1"/>
                      <a:r>
                        <a:rPr lang="es-CL" sz="1050" dirty="0">
                          <a:latin typeface="Arial Narrow" panose="020B0606020202030204" pitchFamily="34" charset="0"/>
                        </a:rPr>
                        <a:t>ERS, AS-IS/TO-BE, arquitectura, datos, interfaces, seguridad e integración.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9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Desarrollo inicial 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Base técnica, API, base de datos y primeros módulos funcionales con evidencia.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839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Desarrollo final y verificación </a:t>
                      </a:r>
                      <a:br>
                        <a:rPr lang="es-MX" sz="1050" b="1" dirty="0">
                          <a:latin typeface="Arial Narrow" panose="020B0606020202030204" pitchFamily="34" charset="0"/>
                        </a:rPr>
                      </a:br>
                      <a:r>
                        <a:rPr lang="es-MX" sz="1050" b="0" dirty="0">
                          <a:latin typeface="Arial Narrow" panose="020B0606020202030204" pitchFamily="34" charset="0"/>
                        </a:rPr>
                        <a:t>Sitio web, </a:t>
                      </a:r>
                      <a:r>
                        <a:rPr lang="es-MX" sz="1050" dirty="0">
                          <a:latin typeface="Arial Narrow" panose="020B0606020202030204" pitchFamily="34" charset="0"/>
                        </a:rPr>
                        <a:t>aplicación móvil, QR, integración, pruebas, correcciones y documentación.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12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Aceptación y cierre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Entrega, aceptación, informe final, lecciones aprendidas, demostración y defensa.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211384"/>
                  </a:ext>
                </a:extLst>
              </a:tr>
            </a:tbl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FDEE117D-9FFC-F63B-855A-D946D546B283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BF7E8C3-451D-35CC-6237-100962864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BA169E83-957A-1713-3D8E-F6162DAC9595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07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93153C4-16D1-5B81-0019-5D1BC4D9371D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3F6D8875-3093-CD27-1844-C173A34E4782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35CAD8D-0C11-E52C-3631-760E746AC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9AF6BEF-3DE9-1463-F599-0B0B94373E04}"/>
              </a:ext>
            </a:extLst>
          </p:cNvPr>
          <p:cNvSpPr/>
          <p:nvPr/>
        </p:nvSpPr>
        <p:spPr>
          <a:xfrm>
            <a:off x="1225414" y="5463554"/>
            <a:ext cx="3465095" cy="808523"/>
          </a:xfrm>
          <a:prstGeom prst="roundRect">
            <a:avLst>
              <a:gd name="adj" fmla="val 1588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709F665-2D73-09EA-1039-18E7DC8229BF}"/>
              </a:ext>
            </a:extLst>
          </p:cNvPr>
          <p:cNvSpPr txBox="1"/>
          <p:nvPr/>
        </p:nvSpPr>
        <p:spPr>
          <a:xfrm>
            <a:off x="1225414" y="5463554"/>
            <a:ext cx="721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Leyenda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939C3A9-305F-33E8-93CB-AC3CE4162F74}"/>
              </a:ext>
            </a:extLst>
          </p:cNvPr>
          <p:cNvSpPr/>
          <p:nvPr/>
        </p:nvSpPr>
        <p:spPr>
          <a:xfrm>
            <a:off x="1355244" y="5749351"/>
            <a:ext cx="203846" cy="92798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42D7000-51B2-7BA5-F300-916FD7F7F794}"/>
              </a:ext>
            </a:extLst>
          </p:cNvPr>
          <p:cNvSpPr/>
          <p:nvPr/>
        </p:nvSpPr>
        <p:spPr>
          <a:xfrm>
            <a:off x="1355244" y="6005221"/>
            <a:ext cx="203846" cy="92798"/>
          </a:xfrm>
          <a:prstGeom prst="roundRect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3EA9B76F-6B38-8DF1-CFC0-973BBFEB99E6}"/>
              </a:ext>
            </a:extLst>
          </p:cNvPr>
          <p:cNvSpPr/>
          <p:nvPr/>
        </p:nvSpPr>
        <p:spPr>
          <a:xfrm>
            <a:off x="2476587" y="5749351"/>
            <a:ext cx="203846" cy="92798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0D37208-7686-F169-DEC9-83E5DDBF727C}"/>
              </a:ext>
            </a:extLst>
          </p:cNvPr>
          <p:cNvSpPr/>
          <p:nvPr/>
        </p:nvSpPr>
        <p:spPr>
          <a:xfrm>
            <a:off x="3520182" y="5749351"/>
            <a:ext cx="203846" cy="92798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ombo 22">
            <a:extLst>
              <a:ext uri="{FF2B5EF4-FFF2-40B4-BE49-F238E27FC236}">
                <a16:creationId xmlns:a16="http://schemas.microsoft.com/office/drawing/2014/main" id="{FA755AA9-DAD5-378F-1361-C7AAD7CD8CF7}"/>
              </a:ext>
            </a:extLst>
          </p:cNvPr>
          <p:cNvSpPr>
            <a:spLocks noChangeAspect="1"/>
          </p:cNvSpPr>
          <p:nvPr/>
        </p:nvSpPr>
        <p:spPr>
          <a:xfrm>
            <a:off x="2476587" y="5979620"/>
            <a:ext cx="144000" cy="144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F7A08A7-5D9A-8B30-49D5-9BD07B135D76}"/>
              </a:ext>
            </a:extLst>
          </p:cNvPr>
          <p:cNvSpPr txBox="1"/>
          <p:nvPr/>
        </p:nvSpPr>
        <p:spPr>
          <a:xfrm>
            <a:off x="1510106" y="5680334"/>
            <a:ext cx="696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Completado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B24CD2C-F419-C484-7EC3-0DBBD0D6A17C}"/>
              </a:ext>
            </a:extLst>
          </p:cNvPr>
          <p:cNvSpPr txBox="1"/>
          <p:nvPr/>
        </p:nvSpPr>
        <p:spPr>
          <a:xfrm>
            <a:off x="1532565" y="5924924"/>
            <a:ext cx="564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Posterior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B740EB7-891D-C950-9DD5-961BA19CC735}"/>
              </a:ext>
            </a:extLst>
          </p:cNvPr>
          <p:cNvSpPr txBox="1"/>
          <p:nvPr/>
        </p:nvSpPr>
        <p:spPr>
          <a:xfrm>
            <a:off x="2629506" y="5680334"/>
            <a:ext cx="5597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En curso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FB4AE97-5C7D-3A53-B2F8-D98E1EB5ED33}"/>
              </a:ext>
            </a:extLst>
          </p:cNvPr>
          <p:cNvSpPr txBox="1"/>
          <p:nvPr/>
        </p:nvSpPr>
        <p:spPr>
          <a:xfrm>
            <a:off x="2602943" y="5926652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Hito (Fecha tope)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2496E29-ECE3-8E4C-B1B2-15A1F6FECD7D}"/>
              </a:ext>
            </a:extLst>
          </p:cNvPr>
          <p:cNvSpPr txBox="1"/>
          <p:nvPr/>
        </p:nvSpPr>
        <p:spPr>
          <a:xfrm>
            <a:off x="3697979" y="5677126"/>
            <a:ext cx="5325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Próximo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D171AD40-037A-1FD5-1AD7-D97A9F8DDA5F}"/>
              </a:ext>
            </a:extLst>
          </p:cNvPr>
          <p:cNvSpPr/>
          <p:nvPr/>
        </p:nvSpPr>
        <p:spPr>
          <a:xfrm>
            <a:off x="4790459" y="5463554"/>
            <a:ext cx="3253409" cy="808523"/>
          </a:xfrm>
          <a:prstGeom prst="roundRect">
            <a:avLst>
              <a:gd name="adj" fmla="val 1015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A32FF14-7211-4DA1-C276-E7C1BCE35C4D}"/>
              </a:ext>
            </a:extLst>
          </p:cNvPr>
          <p:cNvSpPr txBox="1"/>
          <p:nvPr/>
        </p:nvSpPr>
        <p:spPr>
          <a:xfrm>
            <a:off x="4816963" y="5439884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Notas</a:t>
            </a:r>
            <a:endParaRPr lang="es-CL" sz="1100" b="1" dirty="0">
              <a:latin typeface="Abadi" panose="020B0604020104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7BB130C-FEA5-3362-CC53-DEA41A9D4CD6}"/>
              </a:ext>
            </a:extLst>
          </p:cNvPr>
          <p:cNvSpPr txBox="1"/>
          <p:nvPr/>
        </p:nvSpPr>
        <p:spPr>
          <a:xfrm>
            <a:off x="4820764" y="5677125"/>
            <a:ext cx="3249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800" dirty="0"/>
              <a:t>Cronograma basado en el Acta de Constitución (GATI-ACT-01).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800" dirty="0"/>
              <a:t>Las fechas podrán ajustarse sólo mediante control de cambios</a:t>
            </a:r>
          </a:p>
          <a:p>
            <a:r>
              <a:rPr lang="es-MX" sz="800" dirty="0"/>
              <a:t>              aprobado.</a:t>
            </a:r>
            <a:endParaRPr lang="es-CL" sz="800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70916C55-8143-ECA2-1CA7-139D01B0BCF1}"/>
              </a:ext>
            </a:extLst>
          </p:cNvPr>
          <p:cNvSpPr/>
          <p:nvPr/>
        </p:nvSpPr>
        <p:spPr>
          <a:xfrm>
            <a:off x="8143818" y="5463554"/>
            <a:ext cx="2613432" cy="808523"/>
          </a:xfrm>
          <a:prstGeom prst="roundRect">
            <a:avLst>
              <a:gd name="adj" fmla="val 1015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EE097A8-07F7-201A-6868-FCB932707C13}"/>
              </a:ext>
            </a:extLst>
          </p:cNvPr>
          <p:cNvSpPr txBox="1"/>
          <p:nvPr/>
        </p:nvSpPr>
        <p:spPr>
          <a:xfrm>
            <a:off x="8143818" y="5439884"/>
            <a:ext cx="10166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Convenciones</a:t>
            </a:r>
            <a:endParaRPr lang="es-CL" sz="1100" b="1" dirty="0">
              <a:latin typeface="Abadi" panose="020B0604020104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D66522A-BA98-6223-D27B-1A8BAE57A1B8}"/>
              </a:ext>
            </a:extLst>
          </p:cNvPr>
          <p:cNvSpPr txBox="1"/>
          <p:nvPr/>
        </p:nvSpPr>
        <p:spPr>
          <a:xfrm>
            <a:off x="8581343" y="5650925"/>
            <a:ext cx="1566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Línea de tiempo actual (HOY)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D66CE74-06FA-19CC-F5ED-3FEDDDF7A40C}"/>
              </a:ext>
            </a:extLst>
          </p:cNvPr>
          <p:cNvSpPr txBox="1"/>
          <p:nvPr/>
        </p:nvSpPr>
        <p:spPr>
          <a:xfrm>
            <a:off x="8581343" y="5834949"/>
            <a:ext cx="1422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Duración estimada del hito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7838AA1-C40A-6C52-F398-F99AF8B4F75F}"/>
              </a:ext>
            </a:extLst>
          </p:cNvPr>
          <p:cNvSpPr txBox="1"/>
          <p:nvPr/>
        </p:nvSpPr>
        <p:spPr>
          <a:xfrm>
            <a:off x="8581343" y="6000509"/>
            <a:ext cx="10711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Fecha tope del hito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6507208D-FB42-9FA6-7EF5-CD6B8B358871}"/>
              </a:ext>
            </a:extLst>
          </p:cNvPr>
          <p:cNvSpPr/>
          <p:nvPr/>
        </p:nvSpPr>
        <p:spPr>
          <a:xfrm>
            <a:off x="8327522" y="5897648"/>
            <a:ext cx="203846" cy="92798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Rombo 40">
            <a:extLst>
              <a:ext uri="{FF2B5EF4-FFF2-40B4-BE49-F238E27FC236}">
                <a16:creationId xmlns:a16="http://schemas.microsoft.com/office/drawing/2014/main" id="{5D6A0490-0DDE-165C-1F17-A4AFD9B4EBCD}"/>
              </a:ext>
            </a:extLst>
          </p:cNvPr>
          <p:cNvSpPr>
            <a:spLocks noChangeAspect="1"/>
          </p:cNvSpPr>
          <p:nvPr/>
        </p:nvSpPr>
        <p:spPr>
          <a:xfrm>
            <a:off x="8363897" y="6051620"/>
            <a:ext cx="144000" cy="144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96B51E9-599D-CE1B-9ECB-22D3206523A7}"/>
              </a:ext>
            </a:extLst>
          </p:cNvPr>
          <p:cNvCxnSpPr>
            <a:cxnSpLocks/>
          </p:cNvCxnSpPr>
          <p:nvPr/>
        </p:nvCxnSpPr>
        <p:spPr>
          <a:xfrm>
            <a:off x="8301828" y="5791108"/>
            <a:ext cx="279515" cy="143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54D87909-4D5F-5837-BCF3-A307FB1C0B90}"/>
              </a:ext>
            </a:extLst>
          </p:cNvPr>
          <p:cNvSpPr/>
          <p:nvPr/>
        </p:nvSpPr>
        <p:spPr>
          <a:xfrm>
            <a:off x="418501" y="1897073"/>
            <a:ext cx="423045" cy="324000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FD29D965-56EB-22EB-703D-CCB420C12154}"/>
              </a:ext>
            </a:extLst>
          </p:cNvPr>
          <p:cNvSpPr/>
          <p:nvPr/>
        </p:nvSpPr>
        <p:spPr>
          <a:xfrm>
            <a:off x="418501" y="2656399"/>
            <a:ext cx="423045" cy="324000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C33FF23A-5645-0BB9-3B8B-4DE88647729F}"/>
              </a:ext>
            </a:extLst>
          </p:cNvPr>
          <p:cNvSpPr/>
          <p:nvPr/>
        </p:nvSpPr>
        <p:spPr>
          <a:xfrm>
            <a:off x="418501" y="3370272"/>
            <a:ext cx="423045" cy="324000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47D84F46-6C4C-C58B-6322-28D71EF7795C}"/>
              </a:ext>
            </a:extLst>
          </p:cNvPr>
          <p:cNvSpPr/>
          <p:nvPr/>
        </p:nvSpPr>
        <p:spPr>
          <a:xfrm>
            <a:off x="418501" y="4104550"/>
            <a:ext cx="423045" cy="324000"/>
          </a:xfrm>
          <a:prstGeom prst="roundRect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99C6A5D7-1B94-C5DE-A372-24833DB9EED8}"/>
              </a:ext>
            </a:extLst>
          </p:cNvPr>
          <p:cNvSpPr/>
          <p:nvPr/>
        </p:nvSpPr>
        <p:spPr>
          <a:xfrm>
            <a:off x="418501" y="4838828"/>
            <a:ext cx="423045" cy="324000"/>
          </a:xfrm>
          <a:prstGeom prst="roundRect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86E85CA-2A93-7CE1-E6AE-E04137F89C82}"/>
              </a:ext>
            </a:extLst>
          </p:cNvPr>
          <p:cNvSpPr txBox="1"/>
          <p:nvPr/>
        </p:nvSpPr>
        <p:spPr>
          <a:xfrm>
            <a:off x="392052" y="191728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H-01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5E88557-EFA2-5A96-BF3F-3584DA659E1E}"/>
              </a:ext>
            </a:extLst>
          </p:cNvPr>
          <p:cNvSpPr txBox="1"/>
          <p:nvPr/>
        </p:nvSpPr>
        <p:spPr>
          <a:xfrm>
            <a:off x="408448" y="267989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08E68E3-703D-AAF3-ECC5-DCA664AFAF04}"/>
              </a:ext>
            </a:extLst>
          </p:cNvPr>
          <p:cNvSpPr txBox="1"/>
          <p:nvPr/>
        </p:nvSpPr>
        <p:spPr>
          <a:xfrm>
            <a:off x="392052" y="339377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H-03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FAB2B9E-27D5-932D-B702-9AEEBF4F12F3}"/>
              </a:ext>
            </a:extLst>
          </p:cNvPr>
          <p:cNvSpPr txBox="1"/>
          <p:nvPr/>
        </p:nvSpPr>
        <p:spPr>
          <a:xfrm>
            <a:off x="400633" y="4128050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H-04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23517FA-54D3-540B-95EB-F48167518908}"/>
              </a:ext>
            </a:extLst>
          </p:cNvPr>
          <p:cNvSpPr txBox="1"/>
          <p:nvPr/>
        </p:nvSpPr>
        <p:spPr>
          <a:xfrm>
            <a:off x="392052" y="486232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H-05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5A1E2CC5-D0F0-2BA1-7E97-55E56EC9C3F9}"/>
              </a:ext>
            </a:extLst>
          </p:cNvPr>
          <p:cNvSpPr/>
          <p:nvPr/>
        </p:nvSpPr>
        <p:spPr>
          <a:xfrm>
            <a:off x="2962275" y="1942288"/>
            <a:ext cx="1899285" cy="252000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ECB52E68-CA54-C728-62B5-FAA9F9AFF8BC}"/>
              </a:ext>
            </a:extLst>
          </p:cNvPr>
          <p:cNvSpPr/>
          <p:nvPr/>
        </p:nvSpPr>
        <p:spPr>
          <a:xfrm>
            <a:off x="5083222" y="2638364"/>
            <a:ext cx="1401398" cy="252000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DCECBCAB-C2DA-826A-EDAA-7D7171AF848C}"/>
              </a:ext>
            </a:extLst>
          </p:cNvPr>
          <p:cNvSpPr/>
          <p:nvPr/>
        </p:nvSpPr>
        <p:spPr>
          <a:xfrm>
            <a:off x="6652260" y="3385674"/>
            <a:ext cx="1432560" cy="252000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02397409-1078-0AB2-D833-67E242FF41A9}"/>
              </a:ext>
            </a:extLst>
          </p:cNvPr>
          <p:cNvSpPr/>
          <p:nvPr/>
        </p:nvSpPr>
        <p:spPr>
          <a:xfrm>
            <a:off x="8282940" y="4104550"/>
            <a:ext cx="1432560" cy="252000"/>
          </a:xfrm>
          <a:prstGeom prst="roundRect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D004349E-B946-3E6E-FBF6-011EF9954BD8}"/>
              </a:ext>
            </a:extLst>
          </p:cNvPr>
          <p:cNvSpPr/>
          <p:nvPr/>
        </p:nvSpPr>
        <p:spPr>
          <a:xfrm>
            <a:off x="9890760" y="4862328"/>
            <a:ext cx="1440180" cy="252000"/>
          </a:xfrm>
          <a:prstGeom prst="roundRect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2" name="Rombo 71">
            <a:extLst>
              <a:ext uri="{FF2B5EF4-FFF2-40B4-BE49-F238E27FC236}">
                <a16:creationId xmlns:a16="http://schemas.microsoft.com/office/drawing/2014/main" id="{BFDAEB0C-1BD8-0592-7824-D75593874CF4}"/>
              </a:ext>
            </a:extLst>
          </p:cNvPr>
          <p:cNvSpPr>
            <a:spLocks noChangeAspect="1"/>
          </p:cNvSpPr>
          <p:nvPr/>
        </p:nvSpPr>
        <p:spPr>
          <a:xfrm>
            <a:off x="4894371" y="1947304"/>
            <a:ext cx="252000" cy="252000"/>
          </a:xfrm>
          <a:prstGeom prst="diamond">
            <a:avLst/>
          </a:prstGeom>
          <a:solidFill>
            <a:srgbClr val="138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4" name="Rombo 73">
            <a:extLst>
              <a:ext uri="{FF2B5EF4-FFF2-40B4-BE49-F238E27FC236}">
                <a16:creationId xmlns:a16="http://schemas.microsoft.com/office/drawing/2014/main" id="{453C5E3D-DD2F-97EC-DC62-67B620D5E164}"/>
              </a:ext>
            </a:extLst>
          </p:cNvPr>
          <p:cNvSpPr>
            <a:spLocks noChangeAspect="1"/>
          </p:cNvSpPr>
          <p:nvPr/>
        </p:nvSpPr>
        <p:spPr>
          <a:xfrm>
            <a:off x="6513172" y="2641194"/>
            <a:ext cx="252000" cy="252000"/>
          </a:xfrm>
          <a:prstGeom prst="diamond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0" name="Rombo 79">
            <a:extLst>
              <a:ext uri="{FF2B5EF4-FFF2-40B4-BE49-F238E27FC236}">
                <a16:creationId xmlns:a16="http://schemas.microsoft.com/office/drawing/2014/main" id="{0A2F1A0E-9C1B-D566-7E6F-83C89CFB4C69}"/>
              </a:ext>
            </a:extLst>
          </p:cNvPr>
          <p:cNvSpPr>
            <a:spLocks noChangeAspect="1"/>
          </p:cNvSpPr>
          <p:nvPr/>
        </p:nvSpPr>
        <p:spPr>
          <a:xfrm>
            <a:off x="11359230" y="4862328"/>
            <a:ext cx="252000" cy="252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9B4E01D-67CC-97EF-6C6B-6DEE00EB3F04}"/>
              </a:ext>
            </a:extLst>
          </p:cNvPr>
          <p:cNvSpPr txBox="1"/>
          <p:nvPr/>
        </p:nvSpPr>
        <p:spPr>
          <a:xfrm>
            <a:off x="5098462" y="1942288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208332"/>
                </a:solidFill>
                <a:latin typeface="Arial Narrow" panose="020B0606020202030204" pitchFamily="34" charset="0"/>
              </a:rPr>
              <a:t>04/09/2026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B278F00D-89F2-0CB6-51D0-DFDC8562973C}"/>
              </a:ext>
            </a:extLst>
          </p:cNvPr>
          <p:cNvSpPr txBox="1"/>
          <p:nvPr/>
        </p:nvSpPr>
        <p:spPr>
          <a:xfrm>
            <a:off x="6706282" y="2625864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0A569F"/>
                </a:solidFill>
                <a:latin typeface="Arial Narrow" panose="020B0606020202030204" pitchFamily="34" charset="0"/>
              </a:rPr>
              <a:t>25/09/2026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5B280EA-8211-7566-BBBF-BB04A9B15649}"/>
              </a:ext>
            </a:extLst>
          </p:cNvPr>
          <p:cNvGrpSpPr/>
          <p:nvPr/>
        </p:nvGrpSpPr>
        <p:grpSpPr>
          <a:xfrm>
            <a:off x="8134122" y="3370272"/>
            <a:ext cx="1034995" cy="276999"/>
            <a:chOff x="7501662" y="3370272"/>
            <a:chExt cx="1034995" cy="276999"/>
          </a:xfrm>
        </p:grpSpPr>
        <p:sp>
          <p:nvSpPr>
            <p:cNvPr id="76" name="Rombo 75">
              <a:extLst>
                <a:ext uri="{FF2B5EF4-FFF2-40B4-BE49-F238E27FC236}">
                  <a16:creationId xmlns:a16="http://schemas.microsoft.com/office/drawing/2014/main" id="{101CE90F-5EE4-B485-D925-0E8D56A6E6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01662" y="3385674"/>
              <a:ext cx="252000" cy="252000"/>
            </a:xfrm>
            <a:prstGeom prst="diamond">
              <a:avLst/>
            </a:prstGeom>
            <a:solidFill>
              <a:srgbClr val="EA58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CCFD40D0-C6F9-4494-80F9-E8232EDB9E78}"/>
                </a:ext>
              </a:extLst>
            </p:cNvPr>
            <p:cNvSpPr txBox="1"/>
            <p:nvPr/>
          </p:nvSpPr>
          <p:spPr>
            <a:xfrm>
              <a:off x="7717202" y="3370272"/>
              <a:ext cx="8194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EA5803"/>
                  </a:solidFill>
                  <a:latin typeface="Arial Narrow" panose="020B0606020202030204" pitchFamily="34" charset="0"/>
                </a:rPr>
                <a:t>16/10/2026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E1BEB46B-6762-0A64-5F95-14BCA4800C1D}"/>
              </a:ext>
            </a:extLst>
          </p:cNvPr>
          <p:cNvGrpSpPr/>
          <p:nvPr/>
        </p:nvGrpSpPr>
        <p:grpSpPr>
          <a:xfrm>
            <a:off x="9753175" y="4079551"/>
            <a:ext cx="1010665" cy="276999"/>
            <a:chOff x="9166435" y="4079551"/>
            <a:chExt cx="1010665" cy="276999"/>
          </a:xfrm>
        </p:grpSpPr>
        <p:sp>
          <p:nvSpPr>
            <p:cNvPr id="78" name="Rombo 77">
              <a:extLst>
                <a:ext uri="{FF2B5EF4-FFF2-40B4-BE49-F238E27FC236}">
                  <a16:creationId xmlns:a16="http://schemas.microsoft.com/office/drawing/2014/main" id="{5A026651-E008-58F3-5BF5-B3EFBFB571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6435" y="4104550"/>
              <a:ext cx="252000" cy="252000"/>
            </a:xfrm>
            <a:prstGeom prst="diamond">
              <a:avLst/>
            </a:prstGeom>
            <a:solidFill>
              <a:srgbClr val="633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DB380DE1-7EEB-C945-97D4-82BE2F8EF253}"/>
                </a:ext>
              </a:extLst>
            </p:cNvPr>
            <p:cNvSpPr txBox="1"/>
            <p:nvPr/>
          </p:nvSpPr>
          <p:spPr>
            <a:xfrm>
              <a:off x="9364570" y="4079551"/>
              <a:ext cx="8125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633699"/>
                  </a:solidFill>
                  <a:latin typeface="Arial Narrow" panose="020B0606020202030204" pitchFamily="34" charset="0"/>
                </a:rPr>
                <a:t>06/11/2026</a:t>
              </a:r>
            </a:p>
          </p:txBody>
        </p:sp>
      </p:grpSp>
      <p:sp>
        <p:nvSpPr>
          <p:cNvPr id="91" name="CuadroTexto 90">
            <a:extLst>
              <a:ext uri="{FF2B5EF4-FFF2-40B4-BE49-F238E27FC236}">
                <a16:creationId xmlns:a16="http://schemas.microsoft.com/office/drawing/2014/main" id="{A02C198E-A18B-6D77-2ABE-5139D5E38DD2}"/>
              </a:ext>
            </a:extLst>
          </p:cNvPr>
          <p:cNvSpPr txBox="1"/>
          <p:nvPr/>
        </p:nvSpPr>
        <p:spPr>
          <a:xfrm>
            <a:off x="10789321" y="4587368"/>
            <a:ext cx="812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BB0E13"/>
                </a:solidFill>
                <a:latin typeface="Arial Narrow" panose="020B0606020202030204" pitchFamily="34" charset="0"/>
              </a:rPr>
              <a:t>27/11/2026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7E3F5788-63B2-568C-742A-676F4A1EFD9F}"/>
              </a:ext>
            </a:extLst>
          </p:cNvPr>
          <p:cNvSpPr txBox="1"/>
          <p:nvPr/>
        </p:nvSpPr>
        <p:spPr>
          <a:xfrm>
            <a:off x="577154" y="101025"/>
            <a:ext cx="685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Roadmap General del Proyecto GATI</a:t>
            </a:r>
          </a:p>
        </p:txBody>
      </p:sp>
    </p:spTree>
    <p:extLst>
      <p:ext uri="{BB962C8B-B14F-4D97-AF65-F5344CB8AC3E}">
        <p14:creationId xmlns:p14="http://schemas.microsoft.com/office/powerpoint/2010/main" val="371096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n 164">
            <a:extLst>
              <a:ext uri="{FF2B5EF4-FFF2-40B4-BE49-F238E27FC236}">
                <a16:creationId xmlns:a16="http://schemas.microsoft.com/office/drawing/2014/main" id="{36A12536-275B-00EB-41D1-921D0C4D9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69" name="Imagen 168">
            <a:extLst>
              <a:ext uri="{FF2B5EF4-FFF2-40B4-BE49-F238E27FC236}">
                <a16:creationId xmlns:a16="http://schemas.microsoft.com/office/drawing/2014/main" id="{CA721711-4D09-567C-3EEC-07A96B561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67" name="Rectángulo: esquinas redondeadas 166">
            <a:extLst>
              <a:ext uri="{FF2B5EF4-FFF2-40B4-BE49-F238E27FC236}">
                <a16:creationId xmlns:a16="http://schemas.microsoft.com/office/drawing/2014/main" id="{713B086C-D6B5-A9FB-5010-C4850F265AFC}"/>
              </a:ext>
            </a:extLst>
          </p:cNvPr>
          <p:cNvSpPr/>
          <p:nvPr/>
        </p:nvSpPr>
        <p:spPr>
          <a:xfrm>
            <a:off x="2809551" y="987870"/>
            <a:ext cx="6651137" cy="3708370"/>
          </a:xfrm>
          <a:prstGeom prst="roundRect">
            <a:avLst>
              <a:gd name="adj" fmla="val 5891"/>
            </a:avLst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5" name="Rectángulo: esquinas redondeadas 114">
            <a:extLst>
              <a:ext uri="{FF2B5EF4-FFF2-40B4-BE49-F238E27FC236}">
                <a16:creationId xmlns:a16="http://schemas.microsoft.com/office/drawing/2014/main" id="{A9A6DD0C-ADD6-CDA9-4A43-9C62CCE5A561}"/>
              </a:ext>
            </a:extLst>
          </p:cNvPr>
          <p:cNvSpPr/>
          <p:nvPr/>
        </p:nvSpPr>
        <p:spPr>
          <a:xfrm>
            <a:off x="251012" y="4757334"/>
            <a:ext cx="3747246" cy="1598642"/>
          </a:xfrm>
          <a:prstGeom prst="roundRect">
            <a:avLst>
              <a:gd name="adj" fmla="val 5732"/>
            </a:avLst>
          </a:prstGeom>
          <a:solidFill>
            <a:srgbClr val="F1F3FB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2" name="Rectángulo: esquinas superiores redondeadas 121">
            <a:extLst>
              <a:ext uri="{FF2B5EF4-FFF2-40B4-BE49-F238E27FC236}">
                <a16:creationId xmlns:a16="http://schemas.microsoft.com/office/drawing/2014/main" id="{C3A29777-764A-F0E6-6197-D3DAEB9D1643}"/>
              </a:ext>
            </a:extLst>
          </p:cNvPr>
          <p:cNvSpPr/>
          <p:nvPr/>
        </p:nvSpPr>
        <p:spPr>
          <a:xfrm>
            <a:off x="266022" y="4764829"/>
            <a:ext cx="3710011" cy="351357"/>
          </a:xfrm>
          <a:prstGeom prst="round2SameRect">
            <a:avLst>
              <a:gd name="adj1" fmla="val 25994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7" name="Rectángulo: esquinas superiores redondeadas 76">
            <a:extLst>
              <a:ext uri="{FF2B5EF4-FFF2-40B4-BE49-F238E27FC236}">
                <a16:creationId xmlns:a16="http://schemas.microsoft.com/office/drawing/2014/main" id="{42A32A2A-385F-6E65-3E81-FF894A57C49E}"/>
              </a:ext>
            </a:extLst>
          </p:cNvPr>
          <p:cNvSpPr/>
          <p:nvPr/>
        </p:nvSpPr>
        <p:spPr>
          <a:xfrm>
            <a:off x="3520308" y="1568360"/>
            <a:ext cx="1295532" cy="2362978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9" name="Rectángulo: esquinas superiores redondeadas 78">
            <a:extLst>
              <a:ext uri="{FF2B5EF4-FFF2-40B4-BE49-F238E27FC236}">
                <a16:creationId xmlns:a16="http://schemas.microsoft.com/office/drawing/2014/main" id="{C2E579E8-3DD9-E7BA-81AA-DCBC9F807D28}"/>
              </a:ext>
            </a:extLst>
          </p:cNvPr>
          <p:cNvSpPr/>
          <p:nvPr/>
        </p:nvSpPr>
        <p:spPr>
          <a:xfrm>
            <a:off x="4831080" y="1568360"/>
            <a:ext cx="1021080" cy="2362978"/>
          </a:xfrm>
          <a:prstGeom prst="round2SameRect">
            <a:avLst>
              <a:gd name="adj1" fmla="val 6961"/>
              <a:gd name="adj2" fmla="val 0"/>
            </a:avLst>
          </a:prstGeom>
          <a:solidFill>
            <a:srgbClr val="E0E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1" name="Rectángulo: esquinas superiores redondeadas 80">
            <a:extLst>
              <a:ext uri="{FF2B5EF4-FFF2-40B4-BE49-F238E27FC236}">
                <a16:creationId xmlns:a16="http://schemas.microsoft.com/office/drawing/2014/main" id="{F7323815-2975-67CB-2CED-85AD9D663F0A}"/>
              </a:ext>
            </a:extLst>
          </p:cNvPr>
          <p:cNvSpPr/>
          <p:nvPr/>
        </p:nvSpPr>
        <p:spPr>
          <a:xfrm>
            <a:off x="5888392" y="1568360"/>
            <a:ext cx="1111848" cy="2362978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FEEB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3" name="Rectángulo: esquinas superiores redondeadas 82">
            <a:extLst>
              <a:ext uri="{FF2B5EF4-FFF2-40B4-BE49-F238E27FC236}">
                <a16:creationId xmlns:a16="http://schemas.microsoft.com/office/drawing/2014/main" id="{FE67FD1B-31E1-D98F-F6ED-BC5E411ED18D}"/>
              </a:ext>
            </a:extLst>
          </p:cNvPr>
          <p:cNvSpPr/>
          <p:nvPr/>
        </p:nvSpPr>
        <p:spPr>
          <a:xfrm>
            <a:off x="7053136" y="1568360"/>
            <a:ext cx="1242504" cy="2362978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E8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5" name="Rectángulo: esquinas superiores redondeadas 84">
            <a:extLst>
              <a:ext uri="{FF2B5EF4-FFF2-40B4-BE49-F238E27FC236}">
                <a16:creationId xmlns:a16="http://schemas.microsoft.com/office/drawing/2014/main" id="{7E4E7468-FF5D-55C9-4B84-7208A104BCBA}"/>
              </a:ext>
            </a:extLst>
          </p:cNvPr>
          <p:cNvSpPr/>
          <p:nvPr/>
        </p:nvSpPr>
        <p:spPr>
          <a:xfrm>
            <a:off x="8348536" y="1564403"/>
            <a:ext cx="882445" cy="2362978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FDD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5CC3CE66-C970-70B9-AE3F-D45F3C70A360}"/>
              </a:ext>
            </a:extLst>
          </p:cNvPr>
          <p:cNvSpPr/>
          <p:nvPr/>
        </p:nvSpPr>
        <p:spPr>
          <a:xfrm>
            <a:off x="9524455" y="1037492"/>
            <a:ext cx="2430142" cy="3037408"/>
          </a:xfrm>
          <a:prstGeom prst="roundRect">
            <a:avLst>
              <a:gd name="adj" fmla="val 3368"/>
            </a:avLst>
          </a:prstGeom>
          <a:solidFill>
            <a:srgbClr val="F1F3FB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6" name="Rectángulo: esquinas superiores redondeadas 75">
            <a:extLst>
              <a:ext uri="{FF2B5EF4-FFF2-40B4-BE49-F238E27FC236}">
                <a16:creationId xmlns:a16="http://schemas.microsoft.com/office/drawing/2014/main" id="{64EB7A44-F25C-D15B-DA48-82F761C2253D}"/>
              </a:ext>
            </a:extLst>
          </p:cNvPr>
          <p:cNvSpPr/>
          <p:nvPr/>
        </p:nvSpPr>
        <p:spPr>
          <a:xfrm>
            <a:off x="9533341" y="1046422"/>
            <a:ext cx="2412370" cy="394747"/>
          </a:xfrm>
          <a:prstGeom prst="round2SameRect">
            <a:avLst>
              <a:gd name="adj1" fmla="val 19212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B6E454CA-5131-8618-0D07-9ECEC6962BB3}"/>
              </a:ext>
            </a:extLst>
          </p:cNvPr>
          <p:cNvSpPr/>
          <p:nvPr/>
        </p:nvSpPr>
        <p:spPr>
          <a:xfrm>
            <a:off x="2822005" y="987869"/>
            <a:ext cx="6633080" cy="3716106"/>
          </a:xfrm>
          <a:prstGeom prst="roundRect">
            <a:avLst>
              <a:gd name="adj" fmla="val 5852"/>
            </a:avLst>
          </a:prstGeom>
          <a:noFill/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4FDE431-0CE1-B692-3AC5-5FF97BFC30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4113015"/>
              </p:ext>
            </p:extLst>
          </p:nvPr>
        </p:nvGraphicFramePr>
        <p:xfrm>
          <a:off x="2914106" y="1066800"/>
          <a:ext cx="6466114" cy="35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F550958-CDC6-D805-F084-C62A4A7EF141}"/>
              </a:ext>
            </a:extLst>
          </p:cNvPr>
          <p:cNvSpPr txBox="1"/>
          <p:nvPr/>
        </p:nvSpPr>
        <p:spPr>
          <a:xfrm>
            <a:off x="577154" y="101025"/>
            <a:ext cx="685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Estado de Avance General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82EB4BB-A52F-430F-DC8D-7C9F00C4B4D6}"/>
              </a:ext>
            </a:extLst>
          </p:cNvPr>
          <p:cNvSpPr/>
          <p:nvPr/>
        </p:nvSpPr>
        <p:spPr>
          <a:xfrm>
            <a:off x="310056" y="1111468"/>
            <a:ext cx="2430142" cy="3402725"/>
          </a:xfrm>
          <a:prstGeom prst="roundRect">
            <a:avLst>
              <a:gd name="adj" fmla="val 3368"/>
            </a:avLst>
          </a:prstGeom>
          <a:solidFill>
            <a:srgbClr val="FCFCFE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AD0241B-DD8F-2627-8B62-C99CC165A1CC}"/>
              </a:ext>
            </a:extLst>
          </p:cNvPr>
          <p:cNvSpPr/>
          <p:nvPr/>
        </p:nvSpPr>
        <p:spPr>
          <a:xfrm>
            <a:off x="418913" y="1231426"/>
            <a:ext cx="2212428" cy="625365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" name="Gráfico 10" descr="Monthly calendar contorno">
            <a:extLst>
              <a:ext uri="{FF2B5EF4-FFF2-40B4-BE49-F238E27FC236}">
                <a16:creationId xmlns:a16="http://schemas.microsoft.com/office/drawing/2014/main" id="{AD74F295-CCEE-0B35-CB64-CCEAAD5A8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807" y="1322332"/>
            <a:ext cx="559676" cy="44355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6DCCC38-8400-726E-4129-9EB4CB460C25}"/>
              </a:ext>
            </a:extLst>
          </p:cNvPr>
          <p:cNvSpPr txBox="1"/>
          <p:nvPr/>
        </p:nvSpPr>
        <p:spPr>
          <a:xfrm>
            <a:off x="977022" y="1249817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Fecha de corte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A7DA0D-C6DF-F94E-F9AA-3AB81BE2ABF1}"/>
              </a:ext>
            </a:extLst>
          </p:cNvPr>
          <p:cNvSpPr txBox="1"/>
          <p:nvPr/>
        </p:nvSpPr>
        <p:spPr>
          <a:xfrm>
            <a:off x="977022" y="1440750"/>
            <a:ext cx="13067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500" b="1" dirty="0">
                <a:latin typeface="Abadi" panose="020B0604020104020204" pitchFamily="34" charset="0"/>
              </a:rPr>
              <a:t>04/09/2026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F36CF02-C3D3-ADB6-B046-983153FDE8EC}"/>
              </a:ext>
            </a:extLst>
          </p:cNvPr>
          <p:cNvSpPr/>
          <p:nvPr/>
        </p:nvSpPr>
        <p:spPr>
          <a:xfrm>
            <a:off x="418913" y="1973239"/>
            <a:ext cx="2212428" cy="794445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C0F9A21-1A3D-4A5A-E862-8030BF06E00D}"/>
              </a:ext>
            </a:extLst>
          </p:cNvPr>
          <p:cNvSpPr txBox="1"/>
          <p:nvPr/>
        </p:nvSpPr>
        <p:spPr>
          <a:xfrm>
            <a:off x="977022" y="1992266"/>
            <a:ext cx="780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Fase actual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2F26FE3-FED8-5F4E-D5FE-B7860D3C3C25}"/>
              </a:ext>
            </a:extLst>
          </p:cNvPr>
          <p:cNvSpPr txBox="1"/>
          <p:nvPr/>
        </p:nvSpPr>
        <p:spPr>
          <a:xfrm>
            <a:off x="964196" y="2220408"/>
            <a:ext cx="16722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b="1" dirty="0">
                <a:latin typeface="Abadi" panose="020B0604020104020204" pitchFamily="34" charset="0"/>
              </a:rPr>
              <a:t>H-01 Propuesta e inicio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20F8391-459E-9282-E014-CEC6904EA29F}"/>
              </a:ext>
            </a:extLst>
          </p:cNvPr>
          <p:cNvSpPr txBox="1"/>
          <p:nvPr/>
        </p:nvSpPr>
        <p:spPr>
          <a:xfrm>
            <a:off x="977022" y="2387587"/>
            <a:ext cx="10374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(Semanas 1 a 4)</a:t>
            </a:r>
          </a:p>
        </p:txBody>
      </p:sp>
      <p:sp>
        <p:nvSpPr>
          <p:cNvPr id="25" name="Gráfico 23" descr="Flag contorno">
            <a:extLst>
              <a:ext uri="{FF2B5EF4-FFF2-40B4-BE49-F238E27FC236}">
                <a16:creationId xmlns:a16="http://schemas.microsoft.com/office/drawing/2014/main" id="{D9D56746-1F31-D720-E9CC-60EA0F5AA1D7}"/>
              </a:ext>
            </a:extLst>
          </p:cNvPr>
          <p:cNvSpPr/>
          <p:nvPr/>
        </p:nvSpPr>
        <p:spPr>
          <a:xfrm>
            <a:off x="612444" y="2142685"/>
            <a:ext cx="242896" cy="314765"/>
          </a:xfrm>
          <a:custGeom>
            <a:avLst/>
            <a:gdLst>
              <a:gd name="csX0" fmla="*/ 274433 w 281435"/>
              <a:gd name="csY0" fmla="*/ 4769 h 339333"/>
              <a:gd name="csX1" fmla="*/ 139046 w 281435"/>
              <a:gd name="csY1" fmla="*/ 8309 h 339333"/>
              <a:gd name="csX2" fmla="*/ 80171 w 281435"/>
              <a:gd name="csY2" fmla="*/ 3775 h 339333"/>
              <a:gd name="csX3" fmla="*/ 11037 w 281435"/>
              <a:gd name="csY3" fmla="*/ 13187 h 339333"/>
              <a:gd name="csX4" fmla="*/ 11037 w 281435"/>
              <a:gd name="csY4" fmla="*/ 4194 h 339333"/>
              <a:gd name="csX5" fmla="*/ 5518 w 281435"/>
              <a:gd name="csY5" fmla="*/ 0 h 339333"/>
              <a:gd name="csX6" fmla="*/ 0 w 281435"/>
              <a:gd name="csY6" fmla="*/ 4194 h 339333"/>
              <a:gd name="csX7" fmla="*/ 0 w 281435"/>
              <a:gd name="csY7" fmla="*/ 339333 h 339333"/>
              <a:gd name="csX8" fmla="*/ 11037 w 281435"/>
              <a:gd name="csY8" fmla="*/ 339333 h 339333"/>
              <a:gd name="csX9" fmla="*/ 11037 w 281435"/>
              <a:gd name="csY9" fmla="*/ 161345 h 339333"/>
              <a:gd name="csX10" fmla="*/ 80171 w 281435"/>
              <a:gd name="csY10" fmla="*/ 151001 h 339333"/>
              <a:gd name="csX11" fmla="*/ 141347 w 281435"/>
              <a:gd name="csY11" fmla="*/ 156345 h 339333"/>
              <a:gd name="csX12" fmla="*/ 278086 w 281435"/>
              <a:gd name="csY12" fmla="*/ 151500 h 339333"/>
              <a:gd name="csX13" fmla="*/ 281436 w 281435"/>
              <a:gd name="csY13" fmla="*/ 150414 h 339333"/>
              <a:gd name="csX14" fmla="*/ 281436 w 281435"/>
              <a:gd name="csY14" fmla="*/ 3284 h 339333"/>
              <a:gd name="csX15" fmla="*/ 270399 w 281435"/>
              <a:gd name="csY15" fmla="*/ 144844 h 339333"/>
              <a:gd name="csX16" fmla="*/ 143212 w 281435"/>
              <a:gd name="csY16" fmla="*/ 148074 h 339333"/>
              <a:gd name="csX17" fmla="*/ 80171 w 281435"/>
              <a:gd name="csY17" fmla="*/ 142621 h 339333"/>
              <a:gd name="csX18" fmla="*/ 11037 w 281435"/>
              <a:gd name="csY18" fmla="*/ 151979 h 339333"/>
              <a:gd name="csX19" fmla="*/ 11037 w 281435"/>
              <a:gd name="csY19" fmla="*/ 22529 h 339333"/>
              <a:gd name="csX20" fmla="*/ 80171 w 281435"/>
              <a:gd name="csY20" fmla="*/ 12164 h 339333"/>
              <a:gd name="csX21" fmla="*/ 137318 w 281435"/>
              <a:gd name="csY21" fmla="*/ 16598 h 339333"/>
              <a:gd name="csX22" fmla="*/ 270399 w 281435"/>
              <a:gd name="csY22" fmla="*/ 14274 h 339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81435" h="339333">
                <a:moveTo>
                  <a:pt x="274433" y="4769"/>
                </a:moveTo>
                <a:cubicBezTo>
                  <a:pt x="214752" y="17407"/>
                  <a:pt x="176261" y="12781"/>
                  <a:pt x="139046" y="8309"/>
                </a:cubicBezTo>
                <a:cubicBezTo>
                  <a:pt x="119613" y="5599"/>
                  <a:pt x="99924" y="4082"/>
                  <a:pt x="80171" y="3775"/>
                </a:cubicBezTo>
                <a:cubicBezTo>
                  <a:pt x="44699" y="3775"/>
                  <a:pt x="22267" y="9354"/>
                  <a:pt x="11037" y="13187"/>
                </a:cubicBezTo>
                <a:lnTo>
                  <a:pt x="11037" y="4194"/>
                </a:lnTo>
                <a:cubicBezTo>
                  <a:pt x="11037" y="1878"/>
                  <a:pt x="8566" y="0"/>
                  <a:pt x="5518" y="0"/>
                </a:cubicBezTo>
                <a:cubicBezTo>
                  <a:pt x="2471" y="0"/>
                  <a:pt x="0" y="1878"/>
                  <a:pt x="0" y="4194"/>
                </a:cubicBezTo>
                <a:lnTo>
                  <a:pt x="0" y="339333"/>
                </a:lnTo>
                <a:lnTo>
                  <a:pt x="11037" y="339333"/>
                </a:lnTo>
                <a:lnTo>
                  <a:pt x="11037" y="161345"/>
                </a:lnTo>
                <a:cubicBezTo>
                  <a:pt x="17808" y="158551"/>
                  <a:pt x="39732" y="151001"/>
                  <a:pt x="80171" y="151001"/>
                </a:cubicBezTo>
                <a:cubicBezTo>
                  <a:pt x="100725" y="151460"/>
                  <a:pt x="121191" y="153248"/>
                  <a:pt x="141347" y="156345"/>
                </a:cubicBezTo>
                <a:cubicBezTo>
                  <a:pt x="184086" y="161919"/>
                  <a:pt x="228288" y="167670"/>
                  <a:pt x="278086" y="151500"/>
                </a:cubicBezTo>
                <a:lnTo>
                  <a:pt x="281436" y="150414"/>
                </a:lnTo>
                <a:lnTo>
                  <a:pt x="281436" y="3284"/>
                </a:lnTo>
                <a:close/>
                <a:moveTo>
                  <a:pt x="270399" y="144844"/>
                </a:moveTo>
                <a:cubicBezTo>
                  <a:pt x="224911" y="158727"/>
                  <a:pt x="183397" y="153312"/>
                  <a:pt x="143212" y="148074"/>
                </a:cubicBezTo>
                <a:cubicBezTo>
                  <a:pt x="122438" y="144910"/>
                  <a:pt x="101349" y="143086"/>
                  <a:pt x="80171" y="142621"/>
                </a:cubicBezTo>
                <a:cubicBezTo>
                  <a:pt x="44516" y="142621"/>
                  <a:pt x="22228" y="148145"/>
                  <a:pt x="11037" y="151979"/>
                </a:cubicBezTo>
                <a:lnTo>
                  <a:pt x="11037" y="22529"/>
                </a:lnTo>
                <a:cubicBezTo>
                  <a:pt x="17962" y="19714"/>
                  <a:pt x="40174" y="12164"/>
                  <a:pt x="80171" y="12164"/>
                </a:cubicBezTo>
                <a:cubicBezTo>
                  <a:pt x="99347" y="12460"/>
                  <a:pt x="118459" y="13943"/>
                  <a:pt x="137318" y="16598"/>
                </a:cubicBezTo>
                <a:cubicBezTo>
                  <a:pt x="174247" y="21031"/>
                  <a:pt x="212368" y="25616"/>
                  <a:pt x="270399" y="14274"/>
                </a:cubicBezTo>
                <a:close/>
              </a:path>
            </a:pathLst>
          </a:custGeom>
          <a:solidFill>
            <a:srgbClr val="002060"/>
          </a:solidFill>
          <a:ln w="5457" cap="flat">
            <a:solidFill>
              <a:srgbClr val="002060"/>
            </a:solidFill>
            <a:prstDash val="solid"/>
            <a:miter/>
          </a:ln>
        </p:spPr>
        <p:txBody>
          <a:bodyPr/>
          <a:lstStyle/>
          <a:p>
            <a:endParaRPr lang="es-CL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CE70F12-8D75-ABB0-DF0B-2468B113FE2D}"/>
              </a:ext>
            </a:extLst>
          </p:cNvPr>
          <p:cNvSpPr/>
          <p:nvPr/>
        </p:nvSpPr>
        <p:spPr>
          <a:xfrm>
            <a:off x="418913" y="2868545"/>
            <a:ext cx="2212428" cy="663869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4D5D298-D996-F182-DE7E-B747A089E191}"/>
              </a:ext>
            </a:extLst>
          </p:cNvPr>
          <p:cNvSpPr txBox="1"/>
          <p:nvPr/>
        </p:nvSpPr>
        <p:spPr>
          <a:xfrm>
            <a:off x="989848" y="2895210"/>
            <a:ext cx="8258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Próximo hito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A232B33-2878-5140-2419-45D5C93AAE7C}"/>
              </a:ext>
            </a:extLst>
          </p:cNvPr>
          <p:cNvSpPr txBox="1"/>
          <p:nvPr/>
        </p:nvSpPr>
        <p:spPr>
          <a:xfrm>
            <a:off x="979590" y="3119181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latin typeface="Abadi" panose="020B0604020104020204" pitchFamily="34" charset="0"/>
              </a:rPr>
              <a:t>H-02 · 25/09/2026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5FD800F5-67DE-4645-B750-C84FEA752225}"/>
              </a:ext>
            </a:extLst>
          </p:cNvPr>
          <p:cNvSpPr/>
          <p:nvPr/>
        </p:nvSpPr>
        <p:spPr>
          <a:xfrm>
            <a:off x="418913" y="3638070"/>
            <a:ext cx="2212428" cy="718937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525CBF4-9D5C-0AB5-C633-F55A67655AAA}"/>
              </a:ext>
            </a:extLst>
          </p:cNvPr>
          <p:cNvSpPr txBox="1"/>
          <p:nvPr/>
        </p:nvSpPr>
        <p:spPr>
          <a:xfrm>
            <a:off x="998483" y="3633275"/>
            <a:ext cx="960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Estado general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670A56D9-D567-BDE7-436E-294C1629CEE5}"/>
              </a:ext>
            </a:extLst>
          </p:cNvPr>
          <p:cNvSpPr/>
          <p:nvPr/>
        </p:nvSpPr>
        <p:spPr>
          <a:xfrm>
            <a:off x="1089687" y="3927381"/>
            <a:ext cx="1136342" cy="323850"/>
          </a:xfrm>
          <a:prstGeom prst="roundRect">
            <a:avLst>
              <a:gd name="adj" fmla="val 27594"/>
            </a:avLst>
          </a:prstGeom>
          <a:gradFill flip="none" rotWithShape="1">
            <a:gsLst>
              <a:gs pos="0">
                <a:srgbClr val="00B050"/>
              </a:gs>
              <a:gs pos="54000">
                <a:schemeClr val="accent6"/>
              </a:gs>
              <a:gs pos="100000">
                <a:srgbClr val="208332"/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3F74E8B-46E0-84B1-A7C7-1EA59F94BFC4}"/>
              </a:ext>
            </a:extLst>
          </p:cNvPr>
          <p:cNvSpPr txBox="1"/>
          <p:nvPr/>
        </p:nvSpPr>
        <p:spPr>
          <a:xfrm>
            <a:off x="1468484" y="3948900"/>
            <a:ext cx="726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En curso</a:t>
            </a:r>
          </a:p>
        </p:txBody>
      </p:sp>
      <p:pic>
        <p:nvPicPr>
          <p:cNvPr id="40" name="Gráfico 39" descr="Checkmark con relleno sólido">
            <a:extLst>
              <a:ext uri="{FF2B5EF4-FFF2-40B4-BE49-F238E27FC236}">
                <a16:creationId xmlns:a16="http://schemas.microsoft.com/office/drawing/2014/main" id="{D01135D7-2228-A39A-F94E-3349FF0BD8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26742" y="3948900"/>
            <a:ext cx="252000" cy="252000"/>
          </a:xfrm>
          <a:prstGeom prst="rect">
            <a:avLst/>
          </a:prstGeom>
        </p:spPr>
      </p:pic>
      <p:pic>
        <p:nvPicPr>
          <p:cNvPr id="42" name="Gráfico 41" descr="Bullseye con relleno sólido">
            <a:extLst>
              <a:ext uri="{FF2B5EF4-FFF2-40B4-BE49-F238E27FC236}">
                <a16:creationId xmlns:a16="http://schemas.microsoft.com/office/drawing/2014/main" id="{6E36D181-2CDA-8AA7-F64F-74D399640E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801" y="2988845"/>
            <a:ext cx="396000" cy="396000"/>
          </a:xfrm>
          <a:prstGeom prst="rect">
            <a:avLst/>
          </a:prstGeom>
        </p:spPr>
      </p:pic>
      <p:pic>
        <p:nvPicPr>
          <p:cNvPr id="44" name="Gráfico 43" descr="Heart with pulse contorno">
            <a:extLst>
              <a:ext uri="{FF2B5EF4-FFF2-40B4-BE49-F238E27FC236}">
                <a16:creationId xmlns:a16="http://schemas.microsoft.com/office/drawing/2014/main" id="{12C32BE7-D0F5-D73C-D367-77FF0DD79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645" y="3755086"/>
            <a:ext cx="468000" cy="468000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D315309C-9E7A-2B76-2E01-932143B800C3}"/>
              </a:ext>
            </a:extLst>
          </p:cNvPr>
          <p:cNvSpPr txBox="1"/>
          <p:nvPr/>
        </p:nvSpPr>
        <p:spPr>
          <a:xfrm>
            <a:off x="9597305" y="1564403"/>
            <a:ext cx="1430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Avance Planificado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E2C1668-E6F5-E0E8-B58C-95806C71EAE2}"/>
              </a:ext>
            </a:extLst>
          </p:cNvPr>
          <p:cNvSpPr txBox="1"/>
          <p:nvPr/>
        </p:nvSpPr>
        <p:spPr>
          <a:xfrm>
            <a:off x="9597305" y="2113379"/>
            <a:ext cx="9908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Avance Real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40C6884-B94D-C8FD-8A10-1E81D7207AA8}"/>
              </a:ext>
            </a:extLst>
          </p:cNvPr>
          <p:cNvSpPr txBox="1"/>
          <p:nvPr/>
        </p:nvSpPr>
        <p:spPr>
          <a:xfrm>
            <a:off x="9597305" y="2750575"/>
            <a:ext cx="9044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Desviación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90E08AEC-B9CC-A579-5C27-5A1CC81B4801}"/>
              </a:ext>
            </a:extLst>
          </p:cNvPr>
          <p:cNvSpPr/>
          <p:nvPr/>
        </p:nvSpPr>
        <p:spPr>
          <a:xfrm>
            <a:off x="9597304" y="3200201"/>
            <a:ext cx="2257239" cy="727180"/>
          </a:xfrm>
          <a:prstGeom prst="roundRect">
            <a:avLst>
              <a:gd name="adj" fmla="val 14249"/>
            </a:avLst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00ABD59-87A7-48AF-06CA-746C83B276F1}"/>
              </a:ext>
            </a:extLst>
          </p:cNvPr>
          <p:cNvSpPr txBox="1"/>
          <p:nvPr/>
        </p:nvSpPr>
        <p:spPr>
          <a:xfrm>
            <a:off x="10056550" y="3333193"/>
            <a:ext cx="1917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El proyecto se mantiene dentro del rango esperado</a:t>
            </a:r>
          </a:p>
        </p:txBody>
      </p:sp>
      <p:sp>
        <p:nvSpPr>
          <p:cNvPr id="56" name="Diagrama de flujo: conector 55">
            <a:extLst>
              <a:ext uri="{FF2B5EF4-FFF2-40B4-BE49-F238E27FC236}">
                <a16:creationId xmlns:a16="http://schemas.microsoft.com/office/drawing/2014/main" id="{B2E0402D-0291-C031-8E37-58346FA56CB1}"/>
              </a:ext>
            </a:extLst>
          </p:cNvPr>
          <p:cNvSpPr>
            <a:spLocks noChangeAspect="1"/>
          </p:cNvSpPr>
          <p:nvPr/>
        </p:nvSpPr>
        <p:spPr>
          <a:xfrm>
            <a:off x="9712992" y="3391520"/>
            <a:ext cx="324000" cy="324000"/>
          </a:xfrm>
          <a:prstGeom prst="flowChartConnector">
            <a:avLst/>
          </a:prstGeom>
          <a:solidFill>
            <a:srgbClr val="138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8" name="Gráfico 57" descr="Checkmark con relleno sólido">
            <a:extLst>
              <a:ext uri="{FF2B5EF4-FFF2-40B4-BE49-F238E27FC236}">
                <a16:creationId xmlns:a16="http://schemas.microsoft.com/office/drawing/2014/main" id="{4869CCE9-02EE-C9C6-4A9C-8DAF7EEA52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81649" y="3451591"/>
            <a:ext cx="207504" cy="207504"/>
          </a:xfrm>
          <a:prstGeom prst="rect">
            <a:avLst/>
          </a:prstGeom>
        </p:spPr>
      </p:pic>
      <p:sp>
        <p:nvSpPr>
          <p:cNvPr id="59" name="CuadroTexto 58">
            <a:extLst>
              <a:ext uri="{FF2B5EF4-FFF2-40B4-BE49-F238E27FC236}">
                <a16:creationId xmlns:a16="http://schemas.microsoft.com/office/drawing/2014/main" id="{AB54B466-E8EA-18FD-4E1A-B9BA92B5A5EB}"/>
              </a:ext>
            </a:extLst>
          </p:cNvPr>
          <p:cNvSpPr txBox="1"/>
          <p:nvPr/>
        </p:nvSpPr>
        <p:spPr>
          <a:xfrm>
            <a:off x="9597304" y="1736895"/>
            <a:ext cx="800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b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(Semana 2)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3183DE7-57E4-4309-73F7-47E50F282D44}"/>
              </a:ext>
            </a:extLst>
          </p:cNvPr>
          <p:cNvSpPr txBox="1"/>
          <p:nvPr/>
        </p:nvSpPr>
        <p:spPr>
          <a:xfrm>
            <a:off x="9597303" y="2283890"/>
            <a:ext cx="800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b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(Semana 2)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AE6B486-4EA3-AEDF-9843-24B5BA19B6E9}"/>
              </a:ext>
            </a:extLst>
          </p:cNvPr>
          <p:cNvSpPr txBox="1"/>
          <p:nvPr/>
        </p:nvSpPr>
        <p:spPr>
          <a:xfrm>
            <a:off x="11074304" y="2749849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latin typeface="Abadi" panose="020B0604020104020204" pitchFamily="34" charset="0"/>
              </a:rPr>
              <a:t>0 días</a:t>
            </a: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1126AC6-229C-9E29-D666-5C5040DA5EA2}"/>
              </a:ext>
            </a:extLst>
          </p:cNvPr>
          <p:cNvSpPr/>
          <p:nvPr/>
        </p:nvSpPr>
        <p:spPr>
          <a:xfrm>
            <a:off x="11028823" y="1590061"/>
            <a:ext cx="800219" cy="334496"/>
          </a:xfrm>
          <a:prstGeom prst="roundRect">
            <a:avLst/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3BC9904-6813-5400-58EE-4E2D05BAC969}"/>
              </a:ext>
            </a:extLst>
          </p:cNvPr>
          <p:cNvSpPr txBox="1"/>
          <p:nvPr/>
        </p:nvSpPr>
        <p:spPr>
          <a:xfrm>
            <a:off x="10975927" y="1625415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600" b="1" dirty="0">
                <a:latin typeface="Abadi" panose="020B0604020104020204" pitchFamily="34" charset="0"/>
              </a:rPr>
              <a:t>CUMPLIMIENTO H-01</a:t>
            </a:r>
            <a:br>
              <a:rPr lang="es-CL" sz="600" b="1" dirty="0">
                <a:latin typeface="Abadi" panose="020B0604020104020204" pitchFamily="34" charset="0"/>
              </a:rPr>
            </a:br>
            <a:r>
              <a:rPr lang="es-CL" sz="600" b="1" dirty="0">
                <a:latin typeface="Abadi" panose="020B0604020104020204" pitchFamily="34" charset="0"/>
              </a:rPr>
              <a:t>EN PLAZO</a:t>
            </a: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5097CF6E-DDE2-14E3-452B-BCA2470CE01B}"/>
              </a:ext>
            </a:extLst>
          </p:cNvPr>
          <p:cNvSpPr/>
          <p:nvPr/>
        </p:nvSpPr>
        <p:spPr>
          <a:xfrm>
            <a:off x="11030278" y="2200197"/>
            <a:ext cx="824265" cy="355999"/>
          </a:xfrm>
          <a:prstGeom prst="roundRect">
            <a:avLst/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B808524F-559A-B829-07FE-729354678C6E}"/>
              </a:ext>
            </a:extLst>
          </p:cNvPr>
          <p:cNvSpPr txBox="1"/>
          <p:nvPr/>
        </p:nvSpPr>
        <p:spPr>
          <a:xfrm>
            <a:off x="11037638" y="2247704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600" b="1" dirty="0">
                <a:latin typeface="Abadi" panose="020B0604020104020204" pitchFamily="34" charset="0"/>
              </a:rPr>
              <a:t>FECHA OBJETIVO</a:t>
            </a:r>
          </a:p>
          <a:p>
            <a:pPr algn="ctr"/>
            <a:r>
              <a:rPr lang="es-CL" sz="600" b="1" dirty="0">
                <a:latin typeface="Abadi" panose="020B0604020104020204" pitchFamily="34" charset="0"/>
              </a:rPr>
              <a:t>04/09/2026</a:t>
            </a:r>
          </a:p>
        </p:txBody>
      </p: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C11C2F41-42CA-92A7-372C-3EFD21F4C06E}"/>
              </a:ext>
            </a:extLst>
          </p:cNvPr>
          <p:cNvCxnSpPr>
            <a:cxnSpLocks/>
          </p:cNvCxnSpPr>
          <p:nvPr/>
        </p:nvCxnSpPr>
        <p:spPr>
          <a:xfrm>
            <a:off x="9695341" y="2092569"/>
            <a:ext cx="207379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95F77D5E-50F0-9B1B-A42F-86F186755CEB}"/>
              </a:ext>
            </a:extLst>
          </p:cNvPr>
          <p:cNvCxnSpPr>
            <a:cxnSpLocks/>
          </p:cNvCxnSpPr>
          <p:nvPr/>
        </p:nvCxnSpPr>
        <p:spPr>
          <a:xfrm>
            <a:off x="9695341" y="2649197"/>
            <a:ext cx="207379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77C18E1-FB1F-073A-03A9-F0229F924F97}"/>
              </a:ext>
            </a:extLst>
          </p:cNvPr>
          <p:cNvSpPr txBox="1"/>
          <p:nvPr/>
        </p:nvSpPr>
        <p:spPr>
          <a:xfrm>
            <a:off x="9940929" y="1077537"/>
            <a:ext cx="1765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Indicadores de avance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4265F78A-DB91-B224-9A9D-21FDF5E990AB}"/>
              </a:ext>
            </a:extLst>
          </p:cNvPr>
          <p:cNvSpPr txBox="1"/>
          <p:nvPr/>
        </p:nvSpPr>
        <p:spPr>
          <a:xfrm>
            <a:off x="3916657" y="1564403"/>
            <a:ext cx="5469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13863C"/>
                </a:solidFill>
                <a:latin typeface="Arial Narrow" panose="020B0606020202030204" pitchFamily="34" charset="0"/>
              </a:rPr>
              <a:t>H-01</a:t>
            </a:r>
          </a:p>
          <a:p>
            <a:pPr algn="ctr"/>
            <a:r>
              <a:rPr lang="es-CL" sz="700" b="1" dirty="0">
                <a:solidFill>
                  <a:srgbClr val="13863C"/>
                </a:solidFill>
                <a:latin typeface="Arial Narrow" panose="020B0606020202030204" pitchFamily="34" charset="0"/>
              </a:rPr>
              <a:t>Propuesta</a:t>
            </a:r>
          </a:p>
          <a:p>
            <a:pPr algn="ctr"/>
            <a:r>
              <a:rPr lang="es-CL" sz="700" b="1" dirty="0">
                <a:solidFill>
                  <a:srgbClr val="13863C"/>
                </a:solidFill>
                <a:latin typeface="Arial Narrow" panose="020B0606020202030204" pitchFamily="34" charset="0"/>
              </a:rPr>
              <a:t>e inicio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C33940E3-0AD1-18C4-90CC-A354247FD53D}"/>
              </a:ext>
            </a:extLst>
          </p:cNvPr>
          <p:cNvSpPr txBox="1"/>
          <p:nvPr/>
        </p:nvSpPr>
        <p:spPr>
          <a:xfrm>
            <a:off x="4929563" y="1568924"/>
            <a:ext cx="84350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H-02</a:t>
            </a:r>
          </a:p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Requisitos, diseño</a:t>
            </a:r>
          </a:p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Y arquitectura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CE98CF91-2D94-8686-038D-994278A9BDB0}"/>
              </a:ext>
            </a:extLst>
          </p:cNvPr>
          <p:cNvSpPr txBox="1"/>
          <p:nvPr/>
        </p:nvSpPr>
        <p:spPr>
          <a:xfrm>
            <a:off x="6168439" y="1551815"/>
            <a:ext cx="55175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FFC000"/>
                </a:solidFill>
                <a:latin typeface="Arial Narrow" panose="020B0606020202030204" pitchFamily="34" charset="0"/>
              </a:rPr>
              <a:t>H-03</a:t>
            </a:r>
          </a:p>
          <a:p>
            <a:pPr algn="ctr"/>
            <a:r>
              <a:rPr lang="es-CL" sz="700" b="1" dirty="0">
                <a:solidFill>
                  <a:srgbClr val="FFC000"/>
                </a:solidFill>
                <a:latin typeface="Arial Narrow" panose="020B0606020202030204" pitchFamily="34" charset="0"/>
              </a:rPr>
              <a:t>Desarrollo</a:t>
            </a:r>
          </a:p>
          <a:p>
            <a:pPr algn="ctr"/>
            <a:r>
              <a:rPr lang="es-CL" sz="700" b="1" dirty="0">
                <a:solidFill>
                  <a:srgbClr val="FFC000"/>
                </a:solidFill>
                <a:latin typeface="Arial Narrow" panose="020B0606020202030204" pitchFamily="34" charset="0"/>
              </a:rPr>
              <a:t>Inicial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BAC4633C-A75F-558F-6459-BBE33078EFA2}"/>
              </a:ext>
            </a:extLst>
          </p:cNvPr>
          <p:cNvSpPr txBox="1"/>
          <p:nvPr/>
        </p:nvSpPr>
        <p:spPr>
          <a:xfrm>
            <a:off x="7319186" y="1549560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H-04</a:t>
            </a:r>
          </a:p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Desarrollo final</a:t>
            </a:r>
          </a:p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y verificación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E4440A33-095B-0492-BB7E-A8A9867AD650}"/>
              </a:ext>
            </a:extLst>
          </p:cNvPr>
          <p:cNvSpPr txBox="1"/>
          <p:nvPr/>
        </p:nvSpPr>
        <p:spPr>
          <a:xfrm>
            <a:off x="8485878" y="1576768"/>
            <a:ext cx="5838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FF0000"/>
                </a:solidFill>
                <a:latin typeface="Arial Narrow" panose="020B0606020202030204" pitchFamily="34" charset="0"/>
              </a:rPr>
              <a:t>H-05</a:t>
            </a:r>
          </a:p>
          <a:p>
            <a:pPr algn="ctr"/>
            <a:r>
              <a:rPr lang="es-CL" sz="700" b="1" dirty="0">
                <a:solidFill>
                  <a:srgbClr val="FF0000"/>
                </a:solidFill>
                <a:latin typeface="Arial Narrow" panose="020B0606020202030204" pitchFamily="34" charset="0"/>
              </a:rPr>
              <a:t>Aceptación</a:t>
            </a:r>
          </a:p>
          <a:p>
            <a:pPr algn="ctr"/>
            <a:r>
              <a:rPr lang="es-CL" sz="700" b="1" dirty="0">
                <a:solidFill>
                  <a:srgbClr val="FF0000"/>
                </a:solidFill>
                <a:latin typeface="Arial Narrow" panose="020B0606020202030204" pitchFamily="34" charset="0"/>
              </a:rPr>
              <a:t>y cierre</a:t>
            </a:r>
          </a:p>
        </p:txBody>
      </p:sp>
      <p:sp>
        <p:nvSpPr>
          <p:cNvPr id="96" name="Diagrama de flujo: conector 95">
            <a:extLst>
              <a:ext uri="{FF2B5EF4-FFF2-40B4-BE49-F238E27FC236}">
                <a16:creationId xmlns:a16="http://schemas.microsoft.com/office/drawing/2014/main" id="{32CA407F-9386-2BD8-2803-5F019F76F9F7}"/>
              </a:ext>
            </a:extLst>
          </p:cNvPr>
          <p:cNvSpPr>
            <a:spLocks noChangeAspect="1"/>
          </p:cNvSpPr>
          <p:nvPr/>
        </p:nvSpPr>
        <p:spPr>
          <a:xfrm>
            <a:off x="412215" y="5219112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8" name="Gráfico 97" descr="Checkmark con relleno sólido">
            <a:extLst>
              <a:ext uri="{FF2B5EF4-FFF2-40B4-BE49-F238E27FC236}">
                <a16:creationId xmlns:a16="http://schemas.microsoft.com/office/drawing/2014/main" id="{C5BB61C2-3CFF-CFA9-5B5D-B2B6E52AE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459" y="5236356"/>
            <a:ext cx="109512" cy="109512"/>
          </a:xfrm>
          <a:prstGeom prst="rect">
            <a:avLst/>
          </a:prstGeom>
        </p:spPr>
      </p:pic>
      <p:sp>
        <p:nvSpPr>
          <p:cNvPr id="100" name="Diagrama de flujo: conector 99">
            <a:extLst>
              <a:ext uri="{FF2B5EF4-FFF2-40B4-BE49-F238E27FC236}">
                <a16:creationId xmlns:a16="http://schemas.microsoft.com/office/drawing/2014/main" id="{33290117-1A5F-EFA8-20AB-FD494D222112}"/>
              </a:ext>
            </a:extLst>
          </p:cNvPr>
          <p:cNvSpPr>
            <a:spLocks noChangeAspect="1"/>
          </p:cNvSpPr>
          <p:nvPr/>
        </p:nvSpPr>
        <p:spPr>
          <a:xfrm>
            <a:off x="412645" y="5441112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" name="Gráfico 101" descr="Checkmark con relleno sólido">
            <a:extLst>
              <a:ext uri="{FF2B5EF4-FFF2-40B4-BE49-F238E27FC236}">
                <a16:creationId xmlns:a16="http://schemas.microsoft.com/office/drawing/2014/main" id="{2CA4B00F-DCCA-FE90-61FF-436AF2C46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889" y="5458356"/>
            <a:ext cx="109512" cy="109512"/>
          </a:xfrm>
          <a:prstGeom prst="rect">
            <a:avLst/>
          </a:prstGeom>
        </p:spPr>
      </p:pic>
      <p:sp>
        <p:nvSpPr>
          <p:cNvPr id="104" name="Diagrama de flujo: conector 103">
            <a:extLst>
              <a:ext uri="{FF2B5EF4-FFF2-40B4-BE49-F238E27FC236}">
                <a16:creationId xmlns:a16="http://schemas.microsoft.com/office/drawing/2014/main" id="{5F3CABBC-ED69-248A-33C5-CF9104BA01FC}"/>
              </a:ext>
            </a:extLst>
          </p:cNvPr>
          <p:cNvSpPr>
            <a:spLocks noChangeAspect="1"/>
          </p:cNvSpPr>
          <p:nvPr/>
        </p:nvSpPr>
        <p:spPr>
          <a:xfrm>
            <a:off x="418913" y="5663112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6" name="Gráfico 105" descr="Checkmark con relleno sólido">
            <a:extLst>
              <a:ext uri="{FF2B5EF4-FFF2-40B4-BE49-F238E27FC236}">
                <a16:creationId xmlns:a16="http://schemas.microsoft.com/office/drawing/2014/main" id="{183D4E55-0985-B610-329C-0C6F1327BC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157" y="5680356"/>
            <a:ext cx="109512" cy="109512"/>
          </a:xfrm>
          <a:prstGeom prst="rect">
            <a:avLst/>
          </a:prstGeom>
        </p:spPr>
      </p:pic>
      <p:sp>
        <p:nvSpPr>
          <p:cNvPr id="108" name="Diagrama de flujo: conector 107">
            <a:extLst>
              <a:ext uri="{FF2B5EF4-FFF2-40B4-BE49-F238E27FC236}">
                <a16:creationId xmlns:a16="http://schemas.microsoft.com/office/drawing/2014/main" id="{B5A12A37-9B49-6199-5622-E2F4527D6A61}"/>
              </a:ext>
            </a:extLst>
          </p:cNvPr>
          <p:cNvSpPr>
            <a:spLocks noChangeAspect="1"/>
          </p:cNvSpPr>
          <p:nvPr/>
        </p:nvSpPr>
        <p:spPr>
          <a:xfrm>
            <a:off x="415503" y="5885112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0" name="Gráfico 109" descr="Checkmark con relleno sólido">
            <a:extLst>
              <a:ext uri="{FF2B5EF4-FFF2-40B4-BE49-F238E27FC236}">
                <a16:creationId xmlns:a16="http://schemas.microsoft.com/office/drawing/2014/main" id="{A7D1801B-3CF5-9731-6FC5-2B5DC104BF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2747" y="5902356"/>
            <a:ext cx="109512" cy="109512"/>
          </a:xfrm>
          <a:prstGeom prst="rect">
            <a:avLst/>
          </a:prstGeom>
        </p:spPr>
      </p:pic>
      <p:sp>
        <p:nvSpPr>
          <p:cNvPr id="112" name="Diagrama de flujo: conector 111">
            <a:extLst>
              <a:ext uri="{FF2B5EF4-FFF2-40B4-BE49-F238E27FC236}">
                <a16:creationId xmlns:a16="http://schemas.microsoft.com/office/drawing/2014/main" id="{3CCF45F8-F5AD-06DF-9A3D-C714DC0DDB23}"/>
              </a:ext>
            </a:extLst>
          </p:cNvPr>
          <p:cNvSpPr>
            <a:spLocks noChangeAspect="1"/>
          </p:cNvSpPr>
          <p:nvPr/>
        </p:nvSpPr>
        <p:spPr>
          <a:xfrm>
            <a:off x="412645" y="6107112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4" name="Gráfico 113" descr="Checkmark con relleno sólido">
            <a:extLst>
              <a:ext uri="{FF2B5EF4-FFF2-40B4-BE49-F238E27FC236}">
                <a16:creationId xmlns:a16="http://schemas.microsoft.com/office/drawing/2014/main" id="{2F737BEC-FDB9-ADDE-0514-3AC693566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889" y="6124356"/>
            <a:ext cx="109512" cy="109512"/>
          </a:xfrm>
          <a:prstGeom prst="rect">
            <a:avLst/>
          </a:prstGeom>
        </p:spPr>
      </p:pic>
      <p:sp>
        <p:nvSpPr>
          <p:cNvPr id="116" name="CuadroTexto 115">
            <a:extLst>
              <a:ext uri="{FF2B5EF4-FFF2-40B4-BE49-F238E27FC236}">
                <a16:creationId xmlns:a16="http://schemas.microsoft.com/office/drawing/2014/main" id="{B4B65055-6F8C-8042-7C21-A98427FC4EF6}"/>
              </a:ext>
            </a:extLst>
          </p:cNvPr>
          <p:cNvSpPr txBox="1"/>
          <p:nvPr/>
        </p:nvSpPr>
        <p:spPr>
          <a:xfrm>
            <a:off x="619612" y="5124688"/>
            <a:ext cx="3065263" cy="122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>
                <a:latin typeface="Arial Narrow" panose="020B0606020202030204" pitchFamily="34" charset="0"/>
              </a:rPr>
              <a:t>Acta de Constitución desarrollada.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>
                <a:latin typeface="Arial Narrow" panose="020B0606020202030204" pitchFamily="34" charset="0"/>
              </a:rPr>
              <a:t>Mapa del proceso del área de Soporte Informático.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 err="1">
                <a:latin typeface="Arial Narrow" panose="020B0606020202030204" pitchFamily="34" charset="0"/>
              </a:rPr>
              <a:t>ERS</a:t>
            </a:r>
            <a:r>
              <a:rPr lang="es-MX" sz="1200" dirty="0">
                <a:latin typeface="Arial Narrow" panose="020B0606020202030204" pitchFamily="34" charset="0"/>
              </a:rPr>
              <a:t> (en construcción) iniciada.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 err="1">
                <a:latin typeface="Arial Narrow" panose="020B0606020202030204" pitchFamily="34" charset="0"/>
              </a:rPr>
              <a:t>Roadmap</a:t>
            </a:r>
            <a:r>
              <a:rPr lang="es-MX" sz="1200" dirty="0">
                <a:latin typeface="Arial Narrow" panose="020B0606020202030204" pitchFamily="34" charset="0"/>
              </a:rPr>
              <a:t> general del proyecto definido.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>
                <a:latin typeface="Arial Narrow" panose="020B0606020202030204" pitchFamily="34" charset="0"/>
              </a:rPr>
              <a:t>Presentación ejecutiva actualizada para Semana 2.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118" name="Diagrama de flujo: conector 117">
            <a:extLst>
              <a:ext uri="{FF2B5EF4-FFF2-40B4-BE49-F238E27FC236}">
                <a16:creationId xmlns:a16="http://schemas.microsoft.com/office/drawing/2014/main" id="{E88F4968-7691-5B85-36A2-ECB2F87F1E47}"/>
              </a:ext>
            </a:extLst>
          </p:cNvPr>
          <p:cNvSpPr>
            <a:spLocks noChangeAspect="1"/>
          </p:cNvSpPr>
          <p:nvPr/>
        </p:nvSpPr>
        <p:spPr>
          <a:xfrm>
            <a:off x="1339370" y="4851011"/>
            <a:ext cx="180000" cy="180000"/>
          </a:xfrm>
          <a:prstGeom prst="flowChartConnector">
            <a:avLst/>
          </a:prstGeom>
          <a:noFill/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120" name="Gráfico 119" descr="Checkmark con relleno sólido">
            <a:extLst>
              <a:ext uri="{FF2B5EF4-FFF2-40B4-BE49-F238E27FC236}">
                <a16:creationId xmlns:a16="http://schemas.microsoft.com/office/drawing/2014/main" id="{97CFD53B-6609-1CF8-7B60-AEEFA2815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6716" y="4889888"/>
            <a:ext cx="125308" cy="125308"/>
          </a:xfrm>
          <a:prstGeom prst="rect">
            <a:avLst/>
          </a:prstGeom>
        </p:spPr>
      </p:pic>
      <p:sp>
        <p:nvSpPr>
          <p:cNvPr id="121" name="CuadroTexto 120">
            <a:extLst>
              <a:ext uri="{FF2B5EF4-FFF2-40B4-BE49-F238E27FC236}">
                <a16:creationId xmlns:a16="http://schemas.microsoft.com/office/drawing/2014/main" id="{EE4A6A15-87C9-F430-736C-170059508C10}"/>
              </a:ext>
            </a:extLst>
          </p:cNvPr>
          <p:cNvSpPr txBox="1"/>
          <p:nvPr/>
        </p:nvSpPr>
        <p:spPr>
          <a:xfrm>
            <a:off x="1657858" y="4813918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Logros de la semana</a:t>
            </a:r>
          </a:p>
        </p:txBody>
      </p:sp>
      <p:sp>
        <p:nvSpPr>
          <p:cNvPr id="124" name="Rectángulo: esquinas redondeadas 123">
            <a:extLst>
              <a:ext uri="{FF2B5EF4-FFF2-40B4-BE49-F238E27FC236}">
                <a16:creationId xmlns:a16="http://schemas.microsoft.com/office/drawing/2014/main" id="{6E1F5F18-1A43-309F-0C9C-DC2285C87B9D}"/>
              </a:ext>
            </a:extLst>
          </p:cNvPr>
          <p:cNvSpPr/>
          <p:nvPr/>
        </p:nvSpPr>
        <p:spPr>
          <a:xfrm>
            <a:off x="4105789" y="4768547"/>
            <a:ext cx="4158101" cy="1598642"/>
          </a:xfrm>
          <a:prstGeom prst="roundRect">
            <a:avLst>
              <a:gd name="adj" fmla="val 5732"/>
            </a:avLst>
          </a:prstGeom>
          <a:solidFill>
            <a:srgbClr val="F1F3FB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6" name="Rectángulo: esquinas superiores redondeadas 125">
            <a:extLst>
              <a:ext uri="{FF2B5EF4-FFF2-40B4-BE49-F238E27FC236}">
                <a16:creationId xmlns:a16="http://schemas.microsoft.com/office/drawing/2014/main" id="{965BD592-DAC4-F420-42DD-2BA5A86EF05F}"/>
              </a:ext>
            </a:extLst>
          </p:cNvPr>
          <p:cNvSpPr/>
          <p:nvPr/>
        </p:nvSpPr>
        <p:spPr>
          <a:xfrm>
            <a:off x="4105788" y="4780332"/>
            <a:ext cx="4158101" cy="351357"/>
          </a:xfrm>
          <a:prstGeom prst="round2SameRect">
            <a:avLst>
              <a:gd name="adj1" fmla="val 2642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96A70E2A-C3F8-82D9-F975-BAE8D60F18C9}"/>
              </a:ext>
            </a:extLst>
          </p:cNvPr>
          <p:cNvSpPr txBox="1"/>
          <p:nvPr/>
        </p:nvSpPr>
        <p:spPr>
          <a:xfrm>
            <a:off x="5512635" y="4837216"/>
            <a:ext cx="1471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Entregables en curso</a:t>
            </a:r>
          </a:p>
        </p:txBody>
      </p:sp>
      <p:pic>
        <p:nvPicPr>
          <p:cNvPr id="130" name="Gráfico 129" descr="Single gear contorno">
            <a:extLst>
              <a:ext uri="{FF2B5EF4-FFF2-40B4-BE49-F238E27FC236}">
                <a16:creationId xmlns:a16="http://schemas.microsoft.com/office/drawing/2014/main" id="{C7520D8B-E0C9-B0E5-56C5-91209E6E48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6616" y="4758010"/>
            <a:ext cx="396000" cy="396000"/>
          </a:xfrm>
          <a:prstGeom prst="rect">
            <a:avLst/>
          </a:prstGeom>
        </p:spPr>
      </p:pic>
      <p:sp>
        <p:nvSpPr>
          <p:cNvPr id="131" name="CuadroTexto 130">
            <a:extLst>
              <a:ext uri="{FF2B5EF4-FFF2-40B4-BE49-F238E27FC236}">
                <a16:creationId xmlns:a16="http://schemas.microsoft.com/office/drawing/2014/main" id="{83CF8480-D31D-DED7-EEF3-F51F1B5458C9}"/>
              </a:ext>
            </a:extLst>
          </p:cNvPr>
          <p:cNvSpPr txBox="1"/>
          <p:nvPr/>
        </p:nvSpPr>
        <p:spPr>
          <a:xfrm>
            <a:off x="4554219" y="5268471"/>
            <a:ext cx="370967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 err="1">
                <a:latin typeface="Arial Narrow" panose="020B0606020202030204" pitchFamily="34" charset="0"/>
              </a:rPr>
              <a:t>ERS</a:t>
            </a:r>
            <a:r>
              <a:rPr lang="es-MX" sz="1200" dirty="0">
                <a:latin typeface="Arial Narrow" panose="020B0606020202030204" pitchFamily="34" charset="0"/>
              </a:rPr>
              <a:t>: levantamiento de requisitos funcionales y no funcionales.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>
                <a:latin typeface="Arial Narrow" panose="020B0606020202030204" pitchFamily="34" charset="0"/>
              </a:rPr>
              <a:t>Validación del proceso AS-IS con la contraparte.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>
                <a:latin typeface="Arial Narrow" panose="020B0606020202030204" pitchFamily="34" charset="0"/>
              </a:rPr>
              <a:t>Análisis de información entregada por Soporte Informático.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s-MX" sz="1200" dirty="0">
                <a:latin typeface="Arial Narrow" panose="020B0606020202030204" pitchFamily="34" charset="0"/>
              </a:rPr>
              <a:t>Matriz inicial de riesgos.</a:t>
            </a:r>
            <a:endParaRPr lang="es-CL" sz="1200" dirty="0">
              <a:latin typeface="Arial Narrow" panose="020B0606020202030204" pitchFamily="34" charset="0"/>
            </a:endParaRPr>
          </a:p>
        </p:txBody>
      </p:sp>
      <p:sp>
        <p:nvSpPr>
          <p:cNvPr id="133" name="Diagrama de flujo: conector 132">
            <a:extLst>
              <a:ext uri="{FF2B5EF4-FFF2-40B4-BE49-F238E27FC236}">
                <a16:creationId xmlns:a16="http://schemas.microsoft.com/office/drawing/2014/main" id="{6298AA84-5B1E-BE2D-DB32-3880F1C97DAA}"/>
              </a:ext>
            </a:extLst>
          </p:cNvPr>
          <p:cNvSpPr>
            <a:spLocks noChangeAspect="1"/>
          </p:cNvSpPr>
          <p:nvPr/>
        </p:nvSpPr>
        <p:spPr>
          <a:xfrm>
            <a:off x="4287298" y="5343761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5" name="Diagrama de flujo: conector 134">
            <a:extLst>
              <a:ext uri="{FF2B5EF4-FFF2-40B4-BE49-F238E27FC236}">
                <a16:creationId xmlns:a16="http://schemas.microsoft.com/office/drawing/2014/main" id="{F5A482C3-4749-49B3-634F-5F11CBFCB8A5}"/>
              </a:ext>
            </a:extLst>
          </p:cNvPr>
          <p:cNvSpPr>
            <a:spLocks noChangeAspect="1"/>
          </p:cNvSpPr>
          <p:nvPr/>
        </p:nvSpPr>
        <p:spPr>
          <a:xfrm>
            <a:off x="4294985" y="5605439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7" name="Diagrama de flujo: conector 136">
            <a:extLst>
              <a:ext uri="{FF2B5EF4-FFF2-40B4-BE49-F238E27FC236}">
                <a16:creationId xmlns:a16="http://schemas.microsoft.com/office/drawing/2014/main" id="{E0A4A013-B8D3-7B0D-01FE-0F8835BA90EF}"/>
              </a:ext>
            </a:extLst>
          </p:cNvPr>
          <p:cNvSpPr>
            <a:spLocks noChangeAspect="1"/>
          </p:cNvSpPr>
          <p:nvPr/>
        </p:nvSpPr>
        <p:spPr>
          <a:xfrm>
            <a:off x="4302688" y="5827746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9" name="Diagrama de flujo: conector 138">
            <a:extLst>
              <a:ext uri="{FF2B5EF4-FFF2-40B4-BE49-F238E27FC236}">
                <a16:creationId xmlns:a16="http://schemas.microsoft.com/office/drawing/2014/main" id="{0C0175D9-F126-51A3-8E7F-DA3F22824199}"/>
              </a:ext>
            </a:extLst>
          </p:cNvPr>
          <p:cNvSpPr>
            <a:spLocks noChangeAspect="1"/>
          </p:cNvSpPr>
          <p:nvPr/>
        </p:nvSpPr>
        <p:spPr>
          <a:xfrm>
            <a:off x="4302688" y="6050053"/>
            <a:ext cx="144000" cy="144000"/>
          </a:xfrm>
          <a:prstGeom prst="flowChartConnector">
            <a:avLst/>
          </a:prstGeom>
          <a:solidFill>
            <a:srgbClr val="1C9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1" name="Rectángulo: esquinas redondeadas 140">
            <a:extLst>
              <a:ext uri="{FF2B5EF4-FFF2-40B4-BE49-F238E27FC236}">
                <a16:creationId xmlns:a16="http://schemas.microsoft.com/office/drawing/2014/main" id="{7C1DC765-566E-78C7-2C4D-3E5054BE08CE}"/>
              </a:ext>
            </a:extLst>
          </p:cNvPr>
          <p:cNvSpPr/>
          <p:nvPr/>
        </p:nvSpPr>
        <p:spPr>
          <a:xfrm>
            <a:off x="8371420" y="4775608"/>
            <a:ext cx="3718284" cy="1598642"/>
          </a:xfrm>
          <a:prstGeom prst="roundRect">
            <a:avLst>
              <a:gd name="adj" fmla="val 5732"/>
            </a:avLst>
          </a:prstGeom>
          <a:solidFill>
            <a:schemeClr val="bg1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3" name="Rectángulo: esquinas superiores redondeadas 142">
            <a:extLst>
              <a:ext uri="{FF2B5EF4-FFF2-40B4-BE49-F238E27FC236}">
                <a16:creationId xmlns:a16="http://schemas.microsoft.com/office/drawing/2014/main" id="{3E857DF3-F50C-C4A7-37CF-ADF765F40FED}"/>
              </a:ext>
            </a:extLst>
          </p:cNvPr>
          <p:cNvSpPr/>
          <p:nvPr/>
        </p:nvSpPr>
        <p:spPr>
          <a:xfrm>
            <a:off x="8371419" y="4787393"/>
            <a:ext cx="3718284" cy="351357"/>
          </a:xfrm>
          <a:prstGeom prst="round2SameRect">
            <a:avLst>
              <a:gd name="adj1" fmla="val 2642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47570BA4-AC05-240A-BC59-A855EFEC7868}"/>
              </a:ext>
            </a:extLst>
          </p:cNvPr>
          <p:cNvSpPr txBox="1"/>
          <p:nvPr/>
        </p:nvSpPr>
        <p:spPr>
          <a:xfrm>
            <a:off x="9667196" y="4835393"/>
            <a:ext cx="957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Próximo hito</a:t>
            </a:r>
          </a:p>
        </p:txBody>
      </p:sp>
      <p:sp>
        <p:nvSpPr>
          <p:cNvPr id="147" name="Gráfico 23" descr="Flag contorno">
            <a:extLst>
              <a:ext uri="{FF2B5EF4-FFF2-40B4-BE49-F238E27FC236}">
                <a16:creationId xmlns:a16="http://schemas.microsoft.com/office/drawing/2014/main" id="{4F8151F1-BBAA-0F19-EA92-E5BCA7716B43}"/>
              </a:ext>
            </a:extLst>
          </p:cNvPr>
          <p:cNvSpPr/>
          <p:nvPr/>
        </p:nvSpPr>
        <p:spPr>
          <a:xfrm>
            <a:off x="9455085" y="4856762"/>
            <a:ext cx="190665" cy="237906"/>
          </a:xfrm>
          <a:custGeom>
            <a:avLst/>
            <a:gdLst>
              <a:gd name="csX0" fmla="*/ 274433 w 281435"/>
              <a:gd name="csY0" fmla="*/ 4769 h 339333"/>
              <a:gd name="csX1" fmla="*/ 139046 w 281435"/>
              <a:gd name="csY1" fmla="*/ 8309 h 339333"/>
              <a:gd name="csX2" fmla="*/ 80171 w 281435"/>
              <a:gd name="csY2" fmla="*/ 3775 h 339333"/>
              <a:gd name="csX3" fmla="*/ 11037 w 281435"/>
              <a:gd name="csY3" fmla="*/ 13187 h 339333"/>
              <a:gd name="csX4" fmla="*/ 11037 w 281435"/>
              <a:gd name="csY4" fmla="*/ 4194 h 339333"/>
              <a:gd name="csX5" fmla="*/ 5518 w 281435"/>
              <a:gd name="csY5" fmla="*/ 0 h 339333"/>
              <a:gd name="csX6" fmla="*/ 0 w 281435"/>
              <a:gd name="csY6" fmla="*/ 4194 h 339333"/>
              <a:gd name="csX7" fmla="*/ 0 w 281435"/>
              <a:gd name="csY7" fmla="*/ 339333 h 339333"/>
              <a:gd name="csX8" fmla="*/ 11037 w 281435"/>
              <a:gd name="csY8" fmla="*/ 339333 h 339333"/>
              <a:gd name="csX9" fmla="*/ 11037 w 281435"/>
              <a:gd name="csY9" fmla="*/ 161345 h 339333"/>
              <a:gd name="csX10" fmla="*/ 80171 w 281435"/>
              <a:gd name="csY10" fmla="*/ 151001 h 339333"/>
              <a:gd name="csX11" fmla="*/ 141347 w 281435"/>
              <a:gd name="csY11" fmla="*/ 156345 h 339333"/>
              <a:gd name="csX12" fmla="*/ 278086 w 281435"/>
              <a:gd name="csY12" fmla="*/ 151500 h 339333"/>
              <a:gd name="csX13" fmla="*/ 281436 w 281435"/>
              <a:gd name="csY13" fmla="*/ 150414 h 339333"/>
              <a:gd name="csX14" fmla="*/ 281436 w 281435"/>
              <a:gd name="csY14" fmla="*/ 3284 h 339333"/>
              <a:gd name="csX15" fmla="*/ 270399 w 281435"/>
              <a:gd name="csY15" fmla="*/ 144844 h 339333"/>
              <a:gd name="csX16" fmla="*/ 143212 w 281435"/>
              <a:gd name="csY16" fmla="*/ 148074 h 339333"/>
              <a:gd name="csX17" fmla="*/ 80171 w 281435"/>
              <a:gd name="csY17" fmla="*/ 142621 h 339333"/>
              <a:gd name="csX18" fmla="*/ 11037 w 281435"/>
              <a:gd name="csY18" fmla="*/ 151979 h 339333"/>
              <a:gd name="csX19" fmla="*/ 11037 w 281435"/>
              <a:gd name="csY19" fmla="*/ 22529 h 339333"/>
              <a:gd name="csX20" fmla="*/ 80171 w 281435"/>
              <a:gd name="csY20" fmla="*/ 12164 h 339333"/>
              <a:gd name="csX21" fmla="*/ 137318 w 281435"/>
              <a:gd name="csY21" fmla="*/ 16598 h 339333"/>
              <a:gd name="csX22" fmla="*/ 270399 w 281435"/>
              <a:gd name="csY22" fmla="*/ 14274 h 339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81435" h="339333">
                <a:moveTo>
                  <a:pt x="274433" y="4769"/>
                </a:moveTo>
                <a:cubicBezTo>
                  <a:pt x="214752" y="17407"/>
                  <a:pt x="176261" y="12781"/>
                  <a:pt x="139046" y="8309"/>
                </a:cubicBezTo>
                <a:cubicBezTo>
                  <a:pt x="119613" y="5599"/>
                  <a:pt x="99924" y="4082"/>
                  <a:pt x="80171" y="3775"/>
                </a:cubicBezTo>
                <a:cubicBezTo>
                  <a:pt x="44699" y="3775"/>
                  <a:pt x="22267" y="9354"/>
                  <a:pt x="11037" y="13187"/>
                </a:cubicBezTo>
                <a:lnTo>
                  <a:pt x="11037" y="4194"/>
                </a:lnTo>
                <a:cubicBezTo>
                  <a:pt x="11037" y="1878"/>
                  <a:pt x="8566" y="0"/>
                  <a:pt x="5518" y="0"/>
                </a:cubicBezTo>
                <a:cubicBezTo>
                  <a:pt x="2471" y="0"/>
                  <a:pt x="0" y="1878"/>
                  <a:pt x="0" y="4194"/>
                </a:cubicBezTo>
                <a:lnTo>
                  <a:pt x="0" y="339333"/>
                </a:lnTo>
                <a:lnTo>
                  <a:pt x="11037" y="339333"/>
                </a:lnTo>
                <a:lnTo>
                  <a:pt x="11037" y="161345"/>
                </a:lnTo>
                <a:cubicBezTo>
                  <a:pt x="17808" y="158551"/>
                  <a:pt x="39732" y="151001"/>
                  <a:pt x="80171" y="151001"/>
                </a:cubicBezTo>
                <a:cubicBezTo>
                  <a:pt x="100725" y="151460"/>
                  <a:pt x="121191" y="153248"/>
                  <a:pt x="141347" y="156345"/>
                </a:cubicBezTo>
                <a:cubicBezTo>
                  <a:pt x="184086" y="161919"/>
                  <a:pt x="228288" y="167670"/>
                  <a:pt x="278086" y="151500"/>
                </a:cubicBezTo>
                <a:lnTo>
                  <a:pt x="281436" y="150414"/>
                </a:lnTo>
                <a:lnTo>
                  <a:pt x="281436" y="3284"/>
                </a:lnTo>
                <a:close/>
                <a:moveTo>
                  <a:pt x="270399" y="144844"/>
                </a:moveTo>
                <a:cubicBezTo>
                  <a:pt x="224911" y="158727"/>
                  <a:pt x="183397" y="153312"/>
                  <a:pt x="143212" y="148074"/>
                </a:cubicBezTo>
                <a:cubicBezTo>
                  <a:pt x="122438" y="144910"/>
                  <a:pt x="101349" y="143086"/>
                  <a:pt x="80171" y="142621"/>
                </a:cubicBezTo>
                <a:cubicBezTo>
                  <a:pt x="44516" y="142621"/>
                  <a:pt x="22228" y="148145"/>
                  <a:pt x="11037" y="151979"/>
                </a:cubicBezTo>
                <a:lnTo>
                  <a:pt x="11037" y="22529"/>
                </a:lnTo>
                <a:cubicBezTo>
                  <a:pt x="17962" y="19714"/>
                  <a:pt x="40174" y="12164"/>
                  <a:pt x="80171" y="12164"/>
                </a:cubicBezTo>
                <a:cubicBezTo>
                  <a:pt x="99347" y="12460"/>
                  <a:pt x="118459" y="13943"/>
                  <a:pt x="137318" y="16598"/>
                </a:cubicBezTo>
                <a:cubicBezTo>
                  <a:pt x="174247" y="21031"/>
                  <a:pt x="212368" y="25616"/>
                  <a:pt x="270399" y="14274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endParaRPr lang="es-CL" dirty="0"/>
          </a:p>
        </p:txBody>
      </p:sp>
      <p:sp>
        <p:nvSpPr>
          <p:cNvPr id="148" name="Rectángulo: esquinas redondeadas 147">
            <a:extLst>
              <a:ext uri="{FF2B5EF4-FFF2-40B4-BE49-F238E27FC236}">
                <a16:creationId xmlns:a16="http://schemas.microsoft.com/office/drawing/2014/main" id="{5D664C15-5E9D-7433-0BFF-D07E5F25D430}"/>
              </a:ext>
            </a:extLst>
          </p:cNvPr>
          <p:cNvSpPr/>
          <p:nvPr/>
        </p:nvSpPr>
        <p:spPr>
          <a:xfrm>
            <a:off x="8474111" y="5234644"/>
            <a:ext cx="3380432" cy="944468"/>
          </a:xfrm>
          <a:prstGeom prst="roundRect">
            <a:avLst>
              <a:gd name="adj" fmla="val 12633"/>
            </a:avLst>
          </a:prstGeom>
          <a:solidFill>
            <a:srgbClr val="DDF4E7"/>
          </a:solidFill>
          <a:ln>
            <a:solidFill>
              <a:srgbClr val="DDF4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D3E4C950-DFB0-34B6-D675-7711CA5858FF}"/>
              </a:ext>
            </a:extLst>
          </p:cNvPr>
          <p:cNvSpPr txBox="1"/>
          <p:nvPr/>
        </p:nvSpPr>
        <p:spPr>
          <a:xfrm>
            <a:off x="8501137" y="5277335"/>
            <a:ext cx="2624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latin typeface="Arial Narrow" panose="020B0606020202030204" pitchFamily="34" charset="0"/>
              </a:rPr>
              <a:t>H-02 · Requisitos, diseño</a:t>
            </a:r>
          </a:p>
          <a:p>
            <a:r>
              <a:rPr lang="es-CL" sz="1400" b="1" dirty="0">
                <a:latin typeface="Arial Narrow" panose="020B0606020202030204" pitchFamily="34" charset="0"/>
              </a:rPr>
              <a:t>Y arquitectura</a:t>
            </a:r>
          </a:p>
          <a:p>
            <a:endParaRPr lang="es-CL" sz="1400" b="1" dirty="0">
              <a:latin typeface="Arial Narrow" panose="020B0606020202030204" pitchFamily="34" charset="0"/>
            </a:endParaRP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C825382A-4606-B7CE-622A-49BD74DC6521}"/>
              </a:ext>
            </a:extLst>
          </p:cNvPr>
          <p:cNvSpPr txBox="1"/>
          <p:nvPr/>
        </p:nvSpPr>
        <p:spPr>
          <a:xfrm>
            <a:off x="10920900" y="5248878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latin typeface="Arial Narrow" panose="020B0606020202030204" pitchFamily="34" charset="0"/>
              </a:rPr>
              <a:t>25/09/2026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5C04DFA9-8245-93F2-299B-0F56D1ECBB76}"/>
              </a:ext>
            </a:extLst>
          </p:cNvPr>
          <p:cNvSpPr txBox="1"/>
          <p:nvPr/>
        </p:nvSpPr>
        <p:spPr>
          <a:xfrm>
            <a:off x="8522970" y="5729264"/>
            <a:ext cx="316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Criterio: </a:t>
            </a:r>
            <a:r>
              <a:rPr lang="es-CL" sz="1200" dirty="0">
                <a:latin typeface="Arial Narrow" panose="020B0606020202030204" pitchFamily="34" charset="0"/>
              </a:rPr>
              <a:t>Requerimientos completados, diseño y propuesta arquitectónica de la solución.</a:t>
            </a:r>
          </a:p>
        </p:txBody>
      </p: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51A1F69A-EDA5-2F15-A8D6-FBF6666807C6}"/>
              </a:ext>
            </a:extLst>
          </p:cNvPr>
          <p:cNvGrpSpPr/>
          <p:nvPr/>
        </p:nvGrpSpPr>
        <p:grpSpPr>
          <a:xfrm>
            <a:off x="360553" y="6322468"/>
            <a:ext cx="4541575" cy="479526"/>
            <a:chOff x="362021" y="6264961"/>
            <a:chExt cx="4541575" cy="479526"/>
          </a:xfrm>
        </p:grpSpPr>
        <p:pic>
          <p:nvPicPr>
            <p:cNvPr id="159" name="Imagen 158">
              <a:extLst>
                <a:ext uri="{FF2B5EF4-FFF2-40B4-BE49-F238E27FC236}">
                  <a16:creationId xmlns:a16="http://schemas.microsoft.com/office/drawing/2014/main" id="{13017CF6-5AC5-B906-E2A1-4C6B34B9B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60" name="CuadroTexto 159">
              <a:extLst>
                <a:ext uri="{FF2B5EF4-FFF2-40B4-BE49-F238E27FC236}">
                  <a16:creationId xmlns:a16="http://schemas.microsoft.com/office/drawing/2014/main" id="{AAEFD319-219C-81D7-0F68-A2461AE15172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08</a:t>
              </a:r>
            </a:p>
          </p:txBody>
        </p:sp>
        <p:sp>
          <p:nvSpPr>
            <p:cNvPr id="161" name="CuadroTexto 160">
              <a:extLst>
                <a:ext uri="{FF2B5EF4-FFF2-40B4-BE49-F238E27FC236}">
                  <a16:creationId xmlns:a16="http://schemas.microsoft.com/office/drawing/2014/main" id="{7EBEEFFB-A4B3-80CB-DA6B-998CB926C8E6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EC0B93B0-7ABE-93FD-F464-BC16571C8B29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3" name="Imagen 162">
              <a:extLst>
                <a:ext uri="{FF2B5EF4-FFF2-40B4-BE49-F238E27FC236}">
                  <a16:creationId xmlns:a16="http://schemas.microsoft.com/office/drawing/2014/main" id="{2E4EDB35-32C9-9F59-996C-C8AD4F1FB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796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n 84">
            <a:extLst>
              <a:ext uri="{FF2B5EF4-FFF2-40B4-BE49-F238E27FC236}">
                <a16:creationId xmlns:a16="http://schemas.microsoft.com/office/drawing/2014/main" id="{D8845E12-DC9B-494E-4372-73C5FE3D9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1BBA6BC8-D748-8BFF-3282-7F025CEA1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535633"/>
              </p:ext>
            </p:extLst>
          </p:nvPr>
        </p:nvGraphicFramePr>
        <p:xfrm>
          <a:off x="265579" y="1133702"/>
          <a:ext cx="9604562" cy="3651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4742">
                  <a:extLst>
                    <a:ext uri="{9D8B030D-6E8A-4147-A177-3AD203B41FA5}">
                      <a16:colId xmlns:a16="http://schemas.microsoft.com/office/drawing/2014/main" val="3019588384"/>
                    </a:ext>
                  </a:extLst>
                </a:gridCol>
                <a:gridCol w="2390214">
                  <a:extLst>
                    <a:ext uri="{9D8B030D-6E8A-4147-A177-3AD203B41FA5}">
                      <a16:colId xmlns:a16="http://schemas.microsoft.com/office/drawing/2014/main" val="1491320180"/>
                    </a:ext>
                  </a:extLst>
                </a:gridCol>
                <a:gridCol w="1553136">
                  <a:extLst>
                    <a:ext uri="{9D8B030D-6E8A-4147-A177-3AD203B41FA5}">
                      <a16:colId xmlns:a16="http://schemas.microsoft.com/office/drawing/2014/main" val="2028155734"/>
                    </a:ext>
                  </a:extLst>
                </a:gridCol>
                <a:gridCol w="1526241">
                  <a:extLst>
                    <a:ext uri="{9D8B030D-6E8A-4147-A177-3AD203B41FA5}">
                      <a16:colId xmlns:a16="http://schemas.microsoft.com/office/drawing/2014/main" val="2030569821"/>
                    </a:ext>
                  </a:extLst>
                </a:gridCol>
                <a:gridCol w="1358153">
                  <a:extLst>
                    <a:ext uri="{9D8B030D-6E8A-4147-A177-3AD203B41FA5}">
                      <a16:colId xmlns:a16="http://schemas.microsoft.com/office/drawing/2014/main" val="3688815339"/>
                    </a:ext>
                  </a:extLst>
                </a:gridCol>
                <a:gridCol w="1822076">
                  <a:extLst>
                    <a:ext uri="{9D8B030D-6E8A-4147-A177-3AD203B41FA5}">
                      <a16:colId xmlns:a16="http://schemas.microsoft.com/office/drawing/2014/main" val="482563918"/>
                    </a:ext>
                  </a:extLst>
                </a:gridCol>
              </a:tblGrid>
              <a:tr h="49339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Compromiso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Responsable</a:t>
                      </a:r>
                      <a:endParaRPr lang="es-CL" sz="1000" b="1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Fecha</a:t>
                      </a:r>
                      <a:b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</a:b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compromiso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L" sz="1600" b="1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Comentario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263337"/>
                  </a:ext>
                </a:extLst>
              </a:tr>
              <a:tr h="608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C-01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Validar el alcance del proyecto</a:t>
                      </a:r>
                      <a:b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con el área de Soporte Informático.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Alejandro </a:t>
                      </a:r>
                      <a:r>
                        <a:rPr lang="es-CL" sz="1400" b="1" dirty="0" err="1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Gysling</a:t>
                      </a:r>
                      <a:endParaRPr lang="es-CL" sz="1400" b="1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04/09/2026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b="1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Validación de alcance finalizada.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479521"/>
                  </a:ext>
                </a:extLst>
              </a:tr>
              <a:tr h="608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C-02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Elaborar Acta de Constitución</a:t>
                      </a:r>
                      <a:b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del proyecto.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Ruben Mansilla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04/09/2026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Documento desarrollado y</a:t>
                      </a:r>
                      <a:b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revisado por el equipo.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857131"/>
                  </a:ext>
                </a:extLst>
              </a:tr>
              <a:tr h="662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C-03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Levantar y documentar el mapa</a:t>
                      </a:r>
                      <a:b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del proceso actual de Soporte</a:t>
                      </a:r>
                      <a:b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Informático.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Rubén Mansilla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04/09/2026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Mapa de proceso elaborado</a:t>
                      </a:r>
                      <a:b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y validado internamente.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46998"/>
                  </a:ext>
                </a:extLst>
              </a:tr>
              <a:tr h="625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C-04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Actualizar la presentación ejecutiva</a:t>
                      </a:r>
                    </a:p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para la Semana 2.</a:t>
                      </a: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Carlos Araya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04/09/2026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Presentación lista y revisada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por el equipo.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848269"/>
                  </a:ext>
                </a:extLst>
              </a:tr>
              <a:tr h="625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effectLst/>
                          <a:latin typeface="Abadi" panose="020B0604020104020204" pitchFamily="34" charset="0"/>
                        </a:rPr>
                        <a:t>C-05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Iniciar la especificación de los requisitos en documento ERS y terminarlo. </a:t>
                      </a:r>
                      <a:endParaRPr lang="es-CL" sz="1000" b="1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44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4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Eduardo </a:t>
                      </a:r>
                      <a:r>
                        <a:rPr lang="es-CL" sz="1400" b="1" dirty="0" err="1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Compan</a:t>
                      </a:r>
                      <a:endParaRPr lang="es-CL" sz="1400" b="1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1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25/09/2026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b="1" dirty="0">
                          <a:effectLst/>
                          <a:latin typeface="Arial Narrow" panose="020B0606020202030204" pitchFamily="34" charset="0"/>
                        </a:rPr>
                        <a:t>En proceso</a:t>
                      </a:r>
                    </a:p>
                  </a:txBody>
                  <a:tcPr marL="16482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Estructura general definida.</a:t>
                      </a:r>
                      <a:b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100" b="0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En revisión de contenidos.</a:t>
                      </a:r>
                    </a:p>
                  </a:txBody>
                  <a:tcPr marL="108000" marR="16482" marT="16482" marB="16482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8235"/>
                  </a:ext>
                </a:extLst>
              </a:tr>
            </a:tbl>
          </a:graphicData>
        </a:graphic>
      </p:graphicFrame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999F871A-026D-FC51-18ED-7700C34C681B}"/>
              </a:ext>
            </a:extLst>
          </p:cNvPr>
          <p:cNvSpPr/>
          <p:nvPr/>
        </p:nvSpPr>
        <p:spPr>
          <a:xfrm>
            <a:off x="452594" y="1818011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9A9BAC2-C442-55EF-4A04-F9AF2CAA21D2}"/>
              </a:ext>
            </a:extLst>
          </p:cNvPr>
          <p:cNvSpPr/>
          <p:nvPr/>
        </p:nvSpPr>
        <p:spPr>
          <a:xfrm>
            <a:off x="452594" y="2441020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8B7C412A-70E7-E656-4FD9-1D72F3EE0D37}"/>
              </a:ext>
            </a:extLst>
          </p:cNvPr>
          <p:cNvSpPr/>
          <p:nvPr/>
        </p:nvSpPr>
        <p:spPr>
          <a:xfrm>
            <a:off x="452594" y="3061865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8F36916-F46C-3852-4E4F-E5AD5A9A2568}"/>
              </a:ext>
            </a:extLst>
          </p:cNvPr>
          <p:cNvSpPr/>
          <p:nvPr/>
        </p:nvSpPr>
        <p:spPr>
          <a:xfrm>
            <a:off x="452594" y="3678116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70813E33-AFCE-1B22-CD76-D802E638B993}"/>
              </a:ext>
            </a:extLst>
          </p:cNvPr>
          <p:cNvSpPr/>
          <p:nvPr/>
        </p:nvSpPr>
        <p:spPr>
          <a:xfrm>
            <a:off x="6866346" y="1802177"/>
            <a:ext cx="1001486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14B78F67-71C8-87F1-6D07-53948C97C83A}"/>
              </a:ext>
            </a:extLst>
          </p:cNvPr>
          <p:cNvSpPr/>
          <p:nvPr/>
        </p:nvSpPr>
        <p:spPr>
          <a:xfrm>
            <a:off x="6866346" y="2440483"/>
            <a:ext cx="1001486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9CA333-4ADC-8556-1872-EF758B080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584FC301-180A-7146-FCD7-54BF34C49DC7}"/>
              </a:ext>
            </a:extLst>
          </p:cNvPr>
          <p:cNvGrpSpPr/>
          <p:nvPr/>
        </p:nvGrpSpPr>
        <p:grpSpPr>
          <a:xfrm>
            <a:off x="360553" y="6322468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9A10FB9-C79C-49E1-660C-644144709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257114D-8998-8F5E-25E1-E785142DCD7C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09</a:t>
              </a:r>
              <a:endParaRPr lang="es-CL" sz="1600" b="1" dirty="0">
                <a:solidFill>
                  <a:srgbClr val="0A3E6F"/>
                </a:solidFill>
                <a:latin typeface="Aptos Display" panose="020B0004020202020204" pitchFamily="34" charset="0"/>
                <a:ea typeface="ADLaM Display" panose="02010000000000000000" pitchFamily="2" charset="0"/>
                <a:cs typeface="Aharoni" panose="020F0502020204030204" pitchFamily="2" charset="-79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38C0E52-3ACD-2DD0-B68B-07269DB7AF23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5AD97802-710C-5384-06AF-A12E341307A4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20150A9-EC56-556E-367A-21E231066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61B6B560-B04E-9CA8-57CB-89383E62DE54}"/>
              </a:ext>
            </a:extLst>
          </p:cNvPr>
          <p:cNvSpPr/>
          <p:nvPr/>
        </p:nvSpPr>
        <p:spPr>
          <a:xfrm>
            <a:off x="250372" y="4876800"/>
            <a:ext cx="11691256" cy="1230086"/>
          </a:xfrm>
          <a:prstGeom prst="roundRect">
            <a:avLst>
              <a:gd name="adj" fmla="val 6932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E1C17417-C096-CDFB-CB07-D4AF27F3559D}"/>
              </a:ext>
            </a:extLst>
          </p:cNvPr>
          <p:cNvSpPr/>
          <p:nvPr/>
        </p:nvSpPr>
        <p:spPr>
          <a:xfrm>
            <a:off x="409075" y="4955722"/>
            <a:ext cx="457200" cy="457200"/>
          </a:xfrm>
          <a:prstGeom prst="flowChartConnector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8" name="Gráfico 47" descr="Bullseye con relleno sólido">
            <a:extLst>
              <a:ext uri="{FF2B5EF4-FFF2-40B4-BE49-F238E27FC236}">
                <a16:creationId xmlns:a16="http://schemas.microsoft.com/office/drawing/2014/main" id="{96FC90DD-61D7-183C-5EAF-2684B7794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675" y="4986322"/>
            <a:ext cx="396000" cy="396000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8546C650-7077-0768-C0B7-10FA2C82F60C}"/>
              </a:ext>
            </a:extLst>
          </p:cNvPr>
          <p:cNvSpPr txBox="1"/>
          <p:nvPr/>
        </p:nvSpPr>
        <p:spPr>
          <a:xfrm>
            <a:off x="920938" y="4924927"/>
            <a:ext cx="2313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002060"/>
                </a:solidFill>
                <a:latin typeface="Abadi" panose="020B0604020104020204" pitchFamily="34" charset="0"/>
              </a:rPr>
              <a:t>Resumen de cumplimiento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D218786-9F8C-0B28-86C3-30589EA2FB23}"/>
              </a:ext>
            </a:extLst>
          </p:cNvPr>
          <p:cNvSpPr txBox="1"/>
          <p:nvPr/>
        </p:nvSpPr>
        <p:spPr>
          <a:xfrm>
            <a:off x="745749" y="5597809"/>
            <a:ext cx="960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002060"/>
                </a:solidFill>
                <a:latin typeface="Arial Narrow" panose="020B0606020202030204" pitchFamily="34" charset="0"/>
              </a:rPr>
              <a:t>Compromisos</a:t>
            </a:r>
          </a:p>
          <a:p>
            <a:pPr algn="ctr"/>
            <a:r>
              <a:rPr lang="es-CL" sz="1100" b="1" dirty="0">
                <a:solidFill>
                  <a:srgbClr val="002060"/>
                </a:solidFill>
                <a:latin typeface="Arial Narrow" panose="020B0606020202030204" pitchFamily="34" charset="0"/>
              </a:rPr>
              <a:t>totales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F3C58B0-E3AC-4906-D87C-4693831DE59E}"/>
              </a:ext>
            </a:extLst>
          </p:cNvPr>
          <p:cNvSpPr txBox="1"/>
          <p:nvPr/>
        </p:nvSpPr>
        <p:spPr>
          <a:xfrm>
            <a:off x="992991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Abadi" panose="020B0604020104020204" pitchFamily="34" charset="0"/>
              </a:rPr>
              <a:t>5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DE67D0A-159B-D1B4-3926-A42997690BA1}"/>
              </a:ext>
            </a:extLst>
          </p:cNvPr>
          <p:cNvSpPr txBox="1"/>
          <p:nvPr/>
        </p:nvSpPr>
        <p:spPr>
          <a:xfrm>
            <a:off x="2414676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13863C"/>
                </a:solidFill>
                <a:latin typeface="Abadi" panose="020B0604020104020204" pitchFamily="34" charset="0"/>
              </a:rPr>
              <a:t>4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C9F817A-A8FF-ABE2-F3CC-62D089CF9048}"/>
              </a:ext>
            </a:extLst>
          </p:cNvPr>
          <p:cNvSpPr txBox="1"/>
          <p:nvPr/>
        </p:nvSpPr>
        <p:spPr>
          <a:xfrm>
            <a:off x="2275214" y="5623157"/>
            <a:ext cx="691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13863C"/>
                </a:solidFill>
                <a:latin typeface="Arial Narrow" panose="020B0606020202030204" pitchFamily="34" charset="0"/>
              </a:rPr>
              <a:t>Cerrados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8882FAC-B4A1-7739-2029-2C77D5BD70DA}"/>
              </a:ext>
            </a:extLst>
          </p:cNvPr>
          <p:cNvSpPr txBox="1"/>
          <p:nvPr/>
        </p:nvSpPr>
        <p:spPr>
          <a:xfrm>
            <a:off x="3759979" y="5209558"/>
            <a:ext cx="320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FFC0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90DB001-D6C2-C850-725A-608DAF0F5834}"/>
              </a:ext>
            </a:extLst>
          </p:cNvPr>
          <p:cNvSpPr txBox="1"/>
          <p:nvPr/>
        </p:nvSpPr>
        <p:spPr>
          <a:xfrm>
            <a:off x="3559605" y="5623157"/>
            <a:ext cx="8130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FFC000"/>
                </a:solidFill>
                <a:latin typeface="Arial Narrow" panose="020B0606020202030204" pitchFamily="34" charset="0"/>
              </a:rPr>
              <a:t>En proceso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830FE66-13AA-20CA-47A1-8A9707F8881F}"/>
              </a:ext>
            </a:extLst>
          </p:cNvPr>
          <p:cNvSpPr txBox="1"/>
          <p:nvPr/>
        </p:nvSpPr>
        <p:spPr>
          <a:xfrm>
            <a:off x="5262590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C00000"/>
                </a:solidFill>
                <a:latin typeface="Abadi" panose="020B0604020104020204" pitchFamily="34" charset="0"/>
              </a:rPr>
              <a:t>0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D4D5C4A-2570-F9B9-54A7-99D4B3D2BC52}"/>
              </a:ext>
            </a:extLst>
          </p:cNvPr>
          <p:cNvSpPr txBox="1"/>
          <p:nvPr/>
        </p:nvSpPr>
        <p:spPr>
          <a:xfrm>
            <a:off x="4723910" y="5628903"/>
            <a:ext cx="1531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C00000"/>
                </a:solidFill>
                <a:latin typeface="Arial Narrow" panose="020B0606020202030204" pitchFamily="34" charset="0"/>
              </a:rPr>
              <a:t>Atrasados / No iniciados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F73B5903-1572-956F-0C98-2D076322BF88}"/>
              </a:ext>
            </a:extLst>
          </p:cNvPr>
          <p:cNvCxnSpPr/>
          <p:nvPr/>
        </p:nvCxnSpPr>
        <p:spPr>
          <a:xfrm>
            <a:off x="1954463" y="5367600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BF6562B1-70E3-6AC0-F02E-68020E5BBBE7}"/>
              </a:ext>
            </a:extLst>
          </p:cNvPr>
          <p:cNvCxnSpPr>
            <a:cxnSpLocks/>
          </p:cNvCxnSpPr>
          <p:nvPr/>
        </p:nvCxnSpPr>
        <p:spPr>
          <a:xfrm>
            <a:off x="3296654" y="5367600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4440E7D-F5D9-E38C-E09A-AC15307A8059}"/>
              </a:ext>
            </a:extLst>
          </p:cNvPr>
          <p:cNvCxnSpPr>
            <a:cxnSpLocks/>
          </p:cNvCxnSpPr>
          <p:nvPr/>
        </p:nvCxnSpPr>
        <p:spPr>
          <a:xfrm>
            <a:off x="4641517" y="5361367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6A1AEE4-342E-6930-B174-EDD48A47A654}"/>
              </a:ext>
            </a:extLst>
          </p:cNvPr>
          <p:cNvCxnSpPr>
            <a:cxnSpLocks/>
          </p:cNvCxnSpPr>
          <p:nvPr/>
        </p:nvCxnSpPr>
        <p:spPr>
          <a:xfrm>
            <a:off x="6301873" y="5005843"/>
            <a:ext cx="0" cy="972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Bocadillo: ovalado 61">
            <a:extLst>
              <a:ext uri="{FF2B5EF4-FFF2-40B4-BE49-F238E27FC236}">
                <a16:creationId xmlns:a16="http://schemas.microsoft.com/office/drawing/2014/main" id="{CBCB6552-50E3-C61A-E01E-AB4CB4B2A697}"/>
              </a:ext>
            </a:extLst>
          </p:cNvPr>
          <p:cNvSpPr/>
          <p:nvPr/>
        </p:nvSpPr>
        <p:spPr>
          <a:xfrm>
            <a:off x="6529137" y="4955722"/>
            <a:ext cx="294105" cy="287881"/>
          </a:xfrm>
          <a:prstGeom prst="wedgeEllipseCallout">
            <a:avLst>
              <a:gd name="adj1" fmla="val -47196"/>
              <a:gd name="adj2" fmla="val 48990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18DC6F48-50CD-C945-11B7-8072342DEB2E}"/>
              </a:ext>
            </a:extLst>
          </p:cNvPr>
          <p:cNvSpPr txBox="1"/>
          <p:nvPr/>
        </p:nvSpPr>
        <p:spPr>
          <a:xfrm>
            <a:off x="6877613" y="4945773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002060"/>
                </a:solidFill>
                <a:latin typeface="Arial Narrow" panose="020B0606020202030204" pitchFamily="34" charset="0"/>
              </a:rPr>
              <a:t>Observaciones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2CE586F-97B3-2263-45C8-CA42E99238BC}"/>
              </a:ext>
            </a:extLst>
          </p:cNvPr>
          <p:cNvSpPr txBox="1"/>
          <p:nvPr/>
        </p:nvSpPr>
        <p:spPr>
          <a:xfrm>
            <a:off x="6803534" y="5197699"/>
            <a:ext cx="427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002060"/>
                </a:solidFill>
                <a:latin typeface="Arial Narrow" panose="020B0606020202030204" pitchFamily="34" charset="0"/>
              </a:rPr>
              <a:t>Todos los compromisos se encuentran dentro del plazo establecido.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002060"/>
                </a:solidFill>
                <a:latin typeface="Arial Narrow" panose="020B0606020202030204" pitchFamily="34" charset="0"/>
              </a:rPr>
              <a:t>Se mantiene seguimiento semanal en las revisiones del equipo.</a:t>
            </a:r>
            <a:endParaRPr lang="es-CL" sz="12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71ECC6BE-5894-11CA-8835-20F9B915D882}"/>
              </a:ext>
            </a:extLst>
          </p:cNvPr>
          <p:cNvCxnSpPr/>
          <p:nvPr/>
        </p:nvCxnSpPr>
        <p:spPr>
          <a:xfrm>
            <a:off x="6600840" y="5100746"/>
            <a:ext cx="15069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7E6A0530-7ADB-04AC-7BC6-D3569FBAD482}"/>
              </a:ext>
            </a:extLst>
          </p:cNvPr>
          <p:cNvCxnSpPr/>
          <p:nvPr/>
        </p:nvCxnSpPr>
        <p:spPr>
          <a:xfrm>
            <a:off x="6604188" y="5148425"/>
            <a:ext cx="72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BFF81719-2595-70BA-1A03-750CEABB5DCB}"/>
              </a:ext>
            </a:extLst>
          </p:cNvPr>
          <p:cNvSpPr/>
          <p:nvPr/>
        </p:nvSpPr>
        <p:spPr>
          <a:xfrm>
            <a:off x="10013894" y="1104564"/>
            <a:ext cx="1938042" cy="3621186"/>
          </a:xfrm>
          <a:prstGeom prst="roundRect">
            <a:avLst>
              <a:gd name="adj" fmla="val 4515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689F9B16-5CAE-927B-7EDB-2ECDDDAF9CF2}"/>
              </a:ext>
            </a:extLst>
          </p:cNvPr>
          <p:cNvCxnSpPr>
            <a:cxnSpLocks/>
          </p:cNvCxnSpPr>
          <p:nvPr/>
        </p:nvCxnSpPr>
        <p:spPr>
          <a:xfrm flipH="1">
            <a:off x="10137499" y="3869868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EA2BE9D4-500B-2541-3959-113866C247CE}"/>
              </a:ext>
            </a:extLst>
          </p:cNvPr>
          <p:cNvCxnSpPr>
            <a:cxnSpLocks/>
          </p:cNvCxnSpPr>
          <p:nvPr/>
        </p:nvCxnSpPr>
        <p:spPr>
          <a:xfrm flipH="1">
            <a:off x="10137499" y="3075500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DC71C0C6-2CDF-F243-4746-51266259BAC3}"/>
              </a:ext>
            </a:extLst>
          </p:cNvPr>
          <p:cNvCxnSpPr>
            <a:cxnSpLocks/>
          </p:cNvCxnSpPr>
          <p:nvPr/>
        </p:nvCxnSpPr>
        <p:spPr>
          <a:xfrm flipH="1">
            <a:off x="10137499" y="2277086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iagrama de flujo: conector 70">
            <a:extLst>
              <a:ext uri="{FF2B5EF4-FFF2-40B4-BE49-F238E27FC236}">
                <a16:creationId xmlns:a16="http://schemas.microsoft.com/office/drawing/2014/main" id="{0184B6BC-734A-88AF-F663-E0D474328371}"/>
              </a:ext>
            </a:extLst>
          </p:cNvPr>
          <p:cNvSpPr>
            <a:spLocks noChangeAspect="1"/>
          </p:cNvSpPr>
          <p:nvPr/>
        </p:nvSpPr>
        <p:spPr>
          <a:xfrm>
            <a:off x="10177189" y="1620388"/>
            <a:ext cx="396000" cy="396000"/>
          </a:xfrm>
          <a:prstGeom prst="flowChartConnector">
            <a:avLst/>
          </a:prstGeom>
          <a:solidFill>
            <a:srgbClr val="10833B"/>
          </a:solidFill>
          <a:ln>
            <a:solidFill>
              <a:srgbClr val="108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2" name="Gráfico 71" descr="Checkmark con relleno sólido">
            <a:extLst>
              <a:ext uri="{FF2B5EF4-FFF2-40B4-BE49-F238E27FC236}">
                <a16:creationId xmlns:a16="http://schemas.microsoft.com/office/drawing/2014/main" id="{DC5B81DD-F181-5462-F4CB-C790D5A26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9055" y="1702254"/>
            <a:ext cx="232269" cy="232269"/>
          </a:xfrm>
          <a:prstGeom prst="rect">
            <a:avLst/>
          </a:prstGeom>
        </p:spPr>
      </p:pic>
      <p:sp>
        <p:nvSpPr>
          <p:cNvPr id="73" name="Diagrama de flujo: conector 72">
            <a:extLst>
              <a:ext uri="{FF2B5EF4-FFF2-40B4-BE49-F238E27FC236}">
                <a16:creationId xmlns:a16="http://schemas.microsoft.com/office/drawing/2014/main" id="{DA336A95-6325-6070-63AF-C0B4EAC4CFA7}"/>
              </a:ext>
            </a:extLst>
          </p:cNvPr>
          <p:cNvSpPr>
            <a:spLocks noChangeAspect="1"/>
          </p:cNvSpPr>
          <p:nvPr/>
        </p:nvSpPr>
        <p:spPr>
          <a:xfrm>
            <a:off x="10175894" y="2394404"/>
            <a:ext cx="396000" cy="396000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4" name="Diagrama de flujo: conector 73">
            <a:extLst>
              <a:ext uri="{FF2B5EF4-FFF2-40B4-BE49-F238E27FC236}">
                <a16:creationId xmlns:a16="http://schemas.microsoft.com/office/drawing/2014/main" id="{446A22B1-6CC7-0BD2-6CAF-91518D54669A}"/>
              </a:ext>
            </a:extLst>
          </p:cNvPr>
          <p:cNvSpPr>
            <a:spLocks noChangeAspect="1"/>
          </p:cNvSpPr>
          <p:nvPr/>
        </p:nvSpPr>
        <p:spPr>
          <a:xfrm>
            <a:off x="10175894" y="3188910"/>
            <a:ext cx="396000" cy="396000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5" name="Gráfico 74" descr="Clock con relleno sólido">
            <a:extLst>
              <a:ext uri="{FF2B5EF4-FFF2-40B4-BE49-F238E27FC236}">
                <a16:creationId xmlns:a16="http://schemas.microsoft.com/office/drawing/2014/main" id="{C93D89D7-7849-E7DC-6CB6-BD3BD1727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29894" y="2448404"/>
            <a:ext cx="288000" cy="288000"/>
          </a:xfrm>
          <a:prstGeom prst="rect">
            <a:avLst/>
          </a:prstGeom>
        </p:spPr>
      </p:pic>
      <p:pic>
        <p:nvPicPr>
          <p:cNvPr id="76" name="Gráfico 75" descr="Close con relleno sólido">
            <a:extLst>
              <a:ext uri="{FF2B5EF4-FFF2-40B4-BE49-F238E27FC236}">
                <a16:creationId xmlns:a16="http://schemas.microsoft.com/office/drawing/2014/main" id="{7A7D9669-F20A-7A28-DA2C-BE8ECF0C5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47894" y="3260910"/>
            <a:ext cx="252000" cy="252000"/>
          </a:xfrm>
          <a:prstGeom prst="rect">
            <a:avLst/>
          </a:prstGeom>
        </p:spPr>
      </p:pic>
      <p:pic>
        <p:nvPicPr>
          <p:cNvPr id="77" name="Gráfico 76" descr="Badge Unfollow con relleno sólido">
            <a:extLst>
              <a:ext uri="{FF2B5EF4-FFF2-40B4-BE49-F238E27FC236}">
                <a16:creationId xmlns:a16="http://schemas.microsoft.com/office/drawing/2014/main" id="{34C1CA5A-C65D-B49A-B8CD-BD9187699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03894" y="3910065"/>
            <a:ext cx="540000" cy="540000"/>
          </a:xfrm>
          <a:prstGeom prst="rect">
            <a:avLst/>
          </a:prstGeom>
        </p:spPr>
      </p:pic>
      <p:sp>
        <p:nvSpPr>
          <p:cNvPr id="78" name="CuadroTexto 77">
            <a:extLst>
              <a:ext uri="{FF2B5EF4-FFF2-40B4-BE49-F238E27FC236}">
                <a16:creationId xmlns:a16="http://schemas.microsoft.com/office/drawing/2014/main" id="{44739B5D-5456-8E9B-E08B-3F0F9F97A779}"/>
              </a:ext>
            </a:extLst>
          </p:cNvPr>
          <p:cNvSpPr txBox="1"/>
          <p:nvPr/>
        </p:nvSpPr>
        <p:spPr>
          <a:xfrm>
            <a:off x="10571895" y="1567417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Cerrado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Se completo el compromiso en la fecha establecida.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30449FB-5CD7-1A82-E072-6EEEDF7E58D4}"/>
              </a:ext>
            </a:extLst>
          </p:cNvPr>
          <p:cNvSpPr txBox="1"/>
          <p:nvPr/>
        </p:nvSpPr>
        <p:spPr>
          <a:xfrm>
            <a:off x="10608441" y="2382347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En proceso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Se esta trabajando en el compromiso.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59ED1B00-6FC3-1514-7948-1B36416C6E4A}"/>
              </a:ext>
            </a:extLst>
          </p:cNvPr>
          <p:cNvSpPr txBox="1"/>
          <p:nvPr/>
        </p:nvSpPr>
        <p:spPr>
          <a:xfrm>
            <a:off x="10601481" y="3180760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Atrasado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No se cumplió la fecha establecida.</a:t>
            </a:r>
          </a:p>
        </p:txBody>
      </p:sp>
      <p:sp>
        <p:nvSpPr>
          <p:cNvPr id="81" name="Rectángulo: esquinas superiores redondeadas 80">
            <a:extLst>
              <a:ext uri="{FF2B5EF4-FFF2-40B4-BE49-F238E27FC236}">
                <a16:creationId xmlns:a16="http://schemas.microsoft.com/office/drawing/2014/main" id="{EA8ADC3E-B2BD-A7DA-1339-F058C2B8AA4E}"/>
              </a:ext>
            </a:extLst>
          </p:cNvPr>
          <p:cNvSpPr/>
          <p:nvPr/>
        </p:nvSpPr>
        <p:spPr>
          <a:xfrm>
            <a:off x="10019048" y="1107084"/>
            <a:ext cx="1927734" cy="334370"/>
          </a:xfrm>
          <a:prstGeom prst="round2SameRect">
            <a:avLst>
              <a:gd name="adj1" fmla="val 26795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24FD0142-8B2C-B0C0-D732-F16058B59484}"/>
              </a:ext>
            </a:extLst>
          </p:cNvPr>
          <p:cNvSpPr txBox="1"/>
          <p:nvPr/>
        </p:nvSpPr>
        <p:spPr>
          <a:xfrm>
            <a:off x="10601481" y="3969886"/>
            <a:ext cx="13504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No iniciado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Aun no se ha comenzado con el compromiso.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FDB66227-1CB5-AC36-80D7-AA0F3D9620A9}"/>
              </a:ext>
            </a:extLst>
          </p:cNvPr>
          <p:cNvSpPr txBox="1"/>
          <p:nvPr/>
        </p:nvSpPr>
        <p:spPr>
          <a:xfrm>
            <a:off x="10157995" y="1123323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Leyenda de estados</a:t>
            </a:r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35030C07-0CC3-CBA0-9AE8-5BE9090D9BAB}"/>
              </a:ext>
            </a:extLst>
          </p:cNvPr>
          <p:cNvSpPr/>
          <p:nvPr/>
        </p:nvSpPr>
        <p:spPr>
          <a:xfrm>
            <a:off x="1837869" y="495760"/>
            <a:ext cx="5529220" cy="390349"/>
          </a:xfrm>
          <a:prstGeom prst="roundRect">
            <a:avLst>
              <a:gd name="adj" fmla="val 3200"/>
            </a:avLst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1F3B860-BE7B-B634-7CBB-D60764E6F68E}"/>
              </a:ext>
            </a:extLst>
          </p:cNvPr>
          <p:cNvSpPr txBox="1"/>
          <p:nvPr/>
        </p:nvSpPr>
        <p:spPr>
          <a:xfrm>
            <a:off x="360553" y="374257"/>
            <a:ext cx="725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Compromisos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2ADF69A-D88C-C70D-8B28-19736256115F}"/>
              </a:ext>
            </a:extLst>
          </p:cNvPr>
          <p:cNvSpPr/>
          <p:nvPr/>
        </p:nvSpPr>
        <p:spPr>
          <a:xfrm>
            <a:off x="6885396" y="3059608"/>
            <a:ext cx="1001486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4167135-A0D3-0E12-5CC5-8DE90CBDD129}"/>
              </a:ext>
            </a:extLst>
          </p:cNvPr>
          <p:cNvSpPr/>
          <p:nvPr/>
        </p:nvSpPr>
        <p:spPr>
          <a:xfrm>
            <a:off x="6885396" y="4320465"/>
            <a:ext cx="1001486" cy="331423"/>
          </a:xfrm>
          <a:prstGeom prst="roundRect">
            <a:avLst>
              <a:gd name="adj" fmla="val 39659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6AF775B-45EE-6357-5EC8-06897F4E1B1D}"/>
              </a:ext>
            </a:extLst>
          </p:cNvPr>
          <p:cNvSpPr/>
          <p:nvPr/>
        </p:nvSpPr>
        <p:spPr>
          <a:xfrm>
            <a:off x="6875871" y="3688941"/>
            <a:ext cx="1001486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151FC0A-4323-EEBF-FA39-E779E8A69607}"/>
              </a:ext>
            </a:extLst>
          </p:cNvPr>
          <p:cNvSpPr/>
          <p:nvPr/>
        </p:nvSpPr>
        <p:spPr>
          <a:xfrm>
            <a:off x="433544" y="4297241"/>
            <a:ext cx="604046" cy="331423"/>
          </a:xfrm>
          <a:prstGeom prst="roundRect">
            <a:avLst/>
          </a:prstGeom>
          <a:solidFill>
            <a:srgbClr val="C8E1FE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008364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1150</Words>
  <Application>Microsoft Office PowerPoint</Application>
  <PresentationFormat>Panorámica</PresentationFormat>
  <Paragraphs>321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Abadi</vt:lpstr>
      <vt:lpstr>Aptos</vt:lpstr>
      <vt:lpstr>Aptos Display</vt:lpstr>
      <vt:lpstr>Arial</vt:lpstr>
      <vt:lpstr>Arial Narrow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araya</dc:creator>
  <cp:lastModifiedBy>ruben mansilla</cp:lastModifiedBy>
  <cp:revision>32</cp:revision>
  <dcterms:created xsi:type="dcterms:W3CDTF">2026-08-24T16:52:46Z</dcterms:created>
  <dcterms:modified xsi:type="dcterms:W3CDTF">2026-09-04T02:42:25Z</dcterms:modified>
</cp:coreProperties>
</file>