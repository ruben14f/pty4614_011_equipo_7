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9" r:id="rId2"/>
    <p:sldId id="274" r:id="rId3"/>
    <p:sldId id="269" r:id="rId4"/>
    <p:sldId id="270" r:id="rId5"/>
    <p:sldId id="272" r:id="rId6"/>
    <p:sldId id="275" r:id="rId7"/>
    <p:sldId id="276" r:id="rId8"/>
    <p:sldId id="273" r:id="rId9"/>
    <p:sldId id="268" r:id="rId10"/>
    <p:sldId id="271" r:id="rId11"/>
    <p:sldId id="277" r:id="rId12"/>
    <p:sldId id="278" r:id="rId13"/>
    <p:sldId id="279" r:id="rId14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BAE2FB"/>
    <a:srgbClr val="CCECFF"/>
    <a:srgbClr val="FBFDFF"/>
    <a:srgbClr val="EBF7FF"/>
    <a:srgbClr val="208332"/>
    <a:srgbClr val="F0F7FE"/>
    <a:srgbClr val="156082"/>
    <a:srgbClr val="D5DBE4"/>
    <a:srgbClr val="EA58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0" autoAdjust="0"/>
    <p:restoredTop sz="95033" autoAdjust="0"/>
  </p:normalViewPr>
  <p:slideViewPr>
    <p:cSldViewPr snapToGrid="0">
      <p:cViewPr>
        <p:scale>
          <a:sx n="75" d="100"/>
          <a:sy n="75" d="100"/>
        </p:scale>
        <p:origin x="43" y="3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4A2173-2289-4A9F-BC36-5B710C4D3E06}" type="datetimeFigureOut">
              <a:rPr lang="es-CL" smtClean="0"/>
              <a:t>02-10-2026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88742B-81F4-4D0A-B0F7-579C5140FE1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21334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88742B-81F4-4D0A-B0F7-579C5140FE12}" type="slidenum">
              <a:rPr lang="es-CL" smtClean="0"/>
              <a:t>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57687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88742B-81F4-4D0A-B0F7-579C5140FE12}" type="slidenum">
              <a:rPr lang="es-CL" smtClean="0"/>
              <a:t>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378405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88742B-81F4-4D0A-B0F7-579C5140FE12}" type="slidenum">
              <a:rPr lang="es-CL" smtClean="0"/>
              <a:t>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010145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D4A25-4510-8717-6ECF-D792960B2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74E4B5F-7DC5-DABA-2C03-BB6E8E3921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B8F88AF-1180-D12F-F081-831A151B60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F674D33-7D6B-74A3-84EE-ED664C7813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88742B-81F4-4D0A-B0F7-579C5140FE12}" type="slidenum">
              <a:rPr lang="es-CL" smtClean="0"/>
              <a:t>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930639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88742B-81F4-4D0A-B0F7-579C5140FE12}" type="slidenum">
              <a:rPr lang="es-CL" smtClean="0"/>
              <a:t>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184017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88742B-81F4-4D0A-B0F7-579C5140FE12}" type="slidenum">
              <a:rPr lang="es-CL" smtClean="0"/>
              <a:t>10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25304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CC14CF-4D2C-E1D2-90A3-1C39B489FD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EA0FE20-2136-425C-7DF5-40DD88F6AA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4D4055-E52D-3EC6-CDF6-E9057AB8D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674D7-8D83-4C70-BCF0-236F4D4FBFF9}" type="datetimeFigureOut">
              <a:rPr lang="es-CL" smtClean="0"/>
              <a:t>02-10-2026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5B9B075-E7D7-204D-087E-F7C29D8B9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267017A-2F18-3DDB-BEC6-66AD91047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A96F3-2AB8-437E-85D9-570012B57C7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14119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8091CF-97DA-A986-3DF0-91B64CACB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FE571B1-5C49-AA57-F049-E62DD9B0B5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07D312-27EE-813D-4346-581CAA1DB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674D7-8D83-4C70-BCF0-236F4D4FBFF9}" type="datetimeFigureOut">
              <a:rPr lang="es-CL" smtClean="0"/>
              <a:t>02-10-2026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7EF2409-F63C-6E27-BABF-E5BD98297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282A669-54A3-D001-B727-BD0B18857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A96F3-2AB8-437E-85D9-570012B57C7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63607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2C80F6-11EB-7EFD-4112-64F55FDD5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ECC2DB3-F2A4-D72C-44C9-7F965CF55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5040F1-5C67-E08E-9238-81BAF815E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674D7-8D83-4C70-BCF0-236F4D4FBFF9}" type="datetimeFigureOut">
              <a:rPr lang="es-CL" smtClean="0"/>
              <a:t>02-10-2026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5F6C4A5-281D-4197-AF67-8A7812B64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3B88F4-E1B3-D8F1-E87B-E4CC7F460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A96F3-2AB8-437E-85D9-570012B57C7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34573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5FA7B5-8128-A3D3-18FC-DF051AC39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F0BF64-F055-74BE-0C14-4060D8E076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6D5D10E-6893-7A59-4A30-16284F1007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8431D57-20D7-8149-B228-4F7164EDC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674D7-8D83-4C70-BCF0-236F4D4FBFF9}" type="datetimeFigureOut">
              <a:rPr lang="es-CL" smtClean="0"/>
              <a:t>02-10-2026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285FD30-642E-810B-B8AA-C2B47C173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8884C1F-B4DC-1955-F18F-F89B6A75E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A96F3-2AB8-437E-85D9-570012B57C7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3547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540E98-9801-1E33-1DCC-2E944FFFD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DB9EA6-F885-F2BB-BB51-9DD05A7A43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33409D0-FDB0-6DCA-1C03-C43BCE784C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582A3CC-6CB5-16B9-F714-B0AFFDA2AA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94C16B0-ACE4-836E-D3BA-4CFF384386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04B3149-7F77-69C0-B3C5-2915C5B0E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674D7-8D83-4C70-BCF0-236F4D4FBFF9}" type="datetimeFigureOut">
              <a:rPr lang="es-CL" smtClean="0"/>
              <a:t>02-10-2026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2C1AAB5-5B3A-E126-7B3C-0196D87E2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11369EB-634B-CB53-3A8C-5885CE7D1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A96F3-2AB8-437E-85D9-570012B57C7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18512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92CC79-7E20-3ACB-76BC-D1FE035FB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AE0A2F5-5561-2122-97EA-F3D6AD267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674D7-8D83-4C70-BCF0-236F4D4FBFF9}" type="datetimeFigureOut">
              <a:rPr lang="es-CL" smtClean="0"/>
              <a:t>02-10-2026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ACDE3D8-BAE8-FE63-FA43-2D4FBD47C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54D7D6B-ED4F-2673-6F6F-C721731F5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A96F3-2AB8-437E-85D9-570012B57C7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82930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5B66A1F-3EAB-6BA4-9F2F-332FEBA99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674D7-8D83-4C70-BCF0-236F4D4FBFF9}" type="datetimeFigureOut">
              <a:rPr lang="es-CL" smtClean="0"/>
              <a:t>02-10-2026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73118C8-F115-F7A1-8DF4-6EF182978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52FB715-D69E-7DBB-44EA-9906FC26B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A96F3-2AB8-437E-85D9-570012B57C7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89504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77E6EF-151F-9665-2CBD-86F79EA8C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18544A0-BF6B-C783-1638-BA7CBC3AA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ABCF4C5-4B87-C46A-DEB8-E4132D4217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9E2849C-4C5C-2847-940E-3E9C3E449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674D7-8D83-4C70-BCF0-236F4D4FBFF9}" type="datetimeFigureOut">
              <a:rPr lang="es-CL" smtClean="0"/>
              <a:t>02-10-2026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53FFAE8-AE09-B11D-9898-D7E24E21E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60C027B-4A6B-2D04-D68C-04BEAEEB2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A96F3-2AB8-437E-85D9-570012B57C7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15899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837BAE-759F-2159-F3D9-B77EB88A4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D370057-FA56-FE74-1945-EADD0F3516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759A018-DB57-06E8-BFDA-AC5439300C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B36FE7A-CFFB-B8D1-ED04-A72C3853D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674D7-8D83-4C70-BCF0-236F4D4FBFF9}" type="datetimeFigureOut">
              <a:rPr lang="es-CL" smtClean="0"/>
              <a:t>02-10-2026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8A38814-3758-63A4-576C-212A0F03A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E2E4830-033E-5DDA-47BD-652D92FAE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A96F3-2AB8-437E-85D9-570012B57C7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45114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DF649A-B42E-A2B3-1218-DBE027ED5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1AD4F82-FD1B-63A9-58E9-A76C6E0996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FA303CD-DEC6-D8B7-1E7F-FDFF2C0A7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674D7-8D83-4C70-BCF0-236F4D4FBFF9}" type="datetimeFigureOut">
              <a:rPr lang="es-CL" smtClean="0"/>
              <a:t>02-10-2026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8C5CFC4-FCB7-A353-81A9-94AB50662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FAFDB8E-6F67-E72E-0AD6-0D017C28B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A96F3-2AB8-437E-85D9-570012B57C7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09872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F965078-E1F3-3C29-5240-0FC9C15A2F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C10F72C-D2A4-4C18-4908-7A90AF4445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F2F814A-7D38-0407-F2CE-884BBCFC2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674D7-8D83-4C70-BCF0-236F4D4FBFF9}" type="datetimeFigureOut">
              <a:rPr lang="es-CL" smtClean="0"/>
              <a:t>02-10-2026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5B2C76F-A6B4-4829-D619-1FFF30D8E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27323D-59F4-429D-7C69-037FC0A4B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A96F3-2AB8-437E-85D9-570012B57C7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63272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DA655BC-98A0-4920-A673-557639955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A1D65A0-693E-5D1D-820C-1E5A56FE86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D4A6CD9-F47A-4547-885F-516BA19846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A674D7-8D83-4C70-BCF0-236F4D4FBFF9}" type="datetimeFigureOut">
              <a:rPr lang="es-CL" smtClean="0"/>
              <a:t>02-10-2026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500D01E-2D7D-6E92-FACA-A96C2E4D0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5B3FD35-9A87-F2FA-DDFB-891776E735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BA96F3-2AB8-437E-85D9-570012B57C7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11510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sv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5" Type="http://schemas.openxmlformats.org/officeDocument/2006/relationships/image" Target="../media/image13.svg"/><Relationship Id="rId10" Type="http://schemas.openxmlformats.org/officeDocument/2006/relationships/image" Target="../media/image8.svg"/><Relationship Id="rId4" Type="http://schemas.openxmlformats.org/officeDocument/2006/relationships/image" Target="../media/image2.png"/><Relationship Id="rId9" Type="http://schemas.openxmlformats.org/officeDocument/2006/relationships/image" Target="../media/image7.svg"/><Relationship Id="rId14" Type="http://schemas.openxmlformats.org/officeDocument/2006/relationships/image" Target="../media/image1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4.png"/><Relationship Id="rId18" Type="http://schemas.openxmlformats.org/officeDocument/2006/relationships/image" Target="../media/image6.svg"/><Relationship Id="rId3" Type="http://schemas.openxmlformats.org/officeDocument/2006/relationships/image" Target="../media/image2.png"/><Relationship Id="rId21" Type="http://schemas.openxmlformats.org/officeDocument/2006/relationships/image" Target="../media/image8.svg"/><Relationship Id="rId7" Type="http://schemas.openxmlformats.org/officeDocument/2006/relationships/image" Target="../media/image3.svg"/><Relationship Id="rId12" Type="http://schemas.microsoft.com/office/2007/relationships/hdphoto" Target="../media/hdphoto1.wdp"/><Relationship Id="rId17" Type="http://schemas.openxmlformats.org/officeDocument/2006/relationships/image" Target="../media/image5.svg"/><Relationship Id="rId2" Type="http://schemas.openxmlformats.org/officeDocument/2006/relationships/image" Target="../media/image1.png"/><Relationship Id="rId16" Type="http://schemas.openxmlformats.org/officeDocument/2006/relationships/image" Target="../media/image13.svg"/><Relationship Id="rId20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11" Type="http://schemas.openxmlformats.org/officeDocument/2006/relationships/image" Target="../media/image21.png"/><Relationship Id="rId5" Type="http://schemas.openxmlformats.org/officeDocument/2006/relationships/image" Target="../media/image16.svg"/><Relationship Id="rId15" Type="http://schemas.openxmlformats.org/officeDocument/2006/relationships/image" Target="../media/image9.svg"/><Relationship Id="rId10" Type="http://schemas.openxmlformats.org/officeDocument/2006/relationships/image" Target="../media/image20.svg"/><Relationship Id="rId19" Type="http://schemas.openxmlformats.org/officeDocument/2006/relationships/image" Target="../media/image12.svg"/><Relationship Id="rId4" Type="http://schemas.openxmlformats.org/officeDocument/2006/relationships/image" Target="../media/image15.svg"/><Relationship Id="rId9" Type="http://schemas.openxmlformats.org/officeDocument/2006/relationships/image" Target="../media/image19.svg"/><Relationship Id="rId14" Type="http://schemas.openxmlformats.org/officeDocument/2006/relationships/image" Target="../media/image22.svg"/><Relationship Id="rId22" Type="http://schemas.openxmlformats.org/officeDocument/2006/relationships/image" Target="../media/image23.sv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oleObject" Target="file:///C:\Users\carlo\Desktop\DUOC\8vo%20Semestre\CAPSTONE\PLAN_MAESTRO.xlsx!Dashboard!F3C7" TargetMode="External"/><Relationship Id="rId18" Type="http://schemas.openxmlformats.org/officeDocument/2006/relationships/image" Target="../media/image31.emf"/><Relationship Id="rId26" Type="http://schemas.openxmlformats.org/officeDocument/2006/relationships/image" Target="../media/image35.emf"/><Relationship Id="rId3" Type="http://schemas.openxmlformats.org/officeDocument/2006/relationships/image" Target="../media/image1.png"/><Relationship Id="rId21" Type="http://schemas.openxmlformats.org/officeDocument/2006/relationships/oleObject" Target="file:///C:\Users\carlo\Desktop\DUOC\8vo%20Semestre\CAPSTONE\PLAN_MAESTRO.xlsx!Dashboard!F3C4" TargetMode="External"/><Relationship Id="rId34" Type="http://schemas.openxmlformats.org/officeDocument/2006/relationships/image" Target="../media/image39.emf"/><Relationship Id="rId7" Type="http://schemas.openxmlformats.org/officeDocument/2006/relationships/image" Target="../media/image26.svg"/><Relationship Id="rId12" Type="http://schemas.openxmlformats.org/officeDocument/2006/relationships/image" Target="../media/image4.png"/><Relationship Id="rId17" Type="http://schemas.openxmlformats.org/officeDocument/2006/relationships/oleObject" Target="file:///C:\Users\carlo\Desktop\DUOC\8vo%20Semestre\CAPSTONE\PLAN_MAESTRO.xlsx!Dashboard!F3C10" TargetMode="External"/><Relationship Id="rId25" Type="http://schemas.openxmlformats.org/officeDocument/2006/relationships/oleObject" Target="file:///C:\Users\carlo\Desktop\DUOC\8vo%20Semestre\CAPSTONE\PLAN_MAESTRO.xlsx!Dashboard!F3C1" TargetMode="External"/><Relationship Id="rId33" Type="http://schemas.openxmlformats.org/officeDocument/2006/relationships/oleObject" Target="file:///C:\Users\carlo\Desktop\DUOC\8vo%20Semestre\CAPSTONE\PLAN_MAESTRO.xlsx!Dashboard!F3C12" TargetMode="External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30.emf"/><Relationship Id="rId20" Type="http://schemas.openxmlformats.org/officeDocument/2006/relationships/image" Target="../media/image32.emf"/><Relationship Id="rId29" Type="http://schemas.openxmlformats.org/officeDocument/2006/relationships/oleObject" Target="file:///C:\Users\carlo\Desktop\DUOC\8vo%20Semestre\CAPSTONE\PLAN_MAESTRO.xlsx!Dashboard!F3C2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svg"/><Relationship Id="rId11" Type="http://schemas.microsoft.com/office/2007/relationships/hdphoto" Target="../media/hdphoto1.wdp"/><Relationship Id="rId24" Type="http://schemas.openxmlformats.org/officeDocument/2006/relationships/image" Target="../media/image34.emf"/><Relationship Id="rId32" Type="http://schemas.openxmlformats.org/officeDocument/2006/relationships/image" Target="../media/image38.emf"/><Relationship Id="rId5" Type="http://schemas.openxmlformats.org/officeDocument/2006/relationships/image" Target="../media/image24.svg"/><Relationship Id="rId15" Type="http://schemas.openxmlformats.org/officeDocument/2006/relationships/oleObject" Target="file:///C:\Users\carlo\Desktop\DUOC\8vo%20Semestre\CAPSTONE\PLAN_MAESTRO.xlsx!Dashboard!F3C8" TargetMode="External"/><Relationship Id="rId23" Type="http://schemas.openxmlformats.org/officeDocument/2006/relationships/oleObject" Target="file:///C:\Users\carlo\Desktop\DUOC\8vo%20Semestre\CAPSTONE\PLAN_MAESTRO.xlsx!Dashboard!F4C5" TargetMode="External"/><Relationship Id="rId28" Type="http://schemas.openxmlformats.org/officeDocument/2006/relationships/image" Target="../media/image36.emf"/><Relationship Id="rId36" Type="http://schemas.openxmlformats.org/officeDocument/2006/relationships/image" Target="../media/image40.emf"/><Relationship Id="rId10" Type="http://schemas.openxmlformats.org/officeDocument/2006/relationships/image" Target="../media/image21.png"/><Relationship Id="rId19" Type="http://schemas.openxmlformats.org/officeDocument/2006/relationships/oleObject" Target="file:///C:\Users\carlo\Desktop\DUOC\8vo%20Semestre\CAPSTONE\PLAN_MAESTRO.xlsx!Dashboard!F3C3" TargetMode="External"/><Relationship Id="rId31" Type="http://schemas.openxmlformats.org/officeDocument/2006/relationships/oleObject" Target="file:///C:\Users\carlo\Desktop\DUOC\8vo%20Semestre\CAPSTONE\PLAN_MAESTRO.xlsx!Dashboard!%5bPLAN_MAESTRO.xlsx%5dDashboard%20Gr&#225;fico%205" TargetMode="External"/><Relationship Id="rId4" Type="http://schemas.openxmlformats.org/officeDocument/2006/relationships/image" Target="../media/image2.png"/><Relationship Id="rId9" Type="http://schemas.openxmlformats.org/officeDocument/2006/relationships/image" Target="../media/image28.svg"/><Relationship Id="rId14" Type="http://schemas.openxmlformats.org/officeDocument/2006/relationships/image" Target="../media/image29.emf"/><Relationship Id="rId22" Type="http://schemas.openxmlformats.org/officeDocument/2006/relationships/image" Target="../media/image33.emf"/><Relationship Id="rId27" Type="http://schemas.openxmlformats.org/officeDocument/2006/relationships/oleObject" Target="file:///C:\Users\carlo\Desktop\DUOC\8vo%20Semestre\CAPSTONE\PLAN_MAESTRO.xlsx!Dashboard!F3C11" TargetMode="External"/><Relationship Id="rId30" Type="http://schemas.openxmlformats.org/officeDocument/2006/relationships/image" Target="../media/image37.emf"/><Relationship Id="rId35" Type="http://schemas.openxmlformats.org/officeDocument/2006/relationships/oleObject" Target="file:///C:\Users\carlo\Desktop\DUOC\8vo%20Semestre\CAPSTONE\PLAN_MAESTRO.xlsx!Dashboard!F3C13" TargetMode="External"/><Relationship Id="rId8" Type="http://schemas.openxmlformats.org/officeDocument/2006/relationships/image" Target="../media/image27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12" Type="http://schemas.openxmlformats.org/officeDocument/2006/relationships/image" Target="../media/image4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11" Type="http://schemas.openxmlformats.org/officeDocument/2006/relationships/image" Target="../media/image44.svg"/><Relationship Id="rId5" Type="http://schemas.openxmlformats.org/officeDocument/2006/relationships/image" Target="../media/image21.png"/><Relationship Id="rId10" Type="http://schemas.openxmlformats.org/officeDocument/2006/relationships/image" Target="../media/image43.svg"/><Relationship Id="rId4" Type="http://schemas.openxmlformats.org/officeDocument/2006/relationships/image" Target="../media/image2.png"/><Relationship Id="rId9" Type="http://schemas.openxmlformats.org/officeDocument/2006/relationships/image" Target="../media/image42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svg"/><Relationship Id="rId3" Type="http://schemas.openxmlformats.org/officeDocument/2006/relationships/image" Target="../media/image2.png"/><Relationship Id="rId7" Type="http://schemas.openxmlformats.org/officeDocument/2006/relationships/image" Target="../media/image4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13" Type="http://schemas.openxmlformats.org/officeDocument/2006/relationships/image" Target="../media/image51.sv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12" Type="http://schemas.openxmlformats.org/officeDocument/2006/relationships/image" Target="../media/image5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11" Type="http://schemas.openxmlformats.org/officeDocument/2006/relationships/image" Target="../media/image49.svg"/><Relationship Id="rId5" Type="http://schemas.openxmlformats.org/officeDocument/2006/relationships/image" Target="../media/image21.png"/><Relationship Id="rId10" Type="http://schemas.openxmlformats.org/officeDocument/2006/relationships/image" Target="../media/image48.svg"/><Relationship Id="rId4" Type="http://schemas.openxmlformats.org/officeDocument/2006/relationships/image" Target="../media/image2.png"/><Relationship Id="rId9" Type="http://schemas.openxmlformats.org/officeDocument/2006/relationships/image" Target="../media/image23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svg"/><Relationship Id="rId13" Type="http://schemas.openxmlformats.org/officeDocument/2006/relationships/image" Target="../media/image59.svg"/><Relationship Id="rId18" Type="http://schemas.microsoft.com/office/2007/relationships/hdphoto" Target="../media/hdphoto1.wdp"/><Relationship Id="rId3" Type="http://schemas.openxmlformats.org/officeDocument/2006/relationships/image" Target="../media/image2.png"/><Relationship Id="rId21" Type="http://schemas.openxmlformats.org/officeDocument/2006/relationships/slide" Target="slide12.xml"/><Relationship Id="rId7" Type="http://schemas.openxmlformats.org/officeDocument/2006/relationships/image" Target="../media/image42.svg"/><Relationship Id="rId12" Type="http://schemas.openxmlformats.org/officeDocument/2006/relationships/image" Target="../media/image58.svg"/><Relationship Id="rId17" Type="http://schemas.openxmlformats.org/officeDocument/2006/relationships/image" Target="../media/image21.png"/><Relationship Id="rId2" Type="http://schemas.openxmlformats.org/officeDocument/2006/relationships/image" Target="../media/image1.png"/><Relationship Id="rId16" Type="http://schemas.openxmlformats.org/officeDocument/2006/relationships/image" Target="../media/image61.svg"/><Relationship Id="rId20" Type="http://schemas.openxmlformats.org/officeDocument/2006/relationships/image" Target="../media/image6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11" Type="http://schemas.openxmlformats.org/officeDocument/2006/relationships/image" Target="../media/image57.svg"/><Relationship Id="rId5" Type="http://schemas.openxmlformats.org/officeDocument/2006/relationships/slide" Target="slide11.xml"/><Relationship Id="rId15" Type="http://schemas.openxmlformats.org/officeDocument/2006/relationships/image" Target="../media/image60.png"/><Relationship Id="rId23" Type="http://schemas.openxmlformats.org/officeDocument/2006/relationships/image" Target="../media/image64.png"/><Relationship Id="rId10" Type="http://schemas.openxmlformats.org/officeDocument/2006/relationships/image" Target="../media/image56.svg"/><Relationship Id="rId19" Type="http://schemas.openxmlformats.org/officeDocument/2006/relationships/image" Target="../media/image4.png"/><Relationship Id="rId4" Type="http://schemas.openxmlformats.org/officeDocument/2006/relationships/image" Target="../media/image52.svg"/><Relationship Id="rId9" Type="http://schemas.openxmlformats.org/officeDocument/2006/relationships/image" Target="../media/image55.svg"/><Relationship Id="rId14" Type="http://schemas.openxmlformats.org/officeDocument/2006/relationships/slide" Target="slide13.xml"/><Relationship Id="rId22" Type="http://schemas.openxmlformats.org/officeDocument/2006/relationships/image" Target="../media/image63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.png"/><Relationship Id="rId7" Type="http://schemas.openxmlformats.org/officeDocument/2006/relationships/image" Target="../media/image4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svg"/><Relationship Id="rId11" Type="http://schemas.openxmlformats.org/officeDocument/2006/relationships/image" Target="../media/image41.svg"/><Relationship Id="rId5" Type="http://schemas.openxmlformats.org/officeDocument/2006/relationships/image" Target="../media/image43.svg"/><Relationship Id="rId10" Type="http://schemas.openxmlformats.org/officeDocument/2006/relationships/image" Target="../media/image4.png"/><Relationship Id="rId4" Type="http://schemas.openxmlformats.org/officeDocument/2006/relationships/image" Target="../media/image42.svg"/><Relationship Id="rId9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21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svg"/><Relationship Id="rId3" Type="http://schemas.openxmlformats.org/officeDocument/2006/relationships/image" Target="../media/image1.png"/><Relationship Id="rId7" Type="http://schemas.openxmlformats.org/officeDocument/2006/relationships/image" Target="../media/image4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svg"/><Relationship Id="rId11" Type="http://schemas.openxmlformats.org/officeDocument/2006/relationships/image" Target="../media/image4.png"/><Relationship Id="rId5" Type="http://schemas.openxmlformats.org/officeDocument/2006/relationships/image" Target="../media/image56.svg"/><Relationship Id="rId10" Type="http://schemas.microsoft.com/office/2007/relationships/hdphoto" Target="../media/hdphoto1.wdp"/><Relationship Id="rId4" Type="http://schemas.openxmlformats.org/officeDocument/2006/relationships/image" Target="../media/image2.png"/><Relationship Id="rId9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4186E-EDF9-BB6C-ACC9-4071D7A2B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Grupo 125">
            <a:extLst>
              <a:ext uri="{FF2B5EF4-FFF2-40B4-BE49-F238E27FC236}">
                <a16:creationId xmlns:a16="http://schemas.microsoft.com/office/drawing/2014/main" id="{4258F028-D4DB-69E2-5B6F-F3652D9A59FC}"/>
              </a:ext>
            </a:extLst>
          </p:cNvPr>
          <p:cNvGrpSpPr/>
          <p:nvPr/>
        </p:nvGrpSpPr>
        <p:grpSpPr>
          <a:xfrm>
            <a:off x="3239" y="0"/>
            <a:ext cx="12185522" cy="6858000"/>
            <a:chOff x="3239" y="0"/>
            <a:chExt cx="12185522" cy="6858000"/>
          </a:xfrm>
        </p:grpSpPr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CFA07EAB-BD97-1533-B899-B4E17522155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39" y="0"/>
              <a:ext cx="12185522" cy="6858000"/>
            </a:xfrm>
            <a:prstGeom prst="rect">
              <a:avLst/>
            </a:prstGeom>
          </p:spPr>
        </p:pic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70D211E7-AD85-DB61-AE05-3E5D6BB53B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70837" y="217737"/>
              <a:ext cx="1620000" cy="1620000"/>
            </a:xfrm>
            <a:prstGeom prst="rect">
              <a:avLst/>
            </a:prstGeom>
          </p:spPr>
        </p:pic>
      </p:grpSp>
      <p:sp>
        <p:nvSpPr>
          <p:cNvPr id="32" name="CuadroTexto 31">
            <a:extLst>
              <a:ext uri="{FF2B5EF4-FFF2-40B4-BE49-F238E27FC236}">
                <a16:creationId xmlns:a16="http://schemas.microsoft.com/office/drawing/2014/main" id="{8CC52E30-DCD1-3D85-F924-E031F37B8894}"/>
              </a:ext>
            </a:extLst>
          </p:cNvPr>
          <p:cNvSpPr txBox="1"/>
          <p:nvPr/>
        </p:nvSpPr>
        <p:spPr>
          <a:xfrm>
            <a:off x="544945" y="278759"/>
            <a:ext cx="52783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00" b="1" dirty="0">
                <a:solidFill>
                  <a:srgbClr val="0070C0"/>
                </a:solidFill>
                <a:latin typeface="Abadi" panose="020B0604020104020204" pitchFamily="34" charset="0"/>
              </a:rPr>
              <a:t>CAPSTONE · INGENIERÍA EN INFORMÁTICA 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0FCEC520-DE40-FBD2-074B-4EC2D0F6CCD0}"/>
              </a:ext>
            </a:extLst>
          </p:cNvPr>
          <p:cNvSpPr txBox="1"/>
          <p:nvPr/>
        </p:nvSpPr>
        <p:spPr>
          <a:xfrm>
            <a:off x="544945" y="678869"/>
            <a:ext cx="73988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latin typeface="Arial Narrow" panose="020B0606020202030204" pitchFamily="34" charset="0"/>
              </a:rPr>
              <a:t>CASO · DIRECCIÓN GENERAL DE CONCESIONES DE OBRAS PUBLICAS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05B2825C-83A2-B244-2B34-90018D619E51}"/>
              </a:ext>
            </a:extLst>
          </p:cNvPr>
          <p:cNvSpPr txBox="1"/>
          <p:nvPr/>
        </p:nvSpPr>
        <p:spPr>
          <a:xfrm>
            <a:off x="544945" y="759687"/>
            <a:ext cx="264566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9600" b="1" dirty="0">
                <a:latin typeface="+mj-lt"/>
                <a:ea typeface="ADLaM Display" panose="020F0502020204030204" pitchFamily="2" charset="0"/>
                <a:cs typeface="ADLaM Display" panose="020F0502020204030204" pitchFamily="2" charset="0"/>
              </a:rPr>
              <a:t>GATI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4C316CE1-284C-5B4B-4AE0-DF83F3074ED0}"/>
              </a:ext>
            </a:extLst>
          </p:cNvPr>
          <p:cNvSpPr txBox="1"/>
          <p:nvPr/>
        </p:nvSpPr>
        <p:spPr>
          <a:xfrm>
            <a:off x="560862" y="3260603"/>
            <a:ext cx="41261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000" b="1" dirty="0">
                <a:latin typeface="Arial Narrow" panose="020B0606020202030204" pitchFamily="34" charset="0"/>
              </a:rPr>
              <a:t>Trazabilidad verificable durante todo el </a:t>
            </a:r>
          </a:p>
          <a:p>
            <a:r>
              <a:rPr lang="es-CL" sz="2000" b="1" dirty="0">
                <a:latin typeface="Arial Narrow" panose="020B0606020202030204" pitchFamily="34" charset="0"/>
              </a:rPr>
              <a:t>ciclo de vida del activo.</a:t>
            </a:r>
          </a:p>
        </p:txBody>
      </p:sp>
      <p:graphicFrame>
        <p:nvGraphicFramePr>
          <p:cNvPr id="38" name="Tabla 37">
            <a:extLst>
              <a:ext uri="{FF2B5EF4-FFF2-40B4-BE49-F238E27FC236}">
                <a16:creationId xmlns:a16="http://schemas.microsoft.com/office/drawing/2014/main" id="{055562E0-26CE-36CE-92B7-86AF74334C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0777735"/>
              </p:ext>
            </p:extLst>
          </p:nvPr>
        </p:nvGraphicFramePr>
        <p:xfrm>
          <a:off x="561670" y="4101380"/>
          <a:ext cx="5085881" cy="20726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95773">
                  <a:extLst>
                    <a:ext uri="{9D8B030D-6E8A-4147-A177-3AD203B41FA5}">
                      <a16:colId xmlns:a16="http://schemas.microsoft.com/office/drawing/2014/main" val="1343934128"/>
                    </a:ext>
                  </a:extLst>
                </a:gridCol>
                <a:gridCol w="212691">
                  <a:extLst>
                    <a:ext uri="{9D8B030D-6E8A-4147-A177-3AD203B41FA5}">
                      <a16:colId xmlns:a16="http://schemas.microsoft.com/office/drawing/2014/main" val="847530165"/>
                    </a:ext>
                  </a:extLst>
                </a:gridCol>
                <a:gridCol w="3777417">
                  <a:extLst>
                    <a:ext uri="{9D8B030D-6E8A-4147-A177-3AD203B41FA5}">
                      <a16:colId xmlns:a16="http://schemas.microsoft.com/office/drawing/2014/main" val="16601705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CL" sz="1600" b="1" dirty="0">
                          <a:solidFill>
                            <a:srgbClr val="002060"/>
                          </a:solidFill>
                          <a:latin typeface="Arial Narrow" panose="020B0606020202030204" pitchFamily="34" charset="0"/>
                        </a:rPr>
                        <a:t>Asignatura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CL" sz="1600" b="1" dirty="0">
                          <a:solidFill>
                            <a:srgbClr val="002060"/>
                          </a:solidFill>
                          <a:latin typeface="Arial Narrow" panose="020B0606020202030204" pitchFamily="34" charset="0"/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CL" sz="1600" b="0" dirty="0">
                          <a:latin typeface="Arial Narrow" panose="020B0606020202030204" pitchFamily="34" charset="0"/>
                        </a:rPr>
                        <a:t>CAPSTONE_011V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679193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sz="1600" b="1" dirty="0">
                          <a:solidFill>
                            <a:srgbClr val="002060"/>
                          </a:solidFill>
                          <a:latin typeface="Arial Narrow" panose="020B0606020202030204" pitchFamily="34" charset="0"/>
                        </a:rPr>
                        <a:t>Profesor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CL" sz="1600" b="1" dirty="0">
                          <a:solidFill>
                            <a:srgbClr val="002060"/>
                          </a:solidFill>
                          <a:latin typeface="Arial Narrow" panose="020B0606020202030204" pitchFamily="34" charset="0"/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CL" sz="1600" b="0" dirty="0">
                          <a:latin typeface="Arial Narrow" panose="020B0606020202030204" pitchFamily="34" charset="0"/>
                        </a:rPr>
                        <a:t>Fernando Herrera Francesconi.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692428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sz="1600" b="1" dirty="0">
                          <a:solidFill>
                            <a:srgbClr val="002060"/>
                          </a:solidFill>
                          <a:latin typeface="Arial Narrow" panose="020B0606020202030204" pitchFamily="34" charset="0"/>
                        </a:rPr>
                        <a:t>Fecha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CL" sz="1600" b="1" dirty="0">
                          <a:solidFill>
                            <a:srgbClr val="002060"/>
                          </a:solidFill>
                          <a:latin typeface="Arial Narrow" panose="020B0606020202030204" pitchFamily="34" charset="0"/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CL" sz="1600" b="0" dirty="0">
                          <a:latin typeface="Arial Narrow" panose="020B0606020202030204" pitchFamily="34" charset="0"/>
                        </a:rPr>
                        <a:t>25 de Septiembre de 2026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77896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CL" sz="1600" b="1" dirty="0">
                          <a:solidFill>
                            <a:srgbClr val="002060"/>
                          </a:solidFill>
                          <a:latin typeface="Arial Narrow" panose="020B0606020202030204" pitchFamily="34" charset="0"/>
                        </a:rPr>
                        <a:t>Integrantes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CL" sz="1600" b="1" dirty="0">
                          <a:solidFill>
                            <a:srgbClr val="002060"/>
                          </a:solidFill>
                          <a:latin typeface="Arial Narrow" panose="020B0606020202030204" pitchFamily="34" charset="0"/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CL" sz="1600" b="0" dirty="0">
                          <a:latin typeface="Arial Narrow" panose="020B0606020202030204" pitchFamily="34" charset="0"/>
                        </a:rPr>
                        <a:t>Carlos Araya</a:t>
                      </a:r>
                    </a:p>
                    <a:p>
                      <a:r>
                        <a:rPr lang="es-CL" sz="1600" b="0" dirty="0">
                          <a:latin typeface="Arial Narrow" panose="020B0606020202030204" pitchFamily="34" charset="0"/>
                        </a:rPr>
                        <a:t>Eduardo Compan</a:t>
                      </a:r>
                    </a:p>
                    <a:p>
                      <a:r>
                        <a:rPr lang="es-CL" sz="1600" b="0" dirty="0">
                          <a:latin typeface="Arial Narrow" panose="020B0606020202030204" pitchFamily="34" charset="0"/>
                        </a:rPr>
                        <a:t>Alejandro Gysling</a:t>
                      </a:r>
                    </a:p>
                    <a:p>
                      <a:r>
                        <a:rPr lang="es-CL" sz="1600" b="0" dirty="0">
                          <a:latin typeface="Arial Narrow" panose="020B0606020202030204" pitchFamily="34" charset="0"/>
                        </a:rPr>
                        <a:t>Ruben Mansilla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24482321"/>
                  </a:ext>
                </a:extLst>
              </a:tr>
            </a:tbl>
          </a:graphicData>
        </a:graphic>
      </p:graphicFrame>
      <p:sp>
        <p:nvSpPr>
          <p:cNvPr id="39" name="CuadroTexto 38">
            <a:extLst>
              <a:ext uri="{FF2B5EF4-FFF2-40B4-BE49-F238E27FC236}">
                <a16:creationId xmlns:a16="http://schemas.microsoft.com/office/drawing/2014/main" id="{3A694859-DAC1-5ED2-2B2B-EFE65E726D72}"/>
              </a:ext>
            </a:extLst>
          </p:cNvPr>
          <p:cNvSpPr txBox="1"/>
          <p:nvPr/>
        </p:nvSpPr>
        <p:spPr>
          <a:xfrm>
            <a:off x="1002885" y="6396537"/>
            <a:ext cx="16653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dirty="0">
                <a:solidFill>
                  <a:srgbClr val="002060"/>
                </a:solidFill>
                <a:latin typeface="Arial Narrow" panose="020B0606020202030204" pitchFamily="34" charset="0"/>
              </a:rPr>
              <a:t>Avance semanal</a:t>
            </a:r>
          </a:p>
        </p:txBody>
      </p:sp>
      <p:sp>
        <p:nvSpPr>
          <p:cNvPr id="40" name="Diagrama de flujo: conector 39">
            <a:extLst>
              <a:ext uri="{FF2B5EF4-FFF2-40B4-BE49-F238E27FC236}">
                <a16:creationId xmlns:a16="http://schemas.microsoft.com/office/drawing/2014/main" id="{E5DAAFFC-A10B-6F72-B497-ACA7A4543531}"/>
              </a:ext>
            </a:extLst>
          </p:cNvPr>
          <p:cNvSpPr>
            <a:spLocks noChangeAspect="1"/>
          </p:cNvSpPr>
          <p:nvPr/>
        </p:nvSpPr>
        <p:spPr>
          <a:xfrm>
            <a:off x="618057" y="6354570"/>
            <a:ext cx="360000" cy="360000"/>
          </a:xfrm>
          <a:prstGeom prst="flowChartConnector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42" name="Gráfico 41" descr="Daily calendar con relleno sólido">
            <a:extLst>
              <a:ext uri="{FF2B5EF4-FFF2-40B4-BE49-F238E27FC236}">
                <a16:creationId xmlns:a16="http://schemas.microsoft.com/office/drawing/2014/main" id="{A4B293F2-40EF-EB23-3F92-0B8FCD070A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9040" y="6375553"/>
            <a:ext cx="318033" cy="318033"/>
          </a:xfrm>
          <a:prstGeom prst="rect">
            <a:avLst/>
          </a:prstGeom>
        </p:spPr>
      </p:pic>
      <p:sp>
        <p:nvSpPr>
          <p:cNvPr id="43" name="Rectángulo: esquinas redondeadas 42">
            <a:extLst>
              <a:ext uri="{FF2B5EF4-FFF2-40B4-BE49-F238E27FC236}">
                <a16:creationId xmlns:a16="http://schemas.microsoft.com/office/drawing/2014/main" id="{BB6889B5-1DFF-5E8B-FBC1-8966FB0EA6E3}"/>
              </a:ext>
            </a:extLst>
          </p:cNvPr>
          <p:cNvSpPr/>
          <p:nvPr/>
        </p:nvSpPr>
        <p:spPr>
          <a:xfrm>
            <a:off x="278101" y="233202"/>
            <a:ext cx="85521" cy="6336829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cxnSp>
        <p:nvCxnSpPr>
          <p:cNvPr id="46" name="Conector recto 45">
            <a:extLst>
              <a:ext uri="{FF2B5EF4-FFF2-40B4-BE49-F238E27FC236}">
                <a16:creationId xmlns:a16="http://schemas.microsoft.com/office/drawing/2014/main" id="{7ED6EEAE-D0B3-09A2-94C0-D4F85FCE2A74}"/>
              </a:ext>
            </a:extLst>
          </p:cNvPr>
          <p:cNvCxnSpPr/>
          <p:nvPr/>
        </p:nvCxnSpPr>
        <p:spPr>
          <a:xfrm>
            <a:off x="639040" y="6270432"/>
            <a:ext cx="3661363" cy="0"/>
          </a:xfrm>
          <a:prstGeom prst="line">
            <a:avLst/>
          </a:prstGeom>
          <a:ln>
            <a:solidFill>
              <a:srgbClr val="04E1F6"/>
            </a:solidFill>
            <a:headEnd type="oval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7ECF18B8-FF40-2A9E-C960-400773E12BDE}"/>
              </a:ext>
            </a:extLst>
          </p:cNvPr>
          <p:cNvSpPr/>
          <p:nvPr/>
        </p:nvSpPr>
        <p:spPr>
          <a:xfrm>
            <a:off x="4884233" y="2381865"/>
            <a:ext cx="1584683" cy="914400"/>
          </a:xfrm>
          <a:prstGeom prst="roundRect">
            <a:avLst/>
          </a:prstGeom>
          <a:solidFill>
            <a:srgbClr val="F6F6F8">
              <a:alpha val="5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026A05BF-95A7-42F9-FD31-5ACE41F05391}"/>
              </a:ext>
            </a:extLst>
          </p:cNvPr>
          <p:cNvSpPr txBox="1"/>
          <p:nvPr/>
        </p:nvSpPr>
        <p:spPr>
          <a:xfrm>
            <a:off x="561670" y="2073008"/>
            <a:ext cx="607589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3600" b="1" dirty="0">
                <a:latin typeface="Abadi" panose="020B0604020104020204" pitchFamily="34" charset="0"/>
              </a:rPr>
              <a:t>Gestión de Activos</a:t>
            </a:r>
            <a:br>
              <a:rPr lang="es-CL" sz="3600" b="1" dirty="0">
                <a:latin typeface="Abadi" panose="020B0604020104020204" pitchFamily="34" charset="0"/>
              </a:rPr>
            </a:br>
            <a:r>
              <a:rPr lang="es-CL" sz="3600" b="1" dirty="0">
                <a:latin typeface="Abadi" panose="020B0604020104020204" pitchFamily="34" charset="0"/>
              </a:rPr>
              <a:t>Tecnológicos e Informáticos 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ED12DB09-85CB-C3AD-FA7C-3813BDED7D73}"/>
              </a:ext>
            </a:extLst>
          </p:cNvPr>
          <p:cNvCxnSpPr/>
          <p:nvPr/>
        </p:nvCxnSpPr>
        <p:spPr>
          <a:xfrm>
            <a:off x="2691154" y="6470505"/>
            <a:ext cx="0" cy="224758"/>
          </a:xfrm>
          <a:prstGeom prst="line">
            <a:avLst/>
          </a:prstGeom>
          <a:ln>
            <a:solidFill>
              <a:srgbClr val="789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Imagen 11">
            <a:extLst>
              <a:ext uri="{FF2B5EF4-FFF2-40B4-BE49-F238E27FC236}">
                <a16:creationId xmlns:a16="http://schemas.microsoft.com/office/drawing/2014/main" id="{78AEDCD7-9599-15C2-9E89-322243AB707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1302" y="6380652"/>
            <a:ext cx="1436666" cy="324000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0DEA1D32-8A9C-07CA-7FAE-0C6174BC9F2D}"/>
              </a:ext>
            </a:extLst>
          </p:cNvPr>
          <p:cNvSpPr/>
          <p:nvPr/>
        </p:nvSpPr>
        <p:spPr>
          <a:xfrm>
            <a:off x="2801013" y="6372434"/>
            <a:ext cx="1436665" cy="395193"/>
          </a:xfrm>
          <a:prstGeom prst="rect">
            <a:avLst/>
          </a:prstGeom>
          <a:solidFill>
            <a:srgbClr val="F2F3F4"/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b="1" dirty="0">
                <a:solidFill>
                  <a:srgbClr val="002060"/>
                </a:solidFill>
                <a:latin typeface="Arial Narrow" panose="020B0606020202030204" pitchFamily="34" charset="0"/>
              </a:rPr>
              <a:t>Semana 8</a:t>
            </a:r>
          </a:p>
        </p:txBody>
      </p:sp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BDE141D2-7CEE-3EAC-811A-6F12D502F696}"/>
              </a:ext>
            </a:extLst>
          </p:cNvPr>
          <p:cNvCxnSpPr>
            <a:cxnSpLocks/>
            <a:endCxn id="63" idx="5"/>
          </p:cNvCxnSpPr>
          <p:nvPr/>
        </p:nvCxnSpPr>
        <p:spPr>
          <a:xfrm>
            <a:off x="7119395" y="3201702"/>
            <a:ext cx="420991" cy="319294"/>
          </a:xfrm>
          <a:prstGeom prst="line">
            <a:avLst/>
          </a:prstGeom>
          <a:ln w="41275">
            <a:gradFill flip="none" rotWithShape="1">
              <a:gsLst>
                <a:gs pos="0">
                  <a:schemeClr val="accent1">
                    <a:lumMod val="0"/>
                    <a:lumOff val="100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</a:ln>
          <a:effectLst>
            <a:softEdge rad="12700"/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A30D7CB2-C823-091A-D69E-D31E310868B0}"/>
              </a:ext>
            </a:extLst>
          </p:cNvPr>
          <p:cNvSpPr txBox="1"/>
          <p:nvPr/>
        </p:nvSpPr>
        <p:spPr>
          <a:xfrm>
            <a:off x="7995879" y="3107100"/>
            <a:ext cx="2906437" cy="1053009"/>
          </a:xfrm>
          <a:prstGeom prst="rect">
            <a:avLst/>
          </a:prstGeom>
          <a:noFill/>
          <a:ln w="22225">
            <a:noFill/>
          </a:ln>
          <a:effectLst>
            <a:outerShdw blurRad="50800" dist="50800" algn="ctr" rotWithShape="0">
              <a:schemeClr val="bg2">
                <a:alpha val="43000"/>
              </a:schemeClr>
            </a:outerShdw>
          </a:effectLst>
          <a:scene3d>
            <a:camera prst="orthographicFront">
              <a:rot lat="1800000" lon="0" rev="0"/>
            </a:camera>
            <a:lightRig rig="threePt" dir="t"/>
          </a:scene3d>
        </p:spPr>
        <p:txBody>
          <a:bodyPr wrap="square" rtlCol="0">
            <a:noAutofit/>
          </a:bodyPr>
          <a:lstStyle/>
          <a:p>
            <a:r>
              <a:rPr lang="es-CL" sz="7500" b="1" dirty="0">
                <a:ln w="15875">
                  <a:solidFill>
                    <a:schemeClr val="tx2">
                      <a:lumMod val="25000"/>
                      <a:lumOff val="75000"/>
                    </a:schemeClr>
                  </a:solidFill>
                </a:ln>
                <a:solidFill>
                  <a:schemeClr val="bg1"/>
                </a:solidFill>
                <a:latin typeface="Arial Black" panose="020B0A04020102020204" pitchFamily="34" charset="0"/>
                <a:cs typeface="Aldhabi" panose="020F0502020204030204" pitchFamily="2" charset="-78"/>
              </a:rPr>
              <a:t>GATI</a:t>
            </a:r>
          </a:p>
        </p:txBody>
      </p:sp>
      <p:sp>
        <p:nvSpPr>
          <p:cNvPr id="9" name="Forma libre: forma 8">
            <a:extLst>
              <a:ext uri="{FF2B5EF4-FFF2-40B4-BE49-F238E27FC236}">
                <a16:creationId xmlns:a16="http://schemas.microsoft.com/office/drawing/2014/main" id="{26F4C277-81C4-BD5C-9C49-F246168888ED}"/>
              </a:ext>
            </a:extLst>
          </p:cNvPr>
          <p:cNvSpPr/>
          <p:nvPr/>
        </p:nvSpPr>
        <p:spPr>
          <a:xfrm>
            <a:off x="8972252" y="3044330"/>
            <a:ext cx="761290" cy="169855"/>
          </a:xfrm>
          <a:custGeom>
            <a:avLst/>
            <a:gdLst>
              <a:gd name="csX0" fmla="*/ 657548 w 696508"/>
              <a:gd name="csY0" fmla="*/ 0 h 169855"/>
              <a:gd name="csX1" fmla="*/ 38961 w 696508"/>
              <a:gd name="csY1" fmla="*/ 0 h 169855"/>
              <a:gd name="csX2" fmla="*/ 0 w 696508"/>
              <a:gd name="csY2" fmla="*/ 38005 h 169855"/>
              <a:gd name="csX3" fmla="*/ 0 w 696508"/>
              <a:gd name="csY3" fmla="*/ 131850 h 169855"/>
              <a:gd name="csX4" fmla="*/ 38961 w 696508"/>
              <a:gd name="csY4" fmla="*/ 169856 h 169855"/>
              <a:gd name="csX5" fmla="*/ 657548 w 696508"/>
              <a:gd name="csY5" fmla="*/ 169856 h 169855"/>
              <a:gd name="csX6" fmla="*/ 696509 w 696508"/>
              <a:gd name="csY6" fmla="*/ 131850 h 169855"/>
              <a:gd name="csX7" fmla="*/ 696509 w 696508"/>
              <a:gd name="csY7" fmla="*/ 38005 h 169855"/>
              <a:gd name="csX8" fmla="*/ 657548 w 696508"/>
              <a:gd name="csY8" fmla="*/ 0 h 169855"/>
              <a:gd name="csX9" fmla="*/ 108829 w 696508"/>
              <a:gd name="csY9" fmla="*/ 106160 h 169855"/>
              <a:gd name="csX10" fmla="*/ 87064 w 696508"/>
              <a:gd name="csY10" fmla="*/ 84928 h 169855"/>
              <a:gd name="csX11" fmla="*/ 108829 w 696508"/>
              <a:gd name="csY11" fmla="*/ 63696 h 169855"/>
              <a:gd name="csX12" fmla="*/ 130595 w 696508"/>
              <a:gd name="csY12" fmla="*/ 84928 h 169855"/>
              <a:gd name="csX13" fmla="*/ 108829 w 696508"/>
              <a:gd name="csY13" fmla="*/ 106160 h 169855"/>
              <a:gd name="csX14" fmla="*/ 217659 w 696508"/>
              <a:gd name="csY14" fmla="*/ 106160 h 169855"/>
              <a:gd name="csX15" fmla="*/ 195893 w 696508"/>
              <a:gd name="csY15" fmla="*/ 84928 h 169855"/>
              <a:gd name="csX16" fmla="*/ 217659 w 696508"/>
              <a:gd name="csY16" fmla="*/ 63696 h 169855"/>
              <a:gd name="csX17" fmla="*/ 239425 w 696508"/>
              <a:gd name="csY17" fmla="*/ 84928 h 169855"/>
              <a:gd name="csX18" fmla="*/ 217659 w 696508"/>
              <a:gd name="csY18" fmla="*/ 106160 h 169855"/>
              <a:gd name="csX19" fmla="*/ 326488 w 696508"/>
              <a:gd name="csY19" fmla="*/ 106160 h 169855"/>
              <a:gd name="csX20" fmla="*/ 304723 w 696508"/>
              <a:gd name="csY20" fmla="*/ 84928 h 169855"/>
              <a:gd name="csX21" fmla="*/ 326488 w 696508"/>
              <a:gd name="csY21" fmla="*/ 63696 h 169855"/>
              <a:gd name="csX22" fmla="*/ 348254 w 696508"/>
              <a:gd name="csY22" fmla="*/ 84928 h 169855"/>
              <a:gd name="csX23" fmla="*/ 326488 w 696508"/>
              <a:gd name="csY23" fmla="*/ 106160 h 1698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696508" h="169855">
                <a:moveTo>
                  <a:pt x="657548" y="0"/>
                </a:moveTo>
                <a:lnTo>
                  <a:pt x="38961" y="0"/>
                </a:lnTo>
                <a:cubicBezTo>
                  <a:pt x="17443" y="0"/>
                  <a:pt x="0" y="17015"/>
                  <a:pt x="0" y="38005"/>
                </a:cubicBezTo>
                <a:lnTo>
                  <a:pt x="0" y="131850"/>
                </a:lnTo>
                <a:cubicBezTo>
                  <a:pt x="0" y="152840"/>
                  <a:pt x="17443" y="169856"/>
                  <a:pt x="38961" y="169856"/>
                </a:cubicBezTo>
                <a:lnTo>
                  <a:pt x="657548" y="169856"/>
                </a:lnTo>
                <a:cubicBezTo>
                  <a:pt x="679066" y="169856"/>
                  <a:pt x="696509" y="152840"/>
                  <a:pt x="696509" y="131850"/>
                </a:cubicBezTo>
                <a:lnTo>
                  <a:pt x="696509" y="38005"/>
                </a:lnTo>
                <a:cubicBezTo>
                  <a:pt x="696509" y="17015"/>
                  <a:pt x="679066" y="0"/>
                  <a:pt x="657548" y="0"/>
                </a:cubicBezTo>
                <a:close/>
                <a:moveTo>
                  <a:pt x="108829" y="106160"/>
                </a:moveTo>
                <a:cubicBezTo>
                  <a:pt x="96808" y="106160"/>
                  <a:pt x="87064" y="96654"/>
                  <a:pt x="87064" y="84928"/>
                </a:cubicBezTo>
                <a:cubicBezTo>
                  <a:pt x="87064" y="73201"/>
                  <a:pt x="96808" y="63696"/>
                  <a:pt x="108829" y="63696"/>
                </a:cubicBezTo>
                <a:cubicBezTo>
                  <a:pt x="120851" y="63696"/>
                  <a:pt x="130595" y="73201"/>
                  <a:pt x="130595" y="84928"/>
                </a:cubicBezTo>
                <a:cubicBezTo>
                  <a:pt x="130595" y="96654"/>
                  <a:pt x="120851" y="106160"/>
                  <a:pt x="108829" y="106160"/>
                </a:cubicBezTo>
                <a:close/>
                <a:moveTo>
                  <a:pt x="217659" y="106160"/>
                </a:moveTo>
                <a:cubicBezTo>
                  <a:pt x="205638" y="106160"/>
                  <a:pt x="195893" y="96654"/>
                  <a:pt x="195893" y="84928"/>
                </a:cubicBezTo>
                <a:cubicBezTo>
                  <a:pt x="195893" y="73201"/>
                  <a:pt x="205638" y="63696"/>
                  <a:pt x="217659" y="63696"/>
                </a:cubicBezTo>
                <a:cubicBezTo>
                  <a:pt x="229680" y="63696"/>
                  <a:pt x="239425" y="73201"/>
                  <a:pt x="239425" y="84928"/>
                </a:cubicBezTo>
                <a:cubicBezTo>
                  <a:pt x="239425" y="96654"/>
                  <a:pt x="229680" y="106160"/>
                  <a:pt x="217659" y="106160"/>
                </a:cubicBezTo>
                <a:close/>
                <a:moveTo>
                  <a:pt x="326488" y="106160"/>
                </a:moveTo>
                <a:cubicBezTo>
                  <a:pt x="314467" y="106160"/>
                  <a:pt x="304723" y="96654"/>
                  <a:pt x="304723" y="84928"/>
                </a:cubicBezTo>
                <a:cubicBezTo>
                  <a:pt x="304723" y="73201"/>
                  <a:pt x="314467" y="63696"/>
                  <a:pt x="326488" y="63696"/>
                </a:cubicBezTo>
                <a:cubicBezTo>
                  <a:pt x="338510" y="63696"/>
                  <a:pt x="348254" y="73201"/>
                  <a:pt x="348254" y="84928"/>
                </a:cubicBezTo>
                <a:cubicBezTo>
                  <a:pt x="348254" y="96654"/>
                  <a:pt x="338510" y="106160"/>
                  <a:pt x="326488" y="106160"/>
                </a:cubicBezTo>
                <a:close/>
              </a:path>
            </a:pathLst>
          </a:custGeom>
          <a:solidFill>
            <a:srgbClr val="00B0F0"/>
          </a:solidFill>
          <a:ln w="10815" cap="flat">
            <a:noFill/>
            <a:prstDash val="solid"/>
            <a:miter/>
          </a:ln>
          <a:effectLst>
            <a:outerShdw blurRad="50800" dist="50800" dir="5400000" algn="ctr" rotWithShape="0">
              <a:schemeClr val="bg2">
                <a:alpha val="53000"/>
              </a:scheme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0" name="Forma libre: forma 9">
            <a:extLst>
              <a:ext uri="{FF2B5EF4-FFF2-40B4-BE49-F238E27FC236}">
                <a16:creationId xmlns:a16="http://schemas.microsoft.com/office/drawing/2014/main" id="{7940C502-C941-377E-C1FE-282DD63206DA}"/>
              </a:ext>
            </a:extLst>
          </p:cNvPr>
          <p:cNvSpPr/>
          <p:nvPr/>
        </p:nvSpPr>
        <p:spPr>
          <a:xfrm>
            <a:off x="8972252" y="2831536"/>
            <a:ext cx="761290" cy="169855"/>
          </a:xfrm>
          <a:custGeom>
            <a:avLst/>
            <a:gdLst>
              <a:gd name="csX0" fmla="*/ 657548 w 696508"/>
              <a:gd name="csY0" fmla="*/ 0 h 169855"/>
              <a:gd name="csX1" fmla="*/ 38961 w 696508"/>
              <a:gd name="csY1" fmla="*/ 0 h 169855"/>
              <a:gd name="csX2" fmla="*/ 0 w 696508"/>
              <a:gd name="csY2" fmla="*/ 38005 h 169855"/>
              <a:gd name="csX3" fmla="*/ 0 w 696508"/>
              <a:gd name="csY3" fmla="*/ 131850 h 169855"/>
              <a:gd name="csX4" fmla="*/ 38961 w 696508"/>
              <a:gd name="csY4" fmla="*/ 169856 h 169855"/>
              <a:gd name="csX5" fmla="*/ 657548 w 696508"/>
              <a:gd name="csY5" fmla="*/ 169856 h 169855"/>
              <a:gd name="csX6" fmla="*/ 696509 w 696508"/>
              <a:gd name="csY6" fmla="*/ 131850 h 169855"/>
              <a:gd name="csX7" fmla="*/ 696509 w 696508"/>
              <a:gd name="csY7" fmla="*/ 38005 h 169855"/>
              <a:gd name="csX8" fmla="*/ 657548 w 696508"/>
              <a:gd name="csY8" fmla="*/ 0 h 169855"/>
              <a:gd name="csX9" fmla="*/ 108829 w 696508"/>
              <a:gd name="csY9" fmla="*/ 106160 h 169855"/>
              <a:gd name="csX10" fmla="*/ 87064 w 696508"/>
              <a:gd name="csY10" fmla="*/ 84928 h 169855"/>
              <a:gd name="csX11" fmla="*/ 108829 w 696508"/>
              <a:gd name="csY11" fmla="*/ 63696 h 169855"/>
              <a:gd name="csX12" fmla="*/ 130595 w 696508"/>
              <a:gd name="csY12" fmla="*/ 84928 h 169855"/>
              <a:gd name="csX13" fmla="*/ 108829 w 696508"/>
              <a:gd name="csY13" fmla="*/ 106160 h 169855"/>
              <a:gd name="csX14" fmla="*/ 217659 w 696508"/>
              <a:gd name="csY14" fmla="*/ 106160 h 169855"/>
              <a:gd name="csX15" fmla="*/ 195893 w 696508"/>
              <a:gd name="csY15" fmla="*/ 84928 h 169855"/>
              <a:gd name="csX16" fmla="*/ 217659 w 696508"/>
              <a:gd name="csY16" fmla="*/ 63696 h 169855"/>
              <a:gd name="csX17" fmla="*/ 239425 w 696508"/>
              <a:gd name="csY17" fmla="*/ 84928 h 169855"/>
              <a:gd name="csX18" fmla="*/ 217659 w 696508"/>
              <a:gd name="csY18" fmla="*/ 106160 h 169855"/>
              <a:gd name="csX19" fmla="*/ 326488 w 696508"/>
              <a:gd name="csY19" fmla="*/ 106160 h 169855"/>
              <a:gd name="csX20" fmla="*/ 304723 w 696508"/>
              <a:gd name="csY20" fmla="*/ 84928 h 169855"/>
              <a:gd name="csX21" fmla="*/ 326488 w 696508"/>
              <a:gd name="csY21" fmla="*/ 63696 h 169855"/>
              <a:gd name="csX22" fmla="*/ 348254 w 696508"/>
              <a:gd name="csY22" fmla="*/ 84928 h 169855"/>
              <a:gd name="csX23" fmla="*/ 326488 w 696508"/>
              <a:gd name="csY23" fmla="*/ 106160 h 1698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696508" h="169855">
                <a:moveTo>
                  <a:pt x="657548" y="0"/>
                </a:moveTo>
                <a:lnTo>
                  <a:pt x="38961" y="0"/>
                </a:lnTo>
                <a:cubicBezTo>
                  <a:pt x="17443" y="0"/>
                  <a:pt x="0" y="17015"/>
                  <a:pt x="0" y="38005"/>
                </a:cubicBezTo>
                <a:lnTo>
                  <a:pt x="0" y="131850"/>
                </a:lnTo>
                <a:cubicBezTo>
                  <a:pt x="0" y="152840"/>
                  <a:pt x="17443" y="169856"/>
                  <a:pt x="38961" y="169856"/>
                </a:cubicBezTo>
                <a:lnTo>
                  <a:pt x="657548" y="169856"/>
                </a:lnTo>
                <a:cubicBezTo>
                  <a:pt x="679066" y="169856"/>
                  <a:pt x="696509" y="152840"/>
                  <a:pt x="696509" y="131850"/>
                </a:cubicBezTo>
                <a:lnTo>
                  <a:pt x="696509" y="38005"/>
                </a:lnTo>
                <a:cubicBezTo>
                  <a:pt x="696509" y="17015"/>
                  <a:pt x="679066" y="0"/>
                  <a:pt x="657548" y="0"/>
                </a:cubicBezTo>
                <a:close/>
                <a:moveTo>
                  <a:pt x="108829" y="106160"/>
                </a:moveTo>
                <a:cubicBezTo>
                  <a:pt x="96808" y="106160"/>
                  <a:pt x="87064" y="96654"/>
                  <a:pt x="87064" y="84928"/>
                </a:cubicBezTo>
                <a:cubicBezTo>
                  <a:pt x="87064" y="73201"/>
                  <a:pt x="96808" y="63696"/>
                  <a:pt x="108829" y="63696"/>
                </a:cubicBezTo>
                <a:cubicBezTo>
                  <a:pt x="120851" y="63696"/>
                  <a:pt x="130595" y="73201"/>
                  <a:pt x="130595" y="84928"/>
                </a:cubicBezTo>
                <a:cubicBezTo>
                  <a:pt x="130595" y="96654"/>
                  <a:pt x="120851" y="106160"/>
                  <a:pt x="108829" y="106160"/>
                </a:cubicBezTo>
                <a:close/>
                <a:moveTo>
                  <a:pt x="217659" y="106160"/>
                </a:moveTo>
                <a:cubicBezTo>
                  <a:pt x="205638" y="106160"/>
                  <a:pt x="195893" y="96654"/>
                  <a:pt x="195893" y="84928"/>
                </a:cubicBezTo>
                <a:cubicBezTo>
                  <a:pt x="195893" y="73201"/>
                  <a:pt x="205638" y="63696"/>
                  <a:pt x="217659" y="63696"/>
                </a:cubicBezTo>
                <a:cubicBezTo>
                  <a:pt x="229680" y="63696"/>
                  <a:pt x="239425" y="73201"/>
                  <a:pt x="239425" y="84928"/>
                </a:cubicBezTo>
                <a:cubicBezTo>
                  <a:pt x="239425" y="96654"/>
                  <a:pt x="229680" y="106160"/>
                  <a:pt x="217659" y="106160"/>
                </a:cubicBezTo>
                <a:close/>
                <a:moveTo>
                  <a:pt x="326488" y="106160"/>
                </a:moveTo>
                <a:cubicBezTo>
                  <a:pt x="314467" y="106160"/>
                  <a:pt x="304723" y="96654"/>
                  <a:pt x="304723" y="84928"/>
                </a:cubicBezTo>
                <a:cubicBezTo>
                  <a:pt x="304723" y="73201"/>
                  <a:pt x="314467" y="63696"/>
                  <a:pt x="326488" y="63696"/>
                </a:cubicBezTo>
                <a:cubicBezTo>
                  <a:pt x="338510" y="63696"/>
                  <a:pt x="348254" y="73201"/>
                  <a:pt x="348254" y="84928"/>
                </a:cubicBezTo>
                <a:cubicBezTo>
                  <a:pt x="348254" y="96654"/>
                  <a:pt x="338510" y="106160"/>
                  <a:pt x="326488" y="106160"/>
                </a:cubicBezTo>
                <a:close/>
              </a:path>
            </a:pathLst>
          </a:custGeom>
          <a:solidFill>
            <a:srgbClr val="00B0F0"/>
          </a:solidFill>
          <a:ln w="10815" cap="flat">
            <a:noFill/>
            <a:prstDash val="solid"/>
            <a:miter/>
          </a:ln>
          <a:effectLst>
            <a:outerShdw blurRad="50800" dist="50800" dir="5400000" algn="ctr" rotWithShape="0">
              <a:schemeClr val="bg2">
                <a:alpha val="49000"/>
              </a:scheme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3" name="Forma libre: forma 12">
            <a:extLst>
              <a:ext uri="{FF2B5EF4-FFF2-40B4-BE49-F238E27FC236}">
                <a16:creationId xmlns:a16="http://schemas.microsoft.com/office/drawing/2014/main" id="{C9AFDF11-F4E6-2743-9E02-0B25D1678D85}"/>
              </a:ext>
            </a:extLst>
          </p:cNvPr>
          <p:cNvSpPr/>
          <p:nvPr/>
        </p:nvSpPr>
        <p:spPr>
          <a:xfrm>
            <a:off x="8972252" y="2619216"/>
            <a:ext cx="761290" cy="169855"/>
          </a:xfrm>
          <a:custGeom>
            <a:avLst/>
            <a:gdLst>
              <a:gd name="csX0" fmla="*/ 657548 w 696508"/>
              <a:gd name="csY0" fmla="*/ 0 h 169855"/>
              <a:gd name="csX1" fmla="*/ 38961 w 696508"/>
              <a:gd name="csY1" fmla="*/ 0 h 169855"/>
              <a:gd name="csX2" fmla="*/ 0 w 696508"/>
              <a:gd name="csY2" fmla="*/ 38005 h 169855"/>
              <a:gd name="csX3" fmla="*/ 0 w 696508"/>
              <a:gd name="csY3" fmla="*/ 131850 h 169855"/>
              <a:gd name="csX4" fmla="*/ 38961 w 696508"/>
              <a:gd name="csY4" fmla="*/ 169856 h 169855"/>
              <a:gd name="csX5" fmla="*/ 657548 w 696508"/>
              <a:gd name="csY5" fmla="*/ 169856 h 169855"/>
              <a:gd name="csX6" fmla="*/ 696509 w 696508"/>
              <a:gd name="csY6" fmla="*/ 131850 h 169855"/>
              <a:gd name="csX7" fmla="*/ 696509 w 696508"/>
              <a:gd name="csY7" fmla="*/ 38005 h 169855"/>
              <a:gd name="csX8" fmla="*/ 657548 w 696508"/>
              <a:gd name="csY8" fmla="*/ 0 h 169855"/>
              <a:gd name="csX9" fmla="*/ 108829 w 696508"/>
              <a:gd name="csY9" fmla="*/ 106160 h 169855"/>
              <a:gd name="csX10" fmla="*/ 87064 w 696508"/>
              <a:gd name="csY10" fmla="*/ 84928 h 169855"/>
              <a:gd name="csX11" fmla="*/ 108829 w 696508"/>
              <a:gd name="csY11" fmla="*/ 63696 h 169855"/>
              <a:gd name="csX12" fmla="*/ 130595 w 696508"/>
              <a:gd name="csY12" fmla="*/ 84928 h 169855"/>
              <a:gd name="csX13" fmla="*/ 108829 w 696508"/>
              <a:gd name="csY13" fmla="*/ 106160 h 169855"/>
              <a:gd name="csX14" fmla="*/ 217659 w 696508"/>
              <a:gd name="csY14" fmla="*/ 106160 h 169855"/>
              <a:gd name="csX15" fmla="*/ 195893 w 696508"/>
              <a:gd name="csY15" fmla="*/ 84928 h 169855"/>
              <a:gd name="csX16" fmla="*/ 217659 w 696508"/>
              <a:gd name="csY16" fmla="*/ 63696 h 169855"/>
              <a:gd name="csX17" fmla="*/ 239425 w 696508"/>
              <a:gd name="csY17" fmla="*/ 84928 h 169855"/>
              <a:gd name="csX18" fmla="*/ 217659 w 696508"/>
              <a:gd name="csY18" fmla="*/ 106160 h 169855"/>
              <a:gd name="csX19" fmla="*/ 326488 w 696508"/>
              <a:gd name="csY19" fmla="*/ 106160 h 169855"/>
              <a:gd name="csX20" fmla="*/ 304723 w 696508"/>
              <a:gd name="csY20" fmla="*/ 84928 h 169855"/>
              <a:gd name="csX21" fmla="*/ 326488 w 696508"/>
              <a:gd name="csY21" fmla="*/ 63696 h 169855"/>
              <a:gd name="csX22" fmla="*/ 348254 w 696508"/>
              <a:gd name="csY22" fmla="*/ 84928 h 169855"/>
              <a:gd name="csX23" fmla="*/ 326488 w 696508"/>
              <a:gd name="csY23" fmla="*/ 106160 h 1698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696508" h="169855">
                <a:moveTo>
                  <a:pt x="657548" y="0"/>
                </a:moveTo>
                <a:lnTo>
                  <a:pt x="38961" y="0"/>
                </a:lnTo>
                <a:cubicBezTo>
                  <a:pt x="17443" y="0"/>
                  <a:pt x="0" y="17015"/>
                  <a:pt x="0" y="38005"/>
                </a:cubicBezTo>
                <a:lnTo>
                  <a:pt x="0" y="131850"/>
                </a:lnTo>
                <a:cubicBezTo>
                  <a:pt x="0" y="152840"/>
                  <a:pt x="17443" y="169856"/>
                  <a:pt x="38961" y="169856"/>
                </a:cubicBezTo>
                <a:lnTo>
                  <a:pt x="657548" y="169856"/>
                </a:lnTo>
                <a:cubicBezTo>
                  <a:pt x="679066" y="169856"/>
                  <a:pt x="696509" y="152840"/>
                  <a:pt x="696509" y="131850"/>
                </a:cubicBezTo>
                <a:lnTo>
                  <a:pt x="696509" y="38005"/>
                </a:lnTo>
                <a:cubicBezTo>
                  <a:pt x="696509" y="17015"/>
                  <a:pt x="679066" y="0"/>
                  <a:pt x="657548" y="0"/>
                </a:cubicBezTo>
                <a:close/>
                <a:moveTo>
                  <a:pt x="108829" y="106160"/>
                </a:moveTo>
                <a:cubicBezTo>
                  <a:pt x="96808" y="106160"/>
                  <a:pt x="87064" y="96654"/>
                  <a:pt x="87064" y="84928"/>
                </a:cubicBezTo>
                <a:cubicBezTo>
                  <a:pt x="87064" y="73201"/>
                  <a:pt x="96808" y="63696"/>
                  <a:pt x="108829" y="63696"/>
                </a:cubicBezTo>
                <a:cubicBezTo>
                  <a:pt x="120851" y="63696"/>
                  <a:pt x="130595" y="73201"/>
                  <a:pt x="130595" y="84928"/>
                </a:cubicBezTo>
                <a:cubicBezTo>
                  <a:pt x="130595" y="96654"/>
                  <a:pt x="120851" y="106160"/>
                  <a:pt x="108829" y="106160"/>
                </a:cubicBezTo>
                <a:close/>
                <a:moveTo>
                  <a:pt x="217659" y="106160"/>
                </a:moveTo>
                <a:cubicBezTo>
                  <a:pt x="205638" y="106160"/>
                  <a:pt x="195893" y="96654"/>
                  <a:pt x="195893" y="84928"/>
                </a:cubicBezTo>
                <a:cubicBezTo>
                  <a:pt x="195893" y="73201"/>
                  <a:pt x="205638" y="63696"/>
                  <a:pt x="217659" y="63696"/>
                </a:cubicBezTo>
                <a:cubicBezTo>
                  <a:pt x="229680" y="63696"/>
                  <a:pt x="239425" y="73201"/>
                  <a:pt x="239425" y="84928"/>
                </a:cubicBezTo>
                <a:cubicBezTo>
                  <a:pt x="239425" y="96654"/>
                  <a:pt x="229680" y="106160"/>
                  <a:pt x="217659" y="106160"/>
                </a:cubicBezTo>
                <a:close/>
                <a:moveTo>
                  <a:pt x="326488" y="106160"/>
                </a:moveTo>
                <a:cubicBezTo>
                  <a:pt x="314467" y="106160"/>
                  <a:pt x="304723" y="96654"/>
                  <a:pt x="304723" y="84928"/>
                </a:cubicBezTo>
                <a:cubicBezTo>
                  <a:pt x="304723" y="73201"/>
                  <a:pt x="314467" y="63696"/>
                  <a:pt x="326488" y="63696"/>
                </a:cubicBezTo>
                <a:cubicBezTo>
                  <a:pt x="338510" y="63696"/>
                  <a:pt x="348254" y="73201"/>
                  <a:pt x="348254" y="84928"/>
                </a:cubicBezTo>
                <a:cubicBezTo>
                  <a:pt x="348254" y="96654"/>
                  <a:pt x="338510" y="106160"/>
                  <a:pt x="326488" y="106160"/>
                </a:cubicBezTo>
                <a:close/>
              </a:path>
            </a:pathLst>
          </a:custGeom>
          <a:solidFill>
            <a:srgbClr val="00B0F0"/>
          </a:solidFill>
          <a:ln w="10815" cap="flat">
            <a:noFill/>
            <a:prstDash val="solid"/>
            <a:miter/>
          </a:ln>
          <a:effectLst>
            <a:outerShdw blurRad="50800" dist="50800" dir="5400000" algn="ctr" rotWithShape="0">
              <a:schemeClr val="bg2">
                <a:alpha val="58000"/>
              </a:scheme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0DDCF98C-5D3A-AF0E-822D-EFCC5BE54900}"/>
              </a:ext>
            </a:extLst>
          </p:cNvPr>
          <p:cNvSpPr txBox="1"/>
          <p:nvPr/>
        </p:nvSpPr>
        <p:spPr>
          <a:xfrm>
            <a:off x="7994720" y="4138731"/>
            <a:ext cx="2857001" cy="461665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bg2">
                <a:alpha val="37000"/>
              </a:scheme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s-CL" sz="1200" b="1" spc="300" dirty="0">
                <a:ln w="9525">
                  <a:solidFill>
                    <a:schemeClr val="tx2">
                      <a:lumMod val="25000"/>
                      <a:lumOff val="75000"/>
                    </a:schemeClr>
                  </a:solidFill>
                </a:ln>
                <a:solidFill>
                  <a:schemeClr val="bg1"/>
                </a:solidFill>
                <a:latin typeface="Abadi" panose="020B0604020104020204" pitchFamily="34" charset="0"/>
              </a:rPr>
              <a:t>GESTIÓN Y TRAZABILIDAD</a:t>
            </a:r>
          </a:p>
          <a:p>
            <a:pPr algn="ctr"/>
            <a:r>
              <a:rPr lang="es-CL" sz="1200" b="1" spc="300" dirty="0">
                <a:ln w="9525">
                  <a:solidFill>
                    <a:schemeClr val="tx2">
                      <a:lumMod val="25000"/>
                      <a:lumOff val="75000"/>
                    </a:schemeClr>
                  </a:solidFill>
                </a:ln>
                <a:solidFill>
                  <a:schemeClr val="bg1"/>
                </a:solidFill>
                <a:latin typeface="Abadi" panose="020B0604020104020204" pitchFamily="34" charset="0"/>
              </a:rPr>
              <a:t>DE ACTIVOS TI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77AFA9D0-98D5-392E-CA12-B072AF22A61F}"/>
              </a:ext>
            </a:extLst>
          </p:cNvPr>
          <p:cNvGrpSpPr/>
          <p:nvPr/>
        </p:nvGrpSpPr>
        <p:grpSpPr>
          <a:xfrm>
            <a:off x="7019676" y="3090157"/>
            <a:ext cx="216000" cy="216000"/>
            <a:chOff x="9073669" y="4556391"/>
            <a:chExt cx="216000" cy="216000"/>
          </a:xfrm>
        </p:grpSpPr>
        <p:sp>
          <p:nvSpPr>
            <p:cNvPr id="20" name="Diagrama de flujo: conector 19">
              <a:extLst>
                <a:ext uri="{FF2B5EF4-FFF2-40B4-BE49-F238E27FC236}">
                  <a16:creationId xmlns:a16="http://schemas.microsoft.com/office/drawing/2014/main" id="{A181D24F-7A59-3EE6-CDFB-491BCD79CDD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73669" y="4556391"/>
              <a:ext cx="216000" cy="216000"/>
            </a:xfrm>
            <a:prstGeom prst="flowChartConnector">
              <a:avLst/>
            </a:prstGeom>
            <a:solidFill>
              <a:srgbClr val="0272B0">
                <a:alpha val="78000"/>
              </a:srgbClr>
            </a:solidFill>
            <a:ln>
              <a:noFill/>
            </a:ln>
            <a:effectLst>
              <a:softEdge rad="381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22" name="Diagrama de flujo: conector 21">
              <a:extLst>
                <a:ext uri="{FF2B5EF4-FFF2-40B4-BE49-F238E27FC236}">
                  <a16:creationId xmlns:a16="http://schemas.microsoft.com/office/drawing/2014/main" id="{ADCD97F1-3068-5A9B-7F44-438ABD78278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27669" y="4610391"/>
              <a:ext cx="108000" cy="108000"/>
            </a:xfrm>
            <a:prstGeom prst="flowChartConnector">
              <a:avLst/>
            </a:prstGeom>
            <a:gradFill flip="none" rotWithShape="1">
              <a:gsLst>
                <a:gs pos="0">
                  <a:srgbClr val="16FCFE"/>
                </a:gs>
                <a:gs pos="75000">
                  <a:srgbClr val="54FEFE">
                    <a:alpha val="68000"/>
                  </a:srgbClr>
                </a:gs>
                <a:gs pos="33000">
                  <a:srgbClr val="16FCFE"/>
                </a:gs>
                <a:gs pos="100000">
                  <a:srgbClr val="54FEFE"/>
                </a:gs>
                <a:gs pos="66000">
                  <a:srgbClr val="16FCF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softEdge rad="127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9C8488D7-71E0-5C34-F711-2588BE85B72C}"/>
              </a:ext>
            </a:extLst>
          </p:cNvPr>
          <p:cNvSpPr/>
          <p:nvPr/>
        </p:nvSpPr>
        <p:spPr>
          <a:xfrm>
            <a:off x="8208186" y="5071288"/>
            <a:ext cx="764538" cy="777239"/>
          </a:xfrm>
          <a:prstGeom prst="roundRect">
            <a:avLst>
              <a:gd name="adj" fmla="val 11684"/>
            </a:avLst>
          </a:prstGeom>
          <a:gradFill flip="none" rotWithShape="1">
            <a:gsLst>
              <a:gs pos="0">
                <a:srgbClr val="013162"/>
              </a:gs>
              <a:gs pos="38000">
                <a:srgbClr val="013162"/>
              </a:gs>
              <a:gs pos="100000">
                <a:srgbClr val="0272B0"/>
              </a:gs>
              <a:gs pos="87000">
                <a:schemeClr val="accent4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gradFill>
              <a:gsLst>
                <a:gs pos="0">
                  <a:srgbClr val="0272B0"/>
                </a:gs>
                <a:gs pos="53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outerShdw blurRad="50800" dist="50800" dir="5400000" algn="ctr" rotWithShape="0">
              <a:schemeClr val="bg2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28" name="Gráfico 27" descr="Barcode con relleno sólido">
            <a:extLst>
              <a:ext uri="{FF2B5EF4-FFF2-40B4-BE49-F238E27FC236}">
                <a16:creationId xmlns:a16="http://schemas.microsoft.com/office/drawing/2014/main" id="{868E4AE3-8E38-0938-3A7E-AEEB4E7E1A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55502" y="5079003"/>
            <a:ext cx="618186" cy="685089"/>
          </a:xfrm>
          <a:prstGeom prst="rect">
            <a:avLst/>
          </a:prstGeom>
        </p:spPr>
      </p:pic>
      <p:pic>
        <p:nvPicPr>
          <p:cNvPr id="30" name="Gráfico 29" descr="Single gear con relleno sólido">
            <a:extLst>
              <a:ext uri="{FF2B5EF4-FFF2-40B4-BE49-F238E27FC236}">
                <a16:creationId xmlns:a16="http://schemas.microsoft.com/office/drawing/2014/main" id="{FFC5E67D-0610-A584-8A2C-AF3E7B840E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64595" y="5400544"/>
            <a:ext cx="388545" cy="388545"/>
          </a:xfrm>
          <a:prstGeom prst="rect">
            <a:avLst/>
          </a:prstGeom>
        </p:spPr>
      </p:pic>
      <p:grpSp>
        <p:nvGrpSpPr>
          <p:cNvPr id="44" name="Grupo 43">
            <a:extLst>
              <a:ext uri="{FF2B5EF4-FFF2-40B4-BE49-F238E27FC236}">
                <a16:creationId xmlns:a16="http://schemas.microsoft.com/office/drawing/2014/main" id="{C44D55D5-D795-3915-1543-B1816FD92D8C}"/>
              </a:ext>
            </a:extLst>
          </p:cNvPr>
          <p:cNvGrpSpPr/>
          <p:nvPr/>
        </p:nvGrpSpPr>
        <p:grpSpPr>
          <a:xfrm>
            <a:off x="7887128" y="5608338"/>
            <a:ext cx="222022" cy="223506"/>
            <a:chOff x="9073669" y="4556391"/>
            <a:chExt cx="216000" cy="216000"/>
          </a:xfrm>
        </p:grpSpPr>
        <p:sp>
          <p:nvSpPr>
            <p:cNvPr id="45" name="Diagrama de flujo: conector 44">
              <a:extLst>
                <a:ext uri="{FF2B5EF4-FFF2-40B4-BE49-F238E27FC236}">
                  <a16:creationId xmlns:a16="http://schemas.microsoft.com/office/drawing/2014/main" id="{22655F49-7C81-861B-D0F5-2A87C3FA208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73669" y="4556391"/>
              <a:ext cx="216000" cy="216000"/>
            </a:xfrm>
            <a:prstGeom prst="flowChartConnector">
              <a:avLst/>
            </a:prstGeom>
            <a:solidFill>
              <a:srgbClr val="0272B0">
                <a:alpha val="78000"/>
              </a:srgbClr>
            </a:solidFill>
            <a:ln>
              <a:noFill/>
            </a:ln>
            <a:effectLst>
              <a:softEdge rad="381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47" name="Diagrama de flujo: conector 46">
              <a:extLst>
                <a:ext uri="{FF2B5EF4-FFF2-40B4-BE49-F238E27FC236}">
                  <a16:creationId xmlns:a16="http://schemas.microsoft.com/office/drawing/2014/main" id="{8679A287-44C9-D998-2232-2536501EE54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27669" y="4610391"/>
              <a:ext cx="108000" cy="108000"/>
            </a:xfrm>
            <a:prstGeom prst="flowChartConnector">
              <a:avLst/>
            </a:prstGeom>
            <a:gradFill flip="none" rotWithShape="1">
              <a:gsLst>
                <a:gs pos="0">
                  <a:srgbClr val="16FCFE"/>
                </a:gs>
                <a:gs pos="75000">
                  <a:srgbClr val="54FEFE">
                    <a:alpha val="68000"/>
                  </a:srgbClr>
                </a:gs>
                <a:gs pos="33000">
                  <a:srgbClr val="16FCFE"/>
                </a:gs>
                <a:gs pos="100000">
                  <a:srgbClr val="54FEFE"/>
                </a:gs>
                <a:gs pos="66000">
                  <a:srgbClr val="16FCF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softEdge rad="127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grpSp>
        <p:nvGrpSpPr>
          <p:cNvPr id="48" name="Grupo 47">
            <a:extLst>
              <a:ext uri="{FF2B5EF4-FFF2-40B4-BE49-F238E27FC236}">
                <a16:creationId xmlns:a16="http://schemas.microsoft.com/office/drawing/2014/main" id="{B0F1554A-1BA3-778E-DE27-9FA7B41D8C1F}"/>
              </a:ext>
            </a:extLst>
          </p:cNvPr>
          <p:cNvGrpSpPr/>
          <p:nvPr/>
        </p:nvGrpSpPr>
        <p:grpSpPr>
          <a:xfrm>
            <a:off x="9485494" y="5664234"/>
            <a:ext cx="222022" cy="223506"/>
            <a:chOff x="9073669" y="4556391"/>
            <a:chExt cx="216000" cy="216000"/>
          </a:xfrm>
        </p:grpSpPr>
        <p:sp>
          <p:nvSpPr>
            <p:cNvPr id="49" name="Diagrama de flujo: conector 48">
              <a:extLst>
                <a:ext uri="{FF2B5EF4-FFF2-40B4-BE49-F238E27FC236}">
                  <a16:creationId xmlns:a16="http://schemas.microsoft.com/office/drawing/2014/main" id="{E237DCA9-CB32-3C36-F301-E9C4FB5CC1B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73669" y="4556391"/>
              <a:ext cx="216000" cy="216000"/>
            </a:xfrm>
            <a:prstGeom prst="flowChartConnector">
              <a:avLst/>
            </a:prstGeom>
            <a:solidFill>
              <a:srgbClr val="0272B0">
                <a:alpha val="78000"/>
              </a:srgbClr>
            </a:solidFill>
            <a:ln>
              <a:noFill/>
            </a:ln>
            <a:effectLst>
              <a:softEdge rad="381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50" name="Diagrama de flujo: conector 49">
              <a:extLst>
                <a:ext uri="{FF2B5EF4-FFF2-40B4-BE49-F238E27FC236}">
                  <a16:creationId xmlns:a16="http://schemas.microsoft.com/office/drawing/2014/main" id="{EFA32C8B-4F51-A948-DF50-9B8A18F6C17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27669" y="4610391"/>
              <a:ext cx="108000" cy="108000"/>
            </a:xfrm>
            <a:prstGeom prst="flowChartConnector">
              <a:avLst/>
            </a:prstGeom>
            <a:gradFill flip="none" rotWithShape="1">
              <a:gsLst>
                <a:gs pos="0">
                  <a:srgbClr val="16FCFE"/>
                </a:gs>
                <a:gs pos="75000">
                  <a:srgbClr val="54FEFE">
                    <a:alpha val="68000"/>
                  </a:srgbClr>
                </a:gs>
                <a:gs pos="33000">
                  <a:srgbClr val="16FCFE"/>
                </a:gs>
                <a:gs pos="100000">
                  <a:srgbClr val="54FEFE"/>
                </a:gs>
                <a:gs pos="66000">
                  <a:srgbClr val="16FCF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softEdge rad="127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grpSp>
        <p:nvGrpSpPr>
          <p:cNvPr id="54" name="Grupo 53">
            <a:extLst>
              <a:ext uri="{FF2B5EF4-FFF2-40B4-BE49-F238E27FC236}">
                <a16:creationId xmlns:a16="http://schemas.microsoft.com/office/drawing/2014/main" id="{37C6993E-A99B-7F14-CA80-223093AD4B69}"/>
              </a:ext>
            </a:extLst>
          </p:cNvPr>
          <p:cNvGrpSpPr/>
          <p:nvPr/>
        </p:nvGrpSpPr>
        <p:grpSpPr>
          <a:xfrm>
            <a:off x="7201594" y="5605230"/>
            <a:ext cx="222022" cy="223506"/>
            <a:chOff x="9073669" y="4556391"/>
            <a:chExt cx="216000" cy="216000"/>
          </a:xfrm>
        </p:grpSpPr>
        <p:sp>
          <p:nvSpPr>
            <p:cNvPr id="55" name="Diagrama de flujo: conector 54">
              <a:extLst>
                <a:ext uri="{FF2B5EF4-FFF2-40B4-BE49-F238E27FC236}">
                  <a16:creationId xmlns:a16="http://schemas.microsoft.com/office/drawing/2014/main" id="{7AF23074-7CCC-D7AF-B22B-0BB5222E813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73669" y="4556391"/>
              <a:ext cx="216000" cy="216000"/>
            </a:xfrm>
            <a:prstGeom prst="flowChartConnector">
              <a:avLst/>
            </a:prstGeom>
            <a:solidFill>
              <a:srgbClr val="0272B0">
                <a:alpha val="78000"/>
              </a:srgbClr>
            </a:solidFill>
            <a:ln>
              <a:noFill/>
            </a:ln>
            <a:effectLst>
              <a:softEdge rad="381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56" name="Diagrama de flujo: conector 55">
              <a:extLst>
                <a:ext uri="{FF2B5EF4-FFF2-40B4-BE49-F238E27FC236}">
                  <a16:creationId xmlns:a16="http://schemas.microsoft.com/office/drawing/2014/main" id="{22541F8B-7EC5-A476-D2D1-CDCFF2824D8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27669" y="4610391"/>
              <a:ext cx="108000" cy="108000"/>
            </a:xfrm>
            <a:prstGeom prst="flowChartConnector">
              <a:avLst/>
            </a:prstGeom>
            <a:gradFill flip="none" rotWithShape="1">
              <a:gsLst>
                <a:gs pos="0">
                  <a:srgbClr val="16FCFE"/>
                </a:gs>
                <a:gs pos="75000">
                  <a:srgbClr val="54FEFE">
                    <a:alpha val="68000"/>
                  </a:srgbClr>
                </a:gs>
                <a:gs pos="33000">
                  <a:srgbClr val="16FCFE"/>
                </a:gs>
                <a:gs pos="100000">
                  <a:srgbClr val="54FEFE"/>
                </a:gs>
                <a:gs pos="66000">
                  <a:srgbClr val="16FCF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softEdge rad="127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cxnSp>
        <p:nvCxnSpPr>
          <p:cNvPr id="57" name="Conector recto 56">
            <a:extLst>
              <a:ext uri="{FF2B5EF4-FFF2-40B4-BE49-F238E27FC236}">
                <a16:creationId xmlns:a16="http://schemas.microsoft.com/office/drawing/2014/main" id="{22C384E4-3EB2-7CB9-FB4A-658286650A86}"/>
              </a:ext>
            </a:extLst>
          </p:cNvPr>
          <p:cNvCxnSpPr>
            <a:cxnSpLocks/>
          </p:cNvCxnSpPr>
          <p:nvPr/>
        </p:nvCxnSpPr>
        <p:spPr>
          <a:xfrm flipV="1">
            <a:off x="7499564" y="3444909"/>
            <a:ext cx="0" cy="1131667"/>
          </a:xfrm>
          <a:prstGeom prst="line">
            <a:avLst/>
          </a:prstGeom>
          <a:ln w="41275">
            <a:gradFill flip="none" rotWithShape="1">
              <a:gsLst>
                <a:gs pos="0">
                  <a:schemeClr val="accent1">
                    <a:lumMod val="0"/>
                    <a:lumOff val="100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</a:ln>
          <a:effectLst>
            <a:softEdge rad="12700"/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8" name="Grupo 57">
            <a:extLst>
              <a:ext uri="{FF2B5EF4-FFF2-40B4-BE49-F238E27FC236}">
                <a16:creationId xmlns:a16="http://schemas.microsoft.com/office/drawing/2014/main" id="{2CD52213-EF0E-C55A-11C5-CE5735A362BB}"/>
              </a:ext>
            </a:extLst>
          </p:cNvPr>
          <p:cNvGrpSpPr/>
          <p:nvPr/>
        </p:nvGrpSpPr>
        <p:grpSpPr>
          <a:xfrm>
            <a:off x="7383832" y="4030977"/>
            <a:ext cx="222022" cy="223506"/>
            <a:chOff x="9073669" y="4556391"/>
            <a:chExt cx="216000" cy="216000"/>
          </a:xfrm>
        </p:grpSpPr>
        <p:sp>
          <p:nvSpPr>
            <p:cNvPr id="59" name="Diagrama de flujo: conector 58">
              <a:extLst>
                <a:ext uri="{FF2B5EF4-FFF2-40B4-BE49-F238E27FC236}">
                  <a16:creationId xmlns:a16="http://schemas.microsoft.com/office/drawing/2014/main" id="{6902110E-326D-BCE6-4994-6275B10938B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73669" y="4556391"/>
              <a:ext cx="216000" cy="216000"/>
            </a:xfrm>
            <a:prstGeom prst="flowChartConnector">
              <a:avLst/>
            </a:prstGeom>
            <a:solidFill>
              <a:srgbClr val="0272B0">
                <a:alpha val="78000"/>
              </a:srgbClr>
            </a:solidFill>
            <a:ln>
              <a:noFill/>
            </a:ln>
            <a:effectLst>
              <a:softEdge rad="381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60" name="Diagrama de flujo: conector 59">
              <a:extLst>
                <a:ext uri="{FF2B5EF4-FFF2-40B4-BE49-F238E27FC236}">
                  <a16:creationId xmlns:a16="http://schemas.microsoft.com/office/drawing/2014/main" id="{406E9931-67C2-EFCE-9D5B-FEEC0A74C34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27669" y="4610391"/>
              <a:ext cx="108000" cy="108000"/>
            </a:xfrm>
            <a:prstGeom prst="flowChartConnector">
              <a:avLst/>
            </a:prstGeom>
            <a:gradFill flip="none" rotWithShape="1">
              <a:gsLst>
                <a:gs pos="0">
                  <a:srgbClr val="16FCFE"/>
                </a:gs>
                <a:gs pos="75000">
                  <a:srgbClr val="54FEFE">
                    <a:alpha val="68000"/>
                  </a:srgbClr>
                </a:gs>
                <a:gs pos="33000">
                  <a:srgbClr val="16FCFE"/>
                </a:gs>
                <a:gs pos="100000">
                  <a:srgbClr val="54FEFE"/>
                </a:gs>
                <a:gs pos="66000">
                  <a:srgbClr val="16FCF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softEdge rad="127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grpSp>
        <p:nvGrpSpPr>
          <p:cNvPr id="61" name="Grupo 60">
            <a:extLst>
              <a:ext uri="{FF2B5EF4-FFF2-40B4-BE49-F238E27FC236}">
                <a16:creationId xmlns:a16="http://schemas.microsoft.com/office/drawing/2014/main" id="{8A85AE60-2FD7-F2BF-1C87-A91B15A94F16}"/>
              </a:ext>
            </a:extLst>
          </p:cNvPr>
          <p:cNvGrpSpPr/>
          <p:nvPr/>
        </p:nvGrpSpPr>
        <p:grpSpPr>
          <a:xfrm>
            <a:off x="7390126" y="3369732"/>
            <a:ext cx="222022" cy="223506"/>
            <a:chOff x="9073669" y="4556391"/>
            <a:chExt cx="216000" cy="216000"/>
          </a:xfrm>
        </p:grpSpPr>
        <p:sp>
          <p:nvSpPr>
            <p:cNvPr id="62" name="Diagrama de flujo: conector 61">
              <a:extLst>
                <a:ext uri="{FF2B5EF4-FFF2-40B4-BE49-F238E27FC236}">
                  <a16:creationId xmlns:a16="http://schemas.microsoft.com/office/drawing/2014/main" id="{B0390AA0-A17E-1B36-70BD-EFCA3C1DEC2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73669" y="4556391"/>
              <a:ext cx="216000" cy="216000"/>
            </a:xfrm>
            <a:prstGeom prst="flowChartConnector">
              <a:avLst/>
            </a:prstGeom>
            <a:solidFill>
              <a:srgbClr val="0272B0">
                <a:alpha val="78000"/>
              </a:srgbClr>
            </a:solidFill>
            <a:ln>
              <a:noFill/>
            </a:ln>
            <a:effectLst>
              <a:softEdge rad="381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63" name="Diagrama de flujo: conector 62">
              <a:extLst>
                <a:ext uri="{FF2B5EF4-FFF2-40B4-BE49-F238E27FC236}">
                  <a16:creationId xmlns:a16="http://schemas.microsoft.com/office/drawing/2014/main" id="{7E71134D-A2CA-7999-6095-AA90B0D1CC9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27669" y="4610391"/>
              <a:ext cx="108000" cy="108000"/>
            </a:xfrm>
            <a:prstGeom prst="flowChartConnector">
              <a:avLst/>
            </a:prstGeom>
            <a:gradFill flip="none" rotWithShape="1">
              <a:gsLst>
                <a:gs pos="0">
                  <a:srgbClr val="16FCFE"/>
                </a:gs>
                <a:gs pos="75000">
                  <a:srgbClr val="54FEFE">
                    <a:alpha val="68000"/>
                  </a:srgbClr>
                </a:gs>
                <a:gs pos="33000">
                  <a:srgbClr val="16FCFE"/>
                </a:gs>
                <a:gs pos="100000">
                  <a:srgbClr val="54FEFE"/>
                </a:gs>
                <a:gs pos="66000">
                  <a:srgbClr val="16FCF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softEdge rad="127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cxnSp>
        <p:nvCxnSpPr>
          <p:cNvPr id="64" name="Conector recto 63">
            <a:extLst>
              <a:ext uri="{FF2B5EF4-FFF2-40B4-BE49-F238E27FC236}">
                <a16:creationId xmlns:a16="http://schemas.microsoft.com/office/drawing/2014/main" id="{C47492FC-F458-4A4A-D7DD-4BEA0F0FE42C}"/>
              </a:ext>
            </a:extLst>
          </p:cNvPr>
          <p:cNvCxnSpPr>
            <a:cxnSpLocks/>
          </p:cNvCxnSpPr>
          <p:nvPr/>
        </p:nvCxnSpPr>
        <p:spPr>
          <a:xfrm flipH="1">
            <a:off x="7228417" y="4563672"/>
            <a:ext cx="994362" cy="0"/>
          </a:xfrm>
          <a:prstGeom prst="line">
            <a:avLst/>
          </a:prstGeom>
          <a:ln w="41275">
            <a:gradFill flip="none" rotWithShape="1">
              <a:gsLst>
                <a:gs pos="0">
                  <a:schemeClr val="accent1">
                    <a:lumMod val="0"/>
                    <a:lumOff val="100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</a:ln>
          <a:effectLst>
            <a:softEdge rad="12700"/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5" name="Grupo 64">
            <a:extLst>
              <a:ext uri="{FF2B5EF4-FFF2-40B4-BE49-F238E27FC236}">
                <a16:creationId xmlns:a16="http://schemas.microsoft.com/office/drawing/2014/main" id="{65D1A772-CF5A-7069-F145-F70426BC2472}"/>
              </a:ext>
            </a:extLst>
          </p:cNvPr>
          <p:cNvGrpSpPr/>
          <p:nvPr/>
        </p:nvGrpSpPr>
        <p:grpSpPr>
          <a:xfrm>
            <a:off x="7388553" y="4439535"/>
            <a:ext cx="222022" cy="223506"/>
            <a:chOff x="9073669" y="4556391"/>
            <a:chExt cx="216000" cy="216000"/>
          </a:xfrm>
        </p:grpSpPr>
        <p:sp>
          <p:nvSpPr>
            <p:cNvPr id="66" name="Diagrama de flujo: conector 65">
              <a:extLst>
                <a:ext uri="{FF2B5EF4-FFF2-40B4-BE49-F238E27FC236}">
                  <a16:creationId xmlns:a16="http://schemas.microsoft.com/office/drawing/2014/main" id="{65C1EBC3-9791-9EBF-1D20-CF864BEA57E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73669" y="4556391"/>
              <a:ext cx="216000" cy="216000"/>
            </a:xfrm>
            <a:prstGeom prst="flowChartConnector">
              <a:avLst/>
            </a:prstGeom>
            <a:solidFill>
              <a:srgbClr val="0272B0">
                <a:alpha val="78000"/>
              </a:srgbClr>
            </a:solidFill>
            <a:ln>
              <a:noFill/>
            </a:ln>
            <a:effectLst>
              <a:softEdge rad="381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67" name="Diagrama de flujo: conector 66">
              <a:extLst>
                <a:ext uri="{FF2B5EF4-FFF2-40B4-BE49-F238E27FC236}">
                  <a16:creationId xmlns:a16="http://schemas.microsoft.com/office/drawing/2014/main" id="{F0FB151E-B5A9-B2A2-1D52-D79605E76EE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27669" y="4610391"/>
              <a:ext cx="108000" cy="108000"/>
            </a:xfrm>
            <a:prstGeom prst="flowChartConnector">
              <a:avLst/>
            </a:prstGeom>
            <a:gradFill flip="none" rotWithShape="1">
              <a:gsLst>
                <a:gs pos="0">
                  <a:srgbClr val="16FCFE"/>
                </a:gs>
                <a:gs pos="75000">
                  <a:srgbClr val="54FEFE">
                    <a:alpha val="68000"/>
                  </a:srgbClr>
                </a:gs>
                <a:gs pos="33000">
                  <a:srgbClr val="16FCFE"/>
                </a:gs>
                <a:gs pos="100000">
                  <a:srgbClr val="54FEFE"/>
                </a:gs>
                <a:gs pos="66000">
                  <a:srgbClr val="16FCF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softEdge rad="127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cxnSp>
        <p:nvCxnSpPr>
          <p:cNvPr id="68" name="Conector recto 67">
            <a:extLst>
              <a:ext uri="{FF2B5EF4-FFF2-40B4-BE49-F238E27FC236}">
                <a16:creationId xmlns:a16="http://schemas.microsoft.com/office/drawing/2014/main" id="{54565225-6698-8D4F-23A1-A2CD1E86837A}"/>
              </a:ext>
            </a:extLst>
          </p:cNvPr>
          <p:cNvCxnSpPr>
            <a:cxnSpLocks/>
          </p:cNvCxnSpPr>
          <p:nvPr/>
        </p:nvCxnSpPr>
        <p:spPr>
          <a:xfrm flipH="1" flipV="1">
            <a:off x="8173297" y="4576576"/>
            <a:ext cx="1211990" cy="779145"/>
          </a:xfrm>
          <a:prstGeom prst="line">
            <a:avLst/>
          </a:prstGeom>
          <a:ln w="41275">
            <a:gradFill flip="none" rotWithShape="1">
              <a:gsLst>
                <a:gs pos="0">
                  <a:schemeClr val="accent1">
                    <a:lumMod val="0"/>
                    <a:lumOff val="100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</a:ln>
          <a:effectLst>
            <a:softEdge rad="12700"/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9" name="Grupo 68">
            <a:extLst>
              <a:ext uri="{FF2B5EF4-FFF2-40B4-BE49-F238E27FC236}">
                <a16:creationId xmlns:a16="http://schemas.microsoft.com/office/drawing/2014/main" id="{AA57B206-DA0E-5694-51F7-2878A3067643}"/>
              </a:ext>
            </a:extLst>
          </p:cNvPr>
          <p:cNvGrpSpPr/>
          <p:nvPr/>
        </p:nvGrpSpPr>
        <p:grpSpPr>
          <a:xfrm>
            <a:off x="8085148" y="4458097"/>
            <a:ext cx="216000" cy="216000"/>
            <a:chOff x="9073669" y="4556391"/>
            <a:chExt cx="216000" cy="216000"/>
          </a:xfrm>
        </p:grpSpPr>
        <p:sp>
          <p:nvSpPr>
            <p:cNvPr id="70" name="Diagrama de flujo: conector 69">
              <a:extLst>
                <a:ext uri="{FF2B5EF4-FFF2-40B4-BE49-F238E27FC236}">
                  <a16:creationId xmlns:a16="http://schemas.microsoft.com/office/drawing/2014/main" id="{B2E80323-EFD0-B085-B87C-AAA5BEBEF46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73669" y="4556391"/>
              <a:ext cx="216000" cy="216000"/>
            </a:xfrm>
            <a:prstGeom prst="flowChartConnector">
              <a:avLst/>
            </a:prstGeom>
            <a:solidFill>
              <a:srgbClr val="0272B0">
                <a:alpha val="78000"/>
              </a:srgbClr>
            </a:solidFill>
            <a:ln>
              <a:noFill/>
            </a:ln>
            <a:effectLst>
              <a:softEdge rad="381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71" name="Diagrama de flujo: conector 70">
              <a:extLst>
                <a:ext uri="{FF2B5EF4-FFF2-40B4-BE49-F238E27FC236}">
                  <a16:creationId xmlns:a16="http://schemas.microsoft.com/office/drawing/2014/main" id="{3F7C3E3C-3E39-6783-F567-546E4A8C556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27669" y="4610391"/>
              <a:ext cx="108000" cy="108000"/>
            </a:xfrm>
            <a:prstGeom prst="flowChartConnector">
              <a:avLst/>
            </a:prstGeom>
            <a:gradFill flip="none" rotWithShape="1">
              <a:gsLst>
                <a:gs pos="0">
                  <a:srgbClr val="16FCFE"/>
                </a:gs>
                <a:gs pos="75000">
                  <a:srgbClr val="54FEFE">
                    <a:alpha val="68000"/>
                  </a:srgbClr>
                </a:gs>
                <a:gs pos="33000">
                  <a:srgbClr val="16FCFE"/>
                </a:gs>
                <a:gs pos="100000">
                  <a:srgbClr val="54FEFE"/>
                </a:gs>
                <a:gs pos="66000">
                  <a:srgbClr val="16FCF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softEdge rad="127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grpSp>
        <p:nvGrpSpPr>
          <p:cNvPr id="72" name="Grupo 71">
            <a:extLst>
              <a:ext uri="{FF2B5EF4-FFF2-40B4-BE49-F238E27FC236}">
                <a16:creationId xmlns:a16="http://schemas.microsoft.com/office/drawing/2014/main" id="{F3681DC0-0C14-9718-E095-3CE4AD89EA37}"/>
              </a:ext>
            </a:extLst>
          </p:cNvPr>
          <p:cNvGrpSpPr/>
          <p:nvPr/>
        </p:nvGrpSpPr>
        <p:grpSpPr>
          <a:xfrm>
            <a:off x="8786623" y="4994655"/>
            <a:ext cx="222022" cy="223506"/>
            <a:chOff x="9073669" y="4556391"/>
            <a:chExt cx="216000" cy="216000"/>
          </a:xfrm>
        </p:grpSpPr>
        <p:sp>
          <p:nvSpPr>
            <p:cNvPr id="73" name="Diagrama de flujo: conector 72">
              <a:extLst>
                <a:ext uri="{FF2B5EF4-FFF2-40B4-BE49-F238E27FC236}">
                  <a16:creationId xmlns:a16="http://schemas.microsoft.com/office/drawing/2014/main" id="{B883415B-D596-9436-7E80-8A446CDF231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73669" y="4556391"/>
              <a:ext cx="216000" cy="216000"/>
            </a:xfrm>
            <a:prstGeom prst="flowChartConnector">
              <a:avLst/>
            </a:prstGeom>
            <a:solidFill>
              <a:srgbClr val="0272B0">
                <a:alpha val="78000"/>
              </a:srgbClr>
            </a:solidFill>
            <a:ln>
              <a:noFill/>
            </a:ln>
            <a:effectLst>
              <a:softEdge rad="381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74" name="Diagrama de flujo: conector 73">
              <a:extLst>
                <a:ext uri="{FF2B5EF4-FFF2-40B4-BE49-F238E27FC236}">
                  <a16:creationId xmlns:a16="http://schemas.microsoft.com/office/drawing/2014/main" id="{92D05399-E956-002D-6621-788D1D68FE8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27669" y="4610391"/>
              <a:ext cx="108000" cy="108000"/>
            </a:xfrm>
            <a:prstGeom prst="flowChartConnector">
              <a:avLst/>
            </a:prstGeom>
            <a:gradFill flip="none" rotWithShape="1">
              <a:gsLst>
                <a:gs pos="0">
                  <a:srgbClr val="16FCFE"/>
                </a:gs>
                <a:gs pos="75000">
                  <a:srgbClr val="54FEFE">
                    <a:alpha val="68000"/>
                  </a:srgbClr>
                </a:gs>
                <a:gs pos="33000">
                  <a:srgbClr val="16FCFE"/>
                </a:gs>
                <a:gs pos="100000">
                  <a:srgbClr val="54FEFE"/>
                </a:gs>
                <a:gs pos="66000">
                  <a:srgbClr val="16FCF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softEdge rad="127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cxnSp>
        <p:nvCxnSpPr>
          <p:cNvPr id="75" name="Conector recto 74">
            <a:extLst>
              <a:ext uri="{FF2B5EF4-FFF2-40B4-BE49-F238E27FC236}">
                <a16:creationId xmlns:a16="http://schemas.microsoft.com/office/drawing/2014/main" id="{94E25CD2-69E2-C3AD-8342-748CD3AB850B}"/>
              </a:ext>
            </a:extLst>
          </p:cNvPr>
          <p:cNvCxnSpPr>
            <a:cxnSpLocks/>
          </p:cNvCxnSpPr>
          <p:nvPr/>
        </p:nvCxnSpPr>
        <p:spPr>
          <a:xfrm flipH="1" flipV="1">
            <a:off x="9892296" y="5269440"/>
            <a:ext cx="1302379" cy="621586"/>
          </a:xfrm>
          <a:prstGeom prst="line">
            <a:avLst/>
          </a:prstGeom>
          <a:ln w="41275">
            <a:gradFill flip="none" rotWithShape="1">
              <a:gsLst>
                <a:gs pos="0">
                  <a:schemeClr val="accent1">
                    <a:lumMod val="0"/>
                    <a:lumOff val="100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</a:ln>
          <a:effectLst>
            <a:softEdge rad="12700"/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6" name="Grupo 75">
            <a:extLst>
              <a:ext uri="{FF2B5EF4-FFF2-40B4-BE49-F238E27FC236}">
                <a16:creationId xmlns:a16="http://schemas.microsoft.com/office/drawing/2014/main" id="{28FF5F1D-FE16-98FF-91AB-639928B3B179}"/>
              </a:ext>
            </a:extLst>
          </p:cNvPr>
          <p:cNvGrpSpPr/>
          <p:nvPr/>
        </p:nvGrpSpPr>
        <p:grpSpPr>
          <a:xfrm>
            <a:off x="10140424" y="5348154"/>
            <a:ext cx="222022" cy="223506"/>
            <a:chOff x="9073669" y="4556391"/>
            <a:chExt cx="216000" cy="216000"/>
          </a:xfrm>
        </p:grpSpPr>
        <p:sp>
          <p:nvSpPr>
            <p:cNvPr id="77" name="Diagrama de flujo: conector 76">
              <a:extLst>
                <a:ext uri="{FF2B5EF4-FFF2-40B4-BE49-F238E27FC236}">
                  <a16:creationId xmlns:a16="http://schemas.microsoft.com/office/drawing/2014/main" id="{7A3ADAC3-6363-A5E7-5F6F-DAFF9E95B90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73669" y="4556391"/>
              <a:ext cx="216000" cy="216000"/>
            </a:xfrm>
            <a:prstGeom prst="flowChartConnector">
              <a:avLst/>
            </a:prstGeom>
            <a:solidFill>
              <a:srgbClr val="0272B0">
                <a:alpha val="78000"/>
              </a:srgbClr>
            </a:solidFill>
            <a:ln>
              <a:noFill/>
            </a:ln>
            <a:effectLst>
              <a:softEdge rad="381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78" name="Diagrama de flujo: conector 77">
              <a:extLst>
                <a:ext uri="{FF2B5EF4-FFF2-40B4-BE49-F238E27FC236}">
                  <a16:creationId xmlns:a16="http://schemas.microsoft.com/office/drawing/2014/main" id="{3EB1F2D1-C092-A0EC-3BB4-D191B5B35AD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27669" y="4610391"/>
              <a:ext cx="108000" cy="108000"/>
            </a:xfrm>
            <a:prstGeom prst="flowChartConnector">
              <a:avLst/>
            </a:prstGeom>
            <a:gradFill flip="none" rotWithShape="1">
              <a:gsLst>
                <a:gs pos="0">
                  <a:srgbClr val="16FCFE"/>
                </a:gs>
                <a:gs pos="75000">
                  <a:srgbClr val="54FEFE">
                    <a:alpha val="68000"/>
                  </a:srgbClr>
                </a:gs>
                <a:gs pos="33000">
                  <a:srgbClr val="16FCFE"/>
                </a:gs>
                <a:gs pos="100000">
                  <a:srgbClr val="54FEFE"/>
                </a:gs>
                <a:gs pos="66000">
                  <a:srgbClr val="16FCF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softEdge rad="127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grpSp>
        <p:nvGrpSpPr>
          <p:cNvPr id="79" name="Grupo 78">
            <a:extLst>
              <a:ext uri="{FF2B5EF4-FFF2-40B4-BE49-F238E27FC236}">
                <a16:creationId xmlns:a16="http://schemas.microsoft.com/office/drawing/2014/main" id="{0959FC5D-933F-10A8-57D9-E2A8E030C89E}"/>
              </a:ext>
            </a:extLst>
          </p:cNvPr>
          <p:cNvGrpSpPr/>
          <p:nvPr/>
        </p:nvGrpSpPr>
        <p:grpSpPr>
          <a:xfrm>
            <a:off x="10906933" y="5677336"/>
            <a:ext cx="222022" cy="223506"/>
            <a:chOff x="9073669" y="4556391"/>
            <a:chExt cx="216000" cy="216000"/>
          </a:xfrm>
        </p:grpSpPr>
        <p:sp>
          <p:nvSpPr>
            <p:cNvPr id="80" name="Diagrama de flujo: conector 79">
              <a:extLst>
                <a:ext uri="{FF2B5EF4-FFF2-40B4-BE49-F238E27FC236}">
                  <a16:creationId xmlns:a16="http://schemas.microsoft.com/office/drawing/2014/main" id="{AD4BE22C-AE5D-B780-DF6A-EF37A688DB1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73669" y="4556391"/>
              <a:ext cx="216000" cy="216000"/>
            </a:xfrm>
            <a:prstGeom prst="flowChartConnector">
              <a:avLst/>
            </a:prstGeom>
            <a:solidFill>
              <a:srgbClr val="0272B0">
                <a:alpha val="78000"/>
              </a:srgbClr>
            </a:solidFill>
            <a:ln>
              <a:noFill/>
            </a:ln>
            <a:effectLst>
              <a:softEdge rad="381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1" name="Diagrama de flujo: conector 80">
              <a:extLst>
                <a:ext uri="{FF2B5EF4-FFF2-40B4-BE49-F238E27FC236}">
                  <a16:creationId xmlns:a16="http://schemas.microsoft.com/office/drawing/2014/main" id="{EBC2C3E5-7DE5-2018-F240-54AEEF5FDD9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27669" y="4610391"/>
              <a:ext cx="108000" cy="108000"/>
            </a:xfrm>
            <a:prstGeom prst="flowChartConnector">
              <a:avLst/>
            </a:prstGeom>
            <a:gradFill flip="none" rotWithShape="1">
              <a:gsLst>
                <a:gs pos="0">
                  <a:srgbClr val="16FCFE"/>
                </a:gs>
                <a:gs pos="75000">
                  <a:srgbClr val="54FEFE">
                    <a:alpha val="68000"/>
                  </a:srgbClr>
                </a:gs>
                <a:gs pos="33000">
                  <a:srgbClr val="16FCFE"/>
                </a:gs>
                <a:gs pos="100000">
                  <a:srgbClr val="54FEFE"/>
                </a:gs>
                <a:gs pos="66000">
                  <a:srgbClr val="16FCF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softEdge rad="127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sp>
        <p:nvSpPr>
          <p:cNvPr id="82" name="Rectángulo: esquinas redondeadas 81">
            <a:extLst>
              <a:ext uri="{FF2B5EF4-FFF2-40B4-BE49-F238E27FC236}">
                <a16:creationId xmlns:a16="http://schemas.microsoft.com/office/drawing/2014/main" id="{86DBD9D0-0959-95DE-0276-3F729D9F7473}"/>
              </a:ext>
            </a:extLst>
          </p:cNvPr>
          <p:cNvSpPr/>
          <p:nvPr/>
        </p:nvSpPr>
        <p:spPr>
          <a:xfrm>
            <a:off x="9234552" y="4873435"/>
            <a:ext cx="701965" cy="749049"/>
          </a:xfrm>
          <a:prstGeom prst="roundRect">
            <a:avLst>
              <a:gd name="adj" fmla="val 11684"/>
            </a:avLst>
          </a:prstGeom>
          <a:gradFill flip="none" rotWithShape="1">
            <a:gsLst>
              <a:gs pos="0">
                <a:srgbClr val="013162"/>
              </a:gs>
              <a:gs pos="38000">
                <a:srgbClr val="013162"/>
              </a:gs>
              <a:gs pos="100000">
                <a:srgbClr val="0272B0"/>
              </a:gs>
              <a:gs pos="87000">
                <a:schemeClr val="accent4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gradFill>
              <a:gsLst>
                <a:gs pos="0">
                  <a:srgbClr val="0272B0"/>
                </a:gs>
                <a:gs pos="53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83" name="Gráfico 82" descr="Clipboard Checked con relleno sólido">
            <a:extLst>
              <a:ext uri="{FF2B5EF4-FFF2-40B4-BE49-F238E27FC236}">
                <a16:creationId xmlns:a16="http://schemas.microsoft.com/office/drawing/2014/main" id="{D9369F50-C969-8C36-ED84-09EA218862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282072" y="4926527"/>
            <a:ext cx="582069" cy="627637"/>
          </a:xfrm>
          <a:prstGeom prst="rect">
            <a:avLst/>
          </a:prstGeom>
        </p:spPr>
      </p:pic>
      <p:pic>
        <p:nvPicPr>
          <p:cNvPr id="84" name="Gráfico 83" descr="Badge Tick1 con relleno sólido">
            <a:extLst>
              <a:ext uri="{FF2B5EF4-FFF2-40B4-BE49-F238E27FC236}">
                <a16:creationId xmlns:a16="http://schemas.microsoft.com/office/drawing/2014/main" id="{BAC17681-5E1C-220C-3C1E-6CFFFB762D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577963" y="5305130"/>
            <a:ext cx="232833" cy="232833"/>
          </a:xfrm>
          <a:prstGeom prst="rect">
            <a:avLst/>
          </a:prstGeom>
        </p:spPr>
      </p:pic>
      <p:grpSp>
        <p:nvGrpSpPr>
          <p:cNvPr id="85" name="Grupo 84">
            <a:extLst>
              <a:ext uri="{FF2B5EF4-FFF2-40B4-BE49-F238E27FC236}">
                <a16:creationId xmlns:a16="http://schemas.microsoft.com/office/drawing/2014/main" id="{93F32321-00C6-A880-448F-09BE435039B5}"/>
              </a:ext>
            </a:extLst>
          </p:cNvPr>
          <p:cNvGrpSpPr/>
          <p:nvPr/>
        </p:nvGrpSpPr>
        <p:grpSpPr>
          <a:xfrm>
            <a:off x="9644347" y="4763753"/>
            <a:ext cx="222022" cy="223506"/>
            <a:chOff x="9073669" y="4556391"/>
            <a:chExt cx="216000" cy="216000"/>
          </a:xfrm>
        </p:grpSpPr>
        <p:sp>
          <p:nvSpPr>
            <p:cNvPr id="86" name="Diagrama de flujo: conector 85">
              <a:extLst>
                <a:ext uri="{FF2B5EF4-FFF2-40B4-BE49-F238E27FC236}">
                  <a16:creationId xmlns:a16="http://schemas.microsoft.com/office/drawing/2014/main" id="{3D9B06A1-749A-E36F-47F4-32AD7CD67E1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73669" y="4556391"/>
              <a:ext cx="216000" cy="216000"/>
            </a:xfrm>
            <a:prstGeom prst="flowChartConnector">
              <a:avLst/>
            </a:prstGeom>
            <a:solidFill>
              <a:srgbClr val="0272B0">
                <a:alpha val="78000"/>
              </a:srgbClr>
            </a:solidFill>
            <a:ln>
              <a:noFill/>
            </a:ln>
            <a:effectLst>
              <a:softEdge rad="381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7" name="Diagrama de flujo: conector 86">
              <a:extLst>
                <a:ext uri="{FF2B5EF4-FFF2-40B4-BE49-F238E27FC236}">
                  <a16:creationId xmlns:a16="http://schemas.microsoft.com/office/drawing/2014/main" id="{0E6CAEBD-91DE-7532-52E6-C00BF8961D8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27669" y="4610391"/>
              <a:ext cx="108000" cy="108000"/>
            </a:xfrm>
            <a:prstGeom prst="flowChartConnector">
              <a:avLst/>
            </a:prstGeom>
            <a:gradFill flip="none" rotWithShape="1">
              <a:gsLst>
                <a:gs pos="0">
                  <a:srgbClr val="16FCFE"/>
                </a:gs>
                <a:gs pos="75000">
                  <a:srgbClr val="54FEFE">
                    <a:alpha val="68000"/>
                  </a:srgbClr>
                </a:gs>
                <a:gs pos="33000">
                  <a:srgbClr val="16FCFE"/>
                </a:gs>
                <a:gs pos="100000">
                  <a:srgbClr val="54FEFE"/>
                </a:gs>
                <a:gs pos="66000">
                  <a:srgbClr val="16FCF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softEdge rad="127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grpSp>
        <p:nvGrpSpPr>
          <p:cNvPr id="88" name="Grupo 87">
            <a:extLst>
              <a:ext uri="{FF2B5EF4-FFF2-40B4-BE49-F238E27FC236}">
                <a16:creationId xmlns:a16="http://schemas.microsoft.com/office/drawing/2014/main" id="{3AB36C20-845F-8A60-64A7-58D4B3F7F1EC}"/>
              </a:ext>
            </a:extLst>
          </p:cNvPr>
          <p:cNvGrpSpPr/>
          <p:nvPr/>
        </p:nvGrpSpPr>
        <p:grpSpPr>
          <a:xfrm>
            <a:off x="9084223" y="4788228"/>
            <a:ext cx="222022" cy="223506"/>
            <a:chOff x="9073669" y="4556391"/>
            <a:chExt cx="216000" cy="216000"/>
          </a:xfrm>
        </p:grpSpPr>
        <p:sp>
          <p:nvSpPr>
            <p:cNvPr id="89" name="Diagrama de flujo: conector 88">
              <a:extLst>
                <a:ext uri="{FF2B5EF4-FFF2-40B4-BE49-F238E27FC236}">
                  <a16:creationId xmlns:a16="http://schemas.microsoft.com/office/drawing/2014/main" id="{3119FF0B-D248-3DBB-D851-031E7603E1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73669" y="4556391"/>
              <a:ext cx="216000" cy="216000"/>
            </a:xfrm>
            <a:prstGeom prst="flowChartConnector">
              <a:avLst/>
            </a:prstGeom>
            <a:solidFill>
              <a:srgbClr val="0272B0">
                <a:alpha val="78000"/>
              </a:srgbClr>
            </a:solidFill>
            <a:ln>
              <a:noFill/>
            </a:ln>
            <a:effectLst>
              <a:softEdge rad="381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90" name="Diagrama de flujo: conector 89">
              <a:extLst>
                <a:ext uri="{FF2B5EF4-FFF2-40B4-BE49-F238E27FC236}">
                  <a16:creationId xmlns:a16="http://schemas.microsoft.com/office/drawing/2014/main" id="{34818D5C-0446-B138-313A-E3B29BC704A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27669" y="4610391"/>
              <a:ext cx="108000" cy="108000"/>
            </a:xfrm>
            <a:prstGeom prst="flowChartConnector">
              <a:avLst/>
            </a:prstGeom>
            <a:gradFill flip="none" rotWithShape="1">
              <a:gsLst>
                <a:gs pos="0">
                  <a:srgbClr val="16FCFE"/>
                </a:gs>
                <a:gs pos="75000">
                  <a:srgbClr val="54FEFE">
                    <a:alpha val="68000"/>
                  </a:srgbClr>
                </a:gs>
                <a:gs pos="33000">
                  <a:srgbClr val="16FCFE"/>
                </a:gs>
                <a:gs pos="100000">
                  <a:srgbClr val="54FEFE"/>
                </a:gs>
                <a:gs pos="66000">
                  <a:srgbClr val="16FCF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softEdge rad="127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pic>
        <p:nvPicPr>
          <p:cNvPr id="14" name="Gráfico 13" descr="Single gear con relleno sólido">
            <a:extLst>
              <a:ext uri="{FF2B5EF4-FFF2-40B4-BE49-F238E27FC236}">
                <a16:creationId xmlns:a16="http://schemas.microsoft.com/office/drawing/2014/main" id="{C3633972-EF3B-7666-7F4E-098ADA2B1F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462364" y="2581580"/>
            <a:ext cx="914400" cy="914400"/>
          </a:xfrm>
          <a:prstGeom prst="rect">
            <a:avLst/>
          </a:prstGeom>
          <a:effectLst>
            <a:outerShdw blurRad="50800" dist="50800" dir="5400000" algn="ctr" rotWithShape="0">
              <a:schemeClr val="bg2">
                <a:alpha val="31000"/>
              </a:schemeClr>
            </a:outerShdw>
          </a:effectLst>
        </p:spPr>
      </p:pic>
      <p:sp>
        <p:nvSpPr>
          <p:cNvPr id="92" name="Rectángulo: esquinas redondeadas 91">
            <a:extLst>
              <a:ext uri="{FF2B5EF4-FFF2-40B4-BE49-F238E27FC236}">
                <a16:creationId xmlns:a16="http://schemas.microsoft.com/office/drawing/2014/main" id="{E32F319A-7C0F-A3CE-7EB7-3C6B5350D69C}"/>
              </a:ext>
            </a:extLst>
          </p:cNvPr>
          <p:cNvSpPr/>
          <p:nvPr/>
        </p:nvSpPr>
        <p:spPr>
          <a:xfrm>
            <a:off x="7079398" y="5045857"/>
            <a:ext cx="764538" cy="777239"/>
          </a:xfrm>
          <a:prstGeom prst="roundRect">
            <a:avLst>
              <a:gd name="adj" fmla="val 11684"/>
            </a:avLst>
          </a:prstGeom>
          <a:gradFill flip="none" rotWithShape="1">
            <a:gsLst>
              <a:gs pos="0">
                <a:srgbClr val="013162"/>
              </a:gs>
              <a:gs pos="38000">
                <a:srgbClr val="013162"/>
              </a:gs>
              <a:gs pos="100000">
                <a:srgbClr val="0272B0"/>
              </a:gs>
              <a:gs pos="87000">
                <a:schemeClr val="accent4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gradFill>
              <a:gsLst>
                <a:gs pos="0">
                  <a:srgbClr val="0272B0"/>
                </a:gs>
                <a:gs pos="53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27" name="Gráfico 26" descr="Smart Phone con relleno sólido">
            <a:extLst>
              <a:ext uri="{FF2B5EF4-FFF2-40B4-BE49-F238E27FC236}">
                <a16:creationId xmlns:a16="http://schemas.microsoft.com/office/drawing/2014/main" id="{E0A68A4C-1EB3-DBFE-FC13-35610EEE18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129859" y="5133182"/>
            <a:ext cx="663616" cy="621146"/>
          </a:xfrm>
          <a:prstGeom prst="rect">
            <a:avLst/>
          </a:prstGeom>
        </p:spPr>
      </p:pic>
      <p:sp>
        <p:nvSpPr>
          <p:cNvPr id="93" name="Rectángulo: esquinas redondeadas 92">
            <a:extLst>
              <a:ext uri="{FF2B5EF4-FFF2-40B4-BE49-F238E27FC236}">
                <a16:creationId xmlns:a16="http://schemas.microsoft.com/office/drawing/2014/main" id="{2F4B7773-A85E-DB19-C1DA-9EF90340B70B}"/>
              </a:ext>
            </a:extLst>
          </p:cNvPr>
          <p:cNvSpPr/>
          <p:nvPr/>
        </p:nvSpPr>
        <p:spPr>
          <a:xfrm>
            <a:off x="11269720" y="3807707"/>
            <a:ext cx="701965" cy="749049"/>
          </a:xfrm>
          <a:prstGeom prst="roundRect">
            <a:avLst>
              <a:gd name="adj" fmla="val 11684"/>
            </a:avLst>
          </a:prstGeom>
          <a:gradFill flip="none" rotWithShape="1">
            <a:gsLst>
              <a:gs pos="0">
                <a:srgbClr val="013162"/>
              </a:gs>
              <a:gs pos="38000">
                <a:srgbClr val="013162"/>
              </a:gs>
              <a:gs pos="100000">
                <a:srgbClr val="0272B0"/>
              </a:gs>
              <a:gs pos="87000">
                <a:schemeClr val="accent4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gradFill>
              <a:gsLst>
                <a:gs pos="0">
                  <a:srgbClr val="0272B0"/>
                </a:gs>
                <a:gs pos="53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94" name="Grupo 93">
            <a:extLst>
              <a:ext uri="{FF2B5EF4-FFF2-40B4-BE49-F238E27FC236}">
                <a16:creationId xmlns:a16="http://schemas.microsoft.com/office/drawing/2014/main" id="{F0A487F2-A82C-B266-268F-4A87D2EDE70D}"/>
              </a:ext>
            </a:extLst>
          </p:cNvPr>
          <p:cNvGrpSpPr/>
          <p:nvPr/>
        </p:nvGrpSpPr>
        <p:grpSpPr>
          <a:xfrm>
            <a:off x="11679515" y="3698025"/>
            <a:ext cx="222022" cy="223506"/>
            <a:chOff x="9073669" y="4556391"/>
            <a:chExt cx="216000" cy="216000"/>
          </a:xfrm>
        </p:grpSpPr>
        <p:sp>
          <p:nvSpPr>
            <p:cNvPr id="95" name="Diagrama de flujo: conector 94">
              <a:extLst>
                <a:ext uri="{FF2B5EF4-FFF2-40B4-BE49-F238E27FC236}">
                  <a16:creationId xmlns:a16="http://schemas.microsoft.com/office/drawing/2014/main" id="{1E7A668B-254F-271F-384A-3873AFEECF8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73669" y="4556391"/>
              <a:ext cx="216000" cy="216000"/>
            </a:xfrm>
            <a:prstGeom prst="flowChartConnector">
              <a:avLst/>
            </a:prstGeom>
            <a:solidFill>
              <a:srgbClr val="0272B0">
                <a:alpha val="78000"/>
              </a:srgbClr>
            </a:solidFill>
            <a:ln>
              <a:noFill/>
            </a:ln>
            <a:effectLst>
              <a:softEdge rad="381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96" name="Diagrama de flujo: conector 95">
              <a:extLst>
                <a:ext uri="{FF2B5EF4-FFF2-40B4-BE49-F238E27FC236}">
                  <a16:creationId xmlns:a16="http://schemas.microsoft.com/office/drawing/2014/main" id="{ABA06DED-ECE5-89F6-CA86-555C324D7FD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27669" y="4610391"/>
              <a:ext cx="108000" cy="108000"/>
            </a:xfrm>
            <a:prstGeom prst="flowChartConnector">
              <a:avLst/>
            </a:prstGeom>
            <a:gradFill flip="none" rotWithShape="1">
              <a:gsLst>
                <a:gs pos="0">
                  <a:srgbClr val="16FCFE"/>
                </a:gs>
                <a:gs pos="75000">
                  <a:srgbClr val="54FEFE">
                    <a:alpha val="68000"/>
                  </a:srgbClr>
                </a:gs>
                <a:gs pos="33000">
                  <a:srgbClr val="16FCFE"/>
                </a:gs>
                <a:gs pos="100000">
                  <a:srgbClr val="54FEFE"/>
                </a:gs>
                <a:gs pos="66000">
                  <a:srgbClr val="16FCF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softEdge rad="127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grpSp>
        <p:nvGrpSpPr>
          <p:cNvPr id="97" name="Grupo 96">
            <a:extLst>
              <a:ext uri="{FF2B5EF4-FFF2-40B4-BE49-F238E27FC236}">
                <a16:creationId xmlns:a16="http://schemas.microsoft.com/office/drawing/2014/main" id="{6B88568A-4850-B464-BB75-40F9CBCE1C48}"/>
              </a:ext>
            </a:extLst>
          </p:cNvPr>
          <p:cNvGrpSpPr/>
          <p:nvPr/>
        </p:nvGrpSpPr>
        <p:grpSpPr>
          <a:xfrm>
            <a:off x="11119391" y="3722500"/>
            <a:ext cx="222022" cy="223506"/>
            <a:chOff x="9073669" y="4556391"/>
            <a:chExt cx="216000" cy="216000"/>
          </a:xfrm>
        </p:grpSpPr>
        <p:sp>
          <p:nvSpPr>
            <p:cNvPr id="98" name="Diagrama de flujo: conector 97">
              <a:extLst>
                <a:ext uri="{FF2B5EF4-FFF2-40B4-BE49-F238E27FC236}">
                  <a16:creationId xmlns:a16="http://schemas.microsoft.com/office/drawing/2014/main" id="{2EDA1B01-938B-FC00-8800-F04C27F7584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73669" y="4556391"/>
              <a:ext cx="216000" cy="216000"/>
            </a:xfrm>
            <a:prstGeom prst="flowChartConnector">
              <a:avLst/>
            </a:prstGeom>
            <a:solidFill>
              <a:srgbClr val="0272B0">
                <a:alpha val="78000"/>
              </a:srgbClr>
            </a:solidFill>
            <a:ln>
              <a:noFill/>
            </a:ln>
            <a:effectLst>
              <a:softEdge rad="381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99" name="Diagrama de flujo: conector 98">
              <a:extLst>
                <a:ext uri="{FF2B5EF4-FFF2-40B4-BE49-F238E27FC236}">
                  <a16:creationId xmlns:a16="http://schemas.microsoft.com/office/drawing/2014/main" id="{7B74D9AF-E72A-1090-D862-7DE1F59567E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27669" y="4610391"/>
              <a:ext cx="108000" cy="108000"/>
            </a:xfrm>
            <a:prstGeom prst="flowChartConnector">
              <a:avLst/>
            </a:prstGeom>
            <a:gradFill flip="none" rotWithShape="1">
              <a:gsLst>
                <a:gs pos="0">
                  <a:srgbClr val="16FCFE"/>
                </a:gs>
                <a:gs pos="75000">
                  <a:srgbClr val="54FEFE">
                    <a:alpha val="68000"/>
                  </a:srgbClr>
                </a:gs>
                <a:gs pos="33000">
                  <a:srgbClr val="16FCFE"/>
                </a:gs>
                <a:gs pos="100000">
                  <a:srgbClr val="54FEFE"/>
                </a:gs>
                <a:gs pos="66000">
                  <a:srgbClr val="16FCF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softEdge rad="127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pic>
        <p:nvPicPr>
          <p:cNvPr id="29" name="Gráfico 28" descr="Lock con relleno sólido">
            <a:extLst>
              <a:ext uri="{FF2B5EF4-FFF2-40B4-BE49-F238E27FC236}">
                <a16:creationId xmlns:a16="http://schemas.microsoft.com/office/drawing/2014/main" id="{F2091388-D6B4-130B-F7C6-4F80790CDF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366058" y="3917403"/>
            <a:ext cx="547841" cy="525587"/>
          </a:xfrm>
          <a:prstGeom prst="rect">
            <a:avLst/>
          </a:prstGeom>
        </p:spPr>
      </p:pic>
      <p:sp>
        <p:nvSpPr>
          <p:cNvPr id="33" name="Rectángulo: esquinas redondeadas 32">
            <a:extLst>
              <a:ext uri="{FF2B5EF4-FFF2-40B4-BE49-F238E27FC236}">
                <a16:creationId xmlns:a16="http://schemas.microsoft.com/office/drawing/2014/main" id="{6B90ABE2-4DEC-BB18-FB9F-05F262C1C4C6}"/>
              </a:ext>
            </a:extLst>
          </p:cNvPr>
          <p:cNvSpPr/>
          <p:nvPr/>
        </p:nvSpPr>
        <p:spPr>
          <a:xfrm>
            <a:off x="10570144" y="5355721"/>
            <a:ext cx="595045" cy="607101"/>
          </a:xfrm>
          <a:prstGeom prst="roundRect">
            <a:avLst>
              <a:gd name="adj" fmla="val 11684"/>
            </a:avLst>
          </a:prstGeom>
          <a:gradFill flip="none" rotWithShape="1">
            <a:gsLst>
              <a:gs pos="0">
                <a:srgbClr val="013162"/>
              </a:gs>
              <a:gs pos="38000">
                <a:srgbClr val="013162"/>
              </a:gs>
              <a:gs pos="100000">
                <a:srgbClr val="0272B0"/>
              </a:gs>
              <a:gs pos="87000">
                <a:schemeClr val="accent4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gradFill>
              <a:gsLst>
                <a:gs pos="0">
                  <a:srgbClr val="0272B0"/>
                </a:gs>
                <a:gs pos="53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51" name="Grupo 50">
            <a:extLst>
              <a:ext uri="{FF2B5EF4-FFF2-40B4-BE49-F238E27FC236}">
                <a16:creationId xmlns:a16="http://schemas.microsoft.com/office/drawing/2014/main" id="{5DCC87D0-F777-5EA0-E2ED-A99ED769AA84}"/>
              </a:ext>
            </a:extLst>
          </p:cNvPr>
          <p:cNvGrpSpPr/>
          <p:nvPr/>
        </p:nvGrpSpPr>
        <p:grpSpPr>
          <a:xfrm>
            <a:off x="10455668" y="5240971"/>
            <a:ext cx="222022" cy="223506"/>
            <a:chOff x="9073669" y="4556391"/>
            <a:chExt cx="216000" cy="216000"/>
          </a:xfrm>
        </p:grpSpPr>
        <p:sp>
          <p:nvSpPr>
            <p:cNvPr id="52" name="Diagrama de flujo: conector 51">
              <a:extLst>
                <a:ext uri="{FF2B5EF4-FFF2-40B4-BE49-F238E27FC236}">
                  <a16:creationId xmlns:a16="http://schemas.microsoft.com/office/drawing/2014/main" id="{C637CED6-72EA-CADA-3702-DB98387C04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73669" y="4556391"/>
              <a:ext cx="216000" cy="216000"/>
            </a:xfrm>
            <a:prstGeom prst="flowChartConnector">
              <a:avLst/>
            </a:prstGeom>
            <a:solidFill>
              <a:srgbClr val="0272B0">
                <a:alpha val="78000"/>
              </a:srgbClr>
            </a:solidFill>
            <a:ln>
              <a:noFill/>
            </a:ln>
            <a:effectLst>
              <a:softEdge rad="381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53" name="Diagrama de flujo: conector 52">
              <a:extLst>
                <a:ext uri="{FF2B5EF4-FFF2-40B4-BE49-F238E27FC236}">
                  <a16:creationId xmlns:a16="http://schemas.microsoft.com/office/drawing/2014/main" id="{A44CB29C-2659-FC50-5545-FE2DE582E4F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27669" y="4610391"/>
              <a:ext cx="108000" cy="108000"/>
            </a:xfrm>
            <a:prstGeom prst="flowChartConnector">
              <a:avLst/>
            </a:prstGeom>
            <a:gradFill flip="none" rotWithShape="1">
              <a:gsLst>
                <a:gs pos="0">
                  <a:srgbClr val="16FCFE"/>
                </a:gs>
                <a:gs pos="75000">
                  <a:srgbClr val="54FEFE">
                    <a:alpha val="68000"/>
                  </a:srgbClr>
                </a:gs>
                <a:gs pos="33000">
                  <a:srgbClr val="16FCFE"/>
                </a:gs>
                <a:gs pos="100000">
                  <a:srgbClr val="54FEFE"/>
                </a:gs>
                <a:gs pos="66000">
                  <a:srgbClr val="16FCF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softEdge rad="127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pic>
        <p:nvPicPr>
          <p:cNvPr id="41" name="Gráfico 40" descr="Users con relleno sólido">
            <a:extLst>
              <a:ext uri="{FF2B5EF4-FFF2-40B4-BE49-F238E27FC236}">
                <a16:creationId xmlns:a16="http://schemas.microsoft.com/office/drawing/2014/main" id="{9C03380B-7488-EA8A-2780-4B0525FB42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578866" y="5392374"/>
            <a:ext cx="552275" cy="590388"/>
          </a:xfrm>
          <a:prstGeom prst="rect">
            <a:avLst/>
          </a:prstGeom>
        </p:spPr>
      </p:pic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86487652-80A8-9ECB-C646-48B13764C50A}"/>
              </a:ext>
            </a:extLst>
          </p:cNvPr>
          <p:cNvSpPr/>
          <p:nvPr/>
        </p:nvSpPr>
        <p:spPr>
          <a:xfrm>
            <a:off x="6516141" y="4160109"/>
            <a:ext cx="726211" cy="741306"/>
          </a:xfrm>
          <a:prstGeom prst="roundRect">
            <a:avLst/>
          </a:prstGeom>
          <a:gradFill flip="none" rotWithShape="1">
            <a:gsLst>
              <a:gs pos="0">
                <a:srgbClr val="013162"/>
              </a:gs>
              <a:gs pos="38000">
                <a:srgbClr val="013162"/>
              </a:gs>
              <a:gs pos="100000">
                <a:srgbClr val="0272B0"/>
              </a:gs>
              <a:gs pos="87000">
                <a:schemeClr val="accent4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gradFill>
              <a:gsLst>
                <a:gs pos="0">
                  <a:srgbClr val="0272B0"/>
                </a:gs>
                <a:gs pos="53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outerShdw blurRad="50800" dist="50800" dir="5400000" algn="ctr" rotWithShape="0">
              <a:schemeClr val="bg2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24" name="Gráfico 23" descr="Laptop con relleno sólido">
            <a:extLst>
              <a:ext uri="{FF2B5EF4-FFF2-40B4-BE49-F238E27FC236}">
                <a16:creationId xmlns:a16="http://schemas.microsoft.com/office/drawing/2014/main" id="{7C939195-3A85-8041-B5DA-5709326D6D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537247" y="4180197"/>
            <a:ext cx="684000" cy="684000"/>
          </a:xfrm>
          <a:prstGeom prst="rect">
            <a:avLst/>
          </a:prstGeom>
        </p:spPr>
      </p:pic>
      <p:grpSp>
        <p:nvGrpSpPr>
          <p:cNvPr id="100" name="Grupo 99">
            <a:extLst>
              <a:ext uri="{FF2B5EF4-FFF2-40B4-BE49-F238E27FC236}">
                <a16:creationId xmlns:a16="http://schemas.microsoft.com/office/drawing/2014/main" id="{D8FCCA5A-F851-4415-4A07-FAFD48585708}"/>
              </a:ext>
            </a:extLst>
          </p:cNvPr>
          <p:cNvGrpSpPr/>
          <p:nvPr/>
        </p:nvGrpSpPr>
        <p:grpSpPr>
          <a:xfrm>
            <a:off x="6991886" y="5575815"/>
            <a:ext cx="222022" cy="223506"/>
            <a:chOff x="9073669" y="4556391"/>
            <a:chExt cx="216000" cy="216000"/>
          </a:xfrm>
        </p:grpSpPr>
        <p:sp>
          <p:nvSpPr>
            <p:cNvPr id="101" name="Diagrama de flujo: conector 100">
              <a:extLst>
                <a:ext uri="{FF2B5EF4-FFF2-40B4-BE49-F238E27FC236}">
                  <a16:creationId xmlns:a16="http://schemas.microsoft.com/office/drawing/2014/main" id="{86E6CAC8-82B9-D188-47AE-B599F8CDBB3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73669" y="4556391"/>
              <a:ext cx="216000" cy="216000"/>
            </a:xfrm>
            <a:prstGeom prst="flowChartConnector">
              <a:avLst/>
            </a:prstGeom>
            <a:solidFill>
              <a:srgbClr val="0272B0">
                <a:alpha val="78000"/>
              </a:srgbClr>
            </a:solidFill>
            <a:ln>
              <a:noFill/>
            </a:ln>
            <a:effectLst>
              <a:softEdge rad="381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2" name="Diagrama de flujo: conector 101">
              <a:extLst>
                <a:ext uri="{FF2B5EF4-FFF2-40B4-BE49-F238E27FC236}">
                  <a16:creationId xmlns:a16="http://schemas.microsoft.com/office/drawing/2014/main" id="{CF72A77C-D2B9-C4BD-C30A-984150B5D22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27669" y="4610391"/>
              <a:ext cx="108000" cy="108000"/>
            </a:xfrm>
            <a:prstGeom prst="flowChartConnector">
              <a:avLst/>
            </a:prstGeom>
            <a:gradFill flip="none" rotWithShape="1">
              <a:gsLst>
                <a:gs pos="0">
                  <a:srgbClr val="16FCFE"/>
                </a:gs>
                <a:gs pos="75000">
                  <a:srgbClr val="54FEFE">
                    <a:alpha val="68000"/>
                  </a:srgbClr>
                </a:gs>
                <a:gs pos="33000">
                  <a:srgbClr val="16FCFE"/>
                </a:gs>
                <a:gs pos="100000">
                  <a:srgbClr val="54FEFE"/>
                </a:gs>
                <a:gs pos="66000">
                  <a:srgbClr val="16FCF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softEdge rad="127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grpSp>
        <p:nvGrpSpPr>
          <p:cNvPr id="103" name="Grupo 102">
            <a:extLst>
              <a:ext uri="{FF2B5EF4-FFF2-40B4-BE49-F238E27FC236}">
                <a16:creationId xmlns:a16="http://schemas.microsoft.com/office/drawing/2014/main" id="{7098E4CE-00C7-9825-B88B-C5851E32D0BB}"/>
              </a:ext>
            </a:extLst>
          </p:cNvPr>
          <p:cNvGrpSpPr/>
          <p:nvPr/>
        </p:nvGrpSpPr>
        <p:grpSpPr>
          <a:xfrm>
            <a:off x="6141452" y="4909676"/>
            <a:ext cx="222022" cy="223506"/>
            <a:chOff x="9073669" y="4556391"/>
            <a:chExt cx="216000" cy="216000"/>
          </a:xfrm>
        </p:grpSpPr>
        <p:sp>
          <p:nvSpPr>
            <p:cNvPr id="104" name="Diagrama de flujo: conector 103">
              <a:extLst>
                <a:ext uri="{FF2B5EF4-FFF2-40B4-BE49-F238E27FC236}">
                  <a16:creationId xmlns:a16="http://schemas.microsoft.com/office/drawing/2014/main" id="{0750938A-4DC3-DA03-C811-C14AD84D1FE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73669" y="4556391"/>
              <a:ext cx="216000" cy="216000"/>
            </a:xfrm>
            <a:prstGeom prst="flowChartConnector">
              <a:avLst/>
            </a:prstGeom>
            <a:solidFill>
              <a:srgbClr val="0272B0">
                <a:alpha val="78000"/>
              </a:srgbClr>
            </a:solidFill>
            <a:ln>
              <a:noFill/>
            </a:ln>
            <a:effectLst>
              <a:softEdge rad="381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5" name="Diagrama de flujo: conector 104">
              <a:extLst>
                <a:ext uri="{FF2B5EF4-FFF2-40B4-BE49-F238E27FC236}">
                  <a16:creationId xmlns:a16="http://schemas.microsoft.com/office/drawing/2014/main" id="{FADE9AD8-7F15-A714-6A9E-0D93F013387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27669" y="4610391"/>
              <a:ext cx="108000" cy="108000"/>
            </a:xfrm>
            <a:prstGeom prst="flowChartConnector">
              <a:avLst/>
            </a:prstGeom>
            <a:gradFill flip="none" rotWithShape="1">
              <a:gsLst>
                <a:gs pos="0">
                  <a:srgbClr val="16FCFE"/>
                </a:gs>
                <a:gs pos="75000">
                  <a:srgbClr val="54FEFE">
                    <a:alpha val="68000"/>
                  </a:srgbClr>
                </a:gs>
                <a:gs pos="33000">
                  <a:srgbClr val="16FCFE"/>
                </a:gs>
                <a:gs pos="100000">
                  <a:srgbClr val="54FEFE"/>
                </a:gs>
                <a:gs pos="66000">
                  <a:srgbClr val="16FCF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softEdge rad="127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grpSp>
        <p:nvGrpSpPr>
          <p:cNvPr id="106" name="Grupo 105">
            <a:extLst>
              <a:ext uri="{FF2B5EF4-FFF2-40B4-BE49-F238E27FC236}">
                <a16:creationId xmlns:a16="http://schemas.microsoft.com/office/drawing/2014/main" id="{47129CB5-7275-B751-B233-D617AD34279E}"/>
              </a:ext>
            </a:extLst>
          </p:cNvPr>
          <p:cNvGrpSpPr/>
          <p:nvPr/>
        </p:nvGrpSpPr>
        <p:grpSpPr>
          <a:xfrm>
            <a:off x="11068921" y="5871009"/>
            <a:ext cx="222022" cy="223506"/>
            <a:chOff x="9073669" y="4556391"/>
            <a:chExt cx="216000" cy="216000"/>
          </a:xfrm>
        </p:grpSpPr>
        <p:sp>
          <p:nvSpPr>
            <p:cNvPr id="107" name="Diagrama de flujo: conector 106">
              <a:extLst>
                <a:ext uri="{FF2B5EF4-FFF2-40B4-BE49-F238E27FC236}">
                  <a16:creationId xmlns:a16="http://schemas.microsoft.com/office/drawing/2014/main" id="{E6BB46DF-AF4F-041A-EDCD-E500BBA6A7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73669" y="4556391"/>
              <a:ext cx="216000" cy="216000"/>
            </a:xfrm>
            <a:prstGeom prst="flowChartConnector">
              <a:avLst/>
            </a:prstGeom>
            <a:solidFill>
              <a:srgbClr val="0272B0">
                <a:alpha val="78000"/>
              </a:srgbClr>
            </a:solidFill>
            <a:ln>
              <a:noFill/>
            </a:ln>
            <a:effectLst>
              <a:softEdge rad="381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8" name="Diagrama de flujo: conector 107">
              <a:extLst>
                <a:ext uri="{FF2B5EF4-FFF2-40B4-BE49-F238E27FC236}">
                  <a16:creationId xmlns:a16="http://schemas.microsoft.com/office/drawing/2014/main" id="{C568D1C6-E05E-771F-40D2-BF54F737C2D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27669" y="4610391"/>
              <a:ext cx="108000" cy="108000"/>
            </a:xfrm>
            <a:prstGeom prst="flowChartConnector">
              <a:avLst/>
            </a:prstGeom>
            <a:gradFill flip="none" rotWithShape="1">
              <a:gsLst>
                <a:gs pos="0">
                  <a:srgbClr val="16FCFE"/>
                </a:gs>
                <a:gs pos="75000">
                  <a:srgbClr val="54FEFE">
                    <a:alpha val="68000"/>
                  </a:srgbClr>
                </a:gs>
                <a:gs pos="33000">
                  <a:srgbClr val="16FCFE"/>
                </a:gs>
                <a:gs pos="100000">
                  <a:srgbClr val="54FEFE"/>
                </a:gs>
                <a:gs pos="66000">
                  <a:srgbClr val="16FCF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softEdge rad="127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grpSp>
        <p:nvGrpSpPr>
          <p:cNvPr id="109" name="Grupo 108">
            <a:extLst>
              <a:ext uri="{FF2B5EF4-FFF2-40B4-BE49-F238E27FC236}">
                <a16:creationId xmlns:a16="http://schemas.microsoft.com/office/drawing/2014/main" id="{31CAD2C6-B35B-FF6D-4DC1-D0D1CB7FAA4C}"/>
              </a:ext>
            </a:extLst>
          </p:cNvPr>
          <p:cNvGrpSpPr/>
          <p:nvPr/>
        </p:nvGrpSpPr>
        <p:grpSpPr>
          <a:xfrm>
            <a:off x="11298219" y="4353070"/>
            <a:ext cx="222022" cy="223506"/>
            <a:chOff x="9073669" y="4556391"/>
            <a:chExt cx="216000" cy="216000"/>
          </a:xfrm>
        </p:grpSpPr>
        <p:sp>
          <p:nvSpPr>
            <p:cNvPr id="110" name="Diagrama de flujo: conector 109">
              <a:extLst>
                <a:ext uri="{FF2B5EF4-FFF2-40B4-BE49-F238E27FC236}">
                  <a16:creationId xmlns:a16="http://schemas.microsoft.com/office/drawing/2014/main" id="{0DB264C0-DBA4-5F8B-E67C-833C92094AF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73669" y="4556391"/>
              <a:ext cx="216000" cy="216000"/>
            </a:xfrm>
            <a:prstGeom prst="flowChartConnector">
              <a:avLst/>
            </a:prstGeom>
            <a:solidFill>
              <a:srgbClr val="0272B0">
                <a:alpha val="78000"/>
              </a:srgbClr>
            </a:solidFill>
            <a:ln>
              <a:noFill/>
            </a:ln>
            <a:effectLst>
              <a:softEdge rad="381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1" name="Diagrama de flujo: conector 110">
              <a:extLst>
                <a:ext uri="{FF2B5EF4-FFF2-40B4-BE49-F238E27FC236}">
                  <a16:creationId xmlns:a16="http://schemas.microsoft.com/office/drawing/2014/main" id="{09BC4D67-6AE4-0F1F-CC25-44407FC291C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27669" y="4610391"/>
              <a:ext cx="108000" cy="108000"/>
            </a:xfrm>
            <a:prstGeom prst="flowChartConnector">
              <a:avLst/>
            </a:prstGeom>
            <a:gradFill flip="none" rotWithShape="1">
              <a:gsLst>
                <a:gs pos="0">
                  <a:srgbClr val="16FCFE"/>
                </a:gs>
                <a:gs pos="75000">
                  <a:srgbClr val="54FEFE">
                    <a:alpha val="68000"/>
                  </a:srgbClr>
                </a:gs>
                <a:gs pos="33000">
                  <a:srgbClr val="16FCFE"/>
                </a:gs>
                <a:gs pos="100000">
                  <a:srgbClr val="54FEFE"/>
                </a:gs>
                <a:gs pos="66000">
                  <a:srgbClr val="16FCF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softEdge rad="127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grpSp>
        <p:nvGrpSpPr>
          <p:cNvPr id="112" name="Grupo 111">
            <a:extLst>
              <a:ext uri="{FF2B5EF4-FFF2-40B4-BE49-F238E27FC236}">
                <a16:creationId xmlns:a16="http://schemas.microsoft.com/office/drawing/2014/main" id="{9F551051-4402-5A38-4843-852B083228C3}"/>
              </a:ext>
            </a:extLst>
          </p:cNvPr>
          <p:cNvGrpSpPr/>
          <p:nvPr/>
        </p:nvGrpSpPr>
        <p:grpSpPr>
          <a:xfrm>
            <a:off x="6995772" y="4125581"/>
            <a:ext cx="222022" cy="223506"/>
            <a:chOff x="9073669" y="4556391"/>
            <a:chExt cx="216000" cy="216000"/>
          </a:xfrm>
        </p:grpSpPr>
        <p:sp>
          <p:nvSpPr>
            <p:cNvPr id="113" name="Diagrama de flujo: conector 112">
              <a:extLst>
                <a:ext uri="{FF2B5EF4-FFF2-40B4-BE49-F238E27FC236}">
                  <a16:creationId xmlns:a16="http://schemas.microsoft.com/office/drawing/2014/main" id="{4CBD3433-F61B-4AAF-AD26-E74FFC8B935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73669" y="4556391"/>
              <a:ext cx="216000" cy="216000"/>
            </a:xfrm>
            <a:prstGeom prst="flowChartConnector">
              <a:avLst/>
            </a:prstGeom>
            <a:solidFill>
              <a:srgbClr val="0272B0">
                <a:alpha val="78000"/>
              </a:srgbClr>
            </a:solidFill>
            <a:ln>
              <a:noFill/>
            </a:ln>
            <a:effectLst>
              <a:softEdge rad="381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4" name="Diagrama de flujo: conector 113">
              <a:extLst>
                <a:ext uri="{FF2B5EF4-FFF2-40B4-BE49-F238E27FC236}">
                  <a16:creationId xmlns:a16="http://schemas.microsoft.com/office/drawing/2014/main" id="{5D94262E-56B6-5F3B-DD8C-9F812932E92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27669" y="4610391"/>
              <a:ext cx="108000" cy="108000"/>
            </a:xfrm>
            <a:prstGeom prst="flowChartConnector">
              <a:avLst/>
            </a:prstGeom>
            <a:gradFill flip="none" rotWithShape="1">
              <a:gsLst>
                <a:gs pos="0">
                  <a:srgbClr val="16FCFE"/>
                </a:gs>
                <a:gs pos="75000">
                  <a:srgbClr val="54FEFE">
                    <a:alpha val="68000"/>
                  </a:srgbClr>
                </a:gs>
                <a:gs pos="33000">
                  <a:srgbClr val="16FCFE"/>
                </a:gs>
                <a:gs pos="100000">
                  <a:srgbClr val="54FEFE"/>
                </a:gs>
                <a:gs pos="66000">
                  <a:srgbClr val="16FCF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softEdge rad="127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grpSp>
        <p:nvGrpSpPr>
          <p:cNvPr id="115" name="Grupo 114">
            <a:extLst>
              <a:ext uri="{FF2B5EF4-FFF2-40B4-BE49-F238E27FC236}">
                <a16:creationId xmlns:a16="http://schemas.microsoft.com/office/drawing/2014/main" id="{182A19E4-F4FA-AA2D-E8DF-498D1C123A61}"/>
              </a:ext>
            </a:extLst>
          </p:cNvPr>
          <p:cNvGrpSpPr/>
          <p:nvPr/>
        </p:nvGrpSpPr>
        <p:grpSpPr>
          <a:xfrm>
            <a:off x="8640359" y="407590"/>
            <a:ext cx="222022" cy="223506"/>
            <a:chOff x="9073669" y="4556391"/>
            <a:chExt cx="216000" cy="216000"/>
          </a:xfrm>
        </p:grpSpPr>
        <p:sp>
          <p:nvSpPr>
            <p:cNvPr id="116" name="Diagrama de flujo: conector 115">
              <a:extLst>
                <a:ext uri="{FF2B5EF4-FFF2-40B4-BE49-F238E27FC236}">
                  <a16:creationId xmlns:a16="http://schemas.microsoft.com/office/drawing/2014/main" id="{2D0D319E-ECCC-3397-A115-F19EDD94695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73669" y="4556391"/>
              <a:ext cx="216000" cy="216000"/>
            </a:xfrm>
            <a:prstGeom prst="flowChartConnector">
              <a:avLst/>
            </a:prstGeom>
            <a:solidFill>
              <a:srgbClr val="0272B0">
                <a:alpha val="78000"/>
              </a:srgbClr>
            </a:solidFill>
            <a:ln>
              <a:noFill/>
            </a:ln>
            <a:effectLst>
              <a:softEdge rad="381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7" name="Diagrama de flujo: conector 116">
              <a:extLst>
                <a:ext uri="{FF2B5EF4-FFF2-40B4-BE49-F238E27FC236}">
                  <a16:creationId xmlns:a16="http://schemas.microsoft.com/office/drawing/2014/main" id="{3B84F53C-EAF7-431C-9B90-4F390D92060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27669" y="4610391"/>
              <a:ext cx="108000" cy="108000"/>
            </a:xfrm>
            <a:prstGeom prst="flowChartConnector">
              <a:avLst/>
            </a:prstGeom>
            <a:gradFill flip="none" rotWithShape="1">
              <a:gsLst>
                <a:gs pos="0">
                  <a:srgbClr val="16FCFE"/>
                </a:gs>
                <a:gs pos="75000">
                  <a:srgbClr val="54FEFE">
                    <a:alpha val="68000"/>
                  </a:srgbClr>
                </a:gs>
                <a:gs pos="33000">
                  <a:srgbClr val="16FCFE"/>
                </a:gs>
                <a:gs pos="100000">
                  <a:srgbClr val="54FEFE"/>
                </a:gs>
                <a:gs pos="66000">
                  <a:srgbClr val="16FCF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softEdge rad="127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sp>
        <p:nvSpPr>
          <p:cNvPr id="118" name="Rectángulo: esquinas redondeadas 117">
            <a:extLst>
              <a:ext uri="{FF2B5EF4-FFF2-40B4-BE49-F238E27FC236}">
                <a16:creationId xmlns:a16="http://schemas.microsoft.com/office/drawing/2014/main" id="{A6894C22-E846-8065-E104-77BC697AD0B0}"/>
              </a:ext>
            </a:extLst>
          </p:cNvPr>
          <p:cNvSpPr/>
          <p:nvPr/>
        </p:nvSpPr>
        <p:spPr>
          <a:xfrm>
            <a:off x="7772668" y="536722"/>
            <a:ext cx="726211" cy="741306"/>
          </a:xfrm>
          <a:prstGeom prst="roundRect">
            <a:avLst/>
          </a:prstGeom>
          <a:gradFill flip="none" rotWithShape="1">
            <a:gsLst>
              <a:gs pos="0">
                <a:srgbClr val="013162"/>
              </a:gs>
              <a:gs pos="38000">
                <a:srgbClr val="013162"/>
              </a:gs>
              <a:gs pos="100000">
                <a:srgbClr val="0272B0"/>
              </a:gs>
              <a:gs pos="87000">
                <a:schemeClr val="accent4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gradFill>
              <a:gsLst>
                <a:gs pos="0">
                  <a:srgbClr val="0272B0"/>
                </a:gs>
                <a:gs pos="53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outerShdw blurRad="50800" dist="50800" dir="5400000" algn="ctr" rotWithShape="0">
              <a:schemeClr val="bg2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119" name="Grupo 118">
            <a:extLst>
              <a:ext uri="{FF2B5EF4-FFF2-40B4-BE49-F238E27FC236}">
                <a16:creationId xmlns:a16="http://schemas.microsoft.com/office/drawing/2014/main" id="{7E3F1055-6B8F-3637-5871-CD8F7D9BF10E}"/>
              </a:ext>
            </a:extLst>
          </p:cNvPr>
          <p:cNvGrpSpPr/>
          <p:nvPr/>
        </p:nvGrpSpPr>
        <p:grpSpPr>
          <a:xfrm>
            <a:off x="7397979" y="1286289"/>
            <a:ext cx="222022" cy="223506"/>
            <a:chOff x="9073669" y="4556391"/>
            <a:chExt cx="216000" cy="216000"/>
          </a:xfrm>
        </p:grpSpPr>
        <p:sp>
          <p:nvSpPr>
            <p:cNvPr id="120" name="Diagrama de flujo: conector 119">
              <a:extLst>
                <a:ext uri="{FF2B5EF4-FFF2-40B4-BE49-F238E27FC236}">
                  <a16:creationId xmlns:a16="http://schemas.microsoft.com/office/drawing/2014/main" id="{0F54AD4E-3803-3F3A-82D4-C64D4E30A7F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73669" y="4556391"/>
              <a:ext cx="216000" cy="216000"/>
            </a:xfrm>
            <a:prstGeom prst="flowChartConnector">
              <a:avLst/>
            </a:prstGeom>
            <a:solidFill>
              <a:srgbClr val="0272B0">
                <a:alpha val="78000"/>
              </a:srgbClr>
            </a:solidFill>
            <a:ln>
              <a:noFill/>
            </a:ln>
            <a:effectLst>
              <a:softEdge rad="381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1" name="Diagrama de flujo: conector 120">
              <a:extLst>
                <a:ext uri="{FF2B5EF4-FFF2-40B4-BE49-F238E27FC236}">
                  <a16:creationId xmlns:a16="http://schemas.microsoft.com/office/drawing/2014/main" id="{5F93A3BE-E909-8F78-E5A5-BA1C4B2556B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27669" y="4610391"/>
              <a:ext cx="108000" cy="108000"/>
            </a:xfrm>
            <a:prstGeom prst="flowChartConnector">
              <a:avLst/>
            </a:prstGeom>
            <a:gradFill flip="none" rotWithShape="1">
              <a:gsLst>
                <a:gs pos="0">
                  <a:srgbClr val="16FCFE"/>
                </a:gs>
                <a:gs pos="75000">
                  <a:srgbClr val="54FEFE">
                    <a:alpha val="68000"/>
                  </a:srgbClr>
                </a:gs>
                <a:gs pos="33000">
                  <a:srgbClr val="16FCFE"/>
                </a:gs>
                <a:gs pos="100000">
                  <a:srgbClr val="54FEFE"/>
                </a:gs>
                <a:gs pos="66000">
                  <a:srgbClr val="16FCF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softEdge rad="127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grpSp>
        <p:nvGrpSpPr>
          <p:cNvPr id="122" name="Grupo 121">
            <a:extLst>
              <a:ext uri="{FF2B5EF4-FFF2-40B4-BE49-F238E27FC236}">
                <a16:creationId xmlns:a16="http://schemas.microsoft.com/office/drawing/2014/main" id="{213E6DEC-48B9-9DC7-B278-7113EAD37D23}"/>
              </a:ext>
            </a:extLst>
          </p:cNvPr>
          <p:cNvGrpSpPr/>
          <p:nvPr/>
        </p:nvGrpSpPr>
        <p:grpSpPr>
          <a:xfrm>
            <a:off x="8252299" y="502194"/>
            <a:ext cx="222022" cy="223506"/>
            <a:chOff x="9073669" y="4556391"/>
            <a:chExt cx="216000" cy="216000"/>
          </a:xfrm>
        </p:grpSpPr>
        <p:sp>
          <p:nvSpPr>
            <p:cNvPr id="123" name="Diagrama de flujo: conector 122">
              <a:extLst>
                <a:ext uri="{FF2B5EF4-FFF2-40B4-BE49-F238E27FC236}">
                  <a16:creationId xmlns:a16="http://schemas.microsoft.com/office/drawing/2014/main" id="{89B1FE42-818F-6945-9B95-60AB654C418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73669" y="4556391"/>
              <a:ext cx="216000" cy="216000"/>
            </a:xfrm>
            <a:prstGeom prst="flowChartConnector">
              <a:avLst/>
            </a:prstGeom>
            <a:solidFill>
              <a:srgbClr val="0272B0">
                <a:alpha val="78000"/>
              </a:srgbClr>
            </a:solidFill>
            <a:ln>
              <a:noFill/>
            </a:ln>
            <a:effectLst>
              <a:softEdge rad="381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4" name="Diagrama de flujo: conector 123">
              <a:extLst>
                <a:ext uri="{FF2B5EF4-FFF2-40B4-BE49-F238E27FC236}">
                  <a16:creationId xmlns:a16="http://schemas.microsoft.com/office/drawing/2014/main" id="{4D8C7210-608A-7951-F4CA-F7885ADD8AE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27669" y="4610391"/>
              <a:ext cx="108000" cy="108000"/>
            </a:xfrm>
            <a:prstGeom prst="flowChartConnector">
              <a:avLst/>
            </a:prstGeom>
            <a:gradFill flip="none" rotWithShape="1">
              <a:gsLst>
                <a:gs pos="0">
                  <a:srgbClr val="16FCFE"/>
                </a:gs>
                <a:gs pos="75000">
                  <a:srgbClr val="54FEFE">
                    <a:alpha val="68000"/>
                  </a:srgbClr>
                </a:gs>
                <a:gs pos="33000">
                  <a:srgbClr val="16FCFE"/>
                </a:gs>
                <a:gs pos="100000">
                  <a:srgbClr val="54FEFE"/>
                </a:gs>
                <a:gs pos="66000">
                  <a:srgbClr val="16FCF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softEdge rad="127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pic>
        <p:nvPicPr>
          <p:cNvPr id="31" name="Gráfico 30" descr="Upload con relleno sólido">
            <a:extLst>
              <a:ext uri="{FF2B5EF4-FFF2-40B4-BE49-F238E27FC236}">
                <a16:creationId xmlns:a16="http://schemas.microsoft.com/office/drawing/2014/main" id="{7E2CA7E8-2609-6A3E-5FA2-637FC8E144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820175" y="640665"/>
            <a:ext cx="642177" cy="63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532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3FA28AA-F8F4-7916-7C28-B796CE399B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160" name="Diagrama de flujo: conector 159">
            <a:extLst>
              <a:ext uri="{FF2B5EF4-FFF2-40B4-BE49-F238E27FC236}">
                <a16:creationId xmlns:a16="http://schemas.microsoft.com/office/drawing/2014/main" id="{9F6C4F75-A6EE-0C1E-BE26-D521024C810D}"/>
              </a:ext>
            </a:extLst>
          </p:cNvPr>
          <p:cNvSpPr/>
          <p:nvPr/>
        </p:nvSpPr>
        <p:spPr>
          <a:xfrm>
            <a:off x="8541004" y="1860121"/>
            <a:ext cx="3488871" cy="2915663"/>
          </a:xfrm>
          <a:prstGeom prst="flowChartConnector">
            <a:avLst/>
          </a:prstGeom>
          <a:solidFill>
            <a:srgbClr val="F0F7FE">
              <a:alpha val="93000"/>
            </a:srgb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137" name="Conector recto 136">
            <a:extLst>
              <a:ext uri="{FF2B5EF4-FFF2-40B4-BE49-F238E27FC236}">
                <a16:creationId xmlns:a16="http://schemas.microsoft.com/office/drawing/2014/main" id="{20031E82-E185-65AD-35DB-A5BB08F33587}"/>
              </a:ext>
            </a:extLst>
          </p:cNvPr>
          <p:cNvCxnSpPr>
            <a:cxnSpLocks/>
            <a:endCxn id="132" idx="5"/>
          </p:cNvCxnSpPr>
          <p:nvPr/>
        </p:nvCxnSpPr>
        <p:spPr>
          <a:xfrm>
            <a:off x="8096819" y="3974262"/>
            <a:ext cx="420991" cy="319294"/>
          </a:xfrm>
          <a:prstGeom prst="line">
            <a:avLst/>
          </a:prstGeom>
          <a:ln w="41275">
            <a:gradFill flip="none" rotWithShape="1">
              <a:gsLst>
                <a:gs pos="0">
                  <a:schemeClr val="accent1">
                    <a:lumMod val="0"/>
                    <a:lumOff val="100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</a:ln>
          <a:effectLst>
            <a:softEdge rad="12700"/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Hexágono 20">
            <a:extLst>
              <a:ext uri="{FF2B5EF4-FFF2-40B4-BE49-F238E27FC236}">
                <a16:creationId xmlns:a16="http://schemas.microsoft.com/office/drawing/2014/main" id="{4744E6DD-3640-4F45-FE0E-69A4439E2362}"/>
              </a:ext>
            </a:extLst>
          </p:cNvPr>
          <p:cNvSpPr/>
          <p:nvPr/>
        </p:nvSpPr>
        <p:spPr>
          <a:xfrm>
            <a:off x="844698" y="1122021"/>
            <a:ext cx="7287264" cy="553845"/>
          </a:xfrm>
          <a:prstGeom prst="hexagon">
            <a:avLst/>
          </a:prstGeom>
          <a:solidFill>
            <a:srgbClr val="F0F7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lvl="1"/>
            <a:r>
              <a:rPr lang="es-CL" b="1" dirty="0">
                <a:solidFill>
                  <a:srgbClr val="002060"/>
                </a:solidFill>
                <a:latin typeface="Arial Narrow" panose="020B0606020202030204" pitchFamily="34" charset="0"/>
              </a:rPr>
              <a:t>Estado de Avance General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DDF3F6C-8823-656A-37AD-6CCA786ECD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0837" y="217737"/>
            <a:ext cx="1620000" cy="1620000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B82289FC-1606-116A-6777-87370967413F}"/>
              </a:ext>
            </a:extLst>
          </p:cNvPr>
          <p:cNvSpPr txBox="1"/>
          <p:nvPr/>
        </p:nvSpPr>
        <p:spPr>
          <a:xfrm>
            <a:off x="301163" y="-19455"/>
            <a:ext cx="68571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4000" b="1" spc="-150" dirty="0">
                <a:solidFill>
                  <a:srgbClr val="002060"/>
                </a:solidFill>
                <a:latin typeface="Abadi" panose="020B0604020104020204" pitchFamily="34" charset="0"/>
              </a:rPr>
              <a:t>Tabla de Contenidos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AC2AEAD-D57A-C30D-4B02-17DBFA945B77}"/>
              </a:ext>
            </a:extLst>
          </p:cNvPr>
          <p:cNvSpPr txBox="1"/>
          <p:nvPr/>
        </p:nvSpPr>
        <p:spPr>
          <a:xfrm>
            <a:off x="301163" y="526131"/>
            <a:ext cx="61310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b="1" spc="-150" dirty="0">
                <a:solidFill>
                  <a:srgbClr val="0070C0"/>
                </a:solidFill>
              </a:rPr>
              <a:t>Revisión Seguimiento Semanal del Proyecto GATI</a:t>
            </a:r>
          </a:p>
        </p:txBody>
      </p:sp>
      <p:sp>
        <p:nvSpPr>
          <p:cNvPr id="13" name="Hexágono 12">
            <a:extLst>
              <a:ext uri="{FF2B5EF4-FFF2-40B4-BE49-F238E27FC236}">
                <a16:creationId xmlns:a16="http://schemas.microsoft.com/office/drawing/2014/main" id="{1FF6EB8D-2825-33AB-9981-FB1BC1487C88}"/>
              </a:ext>
            </a:extLst>
          </p:cNvPr>
          <p:cNvSpPr/>
          <p:nvPr/>
        </p:nvSpPr>
        <p:spPr>
          <a:xfrm>
            <a:off x="371754" y="1095222"/>
            <a:ext cx="835152" cy="617220"/>
          </a:xfrm>
          <a:prstGeom prst="hexagon">
            <a:avLst/>
          </a:prstGeom>
          <a:gradFill flip="none" rotWithShape="1">
            <a:gsLst>
              <a:gs pos="0">
                <a:srgbClr val="002060"/>
              </a:gs>
              <a:gs pos="79000">
                <a:srgbClr val="0070C0"/>
              </a:gs>
              <a:gs pos="4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800" b="1" dirty="0"/>
              <a:t>03</a:t>
            </a:r>
            <a:endParaRPr lang="es-CL" b="1" dirty="0"/>
          </a:p>
        </p:txBody>
      </p:sp>
      <p:pic>
        <p:nvPicPr>
          <p:cNvPr id="17" name="Gráfico 16" descr="Scatterplot con relleno sólido">
            <a:extLst>
              <a:ext uri="{FF2B5EF4-FFF2-40B4-BE49-F238E27FC236}">
                <a16:creationId xmlns:a16="http://schemas.microsoft.com/office/drawing/2014/main" id="{62B577B9-BCE6-2D49-4297-F531EE0B49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65402" y="1135866"/>
            <a:ext cx="540000" cy="540000"/>
          </a:xfrm>
          <a:prstGeom prst="rect">
            <a:avLst/>
          </a:prstGeom>
        </p:spPr>
      </p:pic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E64D6E2C-E5C5-1A53-0F19-FE274098DD12}"/>
              </a:ext>
            </a:extLst>
          </p:cNvPr>
          <p:cNvCxnSpPr>
            <a:cxnSpLocks/>
          </p:cNvCxnSpPr>
          <p:nvPr/>
        </p:nvCxnSpPr>
        <p:spPr>
          <a:xfrm>
            <a:off x="1972335" y="1232511"/>
            <a:ext cx="0" cy="346710"/>
          </a:xfrm>
          <a:prstGeom prst="line">
            <a:avLst/>
          </a:prstGeom>
          <a:ln cmpd="thickThin">
            <a:solidFill>
              <a:srgbClr val="D5DB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2A4E452C-63AB-15AF-3E73-91CB1B628656}"/>
              </a:ext>
            </a:extLst>
          </p:cNvPr>
          <p:cNvCxnSpPr>
            <a:cxnSpLocks/>
          </p:cNvCxnSpPr>
          <p:nvPr/>
        </p:nvCxnSpPr>
        <p:spPr>
          <a:xfrm>
            <a:off x="4685055" y="1232511"/>
            <a:ext cx="0" cy="346710"/>
          </a:xfrm>
          <a:prstGeom prst="line">
            <a:avLst/>
          </a:prstGeom>
          <a:ln cmpd="thickThin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uadroTexto 22">
            <a:extLst>
              <a:ext uri="{FF2B5EF4-FFF2-40B4-BE49-F238E27FC236}">
                <a16:creationId xmlns:a16="http://schemas.microsoft.com/office/drawing/2014/main" id="{564B723F-FACB-0FEC-9BA7-DBCC60B568B2}"/>
              </a:ext>
            </a:extLst>
          </p:cNvPr>
          <p:cNvSpPr txBox="1"/>
          <p:nvPr/>
        </p:nvSpPr>
        <p:spPr>
          <a:xfrm>
            <a:off x="4811419" y="1152721"/>
            <a:ext cx="335400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300" dirty="0">
                <a:solidFill>
                  <a:srgbClr val="002060"/>
                </a:solidFill>
                <a:latin typeface="Aptos Narrow" panose="020B0004020202020204" pitchFamily="34" charset="0"/>
              </a:rPr>
              <a:t>Avance planificado vs. real, desviación, fase actual y próximo hito.</a:t>
            </a:r>
            <a:endParaRPr lang="es-CL" sz="1300" dirty="0">
              <a:solidFill>
                <a:srgbClr val="002060"/>
              </a:solidFill>
              <a:latin typeface="Aptos Narrow" panose="020B0004020202020204" pitchFamily="34" charset="0"/>
            </a:endParaRPr>
          </a:p>
        </p:txBody>
      </p:sp>
      <p:sp>
        <p:nvSpPr>
          <p:cNvPr id="24" name="Hexágono 23">
            <a:extLst>
              <a:ext uri="{FF2B5EF4-FFF2-40B4-BE49-F238E27FC236}">
                <a16:creationId xmlns:a16="http://schemas.microsoft.com/office/drawing/2014/main" id="{88BBCF3A-27FC-8D40-1F85-8A065343D702}"/>
              </a:ext>
            </a:extLst>
          </p:cNvPr>
          <p:cNvSpPr/>
          <p:nvPr/>
        </p:nvSpPr>
        <p:spPr>
          <a:xfrm>
            <a:off x="844698" y="2626234"/>
            <a:ext cx="7287264" cy="553845"/>
          </a:xfrm>
          <a:prstGeom prst="hexagon">
            <a:avLst/>
          </a:prstGeom>
          <a:solidFill>
            <a:srgbClr val="F0F7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lvl="1"/>
            <a:r>
              <a:rPr lang="es-CL" b="1" dirty="0">
                <a:solidFill>
                  <a:srgbClr val="002060"/>
                </a:solidFill>
                <a:latin typeface="Arial Narrow" panose="020B0606020202030204" pitchFamily="34" charset="0"/>
              </a:rPr>
              <a:t>Riesgos e Issues</a:t>
            </a:r>
          </a:p>
        </p:txBody>
      </p:sp>
      <p:sp>
        <p:nvSpPr>
          <p:cNvPr id="25" name="Hexágono 24">
            <a:extLst>
              <a:ext uri="{FF2B5EF4-FFF2-40B4-BE49-F238E27FC236}">
                <a16:creationId xmlns:a16="http://schemas.microsoft.com/office/drawing/2014/main" id="{A6624566-F187-EF63-E161-1C6E52519910}"/>
              </a:ext>
            </a:extLst>
          </p:cNvPr>
          <p:cNvSpPr/>
          <p:nvPr/>
        </p:nvSpPr>
        <p:spPr>
          <a:xfrm>
            <a:off x="371754" y="2599435"/>
            <a:ext cx="835152" cy="617220"/>
          </a:xfrm>
          <a:prstGeom prst="hexagon">
            <a:avLst/>
          </a:prstGeom>
          <a:gradFill flip="none" rotWithShape="1">
            <a:gsLst>
              <a:gs pos="0">
                <a:srgbClr val="002060"/>
              </a:gs>
              <a:gs pos="79000">
                <a:srgbClr val="0070C0"/>
              </a:gs>
              <a:gs pos="4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800" b="1" dirty="0"/>
              <a:t>05</a:t>
            </a:r>
            <a:endParaRPr lang="es-CL" b="1" dirty="0"/>
          </a:p>
        </p:txBody>
      </p: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5AC6F214-AEE5-199D-CB57-0BC907FABE6A}"/>
              </a:ext>
            </a:extLst>
          </p:cNvPr>
          <p:cNvCxnSpPr>
            <a:cxnSpLocks/>
          </p:cNvCxnSpPr>
          <p:nvPr/>
        </p:nvCxnSpPr>
        <p:spPr>
          <a:xfrm>
            <a:off x="1972335" y="2736724"/>
            <a:ext cx="0" cy="346710"/>
          </a:xfrm>
          <a:prstGeom prst="line">
            <a:avLst/>
          </a:prstGeom>
          <a:ln cmpd="thickThin">
            <a:solidFill>
              <a:srgbClr val="D5DB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02D6C82B-8765-65CD-7129-156427A0D212}"/>
              </a:ext>
            </a:extLst>
          </p:cNvPr>
          <p:cNvCxnSpPr>
            <a:cxnSpLocks/>
          </p:cNvCxnSpPr>
          <p:nvPr/>
        </p:nvCxnSpPr>
        <p:spPr>
          <a:xfrm>
            <a:off x="4685055" y="2736724"/>
            <a:ext cx="0" cy="346710"/>
          </a:xfrm>
          <a:prstGeom prst="line">
            <a:avLst/>
          </a:prstGeom>
          <a:ln cmpd="thickThin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uadroTexto 28">
            <a:extLst>
              <a:ext uri="{FF2B5EF4-FFF2-40B4-BE49-F238E27FC236}">
                <a16:creationId xmlns:a16="http://schemas.microsoft.com/office/drawing/2014/main" id="{1611BEE4-F2A8-1735-1683-75ACAD249446}"/>
              </a:ext>
            </a:extLst>
          </p:cNvPr>
          <p:cNvSpPr txBox="1"/>
          <p:nvPr/>
        </p:nvSpPr>
        <p:spPr>
          <a:xfrm>
            <a:off x="4811419" y="2656934"/>
            <a:ext cx="335400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300" dirty="0">
                <a:solidFill>
                  <a:srgbClr val="002060"/>
                </a:solidFill>
                <a:latin typeface="Aptos Narrow" panose="020B0004020202020204" pitchFamily="34" charset="0"/>
              </a:rPr>
              <a:t>Issues identificados, riesgos vigentes, impacto</a:t>
            </a:r>
          </a:p>
          <a:p>
            <a:r>
              <a:rPr lang="es-MX" sz="1300" dirty="0">
                <a:solidFill>
                  <a:srgbClr val="002060"/>
                </a:solidFill>
                <a:latin typeface="Aptos Narrow" panose="020B0004020202020204" pitchFamily="34" charset="0"/>
              </a:rPr>
              <a:t> y acciones de mitigación.</a:t>
            </a:r>
            <a:endParaRPr lang="es-CL" sz="1300" dirty="0">
              <a:solidFill>
                <a:srgbClr val="002060"/>
              </a:solidFill>
              <a:latin typeface="Aptos Narrow" panose="020B0004020202020204" pitchFamily="34" charset="0"/>
            </a:endParaRPr>
          </a:p>
        </p:txBody>
      </p:sp>
      <p:sp>
        <p:nvSpPr>
          <p:cNvPr id="30" name="Hexágono 29">
            <a:extLst>
              <a:ext uri="{FF2B5EF4-FFF2-40B4-BE49-F238E27FC236}">
                <a16:creationId xmlns:a16="http://schemas.microsoft.com/office/drawing/2014/main" id="{CE452915-8F76-9F94-BD57-69BA7D219387}"/>
              </a:ext>
            </a:extLst>
          </p:cNvPr>
          <p:cNvSpPr/>
          <p:nvPr/>
        </p:nvSpPr>
        <p:spPr>
          <a:xfrm>
            <a:off x="833601" y="4801769"/>
            <a:ext cx="7287264" cy="553845"/>
          </a:xfrm>
          <a:prstGeom prst="hexagon">
            <a:avLst/>
          </a:prstGeom>
          <a:solidFill>
            <a:srgbClr val="F0F7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lvl="1"/>
            <a:r>
              <a:rPr lang="es-CL" b="1" dirty="0">
                <a:solidFill>
                  <a:srgbClr val="002060"/>
                </a:solidFill>
                <a:latin typeface="Arial Narrow" panose="020B0606020202030204" pitchFamily="34" charset="0"/>
              </a:rPr>
              <a:t>Roadmap General del</a:t>
            </a:r>
          </a:p>
          <a:p>
            <a:pPr lvl="1"/>
            <a:r>
              <a:rPr lang="es-CL" b="1" dirty="0">
                <a:solidFill>
                  <a:srgbClr val="002060"/>
                </a:solidFill>
                <a:latin typeface="Arial Narrow" panose="020B0606020202030204" pitchFamily="34" charset="0"/>
              </a:rPr>
              <a:t>proyecto GATI</a:t>
            </a:r>
          </a:p>
        </p:txBody>
      </p:sp>
      <p:sp>
        <p:nvSpPr>
          <p:cNvPr id="31" name="Hexágono 30">
            <a:extLst>
              <a:ext uri="{FF2B5EF4-FFF2-40B4-BE49-F238E27FC236}">
                <a16:creationId xmlns:a16="http://schemas.microsoft.com/office/drawing/2014/main" id="{560DD824-7795-97DB-3E9C-F2D6ED7F340E}"/>
              </a:ext>
            </a:extLst>
          </p:cNvPr>
          <p:cNvSpPr/>
          <p:nvPr/>
        </p:nvSpPr>
        <p:spPr>
          <a:xfrm>
            <a:off x="360657" y="4774970"/>
            <a:ext cx="835152" cy="617220"/>
          </a:xfrm>
          <a:prstGeom prst="hexagon">
            <a:avLst/>
          </a:prstGeom>
          <a:gradFill flip="none" rotWithShape="1">
            <a:gsLst>
              <a:gs pos="0">
                <a:srgbClr val="0070C0"/>
              </a:gs>
              <a:gs pos="75000">
                <a:schemeClr val="accent1">
                  <a:lumMod val="60000"/>
                  <a:lumOff val="40000"/>
                </a:schemeClr>
              </a:gs>
              <a:gs pos="40000">
                <a:srgbClr val="0070C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800" b="1" dirty="0"/>
              <a:t>08</a:t>
            </a:r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977AE1E4-499E-F3D5-2246-B0B1C66CD021}"/>
              </a:ext>
            </a:extLst>
          </p:cNvPr>
          <p:cNvCxnSpPr>
            <a:cxnSpLocks/>
          </p:cNvCxnSpPr>
          <p:nvPr/>
        </p:nvCxnSpPr>
        <p:spPr>
          <a:xfrm>
            <a:off x="1961238" y="4912259"/>
            <a:ext cx="0" cy="346710"/>
          </a:xfrm>
          <a:prstGeom prst="line">
            <a:avLst/>
          </a:prstGeom>
          <a:ln cmpd="thickThin">
            <a:solidFill>
              <a:srgbClr val="D5DB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4D2FBF2A-3531-24DC-01C8-94E475CD0C3E}"/>
              </a:ext>
            </a:extLst>
          </p:cNvPr>
          <p:cNvCxnSpPr>
            <a:cxnSpLocks/>
          </p:cNvCxnSpPr>
          <p:nvPr/>
        </p:nvCxnSpPr>
        <p:spPr>
          <a:xfrm>
            <a:off x="4673958" y="4912259"/>
            <a:ext cx="0" cy="346710"/>
          </a:xfrm>
          <a:prstGeom prst="line">
            <a:avLst/>
          </a:prstGeom>
          <a:ln cmpd="thickThin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uadroTexto 34">
            <a:extLst>
              <a:ext uri="{FF2B5EF4-FFF2-40B4-BE49-F238E27FC236}">
                <a16:creationId xmlns:a16="http://schemas.microsoft.com/office/drawing/2014/main" id="{C5C5E912-84C8-3B3C-C6B2-5503DE45552E}"/>
              </a:ext>
            </a:extLst>
          </p:cNvPr>
          <p:cNvSpPr txBox="1"/>
          <p:nvPr/>
        </p:nvSpPr>
        <p:spPr>
          <a:xfrm>
            <a:off x="4800322" y="4832469"/>
            <a:ext cx="335400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300" dirty="0">
                <a:solidFill>
                  <a:srgbClr val="002060"/>
                </a:solidFill>
                <a:latin typeface="Aptos Narrow" panose="020B0004020202020204" pitchFamily="34" charset="0"/>
              </a:rPr>
              <a:t>Vision general de hitos, fases, semanas y situación actual del proyecto.</a:t>
            </a:r>
            <a:endParaRPr lang="es-CL" sz="1300" dirty="0">
              <a:solidFill>
                <a:srgbClr val="002060"/>
              </a:solidFill>
              <a:latin typeface="Aptos Narrow" panose="020B0004020202020204" pitchFamily="34" charset="0"/>
            </a:endParaRPr>
          </a:p>
        </p:txBody>
      </p:sp>
      <p:sp>
        <p:nvSpPr>
          <p:cNvPr id="36" name="Hexágono 35">
            <a:extLst>
              <a:ext uri="{FF2B5EF4-FFF2-40B4-BE49-F238E27FC236}">
                <a16:creationId xmlns:a16="http://schemas.microsoft.com/office/drawing/2014/main" id="{F78BCAA1-2181-994E-5D1B-0FD4AD7E6FA7}"/>
              </a:ext>
            </a:extLst>
          </p:cNvPr>
          <p:cNvSpPr/>
          <p:nvPr/>
        </p:nvSpPr>
        <p:spPr>
          <a:xfrm>
            <a:off x="858032" y="1886147"/>
            <a:ext cx="7287264" cy="553845"/>
          </a:xfrm>
          <a:prstGeom prst="hexagon">
            <a:avLst/>
          </a:prstGeom>
          <a:solidFill>
            <a:srgbClr val="F0F7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lvl="1"/>
            <a:r>
              <a:rPr lang="es-CL" b="1" dirty="0">
                <a:solidFill>
                  <a:srgbClr val="002060"/>
                </a:solidFill>
                <a:latin typeface="Arial Narrow" panose="020B0606020202030204" pitchFamily="34" charset="0"/>
              </a:rPr>
              <a:t>Compromisos de la </a:t>
            </a:r>
          </a:p>
          <a:p>
            <a:pPr lvl="1"/>
            <a:r>
              <a:rPr lang="es-CL" b="1" dirty="0">
                <a:solidFill>
                  <a:srgbClr val="002060"/>
                </a:solidFill>
                <a:latin typeface="Arial Narrow" panose="020B0606020202030204" pitchFamily="34" charset="0"/>
              </a:rPr>
              <a:t>semana anterior</a:t>
            </a:r>
          </a:p>
        </p:txBody>
      </p: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DCEB9B1A-B726-D335-C1E2-922C88825758}"/>
              </a:ext>
            </a:extLst>
          </p:cNvPr>
          <p:cNvCxnSpPr>
            <a:cxnSpLocks/>
          </p:cNvCxnSpPr>
          <p:nvPr/>
        </p:nvCxnSpPr>
        <p:spPr>
          <a:xfrm>
            <a:off x="1985669" y="1996637"/>
            <a:ext cx="0" cy="346710"/>
          </a:xfrm>
          <a:prstGeom prst="line">
            <a:avLst/>
          </a:prstGeom>
          <a:ln cmpd="thickThin">
            <a:solidFill>
              <a:srgbClr val="D5DB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CB614484-380B-7167-3634-7753E9C65FF6}"/>
              </a:ext>
            </a:extLst>
          </p:cNvPr>
          <p:cNvCxnSpPr>
            <a:cxnSpLocks/>
          </p:cNvCxnSpPr>
          <p:nvPr/>
        </p:nvCxnSpPr>
        <p:spPr>
          <a:xfrm>
            <a:off x="4698389" y="1996637"/>
            <a:ext cx="0" cy="346710"/>
          </a:xfrm>
          <a:prstGeom prst="line">
            <a:avLst/>
          </a:prstGeom>
          <a:ln cmpd="thickThin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CuadroTexto 40">
            <a:extLst>
              <a:ext uri="{FF2B5EF4-FFF2-40B4-BE49-F238E27FC236}">
                <a16:creationId xmlns:a16="http://schemas.microsoft.com/office/drawing/2014/main" id="{8B2E9398-83B1-4D48-8F1A-CBD084C69275}"/>
              </a:ext>
            </a:extLst>
          </p:cNvPr>
          <p:cNvSpPr txBox="1"/>
          <p:nvPr/>
        </p:nvSpPr>
        <p:spPr>
          <a:xfrm>
            <a:off x="4824753" y="1916847"/>
            <a:ext cx="335400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300" dirty="0">
                <a:solidFill>
                  <a:srgbClr val="002060"/>
                </a:solidFill>
                <a:latin typeface="Aptos Narrow" panose="020B0004020202020204" pitchFamily="34" charset="0"/>
              </a:rPr>
              <a:t>Revisión del cumplimiento de los compromisos y resultados alcanzados.</a:t>
            </a:r>
            <a:endParaRPr lang="es-CL" sz="1300" dirty="0">
              <a:solidFill>
                <a:srgbClr val="002060"/>
              </a:solidFill>
              <a:latin typeface="Aptos Narrow" panose="020B0004020202020204" pitchFamily="34" charset="0"/>
            </a:endParaRPr>
          </a:p>
        </p:txBody>
      </p:sp>
      <p:sp>
        <p:nvSpPr>
          <p:cNvPr id="15" name="Hexágono 14">
            <a:extLst>
              <a:ext uri="{FF2B5EF4-FFF2-40B4-BE49-F238E27FC236}">
                <a16:creationId xmlns:a16="http://schemas.microsoft.com/office/drawing/2014/main" id="{CEF05639-1AE7-8ADD-10E3-6EDDD22C864A}"/>
              </a:ext>
            </a:extLst>
          </p:cNvPr>
          <p:cNvSpPr/>
          <p:nvPr/>
        </p:nvSpPr>
        <p:spPr>
          <a:xfrm>
            <a:off x="371754" y="1853636"/>
            <a:ext cx="835152" cy="603726"/>
          </a:xfrm>
          <a:prstGeom prst="hexagon">
            <a:avLst/>
          </a:prstGeom>
          <a:gradFill flip="none" rotWithShape="1">
            <a:gsLst>
              <a:gs pos="0">
                <a:srgbClr val="0070C0"/>
              </a:gs>
              <a:gs pos="75000">
                <a:schemeClr val="accent1">
                  <a:lumMod val="60000"/>
                  <a:lumOff val="40000"/>
                </a:schemeClr>
              </a:gs>
              <a:gs pos="40000">
                <a:srgbClr val="0070C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800" b="1" dirty="0"/>
              <a:t>04</a:t>
            </a:r>
            <a:endParaRPr lang="es-CL" b="1" dirty="0"/>
          </a:p>
        </p:txBody>
      </p:sp>
      <p:sp>
        <p:nvSpPr>
          <p:cNvPr id="42" name="Hexágono 41">
            <a:extLst>
              <a:ext uri="{FF2B5EF4-FFF2-40B4-BE49-F238E27FC236}">
                <a16:creationId xmlns:a16="http://schemas.microsoft.com/office/drawing/2014/main" id="{2DDF4E91-3610-AD9E-F8CD-0F6CA9EE1BF6}"/>
              </a:ext>
            </a:extLst>
          </p:cNvPr>
          <p:cNvSpPr/>
          <p:nvPr/>
        </p:nvSpPr>
        <p:spPr>
          <a:xfrm>
            <a:off x="866450" y="4051738"/>
            <a:ext cx="7287264" cy="553845"/>
          </a:xfrm>
          <a:prstGeom prst="hexagon">
            <a:avLst/>
          </a:prstGeom>
          <a:solidFill>
            <a:srgbClr val="F0F7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lvl="1"/>
            <a:r>
              <a:rPr lang="es-CL" b="1" dirty="0">
                <a:solidFill>
                  <a:srgbClr val="002060"/>
                </a:solidFill>
                <a:latin typeface="Arial Narrow" panose="020B0606020202030204" pitchFamily="34" charset="0"/>
              </a:rPr>
              <a:t>Compromisos de la </a:t>
            </a:r>
          </a:p>
          <a:p>
            <a:pPr lvl="1"/>
            <a:r>
              <a:rPr lang="es-CL" b="1" dirty="0">
                <a:solidFill>
                  <a:srgbClr val="002060"/>
                </a:solidFill>
                <a:latin typeface="Arial Narrow" panose="020B0606020202030204" pitchFamily="34" charset="0"/>
              </a:rPr>
              <a:t>semana entrante</a:t>
            </a:r>
          </a:p>
        </p:txBody>
      </p: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9C60B717-79BD-4137-56A2-7D6F2F1AD1CC}"/>
              </a:ext>
            </a:extLst>
          </p:cNvPr>
          <p:cNvCxnSpPr>
            <a:cxnSpLocks/>
          </p:cNvCxnSpPr>
          <p:nvPr/>
        </p:nvCxnSpPr>
        <p:spPr>
          <a:xfrm>
            <a:off x="1994087" y="4162228"/>
            <a:ext cx="0" cy="346710"/>
          </a:xfrm>
          <a:prstGeom prst="line">
            <a:avLst/>
          </a:prstGeom>
          <a:ln cmpd="thickThin">
            <a:solidFill>
              <a:srgbClr val="D5DB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B65F768E-5AB3-9FE6-DEBF-B2B91D82513C}"/>
              </a:ext>
            </a:extLst>
          </p:cNvPr>
          <p:cNvCxnSpPr>
            <a:cxnSpLocks/>
          </p:cNvCxnSpPr>
          <p:nvPr/>
        </p:nvCxnSpPr>
        <p:spPr>
          <a:xfrm>
            <a:off x="4706807" y="4162228"/>
            <a:ext cx="0" cy="346710"/>
          </a:xfrm>
          <a:prstGeom prst="line">
            <a:avLst/>
          </a:prstGeom>
          <a:ln cmpd="thickThin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CuadroTexto 45">
            <a:extLst>
              <a:ext uri="{FF2B5EF4-FFF2-40B4-BE49-F238E27FC236}">
                <a16:creationId xmlns:a16="http://schemas.microsoft.com/office/drawing/2014/main" id="{BC010190-C0C7-7644-4A50-17448387DA4B}"/>
              </a:ext>
            </a:extLst>
          </p:cNvPr>
          <p:cNvSpPr txBox="1"/>
          <p:nvPr/>
        </p:nvSpPr>
        <p:spPr>
          <a:xfrm>
            <a:off x="4833171" y="4082438"/>
            <a:ext cx="335400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300" dirty="0">
                <a:solidFill>
                  <a:srgbClr val="002060"/>
                </a:solidFill>
                <a:latin typeface="Aptos Narrow" panose="020B0004020202020204" pitchFamily="34" charset="0"/>
              </a:rPr>
              <a:t>Actividades prioritarias, responsables, y fechas para la siguiente semana.</a:t>
            </a:r>
            <a:endParaRPr lang="es-CL" sz="1300" dirty="0">
              <a:solidFill>
                <a:srgbClr val="002060"/>
              </a:solidFill>
              <a:latin typeface="Aptos Narrow" panose="020B0004020202020204" pitchFamily="34" charset="0"/>
            </a:endParaRPr>
          </a:p>
        </p:txBody>
      </p:sp>
      <p:sp>
        <p:nvSpPr>
          <p:cNvPr id="47" name="Hexágono 46">
            <a:extLst>
              <a:ext uri="{FF2B5EF4-FFF2-40B4-BE49-F238E27FC236}">
                <a16:creationId xmlns:a16="http://schemas.microsoft.com/office/drawing/2014/main" id="{D0F2185C-6671-3E58-DCCD-DC845C5CD58C}"/>
              </a:ext>
            </a:extLst>
          </p:cNvPr>
          <p:cNvSpPr/>
          <p:nvPr/>
        </p:nvSpPr>
        <p:spPr>
          <a:xfrm>
            <a:off x="380172" y="4019227"/>
            <a:ext cx="835152" cy="603726"/>
          </a:xfrm>
          <a:prstGeom prst="hexagon">
            <a:avLst/>
          </a:prstGeom>
          <a:gradFill flip="none" rotWithShape="1">
            <a:gsLst>
              <a:gs pos="0">
                <a:srgbClr val="002060"/>
              </a:gs>
              <a:gs pos="79000">
                <a:srgbClr val="0070C0"/>
              </a:gs>
              <a:gs pos="4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800" b="1" dirty="0"/>
              <a:t>07</a:t>
            </a:r>
          </a:p>
        </p:txBody>
      </p:sp>
      <p:sp>
        <p:nvSpPr>
          <p:cNvPr id="48" name="Hexágono 47">
            <a:extLst>
              <a:ext uri="{FF2B5EF4-FFF2-40B4-BE49-F238E27FC236}">
                <a16:creationId xmlns:a16="http://schemas.microsoft.com/office/drawing/2014/main" id="{E6488C27-C80D-9057-BC18-8D80900F736C}"/>
              </a:ext>
            </a:extLst>
          </p:cNvPr>
          <p:cNvSpPr/>
          <p:nvPr/>
        </p:nvSpPr>
        <p:spPr>
          <a:xfrm>
            <a:off x="833601" y="5551614"/>
            <a:ext cx="7287264" cy="553845"/>
          </a:xfrm>
          <a:prstGeom prst="hexagon">
            <a:avLst/>
          </a:prstGeom>
          <a:solidFill>
            <a:srgbClr val="F0F7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lvl="1"/>
            <a:r>
              <a:rPr lang="es-CL" b="1" dirty="0">
                <a:solidFill>
                  <a:srgbClr val="002060"/>
                </a:solidFill>
                <a:latin typeface="Arial Narrow" panose="020B0606020202030204" pitchFamily="34" charset="0"/>
              </a:rPr>
              <a:t>Conclusión Semanal</a:t>
            </a:r>
          </a:p>
        </p:txBody>
      </p: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A3CE270E-E529-7175-657C-DB92F4B03A52}"/>
              </a:ext>
            </a:extLst>
          </p:cNvPr>
          <p:cNvCxnSpPr>
            <a:cxnSpLocks/>
          </p:cNvCxnSpPr>
          <p:nvPr/>
        </p:nvCxnSpPr>
        <p:spPr>
          <a:xfrm>
            <a:off x="1961238" y="5662104"/>
            <a:ext cx="0" cy="346710"/>
          </a:xfrm>
          <a:prstGeom prst="line">
            <a:avLst/>
          </a:prstGeom>
          <a:ln cmpd="thickThin">
            <a:solidFill>
              <a:srgbClr val="D5DB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cto 50">
            <a:extLst>
              <a:ext uri="{FF2B5EF4-FFF2-40B4-BE49-F238E27FC236}">
                <a16:creationId xmlns:a16="http://schemas.microsoft.com/office/drawing/2014/main" id="{DCE8880F-B4B1-0BF2-27EA-CA6DC432B4BA}"/>
              </a:ext>
            </a:extLst>
          </p:cNvPr>
          <p:cNvCxnSpPr>
            <a:cxnSpLocks/>
          </p:cNvCxnSpPr>
          <p:nvPr/>
        </p:nvCxnSpPr>
        <p:spPr>
          <a:xfrm>
            <a:off x="4673958" y="5662104"/>
            <a:ext cx="0" cy="346710"/>
          </a:xfrm>
          <a:prstGeom prst="line">
            <a:avLst/>
          </a:prstGeom>
          <a:ln cmpd="thickThin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CuadroTexto 51">
            <a:extLst>
              <a:ext uri="{FF2B5EF4-FFF2-40B4-BE49-F238E27FC236}">
                <a16:creationId xmlns:a16="http://schemas.microsoft.com/office/drawing/2014/main" id="{6EF0AD59-A9EB-9589-C497-90628B152325}"/>
              </a:ext>
            </a:extLst>
          </p:cNvPr>
          <p:cNvSpPr txBox="1"/>
          <p:nvPr/>
        </p:nvSpPr>
        <p:spPr>
          <a:xfrm>
            <a:off x="4800322" y="5582314"/>
            <a:ext cx="335400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300" dirty="0">
                <a:solidFill>
                  <a:srgbClr val="002060"/>
                </a:solidFill>
                <a:latin typeface="Aptos Narrow" panose="020B0004020202020204" pitchFamily="34" charset="0"/>
              </a:rPr>
              <a:t>Síntesis del estado del proyecto y próximos pasos.</a:t>
            </a:r>
            <a:endParaRPr lang="es-CL" sz="1300" dirty="0">
              <a:solidFill>
                <a:srgbClr val="002060"/>
              </a:solidFill>
              <a:latin typeface="Aptos Narrow" panose="020B0004020202020204" pitchFamily="34" charset="0"/>
            </a:endParaRPr>
          </a:p>
        </p:txBody>
      </p:sp>
      <p:sp>
        <p:nvSpPr>
          <p:cNvPr id="53" name="Hexágono 52">
            <a:extLst>
              <a:ext uri="{FF2B5EF4-FFF2-40B4-BE49-F238E27FC236}">
                <a16:creationId xmlns:a16="http://schemas.microsoft.com/office/drawing/2014/main" id="{F4DFA968-3236-A1B0-8BDE-BE301759A196}"/>
              </a:ext>
            </a:extLst>
          </p:cNvPr>
          <p:cNvSpPr/>
          <p:nvPr/>
        </p:nvSpPr>
        <p:spPr>
          <a:xfrm>
            <a:off x="347323" y="5519103"/>
            <a:ext cx="835152" cy="603726"/>
          </a:xfrm>
          <a:prstGeom prst="hexagon">
            <a:avLst/>
          </a:prstGeom>
          <a:gradFill flip="none" rotWithShape="1">
            <a:gsLst>
              <a:gs pos="0">
                <a:srgbClr val="002060"/>
              </a:gs>
              <a:gs pos="79000">
                <a:srgbClr val="0070C0"/>
              </a:gs>
              <a:gs pos="41000">
                <a:srgbClr val="00206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800" b="1" dirty="0"/>
              <a:t>10</a:t>
            </a:r>
          </a:p>
        </p:txBody>
      </p:sp>
      <p:pic>
        <p:nvPicPr>
          <p:cNvPr id="55" name="Gráfico 54" descr="Bullseye con relleno sólido">
            <a:extLst>
              <a:ext uri="{FF2B5EF4-FFF2-40B4-BE49-F238E27FC236}">
                <a16:creationId xmlns:a16="http://schemas.microsoft.com/office/drawing/2014/main" id="{7147941E-CB83-E24D-0CDF-AA90AB0600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55545" y="5580009"/>
            <a:ext cx="504000" cy="504000"/>
          </a:xfrm>
          <a:prstGeom prst="rect">
            <a:avLst/>
          </a:prstGeom>
        </p:spPr>
      </p:pic>
      <p:pic>
        <p:nvPicPr>
          <p:cNvPr id="57" name="Gráfico 56" descr="Map with pin con relleno sólido">
            <a:extLst>
              <a:ext uri="{FF2B5EF4-FFF2-40B4-BE49-F238E27FC236}">
                <a16:creationId xmlns:a16="http://schemas.microsoft.com/office/drawing/2014/main" id="{FE56C2E4-821C-13ED-8D52-4A2C4E7751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53733" y="4790690"/>
            <a:ext cx="527237" cy="576000"/>
          </a:xfrm>
          <a:prstGeom prst="rect">
            <a:avLst/>
          </a:prstGeom>
        </p:spPr>
      </p:pic>
      <p:pic>
        <p:nvPicPr>
          <p:cNvPr id="59" name="Gráfico 58" descr="Daily calendar con relleno sólido">
            <a:extLst>
              <a:ext uri="{FF2B5EF4-FFF2-40B4-BE49-F238E27FC236}">
                <a16:creationId xmlns:a16="http://schemas.microsoft.com/office/drawing/2014/main" id="{2383752D-6272-1B7C-AFFC-16A6F27C9D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28428" y="4036812"/>
            <a:ext cx="612000" cy="612000"/>
          </a:xfrm>
          <a:prstGeom prst="rect">
            <a:avLst/>
          </a:prstGeom>
        </p:spPr>
      </p:pic>
      <p:pic>
        <p:nvPicPr>
          <p:cNvPr id="63" name="Gráfico 62" descr="Warning con relleno sólido">
            <a:extLst>
              <a:ext uri="{FF2B5EF4-FFF2-40B4-BE49-F238E27FC236}">
                <a16:creationId xmlns:a16="http://schemas.microsoft.com/office/drawing/2014/main" id="{10ABE4AC-088D-6EFC-2B21-83D48C1A50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64831" y="2597731"/>
            <a:ext cx="553845" cy="553845"/>
          </a:xfrm>
          <a:prstGeom prst="rect">
            <a:avLst/>
          </a:prstGeom>
        </p:spPr>
      </p:pic>
      <p:pic>
        <p:nvPicPr>
          <p:cNvPr id="65" name="Gráfico 64" descr="Clipboard Checked con relleno sólido">
            <a:extLst>
              <a:ext uri="{FF2B5EF4-FFF2-40B4-BE49-F238E27FC236}">
                <a16:creationId xmlns:a16="http://schemas.microsoft.com/office/drawing/2014/main" id="{DED8D6CA-161F-DF6B-E815-D76F699985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11273" y="1885352"/>
            <a:ext cx="576000" cy="576000"/>
          </a:xfrm>
          <a:prstGeom prst="rect">
            <a:avLst/>
          </a:prstGeom>
        </p:spPr>
      </p:pic>
      <p:pic>
        <p:nvPicPr>
          <p:cNvPr id="61" name="Gráfico 60" descr="Badge Tick1 con relleno sólido">
            <a:extLst>
              <a:ext uri="{FF2B5EF4-FFF2-40B4-BE49-F238E27FC236}">
                <a16:creationId xmlns:a16="http://schemas.microsoft.com/office/drawing/2014/main" id="{D1A673A2-77F7-E174-F72D-76C696949D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22490" y="2062762"/>
            <a:ext cx="432000" cy="432000"/>
          </a:xfrm>
          <a:prstGeom prst="rect">
            <a:avLst/>
          </a:prstGeom>
        </p:spPr>
      </p:pic>
      <p:grpSp>
        <p:nvGrpSpPr>
          <p:cNvPr id="66" name="Grupo 65">
            <a:extLst>
              <a:ext uri="{FF2B5EF4-FFF2-40B4-BE49-F238E27FC236}">
                <a16:creationId xmlns:a16="http://schemas.microsoft.com/office/drawing/2014/main" id="{6F977F1A-5650-E59C-9167-A2E9AE6190CF}"/>
              </a:ext>
            </a:extLst>
          </p:cNvPr>
          <p:cNvGrpSpPr/>
          <p:nvPr/>
        </p:nvGrpSpPr>
        <p:grpSpPr>
          <a:xfrm>
            <a:off x="360553" y="6322468"/>
            <a:ext cx="4541575" cy="479526"/>
            <a:chOff x="362021" y="6264961"/>
            <a:chExt cx="4541575" cy="479526"/>
          </a:xfrm>
        </p:grpSpPr>
        <p:pic>
          <p:nvPicPr>
            <p:cNvPr id="67" name="Imagen 66">
              <a:extLst>
                <a:ext uri="{FF2B5EF4-FFF2-40B4-BE49-F238E27FC236}">
                  <a16:creationId xmlns:a16="http://schemas.microsoft.com/office/drawing/2014/main" id="{4EFFAE70-047B-3DA5-4D71-7475BFA39EB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colorTemperature colorTemp="47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62021" y="6264961"/>
              <a:ext cx="479526" cy="479526"/>
            </a:xfrm>
            <a:prstGeom prst="rect">
              <a:avLst/>
            </a:prstGeom>
          </p:spPr>
        </p:pic>
        <p:sp>
          <p:nvSpPr>
            <p:cNvPr id="68" name="CuadroTexto 67">
              <a:extLst>
                <a:ext uri="{FF2B5EF4-FFF2-40B4-BE49-F238E27FC236}">
                  <a16:creationId xmlns:a16="http://schemas.microsoft.com/office/drawing/2014/main" id="{A6869538-B8EF-FFEA-6A64-CE19F764E066}"/>
                </a:ext>
              </a:extLst>
            </p:cNvPr>
            <p:cNvSpPr txBox="1"/>
            <p:nvPr/>
          </p:nvSpPr>
          <p:spPr>
            <a:xfrm>
              <a:off x="418502" y="6330118"/>
              <a:ext cx="4058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600" b="1" dirty="0">
                  <a:solidFill>
                    <a:srgbClr val="0A3E6F"/>
                  </a:solidFill>
                  <a:latin typeface="Aptos Display" panose="020B0004020202020204" pitchFamily="34" charset="0"/>
                  <a:ea typeface="ADLaM Display" panose="02010000000000000000" pitchFamily="2" charset="0"/>
                  <a:cs typeface="Aharoni" panose="020F0502020204030204" pitchFamily="2" charset="-79"/>
                </a:rPr>
                <a:t>02</a:t>
              </a:r>
            </a:p>
          </p:txBody>
        </p:sp>
        <p:sp>
          <p:nvSpPr>
            <p:cNvPr id="69" name="CuadroTexto 68">
              <a:extLst>
                <a:ext uri="{FF2B5EF4-FFF2-40B4-BE49-F238E27FC236}">
                  <a16:creationId xmlns:a16="http://schemas.microsoft.com/office/drawing/2014/main" id="{5045A25E-E9DD-00F1-6D86-F0D949950D37}"/>
                </a:ext>
              </a:extLst>
            </p:cNvPr>
            <p:cNvSpPr txBox="1"/>
            <p:nvPr/>
          </p:nvSpPr>
          <p:spPr>
            <a:xfrm>
              <a:off x="841547" y="6372387"/>
              <a:ext cx="24956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200" b="1" dirty="0">
                  <a:solidFill>
                    <a:srgbClr val="002060"/>
                  </a:solidFill>
                  <a:latin typeface="Arial Narrow" panose="020B0606020202030204" pitchFamily="34" charset="0"/>
                </a:rPr>
                <a:t>CAPSTONE · Ingeniería en Informática</a:t>
              </a:r>
            </a:p>
          </p:txBody>
        </p:sp>
        <p:cxnSp>
          <p:nvCxnSpPr>
            <p:cNvPr id="70" name="Conector recto 69">
              <a:extLst>
                <a:ext uri="{FF2B5EF4-FFF2-40B4-BE49-F238E27FC236}">
                  <a16:creationId xmlns:a16="http://schemas.microsoft.com/office/drawing/2014/main" id="{FFB8A5B4-01C5-768B-0DA2-EF3CC5910B8D}"/>
                </a:ext>
              </a:extLst>
            </p:cNvPr>
            <p:cNvCxnSpPr/>
            <p:nvPr/>
          </p:nvCxnSpPr>
          <p:spPr>
            <a:xfrm>
              <a:off x="3326720" y="6398507"/>
              <a:ext cx="0" cy="224758"/>
            </a:xfrm>
            <a:prstGeom prst="line">
              <a:avLst/>
            </a:prstGeom>
            <a:ln>
              <a:solidFill>
                <a:srgbClr val="7890B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71" name="Imagen 70">
              <a:extLst>
                <a:ext uri="{FF2B5EF4-FFF2-40B4-BE49-F238E27FC236}">
                  <a16:creationId xmlns:a16="http://schemas.microsoft.com/office/drawing/2014/main" id="{6737C80C-4146-8C04-BB22-F1BFE7D7071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66930" y="6296972"/>
              <a:ext cx="1436666" cy="324000"/>
            </a:xfrm>
            <a:prstGeom prst="rect">
              <a:avLst/>
            </a:prstGeom>
          </p:spPr>
        </p:pic>
      </p:grpSp>
      <p:sp>
        <p:nvSpPr>
          <p:cNvPr id="74" name="CuadroTexto 73">
            <a:extLst>
              <a:ext uri="{FF2B5EF4-FFF2-40B4-BE49-F238E27FC236}">
                <a16:creationId xmlns:a16="http://schemas.microsoft.com/office/drawing/2014/main" id="{91DD7D73-8E73-8D06-5456-DC1B83D571A4}"/>
              </a:ext>
            </a:extLst>
          </p:cNvPr>
          <p:cNvSpPr txBox="1"/>
          <p:nvPr/>
        </p:nvSpPr>
        <p:spPr>
          <a:xfrm>
            <a:off x="8984400" y="3205394"/>
            <a:ext cx="2906437" cy="1053009"/>
          </a:xfrm>
          <a:prstGeom prst="rect">
            <a:avLst/>
          </a:prstGeom>
          <a:noFill/>
          <a:effectLst>
            <a:outerShdw blurRad="50800" dist="50800" algn="ctr" rotWithShape="0">
              <a:srgbClr val="000000">
                <a:alpha val="43137"/>
              </a:srgbClr>
            </a:outerShdw>
          </a:effectLst>
          <a:scene3d>
            <a:camera prst="orthographicFront">
              <a:rot lat="1800000" lon="0" rev="0"/>
            </a:camera>
            <a:lightRig rig="threePt" dir="t"/>
          </a:scene3d>
        </p:spPr>
        <p:txBody>
          <a:bodyPr wrap="square" rtlCol="0">
            <a:noAutofit/>
          </a:bodyPr>
          <a:lstStyle/>
          <a:p>
            <a:r>
              <a:rPr lang="es-CL" sz="7500" b="1" dirty="0">
                <a:solidFill>
                  <a:schemeClr val="bg1"/>
                </a:solidFill>
                <a:latin typeface="Arial Black" panose="020B0A04020102020204" pitchFamily="34" charset="0"/>
                <a:cs typeface="Aldhabi" panose="020F0502020204030204" pitchFamily="2" charset="-78"/>
              </a:rPr>
              <a:t>GATI</a:t>
            </a:r>
          </a:p>
        </p:txBody>
      </p:sp>
      <p:sp>
        <p:nvSpPr>
          <p:cNvPr id="162" name="Rectángulo 161">
            <a:extLst>
              <a:ext uri="{FF2B5EF4-FFF2-40B4-BE49-F238E27FC236}">
                <a16:creationId xmlns:a16="http://schemas.microsoft.com/office/drawing/2014/main" id="{A9CF7393-E926-CDD5-E64A-4BE3D651B2E2}"/>
              </a:ext>
            </a:extLst>
          </p:cNvPr>
          <p:cNvSpPr/>
          <p:nvPr/>
        </p:nvSpPr>
        <p:spPr>
          <a:xfrm>
            <a:off x="10341160" y="3312005"/>
            <a:ext cx="65297" cy="84927"/>
          </a:xfrm>
          <a:prstGeom prst="rect">
            <a:avLst/>
          </a:prstGeom>
          <a:solidFill>
            <a:srgbClr val="00B0F0"/>
          </a:solidFill>
          <a:ln w="10815" cap="flat">
            <a:noFill/>
            <a:prstDash val="solid"/>
            <a:miter/>
          </a:ln>
        </p:spPr>
        <p:txBody>
          <a:bodyPr/>
          <a:lstStyle/>
          <a:p>
            <a:endParaRPr lang="es-CL"/>
          </a:p>
        </p:txBody>
      </p:sp>
      <p:sp>
        <p:nvSpPr>
          <p:cNvPr id="166" name="Forma libre: forma 165">
            <a:extLst>
              <a:ext uri="{FF2B5EF4-FFF2-40B4-BE49-F238E27FC236}">
                <a16:creationId xmlns:a16="http://schemas.microsoft.com/office/drawing/2014/main" id="{989F7698-6453-A7F3-2BF7-BDF78D1C774E}"/>
              </a:ext>
            </a:extLst>
          </p:cNvPr>
          <p:cNvSpPr/>
          <p:nvPr/>
        </p:nvSpPr>
        <p:spPr>
          <a:xfrm>
            <a:off x="9960773" y="3142149"/>
            <a:ext cx="761290" cy="169855"/>
          </a:xfrm>
          <a:custGeom>
            <a:avLst/>
            <a:gdLst>
              <a:gd name="csX0" fmla="*/ 657548 w 696508"/>
              <a:gd name="csY0" fmla="*/ 0 h 169855"/>
              <a:gd name="csX1" fmla="*/ 38961 w 696508"/>
              <a:gd name="csY1" fmla="*/ 0 h 169855"/>
              <a:gd name="csX2" fmla="*/ 0 w 696508"/>
              <a:gd name="csY2" fmla="*/ 38005 h 169855"/>
              <a:gd name="csX3" fmla="*/ 0 w 696508"/>
              <a:gd name="csY3" fmla="*/ 131850 h 169855"/>
              <a:gd name="csX4" fmla="*/ 38961 w 696508"/>
              <a:gd name="csY4" fmla="*/ 169856 h 169855"/>
              <a:gd name="csX5" fmla="*/ 657548 w 696508"/>
              <a:gd name="csY5" fmla="*/ 169856 h 169855"/>
              <a:gd name="csX6" fmla="*/ 696509 w 696508"/>
              <a:gd name="csY6" fmla="*/ 131850 h 169855"/>
              <a:gd name="csX7" fmla="*/ 696509 w 696508"/>
              <a:gd name="csY7" fmla="*/ 38005 h 169855"/>
              <a:gd name="csX8" fmla="*/ 657548 w 696508"/>
              <a:gd name="csY8" fmla="*/ 0 h 169855"/>
              <a:gd name="csX9" fmla="*/ 108829 w 696508"/>
              <a:gd name="csY9" fmla="*/ 106160 h 169855"/>
              <a:gd name="csX10" fmla="*/ 87064 w 696508"/>
              <a:gd name="csY10" fmla="*/ 84928 h 169855"/>
              <a:gd name="csX11" fmla="*/ 108829 w 696508"/>
              <a:gd name="csY11" fmla="*/ 63696 h 169855"/>
              <a:gd name="csX12" fmla="*/ 130595 w 696508"/>
              <a:gd name="csY12" fmla="*/ 84928 h 169855"/>
              <a:gd name="csX13" fmla="*/ 108829 w 696508"/>
              <a:gd name="csY13" fmla="*/ 106160 h 169855"/>
              <a:gd name="csX14" fmla="*/ 217659 w 696508"/>
              <a:gd name="csY14" fmla="*/ 106160 h 169855"/>
              <a:gd name="csX15" fmla="*/ 195893 w 696508"/>
              <a:gd name="csY15" fmla="*/ 84928 h 169855"/>
              <a:gd name="csX16" fmla="*/ 217659 w 696508"/>
              <a:gd name="csY16" fmla="*/ 63696 h 169855"/>
              <a:gd name="csX17" fmla="*/ 239425 w 696508"/>
              <a:gd name="csY17" fmla="*/ 84928 h 169855"/>
              <a:gd name="csX18" fmla="*/ 217659 w 696508"/>
              <a:gd name="csY18" fmla="*/ 106160 h 169855"/>
              <a:gd name="csX19" fmla="*/ 326488 w 696508"/>
              <a:gd name="csY19" fmla="*/ 106160 h 169855"/>
              <a:gd name="csX20" fmla="*/ 304723 w 696508"/>
              <a:gd name="csY20" fmla="*/ 84928 h 169855"/>
              <a:gd name="csX21" fmla="*/ 326488 w 696508"/>
              <a:gd name="csY21" fmla="*/ 63696 h 169855"/>
              <a:gd name="csX22" fmla="*/ 348254 w 696508"/>
              <a:gd name="csY22" fmla="*/ 84928 h 169855"/>
              <a:gd name="csX23" fmla="*/ 326488 w 696508"/>
              <a:gd name="csY23" fmla="*/ 106160 h 1698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696508" h="169855">
                <a:moveTo>
                  <a:pt x="657548" y="0"/>
                </a:moveTo>
                <a:lnTo>
                  <a:pt x="38961" y="0"/>
                </a:lnTo>
                <a:cubicBezTo>
                  <a:pt x="17443" y="0"/>
                  <a:pt x="0" y="17015"/>
                  <a:pt x="0" y="38005"/>
                </a:cubicBezTo>
                <a:lnTo>
                  <a:pt x="0" y="131850"/>
                </a:lnTo>
                <a:cubicBezTo>
                  <a:pt x="0" y="152840"/>
                  <a:pt x="17443" y="169856"/>
                  <a:pt x="38961" y="169856"/>
                </a:cubicBezTo>
                <a:lnTo>
                  <a:pt x="657548" y="169856"/>
                </a:lnTo>
                <a:cubicBezTo>
                  <a:pt x="679066" y="169856"/>
                  <a:pt x="696509" y="152840"/>
                  <a:pt x="696509" y="131850"/>
                </a:cubicBezTo>
                <a:lnTo>
                  <a:pt x="696509" y="38005"/>
                </a:lnTo>
                <a:cubicBezTo>
                  <a:pt x="696509" y="17015"/>
                  <a:pt x="679066" y="0"/>
                  <a:pt x="657548" y="0"/>
                </a:cubicBezTo>
                <a:close/>
                <a:moveTo>
                  <a:pt x="108829" y="106160"/>
                </a:moveTo>
                <a:cubicBezTo>
                  <a:pt x="96808" y="106160"/>
                  <a:pt x="87064" y="96654"/>
                  <a:pt x="87064" y="84928"/>
                </a:cubicBezTo>
                <a:cubicBezTo>
                  <a:pt x="87064" y="73201"/>
                  <a:pt x="96808" y="63696"/>
                  <a:pt x="108829" y="63696"/>
                </a:cubicBezTo>
                <a:cubicBezTo>
                  <a:pt x="120851" y="63696"/>
                  <a:pt x="130595" y="73201"/>
                  <a:pt x="130595" y="84928"/>
                </a:cubicBezTo>
                <a:cubicBezTo>
                  <a:pt x="130595" y="96654"/>
                  <a:pt x="120851" y="106160"/>
                  <a:pt x="108829" y="106160"/>
                </a:cubicBezTo>
                <a:close/>
                <a:moveTo>
                  <a:pt x="217659" y="106160"/>
                </a:moveTo>
                <a:cubicBezTo>
                  <a:pt x="205638" y="106160"/>
                  <a:pt x="195893" y="96654"/>
                  <a:pt x="195893" y="84928"/>
                </a:cubicBezTo>
                <a:cubicBezTo>
                  <a:pt x="195893" y="73201"/>
                  <a:pt x="205638" y="63696"/>
                  <a:pt x="217659" y="63696"/>
                </a:cubicBezTo>
                <a:cubicBezTo>
                  <a:pt x="229680" y="63696"/>
                  <a:pt x="239425" y="73201"/>
                  <a:pt x="239425" y="84928"/>
                </a:cubicBezTo>
                <a:cubicBezTo>
                  <a:pt x="239425" y="96654"/>
                  <a:pt x="229680" y="106160"/>
                  <a:pt x="217659" y="106160"/>
                </a:cubicBezTo>
                <a:close/>
                <a:moveTo>
                  <a:pt x="326488" y="106160"/>
                </a:moveTo>
                <a:cubicBezTo>
                  <a:pt x="314467" y="106160"/>
                  <a:pt x="304723" y="96654"/>
                  <a:pt x="304723" y="84928"/>
                </a:cubicBezTo>
                <a:cubicBezTo>
                  <a:pt x="304723" y="73201"/>
                  <a:pt x="314467" y="63696"/>
                  <a:pt x="326488" y="63696"/>
                </a:cubicBezTo>
                <a:cubicBezTo>
                  <a:pt x="338510" y="63696"/>
                  <a:pt x="348254" y="73201"/>
                  <a:pt x="348254" y="84928"/>
                </a:cubicBezTo>
                <a:cubicBezTo>
                  <a:pt x="348254" y="96654"/>
                  <a:pt x="338510" y="106160"/>
                  <a:pt x="326488" y="106160"/>
                </a:cubicBezTo>
                <a:close/>
              </a:path>
            </a:pathLst>
          </a:custGeom>
          <a:solidFill>
            <a:srgbClr val="00B0F0"/>
          </a:solidFill>
          <a:ln w="10815" cap="flat">
            <a:noFill/>
            <a:prstDash val="solid"/>
            <a:miter/>
          </a:ln>
          <a:effectLst>
            <a:outerShdw blurRad="50800" dist="50800" dir="5400000" algn="ctr" rotWithShape="0">
              <a:srgbClr val="000000">
                <a:alpha val="53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67" name="Forma libre: forma 166">
            <a:extLst>
              <a:ext uri="{FF2B5EF4-FFF2-40B4-BE49-F238E27FC236}">
                <a16:creationId xmlns:a16="http://schemas.microsoft.com/office/drawing/2014/main" id="{3A7A7F2A-279C-EF6B-27E7-8FBF6413C73D}"/>
              </a:ext>
            </a:extLst>
          </p:cNvPr>
          <p:cNvSpPr/>
          <p:nvPr/>
        </p:nvSpPr>
        <p:spPr>
          <a:xfrm>
            <a:off x="9960773" y="2929830"/>
            <a:ext cx="761290" cy="169855"/>
          </a:xfrm>
          <a:custGeom>
            <a:avLst/>
            <a:gdLst>
              <a:gd name="csX0" fmla="*/ 657548 w 696508"/>
              <a:gd name="csY0" fmla="*/ 0 h 169855"/>
              <a:gd name="csX1" fmla="*/ 38961 w 696508"/>
              <a:gd name="csY1" fmla="*/ 0 h 169855"/>
              <a:gd name="csX2" fmla="*/ 0 w 696508"/>
              <a:gd name="csY2" fmla="*/ 38005 h 169855"/>
              <a:gd name="csX3" fmla="*/ 0 w 696508"/>
              <a:gd name="csY3" fmla="*/ 131850 h 169855"/>
              <a:gd name="csX4" fmla="*/ 38961 w 696508"/>
              <a:gd name="csY4" fmla="*/ 169856 h 169855"/>
              <a:gd name="csX5" fmla="*/ 657548 w 696508"/>
              <a:gd name="csY5" fmla="*/ 169856 h 169855"/>
              <a:gd name="csX6" fmla="*/ 696509 w 696508"/>
              <a:gd name="csY6" fmla="*/ 131850 h 169855"/>
              <a:gd name="csX7" fmla="*/ 696509 w 696508"/>
              <a:gd name="csY7" fmla="*/ 38005 h 169855"/>
              <a:gd name="csX8" fmla="*/ 657548 w 696508"/>
              <a:gd name="csY8" fmla="*/ 0 h 169855"/>
              <a:gd name="csX9" fmla="*/ 108829 w 696508"/>
              <a:gd name="csY9" fmla="*/ 106160 h 169855"/>
              <a:gd name="csX10" fmla="*/ 87064 w 696508"/>
              <a:gd name="csY10" fmla="*/ 84928 h 169855"/>
              <a:gd name="csX11" fmla="*/ 108829 w 696508"/>
              <a:gd name="csY11" fmla="*/ 63696 h 169855"/>
              <a:gd name="csX12" fmla="*/ 130595 w 696508"/>
              <a:gd name="csY12" fmla="*/ 84928 h 169855"/>
              <a:gd name="csX13" fmla="*/ 108829 w 696508"/>
              <a:gd name="csY13" fmla="*/ 106160 h 169855"/>
              <a:gd name="csX14" fmla="*/ 217659 w 696508"/>
              <a:gd name="csY14" fmla="*/ 106160 h 169855"/>
              <a:gd name="csX15" fmla="*/ 195893 w 696508"/>
              <a:gd name="csY15" fmla="*/ 84928 h 169855"/>
              <a:gd name="csX16" fmla="*/ 217659 w 696508"/>
              <a:gd name="csY16" fmla="*/ 63696 h 169855"/>
              <a:gd name="csX17" fmla="*/ 239425 w 696508"/>
              <a:gd name="csY17" fmla="*/ 84928 h 169855"/>
              <a:gd name="csX18" fmla="*/ 217659 w 696508"/>
              <a:gd name="csY18" fmla="*/ 106160 h 169855"/>
              <a:gd name="csX19" fmla="*/ 326488 w 696508"/>
              <a:gd name="csY19" fmla="*/ 106160 h 169855"/>
              <a:gd name="csX20" fmla="*/ 304723 w 696508"/>
              <a:gd name="csY20" fmla="*/ 84928 h 169855"/>
              <a:gd name="csX21" fmla="*/ 326488 w 696508"/>
              <a:gd name="csY21" fmla="*/ 63696 h 169855"/>
              <a:gd name="csX22" fmla="*/ 348254 w 696508"/>
              <a:gd name="csY22" fmla="*/ 84928 h 169855"/>
              <a:gd name="csX23" fmla="*/ 326488 w 696508"/>
              <a:gd name="csY23" fmla="*/ 106160 h 1698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696508" h="169855">
                <a:moveTo>
                  <a:pt x="657548" y="0"/>
                </a:moveTo>
                <a:lnTo>
                  <a:pt x="38961" y="0"/>
                </a:lnTo>
                <a:cubicBezTo>
                  <a:pt x="17443" y="0"/>
                  <a:pt x="0" y="17015"/>
                  <a:pt x="0" y="38005"/>
                </a:cubicBezTo>
                <a:lnTo>
                  <a:pt x="0" y="131850"/>
                </a:lnTo>
                <a:cubicBezTo>
                  <a:pt x="0" y="152840"/>
                  <a:pt x="17443" y="169856"/>
                  <a:pt x="38961" y="169856"/>
                </a:cubicBezTo>
                <a:lnTo>
                  <a:pt x="657548" y="169856"/>
                </a:lnTo>
                <a:cubicBezTo>
                  <a:pt x="679066" y="169856"/>
                  <a:pt x="696509" y="152840"/>
                  <a:pt x="696509" y="131850"/>
                </a:cubicBezTo>
                <a:lnTo>
                  <a:pt x="696509" y="38005"/>
                </a:lnTo>
                <a:cubicBezTo>
                  <a:pt x="696509" y="17015"/>
                  <a:pt x="679066" y="0"/>
                  <a:pt x="657548" y="0"/>
                </a:cubicBezTo>
                <a:close/>
                <a:moveTo>
                  <a:pt x="108829" y="106160"/>
                </a:moveTo>
                <a:cubicBezTo>
                  <a:pt x="96808" y="106160"/>
                  <a:pt x="87064" y="96654"/>
                  <a:pt x="87064" y="84928"/>
                </a:cubicBezTo>
                <a:cubicBezTo>
                  <a:pt x="87064" y="73201"/>
                  <a:pt x="96808" y="63696"/>
                  <a:pt x="108829" y="63696"/>
                </a:cubicBezTo>
                <a:cubicBezTo>
                  <a:pt x="120851" y="63696"/>
                  <a:pt x="130595" y="73201"/>
                  <a:pt x="130595" y="84928"/>
                </a:cubicBezTo>
                <a:cubicBezTo>
                  <a:pt x="130595" y="96654"/>
                  <a:pt x="120851" y="106160"/>
                  <a:pt x="108829" y="106160"/>
                </a:cubicBezTo>
                <a:close/>
                <a:moveTo>
                  <a:pt x="217659" y="106160"/>
                </a:moveTo>
                <a:cubicBezTo>
                  <a:pt x="205638" y="106160"/>
                  <a:pt x="195893" y="96654"/>
                  <a:pt x="195893" y="84928"/>
                </a:cubicBezTo>
                <a:cubicBezTo>
                  <a:pt x="195893" y="73201"/>
                  <a:pt x="205638" y="63696"/>
                  <a:pt x="217659" y="63696"/>
                </a:cubicBezTo>
                <a:cubicBezTo>
                  <a:pt x="229680" y="63696"/>
                  <a:pt x="239425" y="73201"/>
                  <a:pt x="239425" y="84928"/>
                </a:cubicBezTo>
                <a:cubicBezTo>
                  <a:pt x="239425" y="96654"/>
                  <a:pt x="229680" y="106160"/>
                  <a:pt x="217659" y="106160"/>
                </a:cubicBezTo>
                <a:close/>
                <a:moveTo>
                  <a:pt x="326488" y="106160"/>
                </a:moveTo>
                <a:cubicBezTo>
                  <a:pt x="314467" y="106160"/>
                  <a:pt x="304723" y="96654"/>
                  <a:pt x="304723" y="84928"/>
                </a:cubicBezTo>
                <a:cubicBezTo>
                  <a:pt x="304723" y="73201"/>
                  <a:pt x="314467" y="63696"/>
                  <a:pt x="326488" y="63696"/>
                </a:cubicBezTo>
                <a:cubicBezTo>
                  <a:pt x="338510" y="63696"/>
                  <a:pt x="348254" y="73201"/>
                  <a:pt x="348254" y="84928"/>
                </a:cubicBezTo>
                <a:cubicBezTo>
                  <a:pt x="348254" y="96654"/>
                  <a:pt x="338510" y="106160"/>
                  <a:pt x="326488" y="106160"/>
                </a:cubicBezTo>
                <a:close/>
              </a:path>
            </a:pathLst>
          </a:custGeom>
          <a:solidFill>
            <a:srgbClr val="00B0F0"/>
          </a:solidFill>
          <a:ln w="10815" cap="flat">
            <a:noFill/>
            <a:prstDash val="solid"/>
            <a:miter/>
          </a:ln>
          <a:effectLst>
            <a:outerShdw blurRad="50800" dist="50800" dir="5400000" algn="ctr" rotWithShape="0">
              <a:srgbClr val="000000">
                <a:alpha val="49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68" name="Forma libre: forma 167">
            <a:extLst>
              <a:ext uri="{FF2B5EF4-FFF2-40B4-BE49-F238E27FC236}">
                <a16:creationId xmlns:a16="http://schemas.microsoft.com/office/drawing/2014/main" id="{18C133D7-73B4-740C-CC9F-D014C926CEAB}"/>
              </a:ext>
            </a:extLst>
          </p:cNvPr>
          <p:cNvSpPr/>
          <p:nvPr/>
        </p:nvSpPr>
        <p:spPr>
          <a:xfrm>
            <a:off x="9960773" y="2717510"/>
            <a:ext cx="761290" cy="169855"/>
          </a:xfrm>
          <a:custGeom>
            <a:avLst/>
            <a:gdLst>
              <a:gd name="csX0" fmla="*/ 657548 w 696508"/>
              <a:gd name="csY0" fmla="*/ 0 h 169855"/>
              <a:gd name="csX1" fmla="*/ 38961 w 696508"/>
              <a:gd name="csY1" fmla="*/ 0 h 169855"/>
              <a:gd name="csX2" fmla="*/ 0 w 696508"/>
              <a:gd name="csY2" fmla="*/ 38005 h 169855"/>
              <a:gd name="csX3" fmla="*/ 0 w 696508"/>
              <a:gd name="csY3" fmla="*/ 131850 h 169855"/>
              <a:gd name="csX4" fmla="*/ 38961 w 696508"/>
              <a:gd name="csY4" fmla="*/ 169856 h 169855"/>
              <a:gd name="csX5" fmla="*/ 657548 w 696508"/>
              <a:gd name="csY5" fmla="*/ 169856 h 169855"/>
              <a:gd name="csX6" fmla="*/ 696509 w 696508"/>
              <a:gd name="csY6" fmla="*/ 131850 h 169855"/>
              <a:gd name="csX7" fmla="*/ 696509 w 696508"/>
              <a:gd name="csY7" fmla="*/ 38005 h 169855"/>
              <a:gd name="csX8" fmla="*/ 657548 w 696508"/>
              <a:gd name="csY8" fmla="*/ 0 h 169855"/>
              <a:gd name="csX9" fmla="*/ 108829 w 696508"/>
              <a:gd name="csY9" fmla="*/ 106160 h 169855"/>
              <a:gd name="csX10" fmla="*/ 87064 w 696508"/>
              <a:gd name="csY10" fmla="*/ 84928 h 169855"/>
              <a:gd name="csX11" fmla="*/ 108829 w 696508"/>
              <a:gd name="csY11" fmla="*/ 63696 h 169855"/>
              <a:gd name="csX12" fmla="*/ 130595 w 696508"/>
              <a:gd name="csY12" fmla="*/ 84928 h 169855"/>
              <a:gd name="csX13" fmla="*/ 108829 w 696508"/>
              <a:gd name="csY13" fmla="*/ 106160 h 169855"/>
              <a:gd name="csX14" fmla="*/ 217659 w 696508"/>
              <a:gd name="csY14" fmla="*/ 106160 h 169855"/>
              <a:gd name="csX15" fmla="*/ 195893 w 696508"/>
              <a:gd name="csY15" fmla="*/ 84928 h 169855"/>
              <a:gd name="csX16" fmla="*/ 217659 w 696508"/>
              <a:gd name="csY16" fmla="*/ 63696 h 169855"/>
              <a:gd name="csX17" fmla="*/ 239425 w 696508"/>
              <a:gd name="csY17" fmla="*/ 84928 h 169855"/>
              <a:gd name="csX18" fmla="*/ 217659 w 696508"/>
              <a:gd name="csY18" fmla="*/ 106160 h 169855"/>
              <a:gd name="csX19" fmla="*/ 326488 w 696508"/>
              <a:gd name="csY19" fmla="*/ 106160 h 169855"/>
              <a:gd name="csX20" fmla="*/ 304723 w 696508"/>
              <a:gd name="csY20" fmla="*/ 84928 h 169855"/>
              <a:gd name="csX21" fmla="*/ 326488 w 696508"/>
              <a:gd name="csY21" fmla="*/ 63696 h 169855"/>
              <a:gd name="csX22" fmla="*/ 348254 w 696508"/>
              <a:gd name="csY22" fmla="*/ 84928 h 169855"/>
              <a:gd name="csX23" fmla="*/ 326488 w 696508"/>
              <a:gd name="csY23" fmla="*/ 106160 h 1698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696508" h="169855">
                <a:moveTo>
                  <a:pt x="657548" y="0"/>
                </a:moveTo>
                <a:lnTo>
                  <a:pt x="38961" y="0"/>
                </a:lnTo>
                <a:cubicBezTo>
                  <a:pt x="17443" y="0"/>
                  <a:pt x="0" y="17015"/>
                  <a:pt x="0" y="38005"/>
                </a:cubicBezTo>
                <a:lnTo>
                  <a:pt x="0" y="131850"/>
                </a:lnTo>
                <a:cubicBezTo>
                  <a:pt x="0" y="152840"/>
                  <a:pt x="17443" y="169856"/>
                  <a:pt x="38961" y="169856"/>
                </a:cubicBezTo>
                <a:lnTo>
                  <a:pt x="657548" y="169856"/>
                </a:lnTo>
                <a:cubicBezTo>
                  <a:pt x="679066" y="169856"/>
                  <a:pt x="696509" y="152840"/>
                  <a:pt x="696509" y="131850"/>
                </a:cubicBezTo>
                <a:lnTo>
                  <a:pt x="696509" y="38005"/>
                </a:lnTo>
                <a:cubicBezTo>
                  <a:pt x="696509" y="17015"/>
                  <a:pt x="679066" y="0"/>
                  <a:pt x="657548" y="0"/>
                </a:cubicBezTo>
                <a:close/>
                <a:moveTo>
                  <a:pt x="108829" y="106160"/>
                </a:moveTo>
                <a:cubicBezTo>
                  <a:pt x="96808" y="106160"/>
                  <a:pt x="87064" y="96654"/>
                  <a:pt x="87064" y="84928"/>
                </a:cubicBezTo>
                <a:cubicBezTo>
                  <a:pt x="87064" y="73201"/>
                  <a:pt x="96808" y="63696"/>
                  <a:pt x="108829" y="63696"/>
                </a:cubicBezTo>
                <a:cubicBezTo>
                  <a:pt x="120851" y="63696"/>
                  <a:pt x="130595" y="73201"/>
                  <a:pt x="130595" y="84928"/>
                </a:cubicBezTo>
                <a:cubicBezTo>
                  <a:pt x="130595" y="96654"/>
                  <a:pt x="120851" y="106160"/>
                  <a:pt x="108829" y="106160"/>
                </a:cubicBezTo>
                <a:close/>
                <a:moveTo>
                  <a:pt x="217659" y="106160"/>
                </a:moveTo>
                <a:cubicBezTo>
                  <a:pt x="205638" y="106160"/>
                  <a:pt x="195893" y="96654"/>
                  <a:pt x="195893" y="84928"/>
                </a:cubicBezTo>
                <a:cubicBezTo>
                  <a:pt x="195893" y="73201"/>
                  <a:pt x="205638" y="63696"/>
                  <a:pt x="217659" y="63696"/>
                </a:cubicBezTo>
                <a:cubicBezTo>
                  <a:pt x="229680" y="63696"/>
                  <a:pt x="239425" y="73201"/>
                  <a:pt x="239425" y="84928"/>
                </a:cubicBezTo>
                <a:cubicBezTo>
                  <a:pt x="239425" y="96654"/>
                  <a:pt x="229680" y="106160"/>
                  <a:pt x="217659" y="106160"/>
                </a:cubicBezTo>
                <a:close/>
                <a:moveTo>
                  <a:pt x="326488" y="106160"/>
                </a:moveTo>
                <a:cubicBezTo>
                  <a:pt x="314467" y="106160"/>
                  <a:pt x="304723" y="96654"/>
                  <a:pt x="304723" y="84928"/>
                </a:cubicBezTo>
                <a:cubicBezTo>
                  <a:pt x="304723" y="73201"/>
                  <a:pt x="314467" y="63696"/>
                  <a:pt x="326488" y="63696"/>
                </a:cubicBezTo>
                <a:cubicBezTo>
                  <a:pt x="338510" y="63696"/>
                  <a:pt x="348254" y="73201"/>
                  <a:pt x="348254" y="84928"/>
                </a:cubicBezTo>
                <a:cubicBezTo>
                  <a:pt x="348254" y="96654"/>
                  <a:pt x="338510" y="106160"/>
                  <a:pt x="326488" y="106160"/>
                </a:cubicBezTo>
                <a:close/>
              </a:path>
            </a:pathLst>
          </a:custGeom>
          <a:solidFill>
            <a:srgbClr val="00B0F0"/>
          </a:solidFill>
          <a:ln w="10815" cap="flat">
            <a:noFill/>
            <a:prstDash val="solid"/>
            <a:miter/>
          </a:ln>
          <a:effectLst>
            <a:outerShdw blurRad="50800" dist="50800" dir="5400000" algn="ctr" rotWithShape="0">
              <a:srgbClr val="000000">
                <a:alpha val="5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pic>
        <p:nvPicPr>
          <p:cNvPr id="80" name="Gráfico 79" descr="Cloud contorno">
            <a:extLst>
              <a:ext uri="{FF2B5EF4-FFF2-40B4-BE49-F238E27FC236}">
                <a16:creationId xmlns:a16="http://schemas.microsoft.com/office/drawing/2014/main" id="{BC528585-83EA-1667-9FA6-BC234977C6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flipH="1">
            <a:off x="9235669" y="1807036"/>
            <a:ext cx="2029871" cy="2115319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31000"/>
              </a:srgbClr>
            </a:outerShdw>
          </a:effectLst>
        </p:spPr>
      </p:pic>
      <p:pic>
        <p:nvPicPr>
          <p:cNvPr id="76" name="Gráfico 75" descr="Single gear con relleno sólido">
            <a:extLst>
              <a:ext uri="{FF2B5EF4-FFF2-40B4-BE49-F238E27FC236}">
                <a16:creationId xmlns:a16="http://schemas.microsoft.com/office/drawing/2014/main" id="{C3453E31-D451-36C2-089F-ACCF34A905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460219" y="2695992"/>
            <a:ext cx="914400" cy="914400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31000"/>
              </a:srgbClr>
            </a:outerShdw>
          </a:effectLst>
        </p:spPr>
      </p:pic>
      <p:sp>
        <p:nvSpPr>
          <p:cNvPr id="81" name="CuadroTexto 80">
            <a:extLst>
              <a:ext uri="{FF2B5EF4-FFF2-40B4-BE49-F238E27FC236}">
                <a16:creationId xmlns:a16="http://schemas.microsoft.com/office/drawing/2014/main" id="{258D5376-4C40-A76B-16DE-7D1EE583B476}"/>
              </a:ext>
            </a:extLst>
          </p:cNvPr>
          <p:cNvSpPr txBox="1"/>
          <p:nvPr/>
        </p:nvSpPr>
        <p:spPr>
          <a:xfrm>
            <a:off x="8978106" y="4129271"/>
            <a:ext cx="2791405" cy="461665"/>
          </a:xfrm>
          <a:prstGeom prst="rect">
            <a:avLst/>
          </a:prstGeom>
          <a:noFill/>
          <a:effectLst>
            <a:outerShdw blurRad="50800" dist="50800" dir="5400000" algn="ctr" rotWithShape="0">
              <a:srgbClr val="000000">
                <a:alpha val="37000"/>
              </a:srgb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s-CL" sz="1200" spc="300" dirty="0">
                <a:solidFill>
                  <a:schemeClr val="bg1"/>
                </a:solidFill>
                <a:latin typeface="Abadi" panose="020B0604020104020204" pitchFamily="34" charset="0"/>
              </a:rPr>
              <a:t>GESTIÓN Y TRAZABILIDAD</a:t>
            </a:r>
          </a:p>
          <a:p>
            <a:pPr algn="ctr"/>
            <a:r>
              <a:rPr lang="es-CL" sz="1200" spc="300" dirty="0">
                <a:solidFill>
                  <a:schemeClr val="bg1"/>
                </a:solidFill>
                <a:latin typeface="Abadi" panose="020B0604020104020204" pitchFamily="34" charset="0"/>
              </a:rPr>
              <a:t>DE ACTIVOS TI</a:t>
            </a:r>
          </a:p>
        </p:txBody>
      </p:sp>
      <p:sp>
        <p:nvSpPr>
          <p:cNvPr id="82" name="Rectángulo: esquinas redondeadas 81">
            <a:extLst>
              <a:ext uri="{FF2B5EF4-FFF2-40B4-BE49-F238E27FC236}">
                <a16:creationId xmlns:a16="http://schemas.microsoft.com/office/drawing/2014/main" id="{FF6C03BE-82F2-6BAA-1D04-E1A6EBD7617D}"/>
              </a:ext>
            </a:extLst>
          </p:cNvPr>
          <p:cNvSpPr/>
          <p:nvPr/>
        </p:nvSpPr>
        <p:spPr>
          <a:xfrm>
            <a:off x="8315887" y="5447773"/>
            <a:ext cx="726211" cy="741306"/>
          </a:xfrm>
          <a:prstGeom prst="roundRect">
            <a:avLst/>
          </a:prstGeom>
          <a:gradFill flip="none" rotWithShape="1">
            <a:gsLst>
              <a:gs pos="0">
                <a:srgbClr val="013162"/>
              </a:gs>
              <a:gs pos="38000">
                <a:srgbClr val="013162"/>
              </a:gs>
              <a:gs pos="100000">
                <a:srgbClr val="0272B0"/>
              </a:gs>
              <a:gs pos="87000">
                <a:schemeClr val="accent4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gradFill>
              <a:gsLst>
                <a:gs pos="0">
                  <a:srgbClr val="0272B0"/>
                </a:gs>
                <a:gs pos="53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86" name="Grupo 85">
            <a:extLst>
              <a:ext uri="{FF2B5EF4-FFF2-40B4-BE49-F238E27FC236}">
                <a16:creationId xmlns:a16="http://schemas.microsoft.com/office/drawing/2014/main" id="{81C95DC5-CDEE-88D5-9CBB-592F414FD352}"/>
              </a:ext>
            </a:extLst>
          </p:cNvPr>
          <p:cNvGrpSpPr/>
          <p:nvPr/>
        </p:nvGrpSpPr>
        <p:grpSpPr>
          <a:xfrm>
            <a:off x="8880098" y="5350852"/>
            <a:ext cx="216000" cy="216000"/>
            <a:chOff x="9073669" y="4556391"/>
            <a:chExt cx="216000" cy="216000"/>
          </a:xfrm>
        </p:grpSpPr>
        <p:sp>
          <p:nvSpPr>
            <p:cNvPr id="87" name="Diagrama de flujo: conector 86">
              <a:extLst>
                <a:ext uri="{FF2B5EF4-FFF2-40B4-BE49-F238E27FC236}">
                  <a16:creationId xmlns:a16="http://schemas.microsoft.com/office/drawing/2014/main" id="{32F6307A-294B-996F-0815-A3D84FB57AA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73669" y="4556391"/>
              <a:ext cx="216000" cy="216000"/>
            </a:xfrm>
            <a:prstGeom prst="flowChartConnector">
              <a:avLst/>
            </a:prstGeom>
            <a:solidFill>
              <a:srgbClr val="0272B0">
                <a:alpha val="78000"/>
              </a:srgbClr>
            </a:solidFill>
            <a:ln>
              <a:noFill/>
            </a:ln>
            <a:effectLst>
              <a:softEdge rad="381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8" name="Diagrama de flujo: conector 87">
              <a:extLst>
                <a:ext uri="{FF2B5EF4-FFF2-40B4-BE49-F238E27FC236}">
                  <a16:creationId xmlns:a16="http://schemas.microsoft.com/office/drawing/2014/main" id="{0001329B-80D8-503D-A555-055AC22F0F7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27669" y="4610391"/>
              <a:ext cx="108000" cy="108000"/>
            </a:xfrm>
            <a:prstGeom prst="flowChartConnector">
              <a:avLst/>
            </a:prstGeom>
            <a:gradFill flip="none" rotWithShape="1">
              <a:gsLst>
                <a:gs pos="0">
                  <a:srgbClr val="16FCFE"/>
                </a:gs>
                <a:gs pos="75000">
                  <a:srgbClr val="54FEFE">
                    <a:alpha val="68000"/>
                  </a:srgbClr>
                </a:gs>
                <a:gs pos="33000">
                  <a:srgbClr val="16FCFE"/>
                </a:gs>
                <a:gs pos="100000">
                  <a:srgbClr val="54FEFE"/>
                </a:gs>
                <a:gs pos="66000">
                  <a:srgbClr val="16FCF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softEdge rad="127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pic>
        <p:nvPicPr>
          <p:cNvPr id="90" name="Gráfico 89" descr="Laptop con relleno sólido">
            <a:extLst>
              <a:ext uri="{FF2B5EF4-FFF2-40B4-BE49-F238E27FC236}">
                <a16:creationId xmlns:a16="http://schemas.microsoft.com/office/drawing/2014/main" id="{B1672B16-74B7-EBD4-81F8-D206DE7FE0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330299" y="5472118"/>
            <a:ext cx="684000" cy="684000"/>
          </a:xfrm>
          <a:prstGeom prst="rect">
            <a:avLst/>
          </a:prstGeom>
        </p:spPr>
      </p:pic>
      <p:sp>
        <p:nvSpPr>
          <p:cNvPr id="91" name="Rectángulo: esquinas redondeadas 90">
            <a:extLst>
              <a:ext uri="{FF2B5EF4-FFF2-40B4-BE49-F238E27FC236}">
                <a16:creationId xmlns:a16="http://schemas.microsoft.com/office/drawing/2014/main" id="{F264118A-7620-0951-8FE9-3D0D70AE44FA}"/>
              </a:ext>
            </a:extLst>
          </p:cNvPr>
          <p:cNvSpPr/>
          <p:nvPr/>
        </p:nvSpPr>
        <p:spPr>
          <a:xfrm>
            <a:off x="9196707" y="5169582"/>
            <a:ext cx="764538" cy="777239"/>
          </a:xfrm>
          <a:prstGeom prst="roundRect">
            <a:avLst>
              <a:gd name="adj" fmla="val 11684"/>
            </a:avLst>
          </a:prstGeom>
          <a:gradFill flip="none" rotWithShape="1">
            <a:gsLst>
              <a:gs pos="0">
                <a:srgbClr val="013162"/>
              </a:gs>
              <a:gs pos="38000">
                <a:srgbClr val="013162"/>
              </a:gs>
              <a:gs pos="100000">
                <a:srgbClr val="0272B0"/>
              </a:gs>
              <a:gs pos="87000">
                <a:schemeClr val="accent4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gradFill>
              <a:gsLst>
                <a:gs pos="0">
                  <a:srgbClr val="0272B0"/>
                </a:gs>
                <a:gs pos="53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98" name="Gráfico 97" descr="Barcode con relleno sólido">
            <a:extLst>
              <a:ext uri="{FF2B5EF4-FFF2-40B4-BE49-F238E27FC236}">
                <a16:creationId xmlns:a16="http://schemas.microsoft.com/office/drawing/2014/main" id="{E5D601B1-3673-7E85-9A16-5BAA57807E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244023" y="5177297"/>
            <a:ext cx="618186" cy="685089"/>
          </a:xfrm>
          <a:prstGeom prst="rect">
            <a:avLst/>
          </a:prstGeom>
        </p:spPr>
      </p:pic>
      <p:pic>
        <p:nvPicPr>
          <p:cNvPr id="96" name="Gráfico 95" descr="Single gear con relleno sólido">
            <a:extLst>
              <a:ext uri="{FF2B5EF4-FFF2-40B4-BE49-F238E27FC236}">
                <a16:creationId xmlns:a16="http://schemas.microsoft.com/office/drawing/2014/main" id="{5BC17752-DC17-C651-2E58-ABF2548A4A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553116" y="5498838"/>
            <a:ext cx="388545" cy="388545"/>
          </a:xfrm>
          <a:prstGeom prst="rect">
            <a:avLst/>
          </a:prstGeom>
        </p:spPr>
      </p:pic>
      <p:sp>
        <p:nvSpPr>
          <p:cNvPr id="106" name="Rectángulo: esquinas redondeadas 105">
            <a:extLst>
              <a:ext uri="{FF2B5EF4-FFF2-40B4-BE49-F238E27FC236}">
                <a16:creationId xmlns:a16="http://schemas.microsoft.com/office/drawing/2014/main" id="{747F7A30-4C05-3ED8-C2B0-5104B6707756}"/>
              </a:ext>
            </a:extLst>
          </p:cNvPr>
          <p:cNvSpPr/>
          <p:nvPr/>
        </p:nvSpPr>
        <p:spPr>
          <a:xfrm>
            <a:off x="11286009" y="4905369"/>
            <a:ext cx="595045" cy="607101"/>
          </a:xfrm>
          <a:prstGeom prst="roundRect">
            <a:avLst>
              <a:gd name="adj" fmla="val 11684"/>
            </a:avLst>
          </a:prstGeom>
          <a:gradFill flip="none" rotWithShape="1">
            <a:gsLst>
              <a:gs pos="0">
                <a:srgbClr val="013162"/>
              </a:gs>
              <a:gs pos="38000">
                <a:srgbClr val="013162"/>
              </a:gs>
              <a:gs pos="100000">
                <a:srgbClr val="0272B0"/>
              </a:gs>
              <a:gs pos="87000">
                <a:schemeClr val="accent4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gradFill>
              <a:gsLst>
                <a:gs pos="0">
                  <a:srgbClr val="0272B0"/>
                </a:gs>
                <a:gs pos="53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108" name="Gráfico 107" descr="Users con relleno sólido">
            <a:extLst>
              <a:ext uri="{FF2B5EF4-FFF2-40B4-BE49-F238E27FC236}">
                <a16:creationId xmlns:a16="http://schemas.microsoft.com/office/drawing/2014/main" id="{F270183D-A813-22A6-1653-9798740DEF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1317779" y="4924824"/>
            <a:ext cx="552275" cy="590388"/>
          </a:xfrm>
          <a:prstGeom prst="rect">
            <a:avLst/>
          </a:prstGeom>
        </p:spPr>
      </p:pic>
      <p:grpSp>
        <p:nvGrpSpPr>
          <p:cNvPr id="109" name="Grupo 108">
            <a:extLst>
              <a:ext uri="{FF2B5EF4-FFF2-40B4-BE49-F238E27FC236}">
                <a16:creationId xmlns:a16="http://schemas.microsoft.com/office/drawing/2014/main" id="{2419F687-582A-FA86-933E-E06444B04B98}"/>
              </a:ext>
            </a:extLst>
          </p:cNvPr>
          <p:cNvGrpSpPr/>
          <p:nvPr/>
        </p:nvGrpSpPr>
        <p:grpSpPr>
          <a:xfrm>
            <a:off x="8864552" y="6380898"/>
            <a:ext cx="222022" cy="223506"/>
            <a:chOff x="9073669" y="4556391"/>
            <a:chExt cx="216000" cy="216000"/>
          </a:xfrm>
        </p:grpSpPr>
        <p:sp>
          <p:nvSpPr>
            <p:cNvPr id="110" name="Diagrama de flujo: conector 109">
              <a:extLst>
                <a:ext uri="{FF2B5EF4-FFF2-40B4-BE49-F238E27FC236}">
                  <a16:creationId xmlns:a16="http://schemas.microsoft.com/office/drawing/2014/main" id="{F9EFEE06-7DC0-6E6E-93BD-5AB6F50EA26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73669" y="4556391"/>
              <a:ext cx="216000" cy="216000"/>
            </a:xfrm>
            <a:prstGeom prst="flowChartConnector">
              <a:avLst/>
            </a:prstGeom>
            <a:solidFill>
              <a:srgbClr val="0272B0">
                <a:alpha val="78000"/>
              </a:srgbClr>
            </a:solidFill>
            <a:ln>
              <a:noFill/>
            </a:ln>
            <a:effectLst>
              <a:softEdge rad="381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1" name="Diagrama de flujo: conector 110">
              <a:extLst>
                <a:ext uri="{FF2B5EF4-FFF2-40B4-BE49-F238E27FC236}">
                  <a16:creationId xmlns:a16="http://schemas.microsoft.com/office/drawing/2014/main" id="{19392EAA-C8B0-CB17-A936-C3B4BEE752E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27669" y="4610391"/>
              <a:ext cx="108000" cy="108000"/>
            </a:xfrm>
            <a:prstGeom prst="flowChartConnector">
              <a:avLst/>
            </a:prstGeom>
            <a:gradFill flip="none" rotWithShape="1">
              <a:gsLst>
                <a:gs pos="0">
                  <a:srgbClr val="16FCFE"/>
                </a:gs>
                <a:gs pos="75000">
                  <a:srgbClr val="54FEFE">
                    <a:alpha val="68000"/>
                  </a:srgbClr>
                </a:gs>
                <a:gs pos="33000">
                  <a:srgbClr val="16FCFE"/>
                </a:gs>
                <a:gs pos="100000">
                  <a:srgbClr val="54FEFE"/>
                </a:gs>
                <a:gs pos="66000">
                  <a:srgbClr val="16FCF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softEdge rad="127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grpSp>
        <p:nvGrpSpPr>
          <p:cNvPr id="112" name="Grupo 111">
            <a:extLst>
              <a:ext uri="{FF2B5EF4-FFF2-40B4-BE49-F238E27FC236}">
                <a16:creationId xmlns:a16="http://schemas.microsoft.com/office/drawing/2014/main" id="{5C8DACD5-88AC-BE0D-AB5E-4F04B05FA9B6}"/>
              </a:ext>
            </a:extLst>
          </p:cNvPr>
          <p:cNvGrpSpPr/>
          <p:nvPr/>
        </p:nvGrpSpPr>
        <p:grpSpPr>
          <a:xfrm>
            <a:off x="10474015" y="5762528"/>
            <a:ext cx="222022" cy="223506"/>
            <a:chOff x="9073669" y="4556391"/>
            <a:chExt cx="216000" cy="216000"/>
          </a:xfrm>
        </p:grpSpPr>
        <p:sp>
          <p:nvSpPr>
            <p:cNvPr id="113" name="Diagrama de flujo: conector 112">
              <a:extLst>
                <a:ext uri="{FF2B5EF4-FFF2-40B4-BE49-F238E27FC236}">
                  <a16:creationId xmlns:a16="http://schemas.microsoft.com/office/drawing/2014/main" id="{4707C5CD-A9B1-A539-C885-32D9D2C8279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73669" y="4556391"/>
              <a:ext cx="216000" cy="216000"/>
            </a:xfrm>
            <a:prstGeom prst="flowChartConnector">
              <a:avLst/>
            </a:prstGeom>
            <a:solidFill>
              <a:srgbClr val="0272B0">
                <a:alpha val="78000"/>
              </a:srgbClr>
            </a:solidFill>
            <a:ln>
              <a:noFill/>
            </a:ln>
            <a:effectLst>
              <a:softEdge rad="381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4" name="Diagrama de flujo: conector 113">
              <a:extLst>
                <a:ext uri="{FF2B5EF4-FFF2-40B4-BE49-F238E27FC236}">
                  <a16:creationId xmlns:a16="http://schemas.microsoft.com/office/drawing/2014/main" id="{F692B36E-DC3A-1051-468C-E8A85867DF4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27669" y="4610391"/>
              <a:ext cx="108000" cy="108000"/>
            </a:xfrm>
            <a:prstGeom prst="flowChartConnector">
              <a:avLst/>
            </a:prstGeom>
            <a:gradFill flip="none" rotWithShape="1">
              <a:gsLst>
                <a:gs pos="0">
                  <a:srgbClr val="16FCFE"/>
                </a:gs>
                <a:gs pos="75000">
                  <a:srgbClr val="54FEFE">
                    <a:alpha val="68000"/>
                  </a:srgbClr>
                </a:gs>
                <a:gs pos="33000">
                  <a:srgbClr val="16FCFE"/>
                </a:gs>
                <a:gs pos="100000">
                  <a:srgbClr val="54FEFE"/>
                </a:gs>
                <a:gs pos="66000">
                  <a:srgbClr val="16FCF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softEdge rad="127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grpSp>
        <p:nvGrpSpPr>
          <p:cNvPr id="124" name="Grupo 123">
            <a:extLst>
              <a:ext uri="{FF2B5EF4-FFF2-40B4-BE49-F238E27FC236}">
                <a16:creationId xmlns:a16="http://schemas.microsoft.com/office/drawing/2014/main" id="{0685E533-D97C-162C-0CBF-807DF358E780}"/>
              </a:ext>
            </a:extLst>
          </p:cNvPr>
          <p:cNvGrpSpPr/>
          <p:nvPr/>
        </p:nvGrpSpPr>
        <p:grpSpPr>
          <a:xfrm>
            <a:off x="11184781" y="4826590"/>
            <a:ext cx="222022" cy="223506"/>
            <a:chOff x="9073669" y="4556391"/>
            <a:chExt cx="216000" cy="216000"/>
          </a:xfrm>
        </p:grpSpPr>
        <p:sp>
          <p:nvSpPr>
            <p:cNvPr id="125" name="Diagrama de flujo: conector 124">
              <a:extLst>
                <a:ext uri="{FF2B5EF4-FFF2-40B4-BE49-F238E27FC236}">
                  <a16:creationId xmlns:a16="http://schemas.microsoft.com/office/drawing/2014/main" id="{6CD14432-9A93-9197-8321-0AB198F3A4C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73669" y="4556391"/>
              <a:ext cx="216000" cy="216000"/>
            </a:xfrm>
            <a:prstGeom prst="flowChartConnector">
              <a:avLst/>
            </a:prstGeom>
            <a:solidFill>
              <a:srgbClr val="0272B0">
                <a:alpha val="78000"/>
              </a:srgbClr>
            </a:solidFill>
            <a:ln>
              <a:noFill/>
            </a:ln>
            <a:effectLst>
              <a:softEdge rad="381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6" name="Diagrama de flujo: conector 125">
              <a:extLst>
                <a:ext uri="{FF2B5EF4-FFF2-40B4-BE49-F238E27FC236}">
                  <a16:creationId xmlns:a16="http://schemas.microsoft.com/office/drawing/2014/main" id="{F0ABC3B6-24E8-6757-7885-D12404E67B4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27669" y="4610391"/>
              <a:ext cx="108000" cy="108000"/>
            </a:xfrm>
            <a:prstGeom prst="flowChartConnector">
              <a:avLst/>
            </a:prstGeom>
            <a:gradFill flip="none" rotWithShape="1">
              <a:gsLst>
                <a:gs pos="0">
                  <a:srgbClr val="16FCFE"/>
                </a:gs>
                <a:gs pos="75000">
                  <a:srgbClr val="54FEFE">
                    <a:alpha val="68000"/>
                  </a:srgbClr>
                </a:gs>
                <a:gs pos="33000">
                  <a:srgbClr val="16FCFE"/>
                </a:gs>
                <a:gs pos="100000">
                  <a:srgbClr val="54FEFE"/>
                </a:gs>
                <a:gs pos="66000">
                  <a:srgbClr val="16FCF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softEdge rad="127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grpSp>
        <p:nvGrpSpPr>
          <p:cNvPr id="133" name="Grupo 132">
            <a:extLst>
              <a:ext uri="{FF2B5EF4-FFF2-40B4-BE49-F238E27FC236}">
                <a16:creationId xmlns:a16="http://schemas.microsoft.com/office/drawing/2014/main" id="{EF3DD581-FC35-DF25-E0F6-92E031C8988E}"/>
              </a:ext>
            </a:extLst>
          </p:cNvPr>
          <p:cNvGrpSpPr/>
          <p:nvPr/>
        </p:nvGrpSpPr>
        <p:grpSpPr>
          <a:xfrm>
            <a:off x="8212484" y="5823975"/>
            <a:ext cx="222022" cy="223506"/>
            <a:chOff x="9073669" y="4556391"/>
            <a:chExt cx="216000" cy="216000"/>
          </a:xfrm>
        </p:grpSpPr>
        <p:sp>
          <p:nvSpPr>
            <p:cNvPr id="134" name="Diagrama de flujo: conector 133">
              <a:extLst>
                <a:ext uri="{FF2B5EF4-FFF2-40B4-BE49-F238E27FC236}">
                  <a16:creationId xmlns:a16="http://schemas.microsoft.com/office/drawing/2014/main" id="{22F9E8D5-BDDC-166B-D5F9-CF186F1BFBC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73669" y="4556391"/>
              <a:ext cx="216000" cy="216000"/>
            </a:xfrm>
            <a:prstGeom prst="flowChartConnector">
              <a:avLst/>
            </a:prstGeom>
            <a:solidFill>
              <a:srgbClr val="0272B0">
                <a:alpha val="78000"/>
              </a:srgbClr>
            </a:solidFill>
            <a:ln>
              <a:noFill/>
            </a:ln>
            <a:effectLst>
              <a:softEdge rad="381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5" name="Diagrama de flujo: conector 134">
              <a:extLst>
                <a:ext uri="{FF2B5EF4-FFF2-40B4-BE49-F238E27FC236}">
                  <a16:creationId xmlns:a16="http://schemas.microsoft.com/office/drawing/2014/main" id="{BE1A1F27-9EC5-E8C5-417D-FF0CFA3AAD5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27669" y="4610391"/>
              <a:ext cx="108000" cy="108000"/>
            </a:xfrm>
            <a:prstGeom prst="flowChartConnector">
              <a:avLst/>
            </a:prstGeom>
            <a:gradFill flip="none" rotWithShape="1">
              <a:gsLst>
                <a:gs pos="0">
                  <a:srgbClr val="16FCFE"/>
                </a:gs>
                <a:gs pos="75000">
                  <a:srgbClr val="54FEFE">
                    <a:alpha val="68000"/>
                  </a:srgbClr>
                </a:gs>
                <a:gs pos="33000">
                  <a:srgbClr val="16FCFE"/>
                </a:gs>
                <a:gs pos="100000">
                  <a:srgbClr val="54FEFE"/>
                </a:gs>
                <a:gs pos="66000">
                  <a:srgbClr val="16FCF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softEdge rad="127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cxnSp>
        <p:nvCxnSpPr>
          <p:cNvPr id="141" name="Conector recto 140">
            <a:extLst>
              <a:ext uri="{FF2B5EF4-FFF2-40B4-BE49-F238E27FC236}">
                <a16:creationId xmlns:a16="http://schemas.microsoft.com/office/drawing/2014/main" id="{52F17DF7-A6CA-B2FB-9967-30644AFF066E}"/>
              </a:ext>
            </a:extLst>
          </p:cNvPr>
          <p:cNvCxnSpPr>
            <a:cxnSpLocks/>
          </p:cNvCxnSpPr>
          <p:nvPr/>
        </p:nvCxnSpPr>
        <p:spPr>
          <a:xfrm flipV="1">
            <a:off x="8476988" y="4217469"/>
            <a:ext cx="0" cy="1131667"/>
          </a:xfrm>
          <a:prstGeom prst="line">
            <a:avLst/>
          </a:prstGeom>
          <a:ln w="41275">
            <a:gradFill flip="none" rotWithShape="1">
              <a:gsLst>
                <a:gs pos="0">
                  <a:schemeClr val="accent1">
                    <a:lumMod val="0"/>
                    <a:lumOff val="100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</a:ln>
          <a:effectLst>
            <a:softEdge rad="12700"/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7" name="Grupo 126">
            <a:extLst>
              <a:ext uri="{FF2B5EF4-FFF2-40B4-BE49-F238E27FC236}">
                <a16:creationId xmlns:a16="http://schemas.microsoft.com/office/drawing/2014/main" id="{8C32A2B3-89C6-136A-9895-1158C18CEBD0}"/>
              </a:ext>
            </a:extLst>
          </p:cNvPr>
          <p:cNvGrpSpPr/>
          <p:nvPr/>
        </p:nvGrpSpPr>
        <p:grpSpPr>
          <a:xfrm>
            <a:off x="8361256" y="4803537"/>
            <a:ext cx="222022" cy="223506"/>
            <a:chOff x="9073669" y="4556391"/>
            <a:chExt cx="216000" cy="216000"/>
          </a:xfrm>
        </p:grpSpPr>
        <p:sp>
          <p:nvSpPr>
            <p:cNvPr id="128" name="Diagrama de flujo: conector 127">
              <a:extLst>
                <a:ext uri="{FF2B5EF4-FFF2-40B4-BE49-F238E27FC236}">
                  <a16:creationId xmlns:a16="http://schemas.microsoft.com/office/drawing/2014/main" id="{2F291B1A-4B56-31B0-7D43-6F87B2760AC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73669" y="4556391"/>
              <a:ext cx="216000" cy="216000"/>
            </a:xfrm>
            <a:prstGeom prst="flowChartConnector">
              <a:avLst/>
            </a:prstGeom>
            <a:solidFill>
              <a:srgbClr val="0272B0">
                <a:alpha val="78000"/>
              </a:srgbClr>
            </a:solidFill>
            <a:ln>
              <a:noFill/>
            </a:ln>
            <a:effectLst>
              <a:softEdge rad="381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9" name="Diagrama de flujo: conector 128">
              <a:extLst>
                <a:ext uri="{FF2B5EF4-FFF2-40B4-BE49-F238E27FC236}">
                  <a16:creationId xmlns:a16="http://schemas.microsoft.com/office/drawing/2014/main" id="{814FBC7F-949B-791E-5150-1432670C839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27669" y="4610391"/>
              <a:ext cx="108000" cy="108000"/>
            </a:xfrm>
            <a:prstGeom prst="flowChartConnector">
              <a:avLst/>
            </a:prstGeom>
            <a:gradFill flip="none" rotWithShape="1">
              <a:gsLst>
                <a:gs pos="0">
                  <a:srgbClr val="16FCFE"/>
                </a:gs>
                <a:gs pos="75000">
                  <a:srgbClr val="54FEFE">
                    <a:alpha val="68000"/>
                  </a:srgbClr>
                </a:gs>
                <a:gs pos="33000">
                  <a:srgbClr val="16FCFE"/>
                </a:gs>
                <a:gs pos="100000">
                  <a:srgbClr val="54FEFE"/>
                </a:gs>
                <a:gs pos="66000">
                  <a:srgbClr val="16FCF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softEdge rad="127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grpSp>
        <p:nvGrpSpPr>
          <p:cNvPr id="130" name="Grupo 129">
            <a:extLst>
              <a:ext uri="{FF2B5EF4-FFF2-40B4-BE49-F238E27FC236}">
                <a16:creationId xmlns:a16="http://schemas.microsoft.com/office/drawing/2014/main" id="{5AC1823B-90E1-E1BF-B1BC-77C251345E72}"/>
              </a:ext>
            </a:extLst>
          </p:cNvPr>
          <p:cNvGrpSpPr/>
          <p:nvPr/>
        </p:nvGrpSpPr>
        <p:grpSpPr>
          <a:xfrm>
            <a:off x="8367550" y="4142292"/>
            <a:ext cx="222022" cy="223506"/>
            <a:chOff x="9073669" y="4556391"/>
            <a:chExt cx="216000" cy="216000"/>
          </a:xfrm>
        </p:grpSpPr>
        <p:sp>
          <p:nvSpPr>
            <p:cNvPr id="131" name="Diagrama de flujo: conector 130">
              <a:extLst>
                <a:ext uri="{FF2B5EF4-FFF2-40B4-BE49-F238E27FC236}">
                  <a16:creationId xmlns:a16="http://schemas.microsoft.com/office/drawing/2014/main" id="{8372A01E-3B54-1419-A091-11A40C1FB52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73669" y="4556391"/>
              <a:ext cx="216000" cy="216000"/>
            </a:xfrm>
            <a:prstGeom prst="flowChartConnector">
              <a:avLst/>
            </a:prstGeom>
            <a:solidFill>
              <a:srgbClr val="0272B0">
                <a:alpha val="78000"/>
              </a:srgbClr>
            </a:solidFill>
            <a:ln>
              <a:noFill/>
            </a:ln>
            <a:effectLst>
              <a:softEdge rad="381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2" name="Diagrama de flujo: conector 131">
              <a:extLst>
                <a:ext uri="{FF2B5EF4-FFF2-40B4-BE49-F238E27FC236}">
                  <a16:creationId xmlns:a16="http://schemas.microsoft.com/office/drawing/2014/main" id="{3DE4E6BC-BF8F-15D3-D7D2-019990A8F13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27669" y="4610391"/>
              <a:ext cx="108000" cy="108000"/>
            </a:xfrm>
            <a:prstGeom prst="flowChartConnector">
              <a:avLst/>
            </a:prstGeom>
            <a:gradFill flip="none" rotWithShape="1">
              <a:gsLst>
                <a:gs pos="0">
                  <a:srgbClr val="16FCFE"/>
                </a:gs>
                <a:gs pos="75000">
                  <a:srgbClr val="54FEFE">
                    <a:alpha val="68000"/>
                  </a:srgbClr>
                </a:gs>
                <a:gs pos="33000">
                  <a:srgbClr val="16FCFE"/>
                </a:gs>
                <a:gs pos="100000">
                  <a:srgbClr val="54FEFE"/>
                </a:gs>
                <a:gs pos="66000">
                  <a:srgbClr val="16FCF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softEdge rad="127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cxnSp>
        <p:nvCxnSpPr>
          <p:cNvPr id="149" name="Conector recto 148">
            <a:extLst>
              <a:ext uri="{FF2B5EF4-FFF2-40B4-BE49-F238E27FC236}">
                <a16:creationId xmlns:a16="http://schemas.microsoft.com/office/drawing/2014/main" id="{7D9C9C5A-5E7E-46F2-EB53-0CD634E70826}"/>
              </a:ext>
            </a:extLst>
          </p:cNvPr>
          <p:cNvCxnSpPr>
            <a:cxnSpLocks/>
          </p:cNvCxnSpPr>
          <p:nvPr/>
        </p:nvCxnSpPr>
        <p:spPr>
          <a:xfrm flipH="1">
            <a:off x="8205841" y="5336232"/>
            <a:ext cx="994362" cy="0"/>
          </a:xfrm>
          <a:prstGeom prst="line">
            <a:avLst/>
          </a:prstGeom>
          <a:ln w="41275">
            <a:gradFill flip="none" rotWithShape="1">
              <a:gsLst>
                <a:gs pos="0">
                  <a:schemeClr val="accent1">
                    <a:lumMod val="0"/>
                    <a:lumOff val="100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</a:ln>
          <a:effectLst>
            <a:softEdge rad="12700"/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6" name="Grupo 145">
            <a:extLst>
              <a:ext uri="{FF2B5EF4-FFF2-40B4-BE49-F238E27FC236}">
                <a16:creationId xmlns:a16="http://schemas.microsoft.com/office/drawing/2014/main" id="{D42D034D-A2D6-671C-A187-9C1C3D9809E5}"/>
              </a:ext>
            </a:extLst>
          </p:cNvPr>
          <p:cNvGrpSpPr/>
          <p:nvPr/>
        </p:nvGrpSpPr>
        <p:grpSpPr>
          <a:xfrm>
            <a:off x="8365977" y="5212095"/>
            <a:ext cx="222022" cy="223506"/>
            <a:chOff x="9073669" y="4556391"/>
            <a:chExt cx="216000" cy="216000"/>
          </a:xfrm>
        </p:grpSpPr>
        <p:sp>
          <p:nvSpPr>
            <p:cNvPr id="147" name="Diagrama de flujo: conector 146">
              <a:extLst>
                <a:ext uri="{FF2B5EF4-FFF2-40B4-BE49-F238E27FC236}">
                  <a16:creationId xmlns:a16="http://schemas.microsoft.com/office/drawing/2014/main" id="{82A028A2-A457-9A72-B24E-B2FA24A12B6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73669" y="4556391"/>
              <a:ext cx="216000" cy="216000"/>
            </a:xfrm>
            <a:prstGeom prst="flowChartConnector">
              <a:avLst/>
            </a:prstGeom>
            <a:solidFill>
              <a:srgbClr val="0272B0">
                <a:alpha val="78000"/>
              </a:srgbClr>
            </a:solidFill>
            <a:ln>
              <a:noFill/>
            </a:ln>
            <a:effectLst>
              <a:softEdge rad="381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8" name="Diagrama de flujo: conector 147">
              <a:extLst>
                <a:ext uri="{FF2B5EF4-FFF2-40B4-BE49-F238E27FC236}">
                  <a16:creationId xmlns:a16="http://schemas.microsoft.com/office/drawing/2014/main" id="{1C15E395-4691-7A2E-EF8A-9324E62F89F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27669" y="4610391"/>
              <a:ext cx="108000" cy="108000"/>
            </a:xfrm>
            <a:prstGeom prst="flowChartConnector">
              <a:avLst/>
            </a:prstGeom>
            <a:gradFill flip="none" rotWithShape="1">
              <a:gsLst>
                <a:gs pos="0">
                  <a:srgbClr val="16FCFE"/>
                </a:gs>
                <a:gs pos="75000">
                  <a:srgbClr val="54FEFE">
                    <a:alpha val="68000"/>
                  </a:srgbClr>
                </a:gs>
                <a:gs pos="33000">
                  <a:srgbClr val="16FCFE"/>
                </a:gs>
                <a:gs pos="100000">
                  <a:srgbClr val="54FEFE"/>
                </a:gs>
                <a:gs pos="66000">
                  <a:srgbClr val="16FCF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softEdge rad="127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cxnSp>
        <p:nvCxnSpPr>
          <p:cNvPr id="153" name="Conector recto 152">
            <a:extLst>
              <a:ext uri="{FF2B5EF4-FFF2-40B4-BE49-F238E27FC236}">
                <a16:creationId xmlns:a16="http://schemas.microsoft.com/office/drawing/2014/main" id="{7A29D796-B285-FF3D-C20E-7354456DCF48}"/>
              </a:ext>
            </a:extLst>
          </p:cNvPr>
          <p:cNvCxnSpPr>
            <a:cxnSpLocks/>
          </p:cNvCxnSpPr>
          <p:nvPr/>
        </p:nvCxnSpPr>
        <p:spPr>
          <a:xfrm flipH="1" flipV="1">
            <a:off x="9161818" y="4674870"/>
            <a:ext cx="1211990" cy="779145"/>
          </a:xfrm>
          <a:prstGeom prst="line">
            <a:avLst/>
          </a:prstGeom>
          <a:ln w="41275">
            <a:gradFill flip="none" rotWithShape="1">
              <a:gsLst>
                <a:gs pos="0">
                  <a:schemeClr val="accent1">
                    <a:lumMod val="0"/>
                    <a:lumOff val="100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</a:ln>
          <a:effectLst>
            <a:softEdge rad="12700"/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5" name="Grupo 84">
            <a:extLst>
              <a:ext uri="{FF2B5EF4-FFF2-40B4-BE49-F238E27FC236}">
                <a16:creationId xmlns:a16="http://schemas.microsoft.com/office/drawing/2014/main" id="{A0B94168-CE35-A662-5A60-249BCC6945E2}"/>
              </a:ext>
            </a:extLst>
          </p:cNvPr>
          <p:cNvGrpSpPr/>
          <p:nvPr/>
        </p:nvGrpSpPr>
        <p:grpSpPr>
          <a:xfrm>
            <a:off x="9073669" y="4556391"/>
            <a:ext cx="216000" cy="216000"/>
            <a:chOff x="9073669" y="4556391"/>
            <a:chExt cx="216000" cy="216000"/>
          </a:xfrm>
        </p:grpSpPr>
        <p:sp>
          <p:nvSpPr>
            <p:cNvPr id="84" name="Diagrama de flujo: conector 83">
              <a:extLst>
                <a:ext uri="{FF2B5EF4-FFF2-40B4-BE49-F238E27FC236}">
                  <a16:creationId xmlns:a16="http://schemas.microsoft.com/office/drawing/2014/main" id="{8EC01A16-8921-D27E-B5AE-0A9E40E4F78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73669" y="4556391"/>
              <a:ext cx="216000" cy="216000"/>
            </a:xfrm>
            <a:prstGeom prst="flowChartConnector">
              <a:avLst/>
            </a:prstGeom>
            <a:solidFill>
              <a:srgbClr val="0272B0">
                <a:alpha val="78000"/>
              </a:srgbClr>
            </a:solidFill>
            <a:ln>
              <a:noFill/>
            </a:ln>
            <a:effectLst>
              <a:softEdge rad="381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3" name="Diagrama de flujo: conector 82">
              <a:extLst>
                <a:ext uri="{FF2B5EF4-FFF2-40B4-BE49-F238E27FC236}">
                  <a16:creationId xmlns:a16="http://schemas.microsoft.com/office/drawing/2014/main" id="{36FBF1F8-76B5-9582-C5AF-63A58FFF0F9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27669" y="4610391"/>
              <a:ext cx="108000" cy="108000"/>
            </a:xfrm>
            <a:prstGeom prst="flowChartConnector">
              <a:avLst/>
            </a:prstGeom>
            <a:gradFill flip="none" rotWithShape="1">
              <a:gsLst>
                <a:gs pos="0">
                  <a:srgbClr val="16FCFE"/>
                </a:gs>
                <a:gs pos="75000">
                  <a:srgbClr val="54FEFE">
                    <a:alpha val="68000"/>
                  </a:srgbClr>
                </a:gs>
                <a:gs pos="33000">
                  <a:srgbClr val="16FCFE"/>
                </a:gs>
                <a:gs pos="100000">
                  <a:srgbClr val="54FEFE"/>
                </a:gs>
                <a:gs pos="66000">
                  <a:srgbClr val="16FCF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softEdge rad="127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grpSp>
        <p:nvGrpSpPr>
          <p:cNvPr id="92" name="Grupo 91">
            <a:extLst>
              <a:ext uri="{FF2B5EF4-FFF2-40B4-BE49-F238E27FC236}">
                <a16:creationId xmlns:a16="http://schemas.microsoft.com/office/drawing/2014/main" id="{6668E72B-AB96-0A3C-777B-561FFB091929}"/>
              </a:ext>
            </a:extLst>
          </p:cNvPr>
          <p:cNvGrpSpPr/>
          <p:nvPr/>
        </p:nvGrpSpPr>
        <p:grpSpPr>
          <a:xfrm>
            <a:off x="9775144" y="5092949"/>
            <a:ext cx="222022" cy="223506"/>
            <a:chOff x="9073669" y="4556391"/>
            <a:chExt cx="216000" cy="216000"/>
          </a:xfrm>
        </p:grpSpPr>
        <p:sp>
          <p:nvSpPr>
            <p:cNvPr id="93" name="Diagrama de flujo: conector 92">
              <a:extLst>
                <a:ext uri="{FF2B5EF4-FFF2-40B4-BE49-F238E27FC236}">
                  <a16:creationId xmlns:a16="http://schemas.microsoft.com/office/drawing/2014/main" id="{F0150B5A-E8D8-4DE2-357D-6B55CD3B42E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73669" y="4556391"/>
              <a:ext cx="216000" cy="216000"/>
            </a:xfrm>
            <a:prstGeom prst="flowChartConnector">
              <a:avLst/>
            </a:prstGeom>
            <a:solidFill>
              <a:srgbClr val="0272B0">
                <a:alpha val="78000"/>
              </a:srgbClr>
            </a:solidFill>
            <a:ln>
              <a:noFill/>
            </a:ln>
            <a:effectLst>
              <a:softEdge rad="381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94" name="Diagrama de flujo: conector 93">
              <a:extLst>
                <a:ext uri="{FF2B5EF4-FFF2-40B4-BE49-F238E27FC236}">
                  <a16:creationId xmlns:a16="http://schemas.microsoft.com/office/drawing/2014/main" id="{9D1BAF91-89DC-209A-BB53-27C49580588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27669" y="4610391"/>
              <a:ext cx="108000" cy="108000"/>
            </a:xfrm>
            <a:prstGeom prst="flowChartConnector">
              <a:avLst/>
            </a:prstGeom>
            <a:gradFill flip="none" rotWithShape="1">
              <a:gsLst>
                <a:gs pos="0">
                  <a:srgbClr val="16FCFE"/>
                </a:gs>
                <a:gs pos="75000">
                  <a:srgbClr val="54FEFE">
                    <a:alpha val="68000"/>
                  </a:srgbClr>
                </a:gs>
                <a:gs pos="33000">
                  <a:srgbClr val="16FCFE"/>
                </a:gs>
                <a:gs pos="100000">
                  <a:srgbClr val="54FEFE"/>
                </a:gs>
                <a:gs pos="66000">
                  <a:srgbClr val="16FCF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softEdge rad="127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cxnSp>
        <p:nvCxnSpPr>
          <p:cNvPr id="158" name="Conector recto 157">
            <a:extLst>
              <a:ext uri="{FF2B5EF4-FFF2-40B4-BE49-F238E27FC236}">
                <a16:creationId xmlns:a16="http://schemas.microsoft.com/office/drawing/2014/main" id="{ABDD6B1E-3C98-42E3-AAE5-8705CFDECA70}"/>
              </a:ext>
            </a:extLst>
          </p:cNvPr>
          <p:cNvCxnSpPr>
            <a:cxnSpLocks/>
          </p:cNvCxnSpPr>
          <p:nvPr/>
        </p:nvCxnSpPr>
        <p:spPr>
          <a:xfrm flipH="1" flipV="1">
            <a:off x="10880817" y="5367734"/>
            <a:ext cx="1302379" cy="621586"/>
          </a:xfrm>
          <a:prstGeom prst="line">
            <a:avLst/>
          </a:prstGeom>
          <a:ln w="41275">
            <a:gradFill flip="none" rotWithShape="1">
              <a:gsLst>
                <a:gs pos="0">
                  <a:schemeClr val="accent1">
                    <a:lumMod val="0"/>
                    <a:lumOff val="100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</a:ln>
          <a:effectLst>
            <a:softEdge rad="12700"/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8" name="Grupo 117">
            <a:extLst>
              <a:ext uri="{FF2B5EF4-FFF2-40B4-BE49-F238E27FC236}">
                <a16:creationId xmlns:a16="http://schemas.microsoft.com/office/drawing/2014/main" id="{14C33017-AF2F-8BB4-5C08-16C9AA815D4F}"/>
              </a:ext>
            </a:extLst>
          </p:cNvPr>
          <p:cNvGrpSpPr/>
          <p:nvPr/>
        </p:nvGrpSpPr>
        <p:grpSpPr>
          <a:xfrm>
            <a:off x="11128945" y="5446448"/>
            <a:ext cx="222022" cy="223506"/>
            <a:chOff x="9073669" y="4556391"/>
            <a:chExt cx="216000" cy="216000"/>
          </a:xfrm>
        </p:grpSpPr>
        <p:sp>
          <p:nvSpPr>
            <p:cNvPr id="119" name="Diagrama de flujo: conector 118">
              <a:extLst>
                <a:ext uri="{FF2B5EF4-FFF2-40B4-BE49-F238E27FC236}">
                  <a16:creationId xmlns:a16="http://schemas.microsoft.com/office/drawing/2014/main" id="{D1CBDBAD-BE1A-62D5-13D6-A8D1E99BC19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73669" y="4556391"/>
              <a:ext cx="216000" cy="216000"/>
            </a:xfrm>
            <a:prstGeom prst="flowChartConnector">
              <a:avLst/>
            </a:prstGeom>
            <a:solidFill>
              <a:srgbClr val="0272B0">
                <a:alpha val="78000"/>
              </a:srgbClr>
            </a:solidFill>
            <a:ln>
              <a:noFill/>
            </a:ln>
            <a:effectLst>
              <a:softEdge rad="381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0" name="Diagrama de flujo: conector 119">
              <a:extLst>
                <a:ext uri="{FF2B5EF4-FFF2-40B4-BE49-F238E27FC236}">
                  <a16:creationId xmlns:a16="http://schemas.microsoft.com/office/drawing/2014/main" id="{B9DCF876-79D4-2AC2-4861-E1584B88C4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27669" y="4610391"/>
              <a:ext cx="108000" cy="108000"/>
            </a:xfrm>
            <a:prstGeom prst="flowChartConnector">
              <a:avLst/>
            </a:prstGeom>
            <a:gradFill flip="none" rotWithShape="1">
              <a:gsLst>
                <a:gs pos="0">
                  <a:srgbClr val="16FCFE"/>
                </a:gs>
                <a:gs pos="75000">
                  <a:srgbClr val="54FEFE">
                    <a:alpha val="68000"/>
                  </a:srgbClr>
                </a:gs>
                <a:gs pos="33000">
                  <a:srgbClr val="16FCFE"/>
                </a:gs>
                <a:gs pos="100000">
                  <a:srgbClr val="54FEFE"/>
                </a:gs>
                <a:gs pos="66000">
                  <a:srgbClr val="16FCF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softEdge rad="127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grpSp>
        <p:nvGrpSpPr>
          <p:cNvPr id="115" name="Grupo 114">
            <a:extLst>
              <a:ext uri="{FF2B5EF4-FFF2-40B4-BE49-F238E27FC236}">
                <a16:creationId xmlns:a16="http://schemas.microsoft.com/office/drawing/2014/main" id="{A27EE28D-17A1-818E-C723-5A656294A53D}"/>
              </a:ext>
            </a:extLst>
          </p:cNvPr>
          <p:cNvGrpSpPr/>
          <p:nvPr/>
        </p:nvGrpSpPr>
        <p:grpSpPr>
          <a:xfrm>
            <a:off x="11895454" y="5775630"/>
            <a:ext cx="222022" cy="223506"/>
            <a:chOff x="9073669" y="4556391"/>
            <a:chExt cx="216000" cy="216000"/>
          </a:xfrm>
        </p:grpSpPr>
        <p:sp>
          <p:nvSpPr>
            <p:cNvPr id="116" name="Diagrama de flujo: conector 115">
              <a:extLst>
                <a:ext uri="{FF2B5EF4-FFF2-40B4-BE49-F238E27FC236}">
                  <a16:creationId xmlns:a16="http://schemas.microsoft.com/office/drawing/2014/main" id="{A0B93A62-F700-A603-A08D-62FC4B5FC2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73669" y="4556391"/>
              <a:ext cx="216000" cy="216000"/>
            </a:xfrm>
            <a:prstGeom prst="flowChartConnector">
              <a:avLst/>
            </a:prstGeom>
            <a:solidFill>
              <a:srgbClr val="0272B0">
                <a:alpha val="78000"/>
              </a:srgbClr>
            </a:solidFill>
            <a:ln>
              <a:noFill/>
            </a:ln>
            <a:effectLst>
              <a:softEdge rad="381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7" name="Diagrama de flujo: conector 116">
              <a:extLst>
                <a:ext uri="{FF2B5EF4-FFF2-40B4-BE49-F238E27FC236}">
                  <a16:creationId xmlns:a16="http://schemas.microsoft.com/office/drawing/2014/main" id="{F62691EF-6E8A-1A28-522E-1DB81460A14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27669" y="4610391"/>
              <a:ext cx="108000" cy="108000"/>
            </a:xfrm>
            <a:prstGeom prst="flowChartConnector">
              <a:avLst/>
            </a:prstGeom>
            <a:gradFill flip="none" rotWithShape="1">
              <a:gsLst>
                <a:gs pos="0">
                  <a:srgbClr val="16FCFE"/>
                </a:gs>
                <a:gs pos="75000">
                  <a:srgbClr val="54FEFE">
                    <a:alpha val="68000"/>
                  </a:srgbClr>
                </a:gs>
                <a:gs pos="33000">
                  <a:srgbClr val="16FCFE"/>
                </a:gs>
                <a:gs pos="100000">
                  <a:srgbClr val="54FEFE"/>
                </a:gs>
                <a:gs pos="66000">
                  <a:srgbClr val="16FCF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softEdge rad="127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sp>
        <p:nvSpPr>
          <p:cNvPr id="100" name="Rectángulo: esquinas redondeadas 99">
            <a:extLst>
              <a:ext uri="{FF2B5EF4-FFF2-40B4-BE49-F238E27FC236}">
                <a16:creationId xmlns:a16="http://schemas.microsoft.com/office/drawing/2014/main" id="{689A0274-1215-DE84-DCDA-3E255C9D0E39}"/>
              </a:ext>
            </a:extLst>
          </p:cNvPr>
          <p:cNvSpPr/>
          <p:nvPr/>
        </p:nvSpPr>
        <p:spPr>
          <a:xfrm>
            <a:off x="10223073" y="4971729"/>
            <a:ext cx="701965" cy="749049"/>
          </a:xfrm>
          <a:prstGeom prst="roundRect">
            <a:avLst>
              <a:gd name="adj" fmla="val 11684"/>
            </a:avLst>
          </a:prstGeom>
          <a:gradFill flip="none" rotWithShape="1">
            <a:gsLst>
              <a:gs pos="0">
                <a:srgbClr val="013162"/>
              </a:gs>
              <a:gs pos="38000">
                <a:srgbClr val="013162"/>
              </a:gs>
              <a:gs pos="100000">
                <a:srgbClr val="0272B0"/>
              </a:gs>
              <a:gs pos="87000">
                <a:schemeClr val="accent4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gradFill>
              <a:gsLst>
                <a:gs pos="0">
                  <a:srgbClr val="0272B0"/>
                </a:gs>
                <a:gs pos="53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102" name="Gráfico 101" descr="Clipboard Checked con relleno sólido">
            <a:extLst>
              <a:ext uri="{FF2B5EF4-FFF2-40B4-BE49-F238E27FC236}">
                <a16:creationId xmlns:a16="http://schemas.microsoft.com/office/drawing/2014/main" id="{1FB7A110-DCA9-957B-5FF8-D0C6D9F804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270593" y="5024821"/>
            <a:ext cx="582069" cy="627637"/>
          </a:xfrm>
          <a:prstGeom prst="rect">
            <a:avLst/>
          </a:prstGeom>
        </p:spPr>
      </p:pic>
      <p:pic>
        <p:nvPicPr>
          <p:cNvPr id="104" name="Gráfico 103" descr="Badge Tick1 con relleno sólido">
            <a:extLst>
              <a:ext uri="{FF2B5EF4-FFF2-40B4-BE49-F238E27FC236}">
                <a16:creationId xmlns:a16="http://schemas.microsoft.com/office/drawing/2014/main" id="{C83A1F28-0584-765F-4835-D27DCDBE95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566484" y="5403424"/>
            <a:ext cx="232833" cy="232833"/>
          </a:xfrm>
          <a:prstGeom prst="rect">
            <a:avLst/>
          </a:prstGeom>
        </p:spPr>
      </p:pic>
      <p:grpSp>
        <p:nvGrpSpPr>
          <p:cNvPr id="121" name="Grupo 120">
            <a:extLst>
              <a:ext uri="{FF2B5EF4-FFF2-40B4-BE49-F238E27FC236}">
                <a16:creationId xmlns:a16="http://schemas.microsoft.com/office/drawing/2014/main" id="{6223B297-24FE-509A-1C75-5D49E374359B}"/>
              </a:ext>
            </a:extLst>
          </p:cNvPr>
          <p:cNvGrpSpPr/>
          <p:nvPr/>
        </p:nvGrpSpPr>
        <p:grpSpPr>
          <a:xfrm>
            <a:off x="10632868" y="4862047"/>
            <a:ext cx="222022" cy="223506"/>
            <a:chOff x="9073669" y="4556391"/>
            <a:chExt cx="216000" cy="216000"/>
          </a:xfrm>
        </p:grpSpPr>
        <p:sp>
          <p:nvSpPr>
            <p:cNvPr id="122" name="Diagrama de flujo: conector 121">
              <a:extLst>
                <a:ext uri="{FF2B5EF4-FFF2-40B4-BE49-F238E27FC236}">
                  <a16:creationId xmlns:a16="http://schemas.microsoft.com/office/drawing/2014/main" id="{8E748786-680B-613E-7672-8D0A4B12942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73669" y="4556391"/>
              <a:ext cx="216000" cy="216000"/>
            </a:xfrm>
            <a:prstGeom prst="flowChartConnector">
              <a:avLst/>
            </a:prstGeom>
            <a:solidFill>
              <a:srgbClr val="0272B0">
                <a:alpha val="78000"/>
              </a:srgbClr>
            </a:solidFill>
            <a:ln>
              <a:noFill/>
            </a:ln>
            <a:effectLst>
              <a:softEdge rad="381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3" name="Diagrama de flujo: conector 122">
              <a:extLst>
                <a:ext uri="{FF2B5EF4-FFF2-40B4-BE49-F238E27FC236}">
                  <a16:creationId xmlns:a16="http://schemas.microsoft.com/office/drawing/2014/main" id="{81CA869C-EF86-1345-B50D-87F3BD3302F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27669" y="4610391"/>
              <a:ext cx="108000" cy="108000"/>
            </a:xfrm>
            <a:prstGeom prst="flowChartConnector">
              <a:avLst/>
            </a:prstGeom>
            <a:gradFill flip="none" rotWithShape="1">
              <a:gsLst>
                <a:gs pos="0">
                  <a:srgbClr val="16FCFE"/>
                </a:gs>
                <a:gs pos="75000">
                  <a:srgbClr val="54FEFE">
                    <a:alpha val="68000"/>
                  </a:srgbClr>
                </a:gs>
                <a:gs pos="33000">
                  <a:srgbClr val="16FCFE"/>
                </a:gs>
                <a:gs pos="100000">
                  <a:srgbClr val="54FEFE"/>
                </a:gs>
                <a:gs pos="66000">
                  <a:srgbClr val="16FCF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softEdge rad="127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grpSp>
        <p:nvGrpSpPr>
          <p:cNvPr id="155" name="Grupo 154">
            <a:extLst>
              <a:ext uri="{FF2B5EF4-FFF2-40B4-BE49-F238E27FC236}">
                <a16:creationId xmlns:a16="http://schemas.microsoft.com/office/drawing/2014/main" id="{C3B4B073-0D98-4EC9-D620-2EA0893952D2}"/>
              </a:ext>
            </a:extLst>
          </p:cNvPr>
          <p:cNvGrpSpPr/>
          <p:nvPr/>
        </p:nvGrpSpPr>
        <p:grpSpPr>
          <a:xfrm>
            <a:off x="10072744" y="4886522"/>
            <a:ext cx="222022" cy="223506"/>
            <a:chOff x="9073669" y="4556391"/>
            <a:chExt cx="216000" cy="216000"/>
          </a:xfrm>
        </p:grpSpPr>
        <p:sp>
          <p:nvSpPr>
            <p:cNvPr id="156" name="Diagrama de flujo: conector 155">
              <a:extLst>
                <a:ext uri="{FF2B5EF4-FFF2-40B4-BE49-F238E27FC236}">
                  <a16:creationId xmlns:a16="http://schemas.microsoft.com/office/drawing/2014/main" id="{CF94A933-3C55-4075-97AA-6E6EF7FCC52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73669" y="4556391"/>
              <a:ext cx="216000" cy="216000"/>
            </a:xfrm>
            <a:prstGeom prst="flowChartConnector">
              <a:avLst/>
            </a:prstGeom>
            <a:solidFill>
              <a:srgbClr val="0272B0">
                <a:alpha val="78000"/>
              </a:srgbClr>
            </a:solidFill>
            <a:ln>
              <a:noFill/>
            </a:ln>
            <a:effectLst>
              <a:softEdge rad="381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57" name="Diagrama de flujo: conector 156">
              <a:extLst>
                <a:ext uri="{FF2B5EF4-FFF2-40B4-BE49-F238E27FC236}">
                  <a16:creationId xmlns:a16="http://schemas.microsoft.com/office/drawing/2014/main" id="{56BEA493-1D6F-E9E5-07E9-37F4A9A5D2A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27669" y="4610391"/>
              <a:ext cx="108000" cy="108000"/>
            </a:xfrm>
            <a:prstGeom prst="flowChartConnector">
              <a:avLst/>
            </a:prstGeom>
            <a:gradFill flip="none" rotWithShape="1">
              <a:gsLst>
                <a:gs pos="0">
                  <a:srgbClr val="16FCFE"/>
                </a:gs>
                <a:gs pos="75000">
                  <a:srgbClr val="54FEFE">
                    <a:alpha val="68000"/>
                  </a:srgbClr>
                </a:gs>
                <a:gs pos="33000">
                  <a:srgbClr val="16FCFE"/>
                </a:gs>
                <a:gs pos="100000">
                  <a:srgbClr val="54FEFE"/>
                </a:gs>
                <a:gs pos="66000">
                  <a:srgbClr val="16FCF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softEdge rad="127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914C1CFE-0E81-E2D1-7A80-075D95AC606E}"/>
              </a:ext>
            </a:extLst>
          </p:cNvPr>
          <p:cNvGrpSpPr/>
          <p:nvPr/>
        </p:nvGrpSpPr>
        <p:grpSpPr>
          <a:xfrm>
            <a:off x="8361256" y="6250622"/>
            <a:ext cx="222022" cy="223506"/>
            <a:chOff x="9073669" y="4556391"/>
            <a:chExt cx="216000" cy="216000"/>
          </a:xfrm>
        </p:grpSpPr>
        <p:sp>
          <p:nvSpPr>
            <p:cNvPr id="14" name="Diagrama de flujo: conector 13">
              <a:extLst>
                <a:ext uri="{FF2B5EF4-FFF2-40B4-BE49-F238E27FC236}">
                  <a16:creationId xmlns:a16="http://schemas.microsoft.com/office/drawing/2014/main" id="{3FB6E734-D0FC-ED82-B6D4-017919E8D25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73669" y="4556391"/>
              <a:ext cx="216000" cy="216000"/>
            </a:xfrm>
            <a:prstGeom prst="flowChartConnector">
              <a:avLst/>
            </a:prstGeom>
            <a:solidFill>
              <a:srgbClr val="0272B0">
                <a:alpha val="78000"/>
              </a:srgbClr>
            </a:solidFill>
            <a:ln>
              <a:noFill/>
            </a:ln>
            <a:effectLst>
              <a:softEdge rad="381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6" name="Diagrama de flujo: conector 15">
              <a:extLst>
                <a:ext uri="{FF2B5EF4-FFF2-40B4-BE49-F238E27FC236}">
                  <a16:creationId xmlns:a16="http://schemas.microsoft.com/office/drawing/2014/main" id="{F84C3B4E-1A05-6CBF-F6AF-31F348C0F29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27669" y="4610391"/>
              <a:ext cx="108000" cy="108000"/>
            </a:xfrm>
            <a:prstGeom prst="flowChartConnector">
              <a:avLst/>
            </a:prstGeom>
            <a:gradFill flip="none" rotWithShape="1">
              <a:gsLst>
                <a:gs pos="0">
                  <a:srgbClr val="16FCFE"/>
                </a:gs>
                <a:gs pos="75000">
                  <a:srgbClr val="54FEFE">
                    <a:alpha val="68000"/>
                  </a:srgbClr>
                </a:gs>
                <a:gs pos="33000">
                  <a:srgbClr val="16FCFE"/>
                </a:gs>
                <a:gs pos="100000">
                  <a:srgbClr val="54FEFE"/>
                </a:gs>
                <a:gs pos="66000">
                  <a:srgbClr val="16FCF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softEdge rad="127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2159FE18-04EB-29A3-131A-23473A3D823D}"/>
              </a:ext>
            </a:extLst>
          </p:cNvPr>
          <p:cNvCxnSpPr>
            <a:cxnSpLocks/>
          </p:cNvCxnSpPr>
          <p:nvPr/>
        </p:nvCxnSpPr>
        <p:spPr>
          <a:xfrm flipH="1">
            <a:off x="8216938" y="6109051"/>
            <a:ext cx="994362" cy="0"/>
          </a:xfrm>
          <a:prstGeom prst="line">
            <a:avLst/>
          </a:prstGeom>
          <a:ln w="41275">
            <a:gradFill flip="none" rotWithShape="1">
              <a:gsLst>
                <a:gs pos="0">
                  <a:schemeClr val="accent1">
                    <a:lumMod val="0"/>
                    <a:lumOff val="100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</a:ln>
          <a:effectLst>
            <a:softEdge rad="12700"/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upo 19">
            <a:extLst>
              <a:ext uri="{FF2B5EF4-FFF2-40B4-BE49-F238E27FC236}">
                <a16:creationId xmlns:a16="http://schemas.microsoft.com/office/drawing/2014/main" id="{FF8C6015-46E7-98E6-FD90-05C8059F1A5C}"/>
              </a:ext>
            </a:extLst>
          </p:cNvPr>
          <p:cNvGrpSpPr/>
          <p:nvPr/>
        </p:nvGrpSpPr>
        <p:grpSpPr>
          <a:xfrm>
            <a:off x="8377074" y="5984914"/>
            <a:ext cx="222022" cy="223506"/>
            <a:chOff x="9073669" y="4556391"/>
            <a:chExt cx="216000" cy="216000"/>
          </a:xfrm>
        </p:grpSpPr>
        <p:sp>
          <p:nvSpPr>
            <p:cNvPr id="26" name="Diagrama de flujo: conector 25">
              <a:extLst>
                <a:ext uri="{FF2B5EF4-FFF2-40B4-BE49-F238E27FC236}">
                  <a16:creationId xmlns:a16="http://schemas.microsoft.com/office/drawing/2014/main" id="{3F6A6970-BAED-B0CC-0FB8-AFB87DE3D68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73669" y="4556391"/>
              <a:ext cx="216000" cy="216000"/>
            </a:xfrm>
            <a:prstGeom prst="flowChartConnector">
              <a:avLst/>
            </a:prstGeom>
            <a:solidFill>
              <a:srgbClr val="0272B0">
                <a:alpha val="78000"/>
              </a:srgbClr>
            </a:solidFill>
            <a:ln>
              <a:noFill/>
            </a:ln>
            <a:effectLst>
              <a:softEdge rad="381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32" name="Diagrama de flujo: conector 31">
              <a:extLst>
                <a:ext uri="{FF2B5EF4-FFF2-40B4-BE49-F238E27FC236}">
                  <a16:creationId xmlns:a16="http://schemas.microsoft.com/office/drawing/2014/main" id="{1B553F9F-EE2F-F35E-7445-8A820B6CE1E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27669" y="4610391"/>
              <a:ext cx="108000" cy="108000"/>
            </a:xfrm>
            <a:prstGeom prst="flowChartConnector">
              <a:avLst/>
            </a:prstGeom>
            <a:gradFill flip="none" rotWithShape="1">
              <a:gsLst>
                <a:gs pos="0">
                  <a:srgbClr val="16FCFE"/>
                </a:gs>
                <a:gs pos="75000">
                  <a:srgbClr val="54FEFE">
                    <a:alpha val="68000"/>
                  </a:srgbClr>
                </a:gs>
                <a:gs pos="33000">
                  <a:srgbClr val="16FCFE"/>
                </a:gs>
                <a:gs pos="100000">
                  <a:srgbClr val="54FEFE"/>
                </a:gs>
                <a:gs pos="66000">
                  <a:srgbClr val="16FCF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softEdge rad="127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grpSp>
        <p:nvGrpSpPr>
          <p:cNvPr id="37" name="Grupo 36">
            <a:extLst>
              <a:ext uri="{FF2B5EF4-FFF2-40B4-BE49-F238E27FC236}">
                <a16:creationId xmlns:a16="http://schemas.microsoft.com/office/drawing/2014/main" id="{953EB641-9F75-F7A9-4F8B-349DFB1B9D2B}"/>
              </a:ext>
            </a:extLst>
          </p:cNvPr>
          <p:cNvGrpSpPr/>
          <p:nvPr/>
        </p:nvGrpSpPr>
        <p:grpSpPr>
          <a:xfrm>
            <a:off x="9073669" y="6003476"/>
            <a:ext cx="216000" cy="216000"/>
            <a:chOff x="9073669" y="4556391"/>
            <a:chExt cx="216000" cy="216000"/>
          </a:xfrm>
        </p:grpSpPr>
        <p:sp>
          <p:nvSpPr>
            <p:cNvPr id="38" name="Diagrama de flujo: conector 37">
              <a:extLst>
                <a:ext uri="{FF2B5EF4-FFF2-40B4-BE49-F238E27FC236}">
                  <a16:creationId xmlns:a16="http://schemas.microsoft.com/office/drawing/2014/main" id="{FD90A4B4-31EB-8B3D-5CAB-39E6EEB6860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73669" y="4556391"/>
              <a:ext cx="216000" cy="216000"/>
            </a:xfrm>
            <a:prstGeom prst="flowChartConnector">
              <a:avLst/>
            </a:prstGeom>
            <a:solidFill>
              <a:srgbClr val="0272B0">
                <a:alpha val="78000"/>
              </a:srgbClr>
            </a:solidFill>
            <a:ln>
              <a:noFill/>
            </a:ln>
            <a:effectLst>
              <a:softEdge rad="381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43" name="Diagrama de flujo: conector 42">
              <a:extLst>
                <a:ext uri="{FF2B5EF4-FFF2-40B4-BE49-F238E27FC236}">
                  <a16:creationId xmlns:a16="http://schemas.microsoft.com/office/drawing/2014/main" id="{80580163-09B9-55C2-65E0-1A13184ACE0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27669" y="4610391"/>
              <a:ext cx="108000" cy="108000"/>
            </a:xfrm>
            <a:prstGeom prst="flowChartConnector">
              <a:avLst/>
            </a:prstGeom>
            <a:gradFill flip="none" rotWithShape="1">
              <a:gsLst>
                <a:gs pos="0">
                  <a:srgbClr val="16FCFE"/>
                </a:gs>
                <a:gs pos="75000">
                  <a:srgbClr val="54FEFE">
                    <a:alpha val="68000"/>
                  </a:srgbClr>
                </a:gs>
                <a:gs pos="33000">
                  <a:srgbClr val="16FCFE"/>
                </a:gs>
                <a:gs pos="100000">
                  <a:srgbClr val="54FEFE"/>
                </a:gs>
                <a:gs pos="66000">
                  <a:srgbClr val="16FCFE"/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>
              <a:softEdge rad="127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sp>
        <p:nvSpPr>
          <p:cNvPr id="56" name="Hexágono 55">
            <a:extLst>
              <a:ext uri="{FF2B5EF4-FFF2-40B4-BE49-F238E27FC236}">
                <a16:creationId xmlns:a16="http://schemas.microsoft.com/office/drawing/2014/main" id="{A4124E6F-DE56-7652-C82C-6A2B5D9A9450}"/>
              </a:ext>
            </a:extLst>
          </p:cNvPr>
          <p:cNvSpPr/>
          <p:nvPr/>
        </p:nvSpPr>
        <p:spPr>
          <a:xfrm>
            <a:off x="844698" y="3328561"/>
            <a:ext cx="7287264" cy="553845"/>
          </a:xfrm>
          <a:prstGeom prst="hexagon">
            <a:avLst/>
          </a:prstGeom>
          <a:solidFill>
            <a:srgbClr val="F0F7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lvl="1"/>
            <a:r>
              <a:rPr lang="es-CL" b="1" dirty="0">
                <a:solidFill>
                  <a:srgbClr val="002060"/>
                </a:solidFill>
                <a:latin typeface="Arial Narrow" panose="020B0606020202030204" pitchFamily="34" charset="0"/>
              </a:rPr>
              <a:t>Entregables del Proyecto</a:t>
            </a:r>
          </a:p>
        </p:txBody>
      </p:sp>
      <p:sp>
        <p:nvSpPr>
          <p:cNvPr id="58" name="Hexágono 57">
            <a:extLst>
              <a:ext uri="{FF2B5EF4-FFF2-40B4-BE49-F238E27FC236}">
                <a16:creationId xmlns:a16="http://schemas.microsoft.com/office/drawing/2014/main" id="{FBE425AD-95F5-270A-D0A4-E1805B972A95}"/>
              </a:ext>
            </a:extLst>
          </p:cNvPr>
          <p:cNvSpPr/>
          <p:nvPr/>
        </p:nvSpPr>
        <p:spPr>
          <a:xfrm>
            <a:off x="371754" y="3301762"/>
            <a:ext cx="835152" cy="617220"/>
          </a:xfrm>
          <a:prstGeom prst="hexagon">
            <a:avLst/>
          </a:prstGeom>
          <a:gradFill flip="none" rotWithShape="1">
            <a:gsLst>
              <a:gs pos="0">
                <a:srgbClr val="0070C0"/>
              </a:gs>
              <a:gs pos="75000">
                <a:schemeClr val="accent1">
                  <a:lumMod val="60000"/>
                  <a:lumOff val="40000"/>
                </a:schemeClr>
              </a:gs>
              <a:gs pos="40000">
                <a:srgbClr val="0070C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2800" b="1" dirty="0"/>
              <a:t>06</a:t>
            </a:r>
          </a:p>
        </p:txBody>
      </p:sp>
      <p:cxnSp>
        <p:nvCxnSpPr>
          <p:cNvPr id="60" name="Conector recto 59">
            <a:extLst>
              <a:ext uri="{FF2B5EF4-FFF2-40B4-BE49-F238E27FC236}">
                <a16:creationId xmlns:a16="http://schemas.microsoft.com/office/drawing/2014/main" id="{348F4F39-4C94-C376-6D34-B53666AF893A}"/>
              </a:ext>
            </a:extLst>
          </p:cNvPr>
          <p:cNvCxnSpPr>
            <a:cxnSpLocks/>
          </p:cNvCxnSpPr>
          <p:nvPr/>
        </p:nvCxnSpPr>
        <p:spPr>
          <a:xfrm>
            <a:off x="1972335" y="3439051"/>
            <a:ext cx="0" cy="346710"/>
          </a:xfrm>
          <a:prstGeom prst="line">
            <a:avLst/>
          </a:prstGeom>
          <a:ln cmpd="thickThin">
            <a:solidFill>
              <a:srgbClr val="D5DB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cto 61">
            <a:extLst>
              <a:ext uri="{FF2B5EF4-FFF2-40B4-BE49-F238E27FC236}">
                <a16:creationId xmlns:a16="http://schemas.microsoft.com/office/drawing/2014/main" id="{3ADAF85A-0C89-4C83-1135-F839C0F385E8}"/>
              </a:ext>
            </a:extLst>
          </p:cNvPr>
          <p:cNvCxnSpPr>
            <a:cxnSpLocks/>
          </p:cNvCxnSpPr>
          <p:nvPr/>
        </p:nvCxnSpPr>
        <p:spPr>
          <a:xfrm>
            <a:off x="4685055" y="3439051"/>
            <a:ext cx="0" cy="346710"/>
          </a:xfrm>
          <a:prstGeom prst="line">
            <a:avLst/>
          </a:prstGeom>
          <a:ln cmpd="thickThin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FA9F51D-3E0E-825B-1533-A4DEC6DB6054}"/>
              </a:ext>
            </a:extLst>
          </p:cNvPr>
          <p:cNvSpPr txBox="1"/>
          <p:nvPr/>
        </p:nvSpPr>
        <p:spPr>
          <a:xfrm>
            <a:off x="4780735" y="3359260"/>
            <a:ext cx="335400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300" dirty="0">
                <a:solidFill>
                  <a:srgbClr val="002060"/>
                </a:solidFill>
                <a:latin typeface="Aptos Narrow" panose="020B0004020202020204" pitchFamily="34" charset="0"/>
              </a:rPr>
              <a:t>Estado y evidencias de Arquitectura 4+1, Modelo de Datos, Casos de Uso y Casos de Prueba.</a:t>
            </a:r>
          </a:p>
        </p:txBody>
      </p:sp>
      <p:pic>
        <p:nvPicPr>
          <p:cNvPr id="72" name="Gráfico 71" descr="Cube con relleno sólido">
            <a:extLst>
              <a:ext uri="{FF2B5EF4-FFF2-40B4-BE49-F238E27FC236}">
                <a16:creationId xmlns:a16="http://schemas.microsoft.com/office/drawing/2014/main" id="{C0BC4963-A5F7-A866-439D-21727C9E18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380856" y="3370090"/>
            <a:ext cx="492443" cy="492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52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Imagen 164">
            <a:extLst>
              <a:ext uri="{FF2B5EF4-FFF2-40B4-BE49-F238E27FC236}">
                <a16:creationId xmlns:a16="http://schemas.microsoft.com/office/drawing/2014/main" id="{36A12536-275B-00EB-41D1-921D0C4D9C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167" name="Rectángulo: esquinas redondeadas 166">
            <a:extLst>
              <a:ext uri="{FF2B5EF4-FFF2-40B4-BE49-F238E27FC236}">
                <a16:creationId xmlns:a16="http://schemas.microsoft.com/office/drawing/2014/main" id="{713B086C-D6B5-A9FB-5010-C4850F265AFC}"/>
              </a:ext>
            </a:extLst>
          </p:cNvPr>
          <p:cNvSpPr/>
          <p:nvPr/>
        </p:nvSpPr>
        <p:spPr>
          <a:xfrm>
            <a:off x="2809551" y="987870"/>
            <a:ext cx="6651137" cy="3708370"/>
          </a:xfrm>
          <a:prstGeom prst="roundRect">
            <a:avLst>
              <a:gd name="adj" fmla="val 5891"/>
            </a:avLst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pic>
        <p:nvPicPr>
          <p:cNvPr id="169" name="Imagen 168">
            <a:extLst>
              <a:ext uri="{FF2B5EF4-FFF2-40B4-BE49-F238E27FC236}">
                <a16:creationId xmlns:a16="http://schemas.microsoft.com/office/drawing/2014/main" id="{CA721711-4D09-567C-3EEC-07A96B5613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0837" y="217737"/>
            <a:ext cx="1620000" cy="1620000"/>
          </a:xfrm>
          <a:prstGeom prst="rect">
            <a:avLst/>
          </a:prstGeom>
        </p:spPr>
      </p:pic>
      <p:sp>
        <p:nvSpPr>
          <p:cNvPr id="115" name="Rectángulo: esquinas redondeadas 114">
            <a:extLst>
              <a:ext uri="{FF2B5EF4-FFF2-40B4-BE49-F238E27FC236}">
                <a16:creationId xmlns:a16="http://schemas.microsoft.com/office/drawing/2014/main" id="{A9A6DD0C-ADD6-CDA9-4A43-9C62CCE5A561}"/>
              </a:ext>
            </a:extLst>
          </p:cNvPr>
          <p:cNvSpPr/>
          <p:nvPr/>
        </p:nvSpPr>
        <p:spPr>
          <a:xfrm>
            <a:off x="114131" y="4755908"/>
            <a:ext cx="3869514" cy="1598642"/>
          </a:xfrm>
          <a:prstGeom prst="roundRect">
            <a:avLst>
              <a:gd name="adj" fmla="val 5732"/>
            </a:avLst>
          </a:prstGeom>
          <a:solidFill>
            <a:srgbClr val="F1F3FB"/>
          </a:solidFill>
          <a:ln w="15875">
            <a:solidFill>
              <a:srgbClr val="D5DB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22" name="Rectángulo: esquinas superiores redondeadas 121">
            <a:extLst>
              <a:ext uri="{FF2B5EF4-FFF2-40B4-BE49-F238E27FC236}">
                <a16:creationId xmlns:a16="http://schemas.microsoft.com/office/drawing/2014/main" id="{C3A29777-764A-F0E6-6197-D3DAEB9D1643}"/>
              </a:ext>
            </a:extLst>
          </p:cNvPr>
          <p:cNvSpPr/>
          <p:nvPr/>
        </p:nvSpPr>
        <p:spPr>
          <a:xfrm>
            <a:off x="117860" y="4763643"/>
            <a:ext cx="3854504" cy="351357"/>
          </a:xfrm>
          <a:prstGeom prst="round2SameRect">
            <a:avLst>
              <a:gd name="adj1" fmla="val 25994"/>
              <a:gd name="adj2" fmla="val 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7" name="Rectángulo: esquinas superiores redondeadas 76">
            <a:extLst>
              <a:ext uri="{FF2B5EF4-FFF2-40B4-BE49-F238E27FC236}">
                <a16:creationId xmlns:a16="http://schemas.microsoft.com/office/drawing/2014/main" id="{42A32A2A-385F-6E65-3E81-FF894A57C49E}"/>
              </a:ext>
            </a:extLst>
          </p:cNvPr>
          <p:cNvSpPr/>
          <p:nvPr/>
        </p:nvSpPr>
        <p:spPr>
          <a:xfrm>
            <a:off x="3520308" y="1322332"/>
            <a:ext cx="1275249" cy="2609006"/>
          </a:xfrm>
          <a:prstGeom prst="round2SameRect">
            <a:avLst>
              <a:gd name="adj1" fmla="val 6305"/>
              <a:gd name="adj2" fmla="val 0"/>
            </a:avLst>
          </a:prstGeom>
          <a:solidFill>
            <a:srgbClr val="DDF4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9" name="Rectángulo: esquinas superiores redondeadas 78">
            <a:extLst>
              <a:ext uri="{FF2B5EF4-FFF2-40B4-BE49-F238E27FC236}">
                <a16:creationId xmlns:a16="http://schemas.microsoft.com/office/drawing/2014/main" id="{C2E579E8-3DD9-E7BA-81AA-DCBC9F807D28}"/>
              </a:ext>
            </a:extLst>
          </p:cNvPr>
          <p:cNvSpPr/>
          <p:nvPr/>
        </p:nvSpPr>
        <p:spPr>
          <a:xfrm>
            <a:off x="4827819" y="1322332"/>
            <a:ext cx="1237873" cy="2609006"/>
          </a:xfrm>
          <a:prstGeom prst="round2SameRect">
            <a:avLst>
              <a:gd name="adj1" fmla="val 6961"/>
              <a:gd name="adj2" fmla="val 0"/>
            </a:avLst>
          </a:prstGeom>
          <a:solidFill>
            <a:srgbClr val="E0EE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1" name="Rectángulo: esquinas superiores redondeadas 80">
            <a:extLst>
              <a:ext uri="{FF2B5EF4-FFF2-40B4-BE49-F238E27FC236}">
                <a16:creationId xmlns:a16="http://schemas.microsoft.com/office/drawing/2014/main" id="{F7323815-2975-67CB-2CED-85AD9D663F0A}"/>
              </a:ext>
            </a:extLst>
          </p:cNvPr>
          <p:cNvSpPr/>
          <p:nvPr/>
        </p:nvSpPr>
        <p:spPr>
          <a:xfrm>
            <a:off x="6085987" y="1322332"/>
            <a:ext cx="1118789" cy="2609006"/>
          </a:xfrm>
          <a:prstGeom prst="round2SameRect">
            <a:avLst>
              <a:gd name="adj1" fmla="val 6305"/>
              <a:gd name="adj2" fmla="val 0"/>
            </a:avLst>
          </a:prstGeom>
          <a:solidFill>
            <a:srgbClr val="FEEB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3" name="Rectángulo: esquinas superiores redondeadas 82">
            <a:extLst>
              <a:ext uri="{FF2B5EF4-FFF2-40B4-BE49-F238E27FC236}">
                <a16:creationId xmlns:a16="http://schemas.microsoft.com/office/drawing/2014/main" id="{FE67FD1B-31E1-D98F-F6ED-BC5E411ED18D}"/>
              </a:ext>
            </a:extLst>
          </p:cNvPr>
          <p:cNvSpPr/>
          <p:nvPr/>
        </p:nvSpPr>
        <p:spPr>
          <a:xfrm>
            <a:off x="7225071" y="1322332"/>
            <a:ext cx="1070569" cy="2609006"/>
          </a:xfrm>
          <a:prstGeom prst="round2SameRect">
            <a:avLst>
              <a:gd name="adj1" fmla="val 6305"/>
              <a:gd name="adj2" fmla="val 0"/>
            </a:avLst>
          </a:prstGeom>
          <a:solidFill>
            <a:srgbClr val="E8E5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5" name="Rectángulo: esquinas superiores redondeadas 84">
            <a:extLst>
              <a:ext uri="{FF2B5EF4-FFF2-40B4-BE49-F238E27FC236}">
                <a16:creationId xmlns:a16="http://schemas.microsoft.com/office/drawing/2014/main" id="{7E4E7468-FF5D-55C9-4B84-7208A104BCBA}"/>
              </a:ext>
            </a:extLst>
          </p:cNvPr>
          <p:cNvSpPr/>
          <p:nvPr/>
        </p:nvSpPr>
        <p:spPr>
          <a:xfrm>
            <a:off x="8308682" y="1318375"/>
            <a:ext cx="1039194" cy="2609006"/>
          </a:xfrm>
          <a:prstGeom prst="round2SameRect">
            <a:avLst>
              <a:gd name="adj1" fmla="val 6305"/>
              <a:gd name="adj2" fmla="val 0"/>
            </a:avLst>
          </a:prstGeom>
          <a:solidFill>
            <a:srgbClr val="FDDC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8" name="Rectángulo: esquinas redondeadas 47">
            <a:extLst>
              <a:ext uri="{FF2B5EF4-FFF2-40B4-BE49-F238E27FC236}">
                <a16:creationId xmlns:a16="http://schemas.microsoft.com/office/drawing/2014/main" id="{5CC3CE66-C970-70B9-AE3F-D45F3C70A360}"/>
              </a:ext>
            </a:extLst>
          </p:cNvPr>
          <p:cNvSpPr/>
          <p:nvPr/>
        </p:nvSpPr>
        <p:spPr>
          <a:xfrm>
            <a:off x="9665118" y="1383065"/>
            <a:ext cx="2430142" cy="3037408"/>
          </a:xfrm>
          <a:prstGeom prst="roundRect">
            <a:avLst>
              <a:gd name="adj" fmla="val 3368"/>
            </a:avLst>
          </a:prstGeom>
          <a:solidFill>
            <a:srgbClr val="F1F3FB"/>
          </a:solidFill>
          <a:ln>
            <a:solidFill>
              <a:srgbClr val="EDED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6" name="Rectángulo: esquinas superiores redondeadas 75">
            <a:extLst>
              <a:ext uri="{FF2B5EF4-FFF2-40B4-BE49-F238E27FC236}">
                <a16:creationId xmlns:a16="http://schemas.microsoft.com/office/drawing/2014/main" id="{64EB7A44-F25C-D15B-DA48-82F761C2253D}"/>
              </a:ext>
            </a:extLst>
          </p:cNvPr>
          <p:cNvSpPr/>
          <p:nvPr/>
        </p:nvSpPr>
        <p:spPr>
          <a:xfrm>
            <a:off x="9674004" y="1391995"/>
            <a:ext cx="2412370" cy="394747"/>
          </a:xfrm>
          <a:prstGeom prst="round2SameRect">
            <a:avLst>
              <a:gd name="adj1" fmla="val 19212"/>
              <a:gd name="adj2" fmla="val 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6" name="Rectángulo: esquinas redondeadas 45">
            <a:extLst>
              <a:ext uri="{FF2B5EF4-FFF2-40B4-BE49-F238E27FC236}">
                <a16:creationId xmlns:a16="http://schemas.microsoft.com/office/drawing/2014/main" id="{B6E454CA-5131-8618-0D07-9ECEC6962BB3}"/>
              </a:ext>
            </a:extLst>
          </p:cNvPr>
          <p:cNvSpPr/>
          <p:nvPr/>
        </p:nvSpPr>
        <p:spPr>
          <a:xfrm>
            <a:off x="2822005" y="987869"/>
            <a:ext cx="6633080" cy="3716106"/>
          </a:xfrm>
          <a:prstGeom prst="roundRect">
            <a:avLst>
              <a:gd name="adj" fmla="val 5852"/>
            </a:avLst>
          </a:prstGeom>
          <a:noFill/>
          <a:ln>
            <a:solidFill>
              <a:srgbClr val="EDED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F550958-CDC6-D805-F084-C62A4A7EF141}"/>
              </a:ext>
            </a:extLst>
          </p:cNvPr>
          <p:cNvSpPr txBox="1"/>
          <p:nvPr/>
        </p:nvSpPr>
        <p:spPr>
          <a:xfrm>
            <a:off x="577154" y="101025"/>
            <a:ext cx="68571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200" b="1" dirty="0">
                <a:solidFill>
                  <a:srgbClr val="002060"/>
                </a:solidFill>
                <a:latin typeface="Abadi" panose="020B0604020104020204" pitchFamily="34" charset="0"/>
              </a:rPr>
              <a:t>Estado de Avance General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982EB4BB-A52F-430F-DC8D-7C9F00C4B4D6}"/>
              </a:ext>
            </a:extLst>
          </p:cNvPr>
          <p:cNvSpPr/>
          <p:nvPr/>
        </p:nvSpPr>
        <p:spPr>
          <a:xfrm>
            <a:off x="105484" y="987869"/>
            <a:ext cx="2430142" cy="3572701"/>
          </a:xfrm>
          <a:prstGeom prst="roundRect">
            <a:avLst>
              <a:gd name="adj" fmla="val 3368"/>
            </a:avLst>
          </a:prstGeom>
          <a:solidFill>
            <a:srgbClr val="FCFCFE"/>
          </a:solidFill>
          <a:ln>
            <a:solidFill>
              <a:srgbClr val="EDED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BAD0241B-DD8F-2627-8B62-C99CC165A1CC}"/>
              </a:ext>
            </a:extLst>
          </p:cNvPr>
          <p:cNvSpPr/>
          <p:nvPr/>
        </p:nvSpPr>
        <p:spPr>
          <a:xfrm>
            <a:off x="214341" y="1107827"/>
            <a:ext cx="2212428" cy="625365"/>
          </a:xfrm>
          <a:prstGeom prst="roundRect">
            <a:avLst>
              <a:gd name="adj" fmla="val 14566"/>
            </a:avLst>
          </a:prstGeom>
          <a:solidFill>
            <a:srgbClr val="F1F3FB"/>
          </a:solidFill>
          <a:ln w="12700">
            <a:solidFill>
              <a:srgbClr val="EDED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11" name="Gráfico 10" descr="Monthly calendar contorno">
            <a:extLst>
              <a:ext uri="{FF2B5EF4-FFF2-40B4-BE49-F238E27FC236}">
                <a16:creationId xmlns:a16="http://schemas.microsoft.com/office/drawing/2014/main" id="{AD74F295-CCEE-0B35-CB64-CCEAAD5A8B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4235" y="1198733"/>
            <a:ext cx="559676" cy="443551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A6DCCC38-8400-726E-4129-9EB4CB460C25}"/>
              </a:ext>
            </a:extLst>
          </p:cNvPr>
          <p:cNvSpPr txBox="1"/>
          <p:nvPr/>
        </p:nvSpPr>
        <p:spPr>
          <a:xfrm>
            <a:off x="772450" y="1126218"/>
            <a:ext cx="95410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100" dirty="0">
                <a:latin typeface="Arial Narrow" panose="020B0606020202030204" pitchFamily="34" charset="0"/>
              </a:rPr>
              <a:t>Fecha de corte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2F36CF02-C3D3-ADB6-B046-983153FDE8EC}"/>
              </a:ext>
            </a:extLst>
          </p:cNvPr>
          <p:cNvSpPr/>
          <p:nvPr/>
        </p:nvSpPr>
        <p:spPr>
          <a:xfrm>
            <a:off x="214341" y="1849640"/>
            <a:ext cx="2212428" cy="794445"/>
          </a:xfrm>
          <a:prstGeom prst="roundRect">
            <a:avLst>
              <a:gd name="adj" fmla="val 14566"/>
            </a:avLst>
          </a:prstGeom>
          <a:solidFill>
            <a:srgbClr val="F1F3FB"/>
          </a:solidFill>
          <a:ln w="12700">
            <a:solidFill>
              <a:srgbClr val="EDED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2C0F9A21-1A3D-4A5A-E862-8030BF06E00D}"/>
              </a:ext>
            </a:extLst>
          </p:cNvPr>
          <p:cNvSpPr txBox="1"/>
          <p:nvPr/>
        </p:nvSpPr>
        <p:spPr>
          <a:xfrm>
            <a:off x="772450" y="1868667"/>
            <a:ext cx="78098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100" dirty="0">
                <a:latin typeface="Arial Narrow" panose="020B0606020202030204" pitchFamily="34" charset="0"/>
              </a:rPr>
              <a:t>Fase actual</a:t>
            </a:r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4CE70F12-8D75-ABB0-DF0B-2468B113FE2D}"/>
              </a:ext>
            </a:extLst>
          </p:cNvPr>
          <p:cNvSpPr/>
          <p:nvPr/>
        </p:nvSpPr>
        <p:spPr>
          <a:xfrm>
            <a:off x="214341" y="2744946"/>
            <a:ext cx="2212428" cy="663869"/>
          </a:xfrm>
          <a:prstGeom prst="roundRect">
            <a:avLst>
              <a:gd name="adj" fmla="val 14566"/>
            </a:avLst>
          </a:prstGeom>
          <a:solidFill>
            <a:srgbClr val="F1F3FB"/>
          </a:solidFill>
          <a:ln w="12700">
            <a:solidFill>
              <a:srgbClr val="EDED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B4D5D298-D996-F182-DE7E-B747A089E191}"/>
              </a:ext>
            </a:extLst>
          </p:cNvPr>
          <p:cNvSpPr txBox="1"/>
          <p:nvPr/>
        </p:nvSpPr>
        <p:spPr>
          <a:xfrm>
            <a:off x="810842" y="2762000"/>
            <a:ext cx="82586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100" dirty="0">
                <a:latin typeface="Arial Narrow" panose="020B0606020202030204" pitchFamily="34" charset="0"/>
              </a:rPr>
              <a:t>Próximo hito</a:t>
            </a:r>
          </a:p>
        </p:txBody>
      </p:sp>
      <p:sp>
        <p:nvSpPr>
          <p:cNvPr id="33" name="Rectángulo: esquinas redondeadas 32">
            <a:extLst>
              <a:ext uri="{FF2B5EF4-FFF2-40B4-BE49-F238E27FC236}">
                <a16:creationId xmlns:a16="http://schemas.microsoft.com/office/drawing/2014/main" id="{5FD800F5-67DE-4645-B750-C84FEA752225}"/>
              </a:ext>
            </a:extLst>
          </p:cNvPr>
          <p:cNvSpPr/>
          <p:nvPr/>
        </p:nvSpPr>
        <p:spPr>
          <a:xfrm>
            <a:off x="214341" y="3514471"/>
            <a:ext cx="2212428" cy="999471"/>
          </a:xfrm>
          <a:prstGeom prst="roundRect">
            <a:avLst>
              <a:gd name="adj" fmla="val 14566"/>
            </a:avLst>
          </a:prstGeom>
          <a:solidFill>
            <a:srgbClr val="F1F3FB"/>
          </a:solidFill>
          <a:ln w="12700">
            <a:solidFill>
              <a:srgbClr val="EDED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9525CBF4-9D5C-0AB5-C633-F55A67655AAA}"/>
              </a:ext>
            </a:extLst>
          </p:cNvPr>
          <p:cNvSpPr txBox="1"/>
          <p:nvPr/>
        </p:nvSpPr>
        <p:spPr>
          <a:xfrm>
            <a:off x="850318" y="3517544"/>
            <a:ext cx="96051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100" dirty="0">
                <a:latin typeface="Arial Narrow" panose="020B0606020202030204" pitchFamily="34" charset="0"/>
              </a:rPr>
              <a:t>Estado general</a:t>
            </a:r>
          </a:p>
        </p:txBody>
      </p:sp>
      <p:pic>
        <p:nvPicPr>
          <p:cNvPr id="42" name="Gráfico 41" descr="Bullseye con relleno sólido">
            <a:extLst>
              <a:ext uri="{FF2B5EF4-FFF2-40B4-BE49-F238E27FC236}">
                <a16:creationId xmlns:a16="http://schemas.microsoft.com/office/drawing/2014/main" id="{6E36D181-2CDA-8AA7-F64F-74D399640E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6229" y="2865246"/>
            <a:ext cx="396000" cy="396000"/>
          </a:xfrm>
          <a:prstGeom prst="rect">
            <a:avLst/>
          </a:prstGeom>
        </p:spPr>
      </p:pic>
      <p:pic>
        <p:nvPicPr>
          <p:cNvPr id="44" name="Gráfico 43" descr="Heart with pulse contorno">
            <a:extLst>
              <a:ext uri="{FF2B5EF4-FFF2-40B4-BE49-F238E27FC236}">
                <a16:creationId xmlns:a16="http://schemas.microsoft.com/office/drawing/2014/main" id="{12C32BE7-D0F5-D73C-D367-77FF0DD79B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4235" y="3794710"/>
            <a:ext cx="468000" cy="468000"/>
          </a:xfrm>
          <a:prstGeom prst="rect">
            <a:avLst/>
          </a:prstGeom>
        </p:spPr>
      </p:pic>
      <p:sp>
        <p:nvSpPr>
          <p:cNvPr id="49" name="CuadroTexto 48">
            <a:extLst>
              <a:ext uri="{FF2B5EF4-FFF2-40B4-BE49-F238E27FC236}">
                <a16:creationId xmlns:a16="http://schemas.microsoft.com/office/drawing/2014/main" id="{D315309C-9E7A-2B76-2E01-932143B800C3}"/>
              </a:ext>
            </a:extLst>
          </p:cNvPr>
          <p:cNvSpPr txBox="1"/>
          <p:nvPr/>
        </p:nvSpPr>
        <p:spPr>
          <a:xfrm>
            <a:off x="9737968" y="1909976"/>
            <a:ext cx="143007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300" b="1" dirty="0">
                <a:latin typeface="Arial Narrow" panose="020B0606020202030204" pitchFamily="34" charset="0"/>
              </a:rPr>
              <a:t>Avance Planificado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4E2C1668-E6F5-E0E8-B58C-95806C71EAE2}"/>
              </a:ext>
            </a:extLst>
          </p:cNvPr>
          <p:cNvSpPr txBox="1"/>
          <p:nvPr/>
        </p:nvSpPr>
        <p:spPr>
          <a:xfrm>
            <a:off x="9737968" y="2458952"/>
            <a:ext cx="99084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300" b="1" dirty="0">
                <a:latin typeface="Arial Narrow" panose="020B0606020202030204" pitchFamily="34" charset="0"/>
              </a:rPr>
              <a:t>Avance Real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B40C6884-B94D-C8FD-8A10-1E81D7207AA8}"/>
              </a:ext>
            </a:extLst>
          </p:cNvPr>
          <p:cNvSpPr txBox="1"/>
          <p:nvPr/>
        </p:nvSpPr>
        <p:spPr>
          <a:xfrm>
            <a:off x="9735559" y="3198475"/>
            <a:ext cx="904415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300" b="1" dirty="0">
                <a:latin typeface="Arial Narrow" panose="020B0606020202030204" pitchFamily="34" charset="0"/>
              </a:rPr>
              <a:t>Desviación</a:t>
            </a:r>
          </a:p>
        </p:txBody>
      </p:sp>
      <p:sp>
        <p:nvSpPr>
          <p:cNvPr id="54" name="Rectángulo: esquinas redondeadas 53">
            <a:extLst>
              <a:ext uri="{FF2B5EF4-FFF2-40B4-BE49-F238E27FC236}">
                <a16:creationId xmlns:a16="http://schemas.microsoft.com/office/drawing/2014/main" id="{90E08AEC-B9CC-A579-5C27-5A1CC81B4801}"/>
              </a:ext>
            </a:extLst>
          </p:cNvPr>
          <p:cNvSpPr/>
          <p:nvPr/>
        </p:nvSpPr>
        <p:spPr>
          <a:xfrm>
            <a:off x="9735559" y="3617430"/>
            <a:ext cx="2257239" cy="727180"/>
          </a:xfrm>
          <a:prstGeom prst="roundRect">
            <a:avLst>
              <a:gd name="adj" fmla="val 14249"/>
            </a:avLst>
          </a:prstGeom>
          <a:solidFill>
            <a:srgbClr val="DDF4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BAE6B486-4EA3-AEDF-9843-24B5BA19B6E9}"/>
              </a:ext>
            </a:extLst>
          </p:cNvPr>
          <p:cNvSpPr txBox="1"/>
          <p:nvPr/>
        </p:nvSpPr>
        <p:spPr>
          <a:xfrm>
            <a:off x="11266517" y="3196534"/>
            <a:ext cx="7361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700" b="1" dirty="0">
                <a:latin typeface="Abadi" panose="020B0604020104020204" pitchFamily="34" charset="0"/>
              </a:rPr>
              <a:t>(Puntos </a:t>
            </a:r>
          </a:p>
          <a:p>
            <a:pPr algn="ctr"/>
            <a:r>
              <a:rPr lang="es-CL" sz="700" b="1" dirty="0">
                <a:latin typeface="Abadi" panose="020B0604020104020204" pitchFamily="34" charset="0"/>
              </a:rPr>
              <a:t>Porcentuales)</a:t>
            </a:r>
          </a:p>
        </p:txBody>
      </p:sp>
      <p:sp>
        <p:nvSpPr>
          <p:cNvPr id="64" name="Rectángulo: esquinas redondeadas 63">
            <a:extLst>
              <a:ext uri="{FF2B5EF4-FFF2-40B4-BE49-F238E27FC236}">
                <a16:creationId xmlns:a16="http://schemas.microsoft.com/office/drawing/2014/main" id="{F1126AC6-229C-9E29-D666-5C5040DA5EA2}"/>
              </a:ext>
            </a:extLst>
          </p:cNvPr>
          <p:cNvSpPr/>
          <p:nvPr/>
        </p:nvSpPr>
        <p:spPr>
          <a:xfrm>
            <a:off x="11169486" y="1935634"/>
            <a:ext cx="800219" cy="334496"/>
          </a:xfrm>
          <a:prstGeom prst="roundRect">
            <a:avLst/>
          </a:prstGeom>
          <a:solidFill>
            <a:srgbClr val="DDF4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6" name="Rectángulo: esquinas redondeadas 65">
            <a:extLst>
              <a:ext uri="{FF2B5EF4-FFF2-40B4-BE49-F238E27FC236}">
                <a16:creationId xmlns:a16="http://schemas.microsoft.com/office/drawing/2014/main" id="{5097CF6E-DDE2-14E3-452B-BCA2470CE01B}"/>
              </a:ext>
            </a:extLst>
          </p:cNvPr>
          <p:cNvSpPr/>
          <p:nvPr/>
        </p:nvSpPr>
        <p:spPr>
          <a:xfrm>
            <a:off x="11170941" y="2545770"/>
            <a:ext cx="824265" cy="355999"/>
          </a:xfrm>
          <a:prstGeom prst="roundRect">
            <a:avLst/>
          </a:prstGeom>
          <a:solidFill>
            <a:srgbClr val="DDF4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72" name="Conector recto 71">
            <a:extLst>
              <a:ext uri="{FF2B5EF4-FFF2-40B4-BE49-F238E27FC236}">
                <a16:creationId xmlns:a16="http://schemas.microsoft.com/office/drawing/2014/main" id="{C11C2F41-42CA-92A7-372C-3EFD21F4C06E}"/>
              </a:ext>
            </a:extLst>
          </p:cNvPr>
          <p:cNvCxnSpPr>
            <a:cxnSpLocks/>
          </p:cNvCxnSpPr>
          <p:nvPr/>
        </p:nvCxnSpPr>
        <p:spPr>
          <a:xfrm>
            <a:off x="9836004" y="2438142"/>
            <a:ext cx="2073791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cto 73">
            <a:extLst>
              <a:ext uri="{FF2B5EF4-FFF2-40B4-BE49-F238E27FC236}">
                <a16:creationId xmlns:a16="http://schemas.microsoft.com/office/drawing/2014/main" id="{95F77D5E-50F0-9B1B-A42F-86F186755CEB}"/>
              </a:ext>
            </a:extLst>
          </p:cNvPr>
          <p:cNvCxnSpPr>
            <a:cxnSpLocks/>
          </p:cNvCxnSpPr>
          <p:nvPr/>
        </p:nvCxnSpPr>
        <p:spPr>
          <a:xfrm>
            <a:off x="9836004" y="2994770"/>
            <a:ext cx="2073791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CuadroTexto 74">
            <a:extLst>
              <a:ext uri="{FF2B5EF4-FFF2-40B4-BE49-F238E27FC236}">
                <a16:creationId xmlns:a16="http://schemas.microsoft.com/office/drawing/2014/main" id="{477C18E1-FB1F-073A-03A9-F0229F924F97}"/>
              </a:ext>
            </a:extLst>
          </p:cNvPr>
          <p:cNvSpPr txBox="1"/>
          <p:nvPr/>
        </p:nvSpPr>
        <p:spPr>
          <a:xfrm>
            <a:off x="10081592" y="1423110"/>
            <a:ext cx="17652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Arial Narrow" panose="020B0606020202030204" pitchFamily="34" charset="0"/>
              </a:rPr>
              <a:t>Indicadores de avance</a:t>
            </a:r>
          </a:p>
        </p:txBody>
      </p:sp>
      <p:sp>
        <p:nvSpPr>
          <p:cNvPr id="86" name="CuadroTexto 85">
            <a:extLst>
              <a:ext uri="{FF2B5EF4-FFF2-40B4-BE49-F238E27FC236}">
                <a16:creationId xmlns:a16="http://schemas.microsoft.com/office/drawing/2014/main" id="{4265F78A-DB91-B224-9A9D-21FDF5E990AB}"/>
              </a:ext>
            </a:extLst>
          </p:cNvPr>
          <p:cNvSpPr txBox="1"/>
          <p:nvPr/>
        </p:nvSpPr>
        <p:spPr>
          <a:xfrm>
            <a:off x="3654290" y="3623561"/>
            <a:ext cx="10072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700" b="1" dirty="0">
                <a:solidFill>
                  <a:srgbClr val="13863C"/>
                </a:solidFill>
                <a:latin typeface="Arial Narrow" panose="020B0606020202030204" pitchFamily="34" charset="0"/>
              </a:rPr>
              <a:t>H-01</a:t>
            </a:r>
          </a:p>
          <a:p>
            <a:pPr algn="ctr"/>
            <a:r>
              <a:rPr lang="es-CL" sz="700" b="1" dirty="0">
                <a:solidFill>
                  <a:srgbClr val="13863C"/>
                </a:solidFill>
                <a:latin typeface="Arial Narrow" panose="020B0606020202030204" pitchFamily="34" charset="0"/>
              </a:rPr>
              <a:t>Propuesta e inicio</a:t>
            </a:r>
          </a:p>
        </p:txBody>
      </p:sp>
      <p:sp>
        <p:nvSpPr>
          <p:cNvPr id="88" name="CuadroTexto 87">
            <a:extLst>
              <a:ext uri="{FF2B5EF4-FFF2-40B4-BE49-F238E27FC236}">
                <a16:creationId xmlns:a16="http://schemas.microsoft.com/office/drawing/2014/main" id="{C33940E3-0AD1-18C4-90CC-A354247FD53D}"/>
              </a:ext>
            </a:extLst>
          </p:cNvPr>
          <p:cNvSpPr txBox="1"/>
          <p:nvPr/>
        </p:nvSpPr>
        <p:spPr>
          <a:xfrm>
            <a:off x="5086616" y="3509926"/>
            <a:ext cx="843501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700" b="1" dirty="0">
                <a:solidFill>
                  <a:srgbClr val="0070C0"/>
                </a:solidFill>
                <a:latin typeface="Arial Narrow" panose="020B0606020202030204" pitchFamily="34" charset="0"/>
              </a:rPr>
              <a:t>H-02</a:t>
            </a:r>
          </a:p>
          <a:p>
            <a:pPr algn="ctr"/>
            <a:r>
              <a:rPr lang="es-CL" sz="700" b="1" dirty="0">
                <a:solidFill>
                  <a:srgbClr val="0070C0"/>
                </a:solidFill>
                <a:latin typeface="Arial Narrow" panose="020B0606020202030204" pitchFamily="34" charset="0"/>
              </a:rPr>
              <a:t>Requisitos, diseño</a:t>
            </a:r>
          </a:p>
          <a:p>
            <a:pPr algn="ctr"/>
            <a:r>
              <a:rPr lang="es-CL" sz="700" b="1" dirty="0">
                <a:solidFill>
                  <a:srgbClr val="0070C0"/>
                </a:solidFill>
                <a:latin typeface="Arial Narrow" panose="020B0606020202030204" pitchFamily="34" charset="0"/>
              </a:rPr>
              <a:t>Y arquitectura</a:t>
            </a:r>
          </a:p>
        </p:txBody>
      </p:sp>
      <p:sp>
        <p:nvSpPr>
          <p:cNvPr id="90" name="CuadroTexto 89">
            <a:extLst>
              <a:ext uri="{FF2B5EF4-FFF2-40B4-BE49-F238E27FC236}">
                <a16:creationId xmlns:a16="http://schemas.microsoft.com/office/drawing/2014/main" id="{CE98CF91-2D94-8686-038D-994278A9BDB0}"/>
              </a:ext>
            </a:extLst>
          </p:cNvPr>
          <p:cNvSpPr txBox="1"/>
          <p:nvPr/>
        </p:nvSpPr>
        <p:spPr>
          <a:xfrm>
            <a:off x="6192646" y="3551371"/>
            <a:ext cx="813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700" b="1" dirty="0">
                <a:solidFill>
                  <a:srgbClr val="FFC000"/>
                </a:solidFill>
                <a:latin typeface="Arial Narrow" panose="020B0606020202030204" pitchFamily="34" charset="0"/>
              </a:rPr>
              <a:t>H-03</a:t>
            </a:r>
          </a:p>
          <a:p>
            <a:pPr algn="ctr"/>
            <a:r>
              <a:rPr lang="es-CL" sz="700" b="1" dirty="0">
                <a:solidFill>
                  <a:srgbClr val="FFC000"/>
                </a:solidFill>
                <a:latin typeface="Arial Narrow" panose="020B0606020202030204" pitchFamily="34" charset="0"/>
              </a:rPr>
              <a:t>Desarrollo Inicial</a:t>
            </a:r>
          </a:p>
        </p:txBody>
      </p:sp>
      <p:sp>
        <p:nvSpPr>
          <p:cNvPr id="92" name="CuadroTexto 91">
            <a:extLst>
              <a:ext uri="{FF2B5EF4-FFF2-40B4-BE49-F238E27FC236}">
                <a16:creationId xmlns:a16="http://schemas.microsoft.com/office/drawing/2014/main" id="{BAC4633C-A75F-558F-6459-BBE33078EFA2}"/>
              </a:ext>
            </a:extLst>
          </p:cNvPr>
          <p:cNvSpPr txBox="1"/>
          <p:nvPr/>
        </p:nvSpPr>
        <p:spPr>
          <a:xfrm>
            <a:off x="7229863" y="3470854"/>
            <a:ext cx="98056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700" b="1" dirty="0">
                <a:solidFill>
                  <a:srgbClr val="7030A0"/>
                </a:solidFill>
                <a:latin typeface="Arial Narrow" panose="020B0606020202030204" pitchFamily="34" charset="0"/>
              </a:rPr>
              <a:t>H-04</a:t>
            </a:r>
          </a:p>
          <a:p>
            <a:pPr algn="ctr"/>
            <a:r>
              <a:rPr lang="es-CL" sz="700" b="1" dirty="0">
                <a:solidFill>
                  <a:srgbClr val="7030A0"/>
                </a:solidFill>
                <a:latin typeface="Arial Narrow" panose="020B0606020202030204" pitchFamily="34" charset="0"/>
              </a:rPr>
              <a:t>Desarrollo final</a:t>
            </a:r>
          </a:p>
          <a:p>
            <a:pPr algn="ctr"/>
            <a:r>
              <a:rPr lang="es-CL" sz="700" b="1" dirty="0">
                <a:solidFill>
                  <a:srgbClr val="7030A0"/>
                </a:solidFill>
                <a:latin typeface="Arial Narrow" panose="020B0606020202030204" pitchFamily="34" charset="0"/>
              </a:rPr>
              <a:t>y verificación</a:t>
            </a:r>
          </a:p>
        </p:txBody>
      </p:sp>
      <p:sp>
        <p:nvSpPr>
          <p:cNvPr id="94" name="CuadroTexto 93">
            <a:extLst>
              <a:ext uri="{FF2B5EF4-FFF2-40B4-BE49-F238E27FC236}">
                <a16:creationId xmlns:a16="http://schemas.microsoft.com/office/drawing/2014/main" id="{E4440A33-095B-0492-BB7E-A8A9867AD650}"/>
              </a:ext>
            </a:extLst>
          </p:cNvPr>
          <p:cNvSpPr txBox="1"/>
          <p:nvPr/>
        </p:nvSpPr>
        <p:spPr>
          <a:xfrm>
            <a:off x="8280872" y="3551371"/>
            <a:ext cx="10103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700" b="1" dirty="0">
                <a:solidFill>
                  <a:srgbClr val="FF0000"/>
                </a:solidFill>
                <a:latin typeface="Arial Narrow" panose="020B0606020202030204" pitchFamily="34" charset="0"/>
              </a:rPr>
              <a:t>H-05</a:t>
            </a:r>
          </a:p>
          <a:p>
            <a:pPr algn="ctr"/>
            <a:r>
              <a:rPr lang="es-CL" sz="700" b="1" dirty="0">
                <a:solidFill>
                  <a:srgbClr val="FF0000"/>
                </a:solidFill>
                <a:latin typeface="Arial Narrow" panose="020B0606020202030204" pitchFamily="34" charset="0"/>
              </a:rPr>
              <a:t>Aceptación y cierre</a:t>
            </a:r>
          </a:p>
        </p:txBody>
      </p:sp>
      <p:sp>
        <p:nvSpPr>
          <p:cNvPr id="116" name="CuadroTexto 115">
            <a:extLst>
              <a:ext uri="{FF2B5EF4-FFF2-40B4-BE49-F238E27FC236}">
                <a16:creationId xmlns:a16="http://schemas.microsoft.com/office/drawing/2014/main" id="{B4B65055-6F8C-8042-7C21-A98427FC4EF6}"/>
              </a:ext>
            </a:extLst>
          </p:cNvPr>
          <p:cNvSpPr txBox="1"/>
          <p:nvPr/>
        </p:nvSpPr>
        <p:spPr>
          <a:xfrm>
            <a:off x="235971" y="5068462"/>
            <a:ext cx="3758397" cy="13285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spcBef>
                <a:spcPts val="130"/>
              </a:spcBef>
              <a:spcAft>
                <a:spcPts val="130"/>
              </a:spcAft>
              <a:buFont typeface="Arial" panose="020B0604020202020204" pitchFamily="34" charset="0"/>
              <a:buChar char="•"/>
            </a:pPr>
            <a:r>
              <a:rPr lang="es-CL" sz="1200" dirty="0">
                <a:latin typeface="Arial Narrow" panose="020B0606020202030204" pitchFamily="34" charset="0"/>
              </a:rPr>
              <a:t>Preparación técnica para el inicio del desarrollo realizada.</a:t>
            </a:r>
          </a:p>
          <a:p>
            <a:pPr marL="171450" lvl="0" indent="-171450">
              <a:spcBef>
                <a:spcPts val="130"/>
              </a:spcBef>
              <a:spcAft>
                <a:spcPts val="130"/>
              </a:spcAft>
              <a:buFont typeface="Arial" panose="020B0604020202020204" pitchFamily="34" charset="0"/>
              <a:buChar char="•"/>
            </a:pPr>
            <a:r>
              <a:rPr lang="es-CL" sz="1200" dirty="0">
                <a:latin typeface="Arial Narrow" panose="020B0606020202030204" pitchFamily="34" charset="0"/>
              </a:rPr>
              <a:t>Arquitectura técnica de la solución consolidada.</a:t>
            </a:r>
          </a:p>
          <a:p>
            <a:pPr marL="171450" lvl="0" indent="-171450">
              <a:spcBef>
                <a:spcPts val="130"/>
              </a:spcBef>
              <a:spcAft>
                <a:spcPts val="130"/>
              </a:spcAft>
              <a:buFont typeface="Arial" panose="020B0604020202020204" pitchFamily="34" charset="0"/>
              <a:buChar char="•"/>
            </a:pPr>
            <a:r>
              <a:rPr lang="es-CL" sz="1200" dirty="0">
                <a:latin typeface="Arial Narrow" panose="020B0606020202030204" pitchFamily="34" charset="0"/>
              </a:rPr>
              <a:t>Repositorios del proyecto creados y configurados.</a:t>
            </a:r>
          </a:p>
          <a:p>
            <a:pPr marL="171450" lvl="0" indent="-171450">
              <a:spcBef>
                <a:spcPts val="130"/>
              </a:spcBef>
              <a:spcAft>
                <a:spcPts val="130"/>
              </a:spcAft>
              <a:buFont typeface="Arial" panose="020B0604020202020204" pitchFamily="34" charset="0"/>
              <a:buChar char="•"/>
            </a:pPr>
            <a:r>
              <a:rPr lang="es-CL" sz="1200" dirty="0">
                <a:latin typeface="Arial Narrow" panose="020B0606020202030204" pitchFamily="34" charset="0"/>
              </a:rPr>
              <a:t>Estructura inicial del </a:t>
            </a:r>
            <a:r>
              <a:rPr lang="es-CL" sz="1200" dirty="0" err="1">
                <a:latin typeface="Arial Narrow" panose="020B0606020202030204" pitchFamily="34" charset="0"/>
              </a:rPr>
              <a:t>backend</a:t>
            </a:r>
            <a:r>
              <a:rPr lang="es-CL" sz="1200" dirty="0">
                <a:latin typeface="Arial Narrow" panose="020B0606020202030204" pitchFamily="34" charset="0"/>
              </a:rPr>
              <a:t> definida.</a:t>
            </a:r>
          </a:p>
          <a:p>
            <a:pPr marL="171450" lvl="0" indent="-171450">
              <a:spcBef>
                <a:spcPts val="130"/>
              </a:spcBef>
              <a:spcAft>
                <a:spcPts val="130"/>
              </a:spcAft>
              <a:buFont typeface="Arial" panose="020B0604020202020204" pitchFamily="34" charset="0"/>
              <a:buChar char="•"/>
            </a:pPr>
            <a:r>
              <a:rPr lang="es-CL" sz="1200" dirty="0">
                <a:latin typeface="Arial Narrow" panose="020B0606020202030204" pitchFamily="34" charset="0"/>
              </a:rPr>
              <a:t>Estructura inicial de la aplicación web definida.</a:t>
            </a:r>
          </a:p>
          <a:p>
            <a:pPr marL="171450" lvl="0" indent="-171450">
              <a:spcBef>
                <a:spcPts val="130"/>
              </a:spcBef>
              <a:spcAft>
                <a:spcPts val="130"/>
              </a:spcAft>
              <a:buFont typeface="Arial" panose="020B0604020202020204" pitchFamily="34" charset="0"/>
              <a:buChar char="•"/>
            </a:pPr>
            <a:r>
              <a:rPr lang="es-CL" sz="1200" dirty="0">
                <a:latin typeface="Arial Narrow" panose="020B0606020202030204" pitchFamily="34" charset="0"/>
              </a:rPr>
              <a:t>Modelo lógico revisado para iniciar su implementación física.</a:t>
            </a:r>
          </a:p>
        </p:txBody>
      </p:sp>
      <p:sp>
        <p:nvSpPr>
          <p:cNvPr id="118" name="Diagrama de flujo: conector 117">
            <a:extLst>
              <a:ext uri="{FF2B5EF4-FFF2-40B4-BE49-F238E27FC236}">
                <a16:creationId xmlns:a16="http://schemas.microsoft.com/office/drawing/2014/main" id="{E88F4968-7691-5B85-36A2-ECB2F87F1E47}"/>
              </a:ext>
            </a:extLst>
          </p:cNvPr>
          <p:cNvSpPr>
            <a:spLocks noChangeAspect="1"/>
          </p:cNvSpPr>
          <p:nvPr/>
        </p:nvSpPr>
        <p:spPr>
          <a:xfrm>
            <a:off x="1202489" y="4849585"/>
            <a:ext cx="180000" cy="180000"/>
          </a:xfrm>
          <a:prstGeom prst="flowChartConnector">
            <a:avLst/>
          </a:prstGeom>
          <a:noFill/>
          <a:ln>
            <a:solidFill>
              <a:srgbClr val="EDED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pic>
        <p:nvPicPr>
          <p:cNvPr id="120" name="Gráfico 119" descr="Checkmark con relleno sólido">
            <a:extLst>
              <a:ext uri="{FF2B5EF4-FFF2-40B4-BE49-F238E27FC236}">
                <a16:creationId xmlns:a16="http://schemas.microsoft.com/office/drawing/2014/main" id="{97CFD53B-6609-1CF8-7B60-AEEFA2815C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29835" y="4888462"/>
            <a:ext cx="125308" cy="125308"/>
          </a:xfrm>
          <a:prstGeom prst="rect">
            <a:avLst/>
          </a:prstGeom>
        </p:spPr>
      </p:pic>
      <p:sp>
        <p:nvSpPr>
          <p:cNvPr id="121" name="CuadroTexto 120">
            <a:extLst>
              <a:ext uri="{FF2B5EF4-FFF2-40B4-BE49-F238E27FC236}">
                <a16:creationId xmlns:a16="http://schemas.microsoft.com/office/drawing/2014/main" id="{EE4A6A15-87C9-F430-736C-170059508C10}"/>
              </a:ext>
            </a:extLst>
          </p:cNvPr>
          <p:cNvSpPr txBox="1"/>
          <p:nvPr/>
        </p:nvSpPr>
        <p:spPr>
          <a:xfrm>
            <a:off x="1525074" y="4814772"/>
            <a:ext cx="14430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200" b="1" dirty="0">
                <a:solidFill>
                  <a:schemeClr val="bg1"/>
                </a:solidFill>
                <a:latin typeface="Arial Narrow" panose="020B0606020202030204" pitchFamily="34" charset="0"/>
              </a:rPr>
              <a:t>Logros de la semana</a:t>
            </a:r>
          </a:p>
        </p:txBody>
      </p:sp>
      <p:sp>
        <p:nvSpPr>
          <p:cNvPr id="124" name="Rectángulo: esquinas redondeadas 123">
            <a:extLst>
              <a:ext uri="{FF2B5EF4-FFF2-40B4-BE49-F238E27FC236}">
                <a16:creationId xmlns:a16="http://schemas.microsoft.com/office/drawing/2014/main" id="{6E1F5F18-1A43-309F-0C9C-DC2285C87B9D}"/>
              </a:ext>
            </a:extLst>
          </p:cNvPr>
          <p:cNvSpPr/>
          <p:nvPr/>
        </p:nvSpPr>
        <p:spPr>
          <a:xfrm>
            <a:off x="4105789" y="4768547"/>
            <a:ext cx="4158101" cy="1598642"/>
          </a:xfrm>
          <a:prstGeom prst="roundRect">
            <a:avLst>
              <a:gd name="adj" fmla="val 5732"/>
            </a:avLst>
          </a:prstGeom>
          <a:solidFill>
            <a:srgbClr val="F1F3FB"/>
          </a:solidFill>
          <a:ln>
            <a:solidFill>
              <a:srgbClr val="D5DB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26" name="Rectángulo: esquinas superiores redondeadas 125">
            <a:extLst>
              <a:ext uri="{FF2B5EF4-FFF2-40B4-BE49-F238E27FC236}">
                <a16:creationId xmlns:a16="http://schemas.microsoft.com/office/drawing/2014/main" id="{965BD592-DAC4-F420-42DD-2BA5A86EF05F}"/>
              </a:ext>
            </a:extLst>
          </p:cNvPr>
          <p:cNvSpPr/>
          <p:nvPr/>
        </p:nvSpPr>
        <p:spPr>
          <a:xfrm>
            <a:off x="4112478" y="4774290"/>
            <a:ext cx="4151411" cy="351357"/>
          </a:xfrm>
          <a:prstGeom prst="round2SameRect">
            <a:avLst>
              <a:gd name="adj1" fmla="val 26427"/>
              <a:gd name="adj2" fmla="val 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8" name="CuadroTexto 127">
            <a:extLst>
              <a:ext uri="{FF2B5EF4-FFF2-40B4-BE49-F238E27FC236}">
                <a16:creationId xmlns:a16="http://schemas.microsoft.com/office/drawing/2014/main" id="{96A70E2A-C3F8-82D9-F975-BAE8D60F18C9}"/>
              </a:ext>
            </a:extLst>
          </p:cNvPr>
          <p:cNvSpPr txBox="1"/>
          <p:nvPr/>
        </p:nvSpPr>
        <p:spPr>
          <a:xfrm>
            <a:off x="5512635" y="4837216"/>
            <a:ext cx="14718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200" b="1" dirty="0">
                <a:solidFill>
                  <a:schemeClr val="bg1"/>
                </a:solidFill>
                <a:latin typeface="Arial Narrow" panose="020B0606020202030204" pitchFamily="34" charset="0"/>
              </a:rPr>
              <a:t>Entregables en curso</a:t>
            </a:r>
          </a:p>
        </p:txBody>
      </p:sp>
      <p:pic>
        <p:nvPicPr>
          <p:cNvPr id="130" name="Gráfico 129" descr="Single gear contorno">
            <a:extLst>
              <a:ext uri="{FF2B5EF4-FFF2-40B4-BE49-F238E27FC236}">
                <a16:creationId xmlns:a16="http://schemas.microsoft.com/office/drawing/2014/main" id="{C7520D8B-E0C9-B0E5-56C5-91209E6E48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086616" y="4758010"/>
            <a:ext cx="396000" cy="396000"/>
          </a:xfrm>
          <a:prstGeom prst="rect">
            <a:avLst/>
          </a:prstGeom>
        </p:spPr>
      </p:pic>
      <p:sp>
        <p:nvSpPr>
          <p:cNvPr id="131" name="CuadroTexto 130">
            <a:extLst>
              <a:ext uri="{FF2B5EF4-FFF2-40B4-BE49-F238E27FC236}">
                <a16:creationId xmlns:a16="http://schemas.microsoft.com/office/drawing/2014/main" id="{83CF8480-D31D-DED7-EEF3-F51F1B5458C9}"/>
              </a:ext>
            </a:extLst>
          </p:cNvPr>
          <p:cNvSpPr txBox="1"/>
          <p:nvPr/>
        </p:nvSpPr>
        <p:spPr>
          <a:xfrm>
            <a:off x="4100163" y="5320731"/>
            <a:ext cx="18473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endParaRPr lang="es-CL" sz="1100" dirty="0">
              <a:latin typeface="Aptos Narrow" panose="020B0004020202020204" pitchFamily="34" charset="0"/>
            </a:endParaRPr>
          </a:p>
        </p:txBody>
      </p:sp>
      <p:sp>
        <p:nvSpPr>
          <p:cNvPr id="141" name="Rectángulo: esquinas redondeadas 140">
            <a:extLst>
              <a:ext uri="{FF2B5EF4-FFF2-40B4-BE49-F238E27FC236}">
                <a16:creationId xmlns:a16="http://schemas.microsoft.com/office/drawing/2014/main" id="{7C1DC765-566E-78C7-2C4D-3E5054BE08CE}"/>
              </a:ext>
            </a:extLst>
          </p:cNvPr>
          <p:cNvSpPr/>
          <p:nvPr/>
        </p:nvSpPr>
        <p:spPr>
          <a:xfrm>
            <a:off x="8371420" y="4775607"/>
            <a:ext cx="3718284" cy="1667765"/>
          </a:xfrm>
          <a:prstGeom prst="roundRect">
            <a:avLst>
              <a:gd name="adj" fmla="val 5732"/>
            </a:avLst>
          </a:prstGeom>
          <a:solidFill>
            <a:schemeClr val="bg1"/>
          </a:solidFill>
          <a:ln>
            <a:solidFill>
              <a:srgbClr val="EDED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3" name="Rectángulo: esquinas superiores redondeadas 142">
            <a:extLst>
              <a:ext uri="{FF2B5EF4-FFF2-40B4-BE49-F238E27FC236}">
                <a16:creationId xmlns:a16="http://schemas.microsoft.com/office/drawing/2014/main" id="{3E857DF3-F50C-C4A7-37CF-ADF765F40FED}"/>
              </a:ext>
            </a:extLst>
          </p:cNvPr>
          <p:cNvSpPr/>
          <p:nvPr/>
        </p:nvSpPr>
        <p:spPr>
          <a:xfrm>
            <a:off x="8371419" y="4787393"/>
            <a:ext cx="3718284" cy="351357"/>
          </a:xfrm>
          <a:prstGeom prst="round2SameRect">
            <a:avLst>
              <a:gd name="adj1" fmla="val 26427"/>
              <a:gd name="adj2" fmla="val 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5" name="CuadroTexto 144">
            <a:extLst>
              <a:ext uri="{FF2B5EF4-FFF2-40B4-BE49-F238E27FC236}">
                <a16:creationId xmlns:a16="http://schemas.microsoft.com/office/drawing/2014/main" id="{47570BA4-AC05-240A-BC59-A855EFEC7868}"/>
              </a:ext>
            </a:extLst>
          </p:cNvPr>
          <p:cNvSpPr txBox="1"/>
          <p:nvPr/>
        </p:nvSpPr>
        <p:spPr>
          <a:xfrm>
            <a:off x="9180433" y="4821321"/>
            <a:ext cx="21002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CL"/>
            </a:defPPr>
            <a:lvl1pPr>
              <a:defRPr sz="1200" b="1">
                <a:solidFill>
                  <a:schemeClr val="bg1"/>
                </a:solidFill>
                <a:latin typeface="Arial Narrow" panose="020B0606020202030204" pitchFamily="34" charset="0"/>
              </a:defRPr>
            </a:lvl1pPr>
          </a:lstStyle>
          <a:p>
            <a:r>
              <a:rPr lang="es-CL" dirty="0"/>
              <a:t>Entregables clave al corte 02/10</a:t>
            </a:r>
          </a:p>
        </p:txBody>
      </p:sp>
      <p:sp>
        <p:nvSpPr>
          <p:cNvPr id="147" name="Gráfico 23" descr="Flag contorno">
            <a:extLst>
              <a:ext uri="{FF2B5EF4-FFF2-40B4-BE49-F238E27FC236}">
                <a16:creationId xmlns:a16="http://schemas.microsoft.com/office/drawing/2014/main" id="{4F8151F1-BBAA-0F19-EA92-E5BCA7716B43}"/>
              </a:ext>
            </a:extLst>
          </p:cNvPr>
          <p:cNvSpPr/>
          <p:nvPr/>
        </p:nvSpPr>
        <p:spPr>
          <a:xfrm>
            <a:off x="8800559" y="4856762"/>
            <a:ext cx="190665" cy="237906"/>
          </a:xfrm>
          <a:custGeom>
            <a:avLst/>
            <a:gdLst>
              <a:gd name="csX0" fmla="*/ 274433 w 281435"/>
              <a:gd name="csY0" fmla="*/ 4769 h 339333"/>
              <a:gd name="csX1" fmla="*/ 139046 w 281435"/>
              <a:gd name="csY1" fmla="*/ 8309 h 339333"/>
              <a:gd name="csX2" fmla="*/ 80171 w 281435"/>
              <a:gd name="csY2" fmla="*/ 3775 h 339333"/>
              <a:gd name="csX3" fmla="*/ 11037 w 281435"/>
              <a:gd name="csY3" fmla="*/ 13187 h 339333"/>
              <a:gd name="csX4" fmla="*/ 11037 w 281435"/>
              <a:gd name="csY4" fmla="*/ 4194 h 339333"/>
              <a:gd name="csX5" fmla="*/ 5518 w 281435"/>
              <a:gd name="csY5" fmla="*/ 0 h 339333"/>
              <a:gd name="csX6" fmla="*/ 0 w 281435"/>
              <a:gd name="csY6" fmla="*/ 4194 h 339333"/>
              <a:gd name="csX7" fmla="*/ 0 w 281435"/>
              <a:gd name="csY7" fmla="*/ 339333 h 339333"/>
              <a:gd name="csX8" fmla="*/ 11037 w 281435"/>
              <a:gd name="csY8" fmla="*/ 339333 h 339333"/>
              <a:gd name="csX9" fmla="*/ 11037 w 281435"/>
              <a:gd name="csY9" fmla="*/ 161345 h 339333"/>
              <a:gd name="csX10" fmla="*/ 80171 w 281435"/>
              <a:gd name="csY10" fmla="*/ 151001 h 339333"/>
              <a:gd name="csX11" fmla="*/ 141347 w 281435"/>
              <a:gd name="csY11" fmla="*/ 156345 h 339333"/>
              <a:gd name="csX12" fmla="*/ 278086 w 281435"/>
              <a:gd name="csY12" fmla="*/ 151500 h 339333"/>
              <a:gd name="csX13" fmla="*/ 281436 w 281435"/>
              <a:gd name="csY13" fmla="*/ 150414 h 339333"/>
              <a:gd name="csX14" fmla="*/ 281436 w 281435"/>
              <a:gd name="csY14" fmla="*/ 3284 h 339333"/>
              <a:gd name="csX15" fmla="*/ 270399 w 281435"/>
              <a:gd name="csY15" fmla="*/ 144844 h 339333"/>
              <a:gd name="csX16" fmla="*/ 143212 w 281435"/>
              <a:gd name="csY16" fmla="*/ 148074 h 339333"/>
              <a:gd name="csX17" fmla="*/ 80171 w 281435"/>
              <a:gd name="csY17" fmla="*/ 142621 h 339333"/>
              <a:gd name="csX18" fmla="*/ 11037 w 281435"/>
              <a:gd name="csY18" fmla="*/ 151979 h 339333"/>
              <a:gd name="csX19" fmla="*/ 11037 w 281435"/>
              <a:gd name="csY19" fmla="*/ 22529 h 339333"/>
              <a:gd name="csX20" fmla="*/ 80171 w 281435"/>
              <a:gd name="csY20" fmla="*/ 12164 h 339333"/>
              <a:gd name="csX21" fmla="*/ 137318 w 281435"/>
              <a:gd name="csY21" fmla="*/ 16598 h 339333"/>
              <a:gd name="csX22" fmla="*/ 270399 w 281435"/>
              <a:gd name="csY22" fmla="*/ 14274 h 3393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281435" h="339333">
                <a:moveTo>
                  <a:pt x="274433" y="4769"/>
                </a:moveTo>
                <a:cubicBezTo>
                  <a:pt x="214752" y="17407"/>
                  <a:pt x="176261" y="12781"/>
                  <a:pt x="139046" y="8309"/>
                </a:cubicBezTo>
                <a:cubicBezTo>
                  <a:pt x="119613" y="5599"/>
                  <a:pt x="99924" y="4082"/>
                  <a:pt x="80171" y="3775"/>
                </a:cubicBezTo>
                <a:cubicBezTo>
                  <a:pt x="44699" y="3775"/>
                  <a:pt x="22267" y="9354"/>
                  <a:pt x="11037" y="13187"/>
                </a:cubicBezTo>
                <a:lnTo>
                  <a:pt x="11037" y="4194"/>
                </a:lnTo>
                <a:cubicBezTo>
                  <a:pt x="11037" y="1878"/>
                  <a:pt x="8566" y="0"/>
                  <a:pt x="5518" y="0"/>
                </a:cubicBezTo>
                <a:cubicBezTo>
                  <a:pt x="2471" y="0"/>
                  <a:pt x="0" y="1878"/>
                  <a:pt x="0" y="4194"/>
                </a:cubicBezTo>
                <a:lnTo>
                  <a:pt x="0" y="339333"/>
                </a:lnTo>
                <a:lnTo>
                  <a:pt x="11037" y="339333"/>
                </a:lnTo>
                <a:lnTo>
                  <a:pt x="11037" y="161345"/>
                </a:lnTo>
                <a:cubicBezTo>
                  <a:pt x="17808" y="158551"/>
                  <a:pt x="39732" y="151001"/>
                  <a:pt x="80171" y="151001"/>
                </a:cubicBezTo>
                <a:cubicBezTo>
                  <a:pt x="100725" y="151460"/>
                  <a:pt x="121191" y="153248"/>
                  <a:pt x="141347" y="156345"/>
                </a:cubicBezTo>
                <a:cubicBezTo>
                  <a:pt x="184086" y="161919"/>
                  <a:pt x="228288" y="167670"/>
                  <a:pt x="278086" y="151500"/>
                </a:cubicBezTo>
                <a:lnTo>
                  <a:pt x="281436" y="150414"/>
                </a:lnTo>
                <a:lnTo>
                  <a:pt x="281436" y="3284"/>
                </a:lnTo>
                <a:close/>
                <a:moveTo>
                  <a:pt x="270399" y="144844"/>
                </a:moveTo>
                <a:cubicBezTo>
                  <a:pt x="224911" y="158727"/>
                  <a:pt x="183397" y="153312"/>
                  <a:pt x="143212" y="148074"/>
                </a:cubicBezTo>
                <a:cubicBezTo>
                  <a:pt x="122438" y="144910"/>
                  <a:pt x="101349" y="143086"/>
                  <a:pt x="80171" y="142621"/>
                </a:cubicBezTo>
                <a:cubicBezTo>
                  <a:pt x="44516" y="142621"/>
                  <a:pt x="22228" y="148145"/>
                  <a:pt x="11037" y="151979"/>
                </a:cubicBezTo>
                <a:lnTo>
                  <a:pt x="11037" y="22529"/>
                </a:lnTo>
                <a:cubicBezTo>
                  <a:pt x="17962" y="19714"/>
                  <a:pt x="40174" y="12164"/>
                  <a:pt x="80171" y="12164"/>
                </a:cubicBezTo>
                <a:cubicBezTo>
                  <a:pt x="99347" y="12460"/>
                  <a:pt x="118459" y="13943"/>
                  <a:pt x="137318" y="16598"/>
                </a:cubicBezTo>
                <a:cubicBezTo>
                  <a:pt x="174247" y="21031"/>
                  <a:pt x="212368" y="25616"/>
                  <a:pt x="270399" y="14274"/>
                </a:cubicBezTo>
                <a:close/>
              </a:path>
            </a:pathLst>
          </a:custGeom>
          <a:solidFill>
            <a:schemeClr val="bg1"/>
          </a:solidFill>
          <a:ln w="9525" cap="flat">
            <a:solidFill>
              <a:schemeClr val="bg1"/>
            </a:solidFill>
            <a:prstDash val="solid"/>
            <a:miter/>
          </a:ln>
        </p:spPr>
        <p:txBody>
          <a:bodyPr/>
          <a:lstStyle/>
          <a:p>
            <a:endParaRPr lang="es-CL" dirty="0"/>
          </a:p>
        </p:txBody>
      </p:sp>
      <p:sp>
        <p:nvSpPr>
          <p:cNvPr id="148" name="Rectángulo: esquinas redondeadas 147">
            <a:extLst>
              <a:ext uri="{FF2B5EF4-FFF2-40B4-BE49-F238E27FC236}">
                <a16:creationId xmlns:a16="http://schemas.microsoft.com/office/drawing/2014/main" id="{5D664C15-5E9D-7433-0BFF-D07E5F25D430}"/>
              </a:ext>
            </a:extLst>
          </p:cNvPr>
          <p:cNvSpPr/>
          <p:nvPr/>
        </p:nvSpPr>
        <p:spPr>
          <a:xfrm>
            <a:off x="8433505" y="5163273"/>
            <a:ext cx="3621028" cy="1233758"/>
          </a:xfrm>
          <a:prstGeom prst="roundRect">
            <a:avLst>
              <a:gd name="adj" fmla="val 6803"/>
            </a:avLst>
          </a:prstGeom>
          <a:solidFill>
            <a:srgbClr val="DDF4E7"/>
          </a:solidFill>
          <a:ln>
            <a:solidFill>
              <a:srgbClr val="DDF4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grpSp>
        <p:nvGrpSpPr>
          <p:cNvPr id="158" name="Grupo 157">
            <a:extLst>
              <a:ext uri="{FF2B5EF4-FFF2-40B4-BE49-F238E27FC236}">
                <a16:creationId xmlns:a16="http://schemas.microsoft.com/office/drawing/2014/main" id="{51A1F69A-EDA5-2F15-A8D6-FBF6666807C6}"/>
              </a:ext>
            </a:extLst>
          </p:cNvPr>
          <p:cNvGrpSpPr/>
          <p:nvPr/>
        </p:nvGrpSpPr>
        <p:grpSpPr>
          <a:xfrm>
            <a:off x="360553" y="6372831"/>
            <a:ext cx="4541575" cy="479526"/>
            <a:chOff x="362021" y="6264961"/>
            <a:chExt cx="4541575" cy="479526"/>
          </a:xfrm>
        </p:grpSpPr>
        <p:pic>
          <p:nvPicPr>
            <p:cNvPr id="159" name="Imagen 158">
              <a:extLst>
                <a:ext uri="{FF2B5EF4-FFF2-40B4-BE49-F238E27FC236}">
                  <a16:creationId xmlns:a16="http://schemas.microsoft.com/office/drawing/2014/main" id="{13017CF6-5AC5-B906-E2A1-4C6B34B9B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colorTemperature colorTemp="47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62021" y="6264961"/>
              <a:ext cx="479526" cy="479526"/>
            </a:xfrm>
            <a:prstGeom prst="rect">
              <a:avLst/>
            </a:prstGeom>
          </p:spPr>
        </p:pic>
        <p:sp>
          <p:nvSpPr>
            <p:cNvPr id="160" name="CuadroTexto 159">
              <a:extLst>
                <a:ext uri="{FF2B5EF4-FFF2-40B4-BE49-F238E27FC236}">
                  <a16:creationId xmlns:a16="http://schemas.microsoft.com/office/drawing/2014/main" id="{AAEFD319-219C-81D7-0F68-A2461AE15172}"/>
                </a:ext>
              </a:extLst>
            </p:cNvPr>
            <p:cNvSpPr txBox="1"/>
            <p:nvPr/>
          </p:nvSpPr>
          <p:spPr>
            <a:xfrm>
              <a:off x="418502" y="6330118"/>
              <a:ext cx="4058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600" b="1" dirty="0">
                  <a:solidFill>
                    <a:srgbClr val="0A3E6F"/>
                  </a:solidFill>
                  <a:latin typeface="Aptos Display" panose="020B0004020202020204" pitchFamily="34" charset="0"/>
                  <a:ea typeface="ADLaM Display" panose="02010000000000000000" pitchFamily="2" charset="0"/>
                  <a:cs typeface="Aharoni" panose="020F0502020204030204" pitchFamily="2" charset="-79"/>
                </a:rPr>
                <a:t>03</a:t>
              </a:r>
            </a:p>
          </p:txBody>
        </p:sp>
        <p:sp>
          <p:nvSpPr>
            <p:cNvPr id="161" name="CuadroTexto 160">
              <a:extLst>
                <a:ext uri="{FF2B5EF4-FFF2-40B4-BE49-F238E27FC236}">
                  <a16:creationId xmlns:a16="http://schemas.microsoft.com/office/drawing/2014/main" id="{7EBEEFFB-A4B3-80CB-DA6B-998CB926C8E6}"/>
                </a:ext>
              </a:extLst>
            </p:cNvPr>
            <p:cNvSpPr txBox="1"/>
            <p:nvPr/>
          </p:nvSpPr>
          <p:spPr>
            <a:xfrm>
              <a:off x="841547" y="6372387"/>
              <a:ext cx="24956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200" b="1" dirty="0">
                  <a:solidFill>
                    <a:srgbClr val="002060"/>
                  </a:solidFill>
                  <a:latin typeface="Arial Narrow" panose="020B0606020202030204" pitchFamily="34" charset="0"/>
                </a:rPr>
                <a:t>CAPSTONE · Ingeniería en Informática</a:t>
              </a:r>
            </a:p>
          </p:txBody>
        </p:sp>
        <p:cxnSp>
          <p:nvCxnSpPr>
            <p:cNvPr id="162" name="Conector recto 161">
              <a:extLst>
                <a:ext uri="{FF2B5EF4-FFF2-40B4-BE49-F238E27FC236}">
                  <a16:creationId xmlns:a16="http://schemas.microsoft.com/office/drawing/2014/main" id="{EC0B93B0-7ABE-93FD-F464-BC16571C8B29}"/>
                </a:ext>
              </a:extLst>
            </p:cNvPr>
            <p:cNvCxnSpPr/>
            <p:nvPr/>
          </p:nvCxnSpPr>
          <p:spPr>
            <a:xfrm>
              <a:off x="3326720" y="6398507"/>
              <a:ext cx="0" cy="224758"/>
            </a:xfrm>
            <a:prstGeom prst="line">
              <a:avLst/>
            </a:prstGeom>
            <a:ln>
              <a:solidFill>
                <a:srgbClr val="7890B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63" name="Imagen 162">
              <a:extLst>
                <a:ext uri="{FF2B5EF4-FFF2-40B4-BE49-F238E27FC236}">
                  <a16:creationId xmlns:a16="http://schemas.microsoft.com/office/drawing/2014/main" id="{2E4EDB35-32C9-9F59-996C-C8AD4F1FBA4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66930" y="6296972"/>
              <a:ext cx="1436666" cy="324000"/>
            </a:xfrm>
            <a:prstGeom prst="rect">
              <a:avLst/>
            </a:prstGeom>
          </p:spPr>
        </p:pic>
      </p:grpSp>
      <p:graphicFrame>
        <p:nvGraphicFramePr>
          <p:cNvPr id="6" name="Objeto 5">
            <a:extLst>
              <a:ext uri="{FF2B5EF4-FFF2-40B4-BE49-F238E27FC236}">
                <a16:creationId xmlns:a16="http://schemas.microsoft.com/office/drawing/2014/main" id="{EFD33B4C-1C53-ECD2-7034-5AA9256566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8746974"/>
              </p:ext>
            </p:extLst>
          </p:nvPr>
        </p:nvGraphicFramePr>
        <p:xfrm>
          <a:off x="454025" y="2020888"/>
          <a:ext cx="47942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3" imgW="480166" imgH="685658" progId="Excel.Sheet.12">
                  <p:link updateAutomatic="1"/>
                </p:oleObj>
              </mc:Choice>
              <mc:Fallback>
                <p:oleObj name="Worksheet" r:id="rId13" imgW="480166" imgH="685658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54025" y="2020888"/>
                        <a:ext cx="479425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to 9">
            <a:extLst>
              <a:ext uri="{FF2B5EF4-FFF2-40B4-BE49-F238E27FC236}">
                <a16:creationId xmlns:a16="http://schemas.microsoft.com/office/drawing/2014/main" id="{ECEE9638-7341-BD16-39A7-4D365AF449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8256794"/>
              </p:ext>
            </p:extLst>
          </p:nvPr>
        </p:nvGraphicFramePr>
        <p:xfrm>
          <a:off x="795822" y="2016841"/>
          <a:ext cx="1443037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5" imgW="1516203" imgH="685658" progId="Excel.Sheet.12">
                  <p:link updateAutomatic="1"/>
                </p:oleObj>
              </mc:Choice>
              <mc:Fallback>
                <p:oleObj name="Worksheet" r:id="rId15" imgW="1516203" imgH="685658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95822" y="2016841"/>
                        <a:ext cx="1443037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to 14">
            <a:extLst>
              <a:ext uri="{FF2B5EF4-FFF2-40B4-BE49-F238E27FC236}">
                <a16:creationId xmlns:a16="http://schemas.microsoft.com/office/drawing/2014/main" id="{CB8C150E-92B3-98EC-835D-8FF7FB932E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4610516"/>
              </p:ext>
            </p:extLst>
          </p:nvPr>
        </p:nvGraphicFramePr>
        <p:xfrm>
          <a:off x="783563" y="3774823"/>
          <a:ext cx="13716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7" imgW="1371600" imgH="685658" progId="Excel.Sheet.12">
                  <p:link updateAutomatic="1"/>
                </p:oleObj>
              </mc:Choice>
              <mc:Fallback>
                <p:oleObj name="Worksheet" r:id="rId17" imgW="1371600" imgH="685658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83563" y="3774823"/>
                        <a:ext cx="1371600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to 16">
            <a:extLst>
              <a:ext uri="{FF2B5EF4-FFF2-40B4-BE49-F238E27FC236}">
                <a16:creationId xmlns:a16="http://schemas.microsoft.com/office/drawing/2014/main" id="{616CD6F7-CEA1-6879-9109-3DA124DEAD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185723"/>
              </p:ext>
            </p:extLst>
          </p:nvPr>
        </p:nvGraphicFramePr>
        <p:xfrm>
          <a:off x="11016626" y="1739398"/>
          <a:ext cx="11430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9" imgW="1143213" imgH="685658" progId="Excel.Sheet.12">
                  <p:link updateAutomatic="1"/>
                </p:oleObj>
              </mc:Choice>
              <mc:Fallback>
                <p:oleObj name="Worksheet" r:id="rId19" imgW="1143213" imgH="685658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1016626" y="1739398"/>
                        <a:ext cx="1143000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to 18">
            <a:extLst>
              <a:ext uri="{FF2B5EF4-FFF2-40B4-BE49-F238E27FC236}">
                <a16:creationId xmlns:a16="http://schemas.microsoft.com/office/drawing/2014/main" id="{889450CA-0E0A-2864-2FD2-CB7EC5C405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0548372"/>
              </p:ext>
            </p:extLst>
          </p:nvPr>
        </p:nvGraphicFramePr>
        <p:xfrm>
          <a:off x="11153151" y="2355348"/>
          <a:ext cx="862012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1" imgW="861237" imgH="685658" progId="Excel.Sheet.12">
                  <p:link updateAutomatic="1"/>
                </p:oleObj>
              </mc:Choice>
              <mc:Fallback>
                <p:oleObj name="Worksheet" r:id="rId21" imgW="861237" imgH="685658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1153151" y="2355348"/>
                        <a:ext cx="862012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to 22">
            <a:extLst>
              <a:ext uri="{FF2B5EF4-FFF2-40B4-BE49-F238E27FC236}">
                <a16:creationId xmlns:a16="http://schemas.microsoft.com/office/drawing/2014/main" id="{B5129DCB-7D02-AB74-DD6F-C8221007E6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7655172"/>
              </p:ext>
            </p:extLst>
          </p:nvPr>
        </p:nvGraphicFramePr>
        <p:xfrm>
          <a:off x="10534007" y="3207788"/>
          <a:ext cx="868363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3" imgW="868893" imgH="289528" progId="Excel.Sheet.12">
                  <p:link updateAutomatic="1"/>
                </p:oleObj>
              </mc:Choice>
              <mc:Fallback>
                <p:oleObj name="Worksheet" r:id="rId23" imgW="868893" imgH="289528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0534007" y="3207788"/>
                        <a:ext cx="868363" cy="288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to 23">
            <a:extLst>
              <a:ext uri="{FF2B5EF4-FFF2-40B4-BE49-F238E27FC236}">
                <a16:creationId xmlns:a16="http://schemas.microsoft.com/office/drawing/2014/main" id="{F639FCEE-0BDE-70DF-E872-071CBDAAEA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9444129"/>
              </p:ext>
            </p:extLst>
          </p:nvPr>
        </p:nvGraphicFramePr>
        <p:xfrm>
          <a:off x="9513263" y="1887036"/>
          <a:ext cx="8001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5" imgW="799994" imgH="685658" progId="Excel.Sheet.12">
                  <p:link updateAutomatic="1"/>
                </p:oleObj>
              </mc:Choice>
              <mc:Fallback>
                <p:oleObj name="Worksheet" r:id="rId25" imgW="799994" imgH="685658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9513263" y="1887036"/>
                        <a:ext cx="800100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to 29">
            <a:extLst>
              <a:ext uri="{FF2B5EF4-FFF2-40B4-BE49-F238E27FC236}">
                <a16:creationId xmlns:a16="http://schemas.microsoft.com/office/drawing/2014/main" id="{21746EA4-77C9-4739-5802-1E2E571144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5464767"/>
              </p:ext>
            </p:extLst>
          </p:nvPr>
        </p:nvGraphicFramePr>
        <p:xfrm>
          <a:off x="9559301" y="2487111"/>
          <a:ext cx="8001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5" imgW="799994" imgH="685658" progId="Excel.Sheet.12">
                  <p:link updateAutomatic="1"/>
                </p:oleObj>
              </mc:Choice>
              <mc:Fallback>
                <p:oleObj name="Worksheet" r:id="rId25" imgW="799994" imgH="685658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9559301" y="2487111"/>
                        <a:ext cx="800100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to 33">
            <a:extLst>
              <a:ext uri="{FF2B5EF4-FFF2-40B4-BE49-F238E27FC236}">
                <a16:creationId xmlns:a16="http://schemas.microsoft.com/office/drawing/2014/main" id="{7FB488C7-4667-A2DA-60F3-85669BDD9A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007752"/>
              </p:ext>
            </p:extLst>
          </p:nvPr>
        </p:nvGraphicFramePr>
        <p:xfrm>
          <a:off x="10807700" y="3425825"/>
          <a:ext cx="76200" cy="1036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7" imgW="76129" imgH="685658" progId="Excel.Sheet.12">
                  <p:link updateAutomatic="1"/>
                </p:oleObj>
              </mc:Choice>
              <mc:Fallback>
                <p:oleObj name="Worksheet" r:id="rId27" imgW="76129" imgH="685658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0807700" y="3425825"/>
                        <a:ext cx="76200" cy="10366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to 2">
            <a:extLst>
              <a:ext uri="{FF2B5EF4-FFF2-40B4-BE49-F238E27FC236}">
                <a16:creationId xmlns:a16="http://schemas.microsoft.com/office/drawing/2014/main" id="{4DD63B63-D397-1B32-EFAC-1A9953EA57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9311160"/>
              </p:ext>
            </p:extLst>
          </p:nvPr>
        </p:nvGraphicFramePr>
        <p:xfrm>
          <a:off x="789203" y="1178151"/>
          <a:ext cx="1319213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9" imgW="1318437" imgH="685658" progId="Excel.Sheet.12">
                  <p:link updateAutomatic="1"/>
                </p:oleObj>
              </mc:Choice>
              <mc:Fallback>
                <p:oleObj name="Worksheet" r:id="rId29" imgW="1318437" imgH="685658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789203" y="1178151"/>
                        <a:ext cx="1319213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to 25">
            <a:extLst>
              <a:ext uri="{FF2B5EF4-FFF2-40B4-BE49-F238E27FC236}">
                <a16:creationId xmlns:a16="http://schemas.microsoft.com/office/drawing/2014/main" id="{4BE441DB-4923-BBC6-07FD-1E82DB805E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5620672"/>
              </p:ext>
            </p:extLst>
          </p:nvPr>
        </p:nvGraphicFramePr>
        <p:xfrm>
          <a:off x="2819400" y="933450"/>
          <a:ext cx="6623050" cy="370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1" imgW="5234621" imgH="3505042" progId="Excel.Sheet.12">
                  <p:link updateAutomatic="1"/>
                </p:oleObj>
              </mc:Choice>
              <mc:Fallback>
                <p:oleObj name="Worksheet" r:id="rId31" imgW="5234621" imgH="3505042" progId="Excel.Sheet.12">
                  <p:link updateAutomatic="1"/>
                  <p:pic>
                    <p:nvPicPr>
                      <p:cNvPr id="21" name="Objeto 20">
                        <a:extLst>
                          <a:ext uri="{FF2B5EF4-FFF2-40B4-BE49-F238E27FC236}">
                            <a16:creationId xmlns:a16="http://schemas.microsoft.com/office/drawing/2014/main" id="{8AED9C5F-19D8-D2DF-24F0-8BCBD6A2E6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2819400" y="933450"/>
                        <a:ext cx="6623050" cy="3708400"/>
                      </a:xfrm>
                      <a:prstGeom prst="rect">
                        <a:avLst/>
                      </a:prstGeom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" name="Grupo 27">
            <a:extLst>
              <a:ext uri="{FF2B5EF4-FFF2-40B4-BE49-F238E27FC236}">
                <a16:creationId xmlns:a16="http://schemas.microsoft.com/office/drawing/2014/main" id="{8CDBD790-E2B9-870F-6102-43A162BE04A2}"/>
              </a:ext>
            </a:extLst>
          </p:cNvPr>
          <p:cNvGrpSpPr/>
          <p:nvPr/>
        </p:nvGrpSpPr>
        <p:grpSpPr>
          <a:xfrm>
            <a:off x="282032" y="5126383"/>
            <a:ext cx="144000" cy="144000"/>
            <a:chOff x="600810" y="5132688"/>
            <a:chExt cx="144000" cy="144000"/>
          </a:xfrm>
        </p:grpSpPr>
        <p:sp>
          <p:nvSpPr>
            <p:cNvPr id="96" name="Diagrama de flujo: conector 95">
              <a:extLst>
                <a:ext uri="{FF2B5EF4-FFF2-40B4-BE49-F238E27FC236}">
                  <a16:creationId xmlns:a16="http://schemas.microsoft.com/office/drawing/2014/main" id="{32CA407F-9386-2BD8-2803-5F019F76F9F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0810" y="5132688"/>
              <a:ext cx="144000" cy="144000"/>
            </a:xfrm>
            <a:prstGeom prst="flowChartConnector">
              <a:avLst/>
            </a:prstGeom>
            <a:solidFill>
              <a:srgbClr val="1C9A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pic>
          <p:nvPicPr>
            <p:cNvPr id="98" name="Gráfico 97" descr="Checkmark con relleno sólido">
              <a:extLst>
                <a:ext uri="{FF2B5EF4-FFF2-40B4-BE49-F238E27FC236}">
                  <a16:creationId xmlns:a16="http://schemas.microsoft.com/office/drawing/2014/main" id="{C5BB61C2-3CFF-CFA9-5B5D-B2B6E52AE7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18054" y="5149932"/>
              <a:ext cx="109512" cy="109512"/>
            </a:xfrm>
            <a:prstGeom prst="rect">
              <a:avLst/>
            </a:prstGeom>
          </p:spPr>
        </p:pic>
      </p:grpSp>
      <p:grpSp>
        <p:nvGrpSpPr>
          <p:cNvPr id="31" name="Grupo 30">
            <a:extLst>
              <a:ext uri="{FF2B5EF4-FFF2-40B4-BE49-F238E27FC236}">
                <a16:creationId xmlns:a16="http://schemas.microsoft.com/office/drawing/2014/main" id="{F7F985CE-1815-2627-EBBE-628D7BA0D3A2}"/>
              </a:ext>
            </a:extLst>
          </p:cNvPr>
          <p:cNvGrpSpPr/>
          <p:nvPr/>
        </p:nvGrpSpPr>
        <p:grpSpPr>
          <a:xfrm>
            <a:off x="288923" y="5329733"/>
            <a:ext cx="144000" cy="144000"/>
            <a:chOff x="600810" y="5132688"/>
            <a:chExt cx="144000" cy="144000"/>
          </a:xfrm>
        </p:grpSpPr>
        <p:sp>
          <p:nvSpPr>
            <p:cNvPr id="36" name="Diagrama de flujo: conector 35">
              <a:extLst>
                <a:ext uri="{FF2B5EF4-FFF2-40B4-BE49-F238E27FC236}">
                  <a16:creationId xmlns:a16="http://schemas.microsoft.com/office/drawing/2014/main" id="{90190154-7421-69A1-B996-DCB38406D2F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0810" y="5132688"/>
              <a:ext cx="144000" cy="144000"/>
            </a:xfrm>
            <a:prstGeom prst="flowChartConnector">
              <a:avLst/>
            </a:prstGeom>
            <a:solidFill>
              <a:srgbClr val="1C9A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pic>
          <p:nvPicPr>
            <p:cNvPr id="37" name="Gráfico 36" descr="Checkmark con relleno sólido">
              <a:extLst>
                <a:ext uri="{FF2B5EF4-FFF2-40B4-BE49-F238E27FC236}">
                  <a16:creationId xmlns:a16="http://schemas.microsoft.com/office/drawing/2014/main" id="{2810E493-B4E2-D26E-E0E8-56A23C40CD1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18054" y="5149932"/>
              <a:ext cx="109512" cy="109512"/>
            </a:xfrm>
            <a:prstGeom prst="rect">
              <a:avLst/>
            </a:prstGeom>
          </p:spPr>
        </p:pic>
      </p:grpSp>
      <p:grpSp>
        <p:nvGrpSpPr>
          <p:cNvPr id="38" name="Grupo 37">
            <a:extLst>
              <a:ext uri="{FF2B5EF4-FFF2-40B4-BE49-F238E27FC236}">
                <a16:creationId xmlns:a16="http://schemas.microsoft.com/office/drawing/2014/main" id="{A01633AA-D3E9-872C-E25C-D3EFF1C38204}"/>
              </a:ext>
            </a:extLst>
          </p:cNvPr>
          <p:cNvGrpSpPr/>
          <p:nvPr/>
        </p:nvGrpSpPr>
        <p:grpSpPr>
          <a:xfrm>
            <a:off x="296273" y="5550586"/>
            <a:ext cx="144000" cy="144000"/>
            <a:chOff x="600810" y="5132688"/>
            <a:chExt cx="144000" cy="144000"/>
          </a:xfrm>
        </p:grpSpPr>
        <p:sp>
          <p:nvSpPr>
            <p:cNvPr id="40" name="Diagrama de flujo: conector 39">
              <a:extLst>
                <a:ext uri="{FF2B5EF4-FFF2-40B4-BE49-F238E27FC236}">
                  <a16:creationId xmlns:a16="http://schemas.microsoft.com/office/drawing/2014/main" id="{BA9C6F29-E2FF-005D-9544-F23D672EC54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0810" y="5132688"/>
              <a:ext cx="144000" cy="144000"/>
            </a:xfrm>
            <a:prstGeom prst="flowChartConnector">
              <a:avLst/>
            </a:prstGeom>
            <a:solidFill>
              <a:srgbClr val="1C9A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pic>
          <p:nvPicPr>
            <p:cNvPr id="43" name="Gráfico 42" descr="Checkmark con relleno sólido">
              <a:extLst>
                <a:ext uri="{FF2B5EF4-FFF2-40B4-BE49-F238E27FC236}">
                  <a16:creationId xmlns:a16="http://schemas.microsoft.com/office/drawing/2014/main" id="{B9755B38-09AB-1B29-8121-0580248656B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18054" y="5149932"/>
              <a:ext cx="109512" cy="109512"/>
            </a:xfrm>
            <a:prstGeom prst="rect">
              <a:avLst/>
            </a:prstGeom>
          </p:spPr>
        </p:pic>
      </p:grpSp>
      <p:grpSp>
        <p:nvGrpSpPr>
          <p:cNvPr id="45" name="Grupo 44">
            <a:extLst>
              <a:ext uri="{FF2B5EF4-FFF2-40B4-BE49-F238E27FC236}">
                <a16:creationId xmlns:a16="http://schemas.microsoft.com/office/drawing/2014/main" id="{58D3527A-D173-8D18-8467-EE8D8C5FA4FC}"/>
              </a:ext>
            </a:extLst>
          </p:cNvPr>
          <p:cNvGrpSpPr/>
          <p:nvPr/>
        </p:nvGrpSpPr>
        <p:grpSpPr>
          <a:xfrm>
            <a:off x="297439" y="5732614"/>
            <a:ext cx="144000" cy="144000"/>
            <a:chOff x="600810" y="5132688"/>
            <a:chExt cx="144000" cy="144000"/>
          </a:xfrm>
        </p:grpSpPr>
        <p:sp>
          <p:nvSpPr>
            <p:cNvPr id="47" name="Diagrama de flujo: conector 46">
              <a:extLst>
                <a:ext uri="{FF2B5EF4-FFF2-40B4-BE49-F238E27FC236}">
                  <a16:creationId xmlns:a16="http://schemas.microsoft.com/office/drawing/2014/main" id="{9172B3CF-20CA-6259-FF54-FABBEA3EEFA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0810" y="5132688"/>
              <a:ext cx="144000" cy="144000"/>
            </a:xfrm>
            <a:prstGeom prst="flowChartConnector">
              <a:avLst/>
            </a:prstGeom>
            <a:solidFill>
              <a:srgbClr val="1C9A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pic>
          <p:nvPicPr>
            <p:cNvPr id="50" name="Gráfico 49" descr="Checkmark con relleno sólido">
              <a:extLst>
                <a:ext uri="{FF2B5EF4-FFF2-40B4-BE49-F238E27FC236}">
                  <a16:creationId xmlns:a16="http://schemas.microsoft.com/office/drawing/2014/main" id="{761D8D5E-FCF6-CEDF-7E1D-38A48EFE6CA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18054" y="5149932"/>
              <a:ext cx="109512" cy="109512"/>
            </a:xfrm>
            <a:prstGeom prst="rect">
              <a:avLst/>
            </a:prstGeom>
          </p:spPr>
        </p:pic>
      </p:grpSp>
      <p:sp>
        <p:nvSpPr>
          <p:cNvPr id="60" name="CuadroTexto 59">
            <a:extLst>
              <a:ext uri="{FF2B5EF4-FFF2-40B4-BE49-F238E27FC236}">
                <a16:creationId xmlns:a16="http://schemas.microsoft.com/office/drawing/2014/main" id="{96D5D59A-5827-65B0-27CD-1388BE151358}"/>
              </a:ext>
            </a:extLst>
          </p:cNvPr>
          <p:cNvSpPr txBox="1"/>
          <p:nvPr/>
        </p:nvSpPr>
        <p:spPr>
          <a:xfrm>
            <a:off x="4112480" y="5131689"/>
            <a:ext cx="4229820" cy="13285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spcBef>
                <a:spcPts val="130"/>
              </a:spcBef>
              <a:spcAft>
                <a:spcPts val="130"/>
              </a:spcAft>
              <a:buFont typeface="Arial" panose="020B0604020202020204" pitchFamily="34" charset="0"/>
              <a:buChar char="•"/>
            </a:pPr>
            <a:r>
              <a:rPr lang="es-CL" sz="1200" dirty="0">
                <a:latin typeface="Arial Narrow" panose="020B0606020202030204" pitchFamily="34" charset="0"/>
              </a:rPr>
              <a:t>Validación final del Documento de Arquitectura de Software (DAS).</a:t>
            </a:r>
          </a:p>
          <a:p>
            <a:pPr marL="171450" lvl="0" indent="-171450">
              <a:spcBef>
                <a:spcPts val="130"/>
              </a:spcBef>
              <a:spcAft>
                <a:spcPts val="130"/>
              </a:spcAft>
              <a:buFont typeface="Arial" panose="020B0604020202020204" pitchFamily="34" charset="0"/>
              <a:buChar char="•"/>
            </a:pPr>
            <a:r>
              <a:rPr lang="es-CL" sz="1200" dirty="0">
                <a:latin typeface="Arial Narrow" panose="020B0606020202030204" pitchFamily="34" charset="0"/>
              </a:rPr>
              <a:t>Implementación del modelo físico de datos y esquema inicial de BD.</a:t>
            </a:r>
          </a:p>
          <a:p>
            <a:pPr marL="171450" lvl="0" indent="-171450">
              <a:spcBef>
                <a:spcPts val="130"/>
              </a:spcBef>
              <a:spcAft>
                <a:spcPts val="130"/>
              </a:spcAft>
              <a:buFont typeface="Arial" panose="020B0604020202020204" pitchFamily="34" charset="0"/>
              <a:buChar char="•"/>
            </a:pPr>
            <a:r>
              <a:rPr lang="es-CL" sz="1200" dirty="0">
                <a:latin typeface="Arial Narrow" panose="020B0606020202030204" pitchFamily="34" charset="0"/>
              </a:rPr>
              <a:t>Configuración de ambientes y control de versiones del proyecto.</a:t>
            </a:r>
          </a:p>
          <a:p>
            <a:pPr marL="171450" lvl="0" indent="-171450">
              <a:spcBef>
                <a:spcPts val="130"/>
              </a:spcBef>
              <a:spcAft>
                <a:spcPts val="130"/>
              </a:spcAft>
              <a:buFont typeface="Arial" panose="020B0604020202020204" pitchFamily="34" charset="0"/>
              <a:buChar char="•"/>
            </a:pPr>
            <a:r>
              <a:rPr lang="es-CL" sz="1200" dirty="0">
                <a:latin typeface="Arial Narrow" panose="020B0606020202030204" pitchFamily="34" charset="0"/>
              </a:rPr>
              <a:t>Estructuración inicial de </a:t>
            </a:r>
            <a:r>
              <a:rPr lang="es-CL" sz="1200" dirty="0" err="1">
                <a:latin typeface="Arial Narrow" panose="020B0606020202030204" pitchFamily="34" charset="0"/>
              </a:rPr>
              <a:t>backend</a:t>
            </a:r>
            <a:r>
              <a:rPr lang="es-CL" sz="1200" dirty="0">
                <a:latin typeface="Arial Narrow" panose="020B0606020202030204" pitchFamily="34" charset="0"/>
              </a:rPr>
              <a:t>, aplicación web y móvil.</a:t>
            </a:r>
          </a:p>
          <a:p>
            <a:pPr marL="171450" lvl="0" indent="-171450">
              <a:spcBef>
                <a:spcPts val="130"/>
              </a:spcBef>
              <a:spcAft>
                <a:spcPts val="130"/>
              </a:spcAft>
              <a:buFont typeface="Arial" panose="020B0604020202020204" pitchFamily="34" charset="0"/>
              <a:buChar char="•"/>
            </a:pPr>
            <a:r>
              <a:rPr lang="es-CL" sz="1200" dirty="0">
                <a:latin typeface="Arial Narrow" panose="020B0606020202030204" pitchFamily="34" charset="0"/>
              </a:rPr>
              <a:t>Preparación de Casos de Prueba para las funcionalidades definidas.</a:t>
            </a:r>
          </a:p>
          <a:p>
            <a:pPr>
              <a:spcBef>
                <a:spcPts val="130"/>
              </a:spcBef>
              <a:spcAft>
                <a:spcPts val="130"/>
              </a:spcAft>
            </a:pPr>
            <a:endParaRPr lang="es-CL" sz="1200" dirty="0">
              <a:latin typeface="Arial Narrow" panose="020B0606020202030204" pitchFamily="34" charset="0"/>
            </a:endParaRPr>
          </a:p>
        </p:txBody>
      </p:sp>
      <p:grpSp>
        <p:nvGrpSpPr>
          <p:cNvPr id="61" name="Grupo 60">
            <a:extLst>
              <a:ext uri="{FF2B5EF4-FFF2-40B4-BE49-F238E27FC236}">
                <a16:creationId xmlns:a16="http://schemas.microsoft.com/office/drawing/2014/main" id="{B405B88F-1BD2-0936-21B8-79AA15226008}"/>
              </a:ext>
            </a:extLst>
          </p:cNvPr>
          <p:cNvGrpSpPr/>
          <p:nvPr/>
        </p:nvGrpSpPr>
        <p:grpSpPr>
          <a:xfrm>
            <a:off x="4180099" y="5207679"/>
            <a:ext cx="144000" cy="144000"/>
            <a:chOff x="600810" y="5132688"/>
            <a:chExt cx="144000" cy="144000"/>
          </a:xfrm>
        </p:grpSpPr>
        <p:sp>
          <p:nvSpPr>
            <p:cNvPr id="63" name="Diagrama de flujo: conector 62">
              <a:extLst>
                <a:ext uri="{FF2B5EF4-FFF2-40B4-BE49-F238E27FC236}">
                  <a16:creationId xmlns:a16="http://schemas.microsoft.com/office/drawing/2014/main" id="{B77FEB83-1694-98DE-4B74-FF1F9E4D801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0810" y="5132688"/>
              <a:ext cx="144000" cy="144000"/>
            </a:xfrm>
            <a:prstGeom prst="flowChartConnector">
              <a:avLst/>
            </a:prstGeom>
            <a:solidFill>
              <a:srgbClr val="1C9A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pic>
          <p:nvPicPr>
            <p:cNvPr id="65" name="Gráfico 64" descr="Checkmark con relleno sólido">
              <a:extLst>
                <a:ext uri="{FF2B5EF4-FFF2-40B4-BE49-F238E27FC236}">
                  <a16:creationId xmlns:a16="http://schemas.microsoft.com/office/drawing/2014/main" id="{5C3E5114-A4C8-BCCD-37C6-E91281F385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18054" y="5149932"/>
              <a:ext cx="109512" cy="109512"/>
            </a:xfrm>
            <a:prstGeom prst="rect">
              <a:avLst/>
            </a:prstGeom>
          </p:spPr>
        </p:pic>
      </p:grpSp>
      <p:grpSp>
        <p:nvGrpSpPr>
          <p:cNvPr id="67" name="Grupo 66">
            <a:extLst>
              <a:ext uri="{FF2B5EF4-FFF2-40B4-BE49-F238E27FC236}">
                <a16:creationId xmlns:a16="http://schemas.microsoft.com/office/drawing/2014/main" id="{5F23ADBD-CB50-AEFF-C34E-ED803760241C}"/>
              </a:ext>
            </a:extLst>
          </p:cNvPr>
          <p:cNvGrpSpPr/>
          <p:nvPr/>
        </p:nvGrpSpPr>
        <p:grpSpPr>
          <a:xfrm>
            <a:off x="4186474" y="5425270"/>
            <a:ext cx="144000" cy="144000"/>
            <a:chOff x="600810" y="5132688"/>
            <a:chExt cx="144000" cy="144000"/>
          </a:xfrm>
        </p:grpSpPr>
        <p:sp>
          <p:nvSpPr>
            <p:cNvPr id="68" name="Diagrama de flujo: conector 67">
              <a:extLst>
                <a:ext uri="{FF2B5EF4-FFF2-40B4-BE49-F238E27FC236}">
                  <a16:creationId xmlns:a16="http://schemas.microsoft.com/office/drawing/2014/main" id="{A684778F-F4F9-89E9-A8A7-73BA05D4E16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0810" y="5132688"/>
              <a:ext cx="144000" cy="144000"/>
            </a:xfrm>
            <a:prstGeom prst="flowChartConnector">
              <a:avLst/>
            </a:prstGeom>
            <a:solidFill>
              <a:srgbClr val="1C9A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pic>
          <p:nvPicPr>
            <p:cNvPr id="69" name="Gráfico 68" descr="Checkmark con relleno sólido">
              <a:extLst>
                <a:ext uri="{FF2B5EF4-FFF2-40B4-BE49-F238E27FC236}">
                  <a16:creationId xmlns:a16="http://schemas.microsoft.com/office/drawing/2014/main" id="{B3A2593A-3C04-507B-50E1-EB74E2D672F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18054" y="5149932"/>
              <a:ext cx="109512" cy="109512"/>
            </a:xfrm>
            <a:prstGeom prst="rect">
              <a:avLst/>
            </a:prstGeom>
          </p:spPr>
        </p:pic>
      </p:grpSp>
      <p:grpSp>
        <p:nvGrpSpPr>
          <p:cNvPr id="70" name="Grupo 69">
            <a:extLst>
              <a:ext uri="{FF2B5EF4-FFF2-40B4-BE49-F238E27FC236}">
                <a16:creationId xmlns:a16="http://schemas.microsoft.com/office/drawing/2014/main" id="{39A89AB1-9E6D-AF19-B61E-95221526BC06}"/>
              </a:ext>
            </a:extLst>
          </p:cNvPr>
          <p:cNvGrpSpPr/>
          <p:nvPr/>
        </p:nvGrpSpPr>
        <p:grpSpPr>
          <a:xfrm>
            <a:off x="4192528" y="5634696"/>
            <a:ext cx="144000" cy="144000"/>
            <a:chOff x="600810" y="5132688"/>
            <a:chExt cx="144000" cy="144000"/>
          </a:xfrm>
        </p:grpSpPr>
        <p:sp>
          <p:nvSpPr>
            <p:cNvPr id="71" name="Diagrama de flujo: conector 70">
              <a:extLst>
                <a:ext uri="{FF2B5EF4-FFF2-40B4-BE49-F238E27FC236}">
                  <a16:creationId xmlns:a16="http://schemas.microsoft.com/office/drawing/2014/main" id="{B1F71604-727E-7ECC-DF1F-9B47BC446B0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0810" y="5132688"/>
              <a:ext cx="144000" cy="144000"/>
            </a:xfrm>
            <a:prstGeom prst="flowChartConnector">
              <a:avLst/>
            </a:prstGeom>
            <a:solidFill>
              <a:srgbClr val="1C9A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pic>
          <p:nvPicPr>
            <p:cNvPr id="73" name="Gráfico 72" descr="Checkmark con relleno sólido">
              <a:extLst>
                <a:ext uri="{FF2B5EF4-FFF2-40B4-BE49-F238E27FC236}">
                  <a16:creationId xmlns:a16="http://schemas.microsoft.com/office/drawing/2014/main" id="{9E5364C8-FB02-3372-8D9F-94578928E18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18054" y="5149932"/>
              <a:ext cx="109512" cy="109512"/>
            </a:xfrm>
            <a:prstGeom prst="rect">
              <a:avLst/>
            </a:prstGeom>
          </p:spPr>
        </p:pic>
      </p:grpSp>
      <p:grpSp>
        <p:nvGrpSpPr>
          <p:cNvPr id="78" name="Grupo 77">
            <a:extLst>
              <a:ext uri="{FF2B5EF4-FFF2-40B4-BE49-F238E27FC236}">
                <a16:creationId xmlns:a16="http://schemas.microsoft.com/office/drawing/2014/main" id="{8B58C842-9803-3AC3-9EE2-C8DF64143BBC}"/>
              </a:ext>
            </a:extLst>
          </p:cNvPr>
          <p:cNvGrpSpPr/>
          <p:nvPr/>
        </p:nvGrpSpPr>
        <p:grpSpPr>
          <a:xfrm>
            <a:off x="4192528" y="5836271"/>
            <a:ext cx="144000" cy="144000"/>
            <a:chOff x="600810" y="5132688"/>
            <a:chExt cx="144000" cy="144000"/>
          </a:xfrm>
        </p:grpSpPr>
        <p:sp>
          <p:nvSpPr>
            <p:cNvPr id="80" name="Diagrama de flujo: conector 79">
              <a:extLst>
                <a:ext uri="{FF2B5EF4-FFF2-40B4-BE49-F238E27FC236}">
                  <a16:creationId xmlns:a16="http://schemas.microsoft.com/office/drawing/2014/main" id="{46E7A5F6-D30B-CE0C-C4C5-030367703D6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0810" y="5132688"/>
              <a:ext cx="144000" cy="144000"/>
            </a:xfrm>
            <a:prstGeom prst="flowChartConnector">
              <a:avLst/>
            </a:prstGeom>
            <a:solidFill>
              <a:srgbClr val="1C9A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pic>
          <p:nvPicPr>
            <p:cNvPr id="82" name="Gráfico 81" descr="Checkmark con relleno sólido">
              <a:extLst>
                <a:ext uri="{FF2B5EF4-FFF2-40B4-BE49-F238E27FC236}">
                  <a16:creationId xmlns:a16="http://schemas.microsoft.com/office/drawing/2014/main" id="{82A6E35F-2219-BB5C-3637-8FEDCFF2D20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18054" y="5149932"/>
              <a:ext cx="109512" cy="109512"/>
            </a:xfrm>
            <a:prstGeom prst="rect">
              <a:avLst/>
            </a:prstGeom>
          </p:spPr>
        </p:pic>
      </p:grpSp>
      <p:grpSp>
        <p:nvGrpSpPr>
          <p:cNvPr id="2" name="Grupo 1">
            <a:extLst>
              <a:ext uri="{FF2B5EF4-FFF2-40B4-BE49-F238E27FC236}">
                <a16:creationId xmlns:a16="http://schemas.microsoft.com/office/drawing/2014/main" id="{FC1CFDE5-873E-640C-FB1C-6C05D77989BB}"/>
              </a:ext>
            </a:extLst>
          </p:cNvPr>
          <p:cNvGrpSpPr/>
          <p:nvPr/>
        </p:nvGrpSpPr>
        <p:grpSpPr>
          <a:xfrm>
            <a:off x="296273" y="5951507"/>
            <a:ext cx="144000" cy="144000"/>
            <a:chOff x="600810" y="5132688"/>
            <a:chExt cx="144000" cy="144000"/>
          </a:xfrm>
        </p:grpSpPr>
        <p:sp>
          <p:nvSpPr>
            <p:cNvPr id="4" name="Diagrama de flujo: conector 3">
              <a:extLst>
                <a:ext uri="{FF2B5EF4-FFF2-40B4-BE49-F238E27FC236}">
                  <a16:creationId xmlns:a16="http://schemas.microsoft.com/office/drawing/2014/main" id="{F5D7BB7B-05D0-D35F-2EF6-2E21641ED38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0810" y="5132688"/>
              <a:ext cx="144000" cy="144000"/>
            </a:xfrm>
            <a:prstGeom prst="flowChartConnector">
              <a:avLst/>
            </a:prstGeom>
            <a:solidFill>
              <a:srgbClr val="1C9A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pic>
          <p:nvPicPr>
            <p:cNvPr id="5" name="Gráfico 4" descr="Checkmark con relleno sólido">
              <a:extLst>
                <a:ext uri="{FF2B5EF4-FFF2-40B4-BE49-F238E27FC236}">
                  <a16:creationId xmlns:a16="http://schemas.microsoft.com/office/drawing/2014/main" id="{08FF44CC-479E-64F8-C28E-B3FD5EA33CB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18054" y="5149932"/>
              <a:ext cx="109512" cy="109512"/>
            </a:xfrm>
            <a:prstGeom prst="rect">
              <a:avLst/>
            </a:prstGeom>
          </p:spPr>
        </p:pic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AC77F035-58C6-34D8-55C7-7998FCBE8846}"/>
              </a:ext>
            </a:extLst>
          </p:cNvPr>
          <p:cNvGrpSpPr/>
          <p:nvPr/>
        </p:nvGrpSpPr>
        <p:grpSpPr>
          <a:xfrm>
            <a:off x="296273" y="6168701"/>
            <a:ext cx="144000" cy="144000"/>
            <a:chOff x="600810" y="5132688"/>
            <a:chExt cx="144000" cy="144000"/>
          </a:xfrm>
        </p:grpSpPr>
        <p:sp>
          <p:nvSpPr>
            <p:cNvPr id="14" name="Diagrama de flujo: conector 13">
              <a:extLst>
                <a:ext uri="{FF2B5EF4-FFF2-40B4-BE49-F238E27FC236}">
                  <a16:creationId xmlns:a16="http://schemas.microsoft.com/office/drawing/2014/main" id="{D22E9B8C-9642-4489-1592-17C9F3B977D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0810" y="5132688"/>
              <a:ext cx="144000" cy="144000"/>
            </a:xfrm>
            <a:prstGeom prst="flowChartConnector">
              <a:avLst/>
            </a:prstGeom>
            <a:solidFill>
              <a:srgbClr val="1C9A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pic>
          <p:nvPicPr>
            <p:cNvPr id="20" name="Gráfico 19" descr="Checkmark con relleno sólido">
              <a:extLst>
                <a:ext uri="{FF2B5EF4-FFF2-40B4-BE49-F238E27FC236}">
                  <a16:creationId xmlns:a16="http://schemas.microsoft.com/office/drawing/2014/main" id="{4D045373-8740-D8A9-BAAA-2D1D8318698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18054" y="5149932"/>
              <a:ext cx="109512" cy="109512"/>
            </a:xfrm>
            <a:prstGeom prst="rect">
              <a:avLst/>
            </a:prstGeom>
          </p:spPr>
        </p:pic>
      </p:grpSp>
      <p:grpSp>
        <p:nvGrpSpPr>
          <p:cNvPr id="84" name="Grupo 83">
            <a:extLst>
              <a:ext uri="{FF2B5EF4-FFF2-40B4-BE49-F238E27FC236}">
                <a16:creationId xmlns:a16="http://schemas.microsoft.com/office/drawing/2014/main" id="{E0C6F49A-38A0-46AC-5AC9-968A7D1EFF4E}"/>
              </a:ext>
            </a:extLst>
          </p:cNvPr>
          <p:cNvGrpSpPr/>
          <p:nvPr/>
        </p:nvGrpSpPr>
        <p:grpSpPr>
          <a:xfrm>
            <a:off x="292894" y="1910312"/>
            <a:ext cx="315832" cy="274950"/>
            <a:chOff x="292894" y="1910312"/>
            <a:chExt cx="315832" cy="274950"/>
          </a:xfrm>
        </p:grpSpPr>
        <p:sp>
          <p:nvSpPr>
            <p:cNvPr id="56" name="Forma libre: forma 55">
              <a:extLst>
                <a:ext uri="{FF2B5EF4-FFF2-40B4-BE49-F238E27FC236}">
                  <a16:creationId xmlns:a16="http://schemas.microsoft.com/office/drawing/2014/main" id="{A8D34D33-09BE-8373-D8ED-6FA4C0E9900E}"/>
                </a:ext>
              </a:extLst>
            </p:cNvPr>
            <p:cNvSpPr/>
            <p:nvPr/>
          </p:nvSpPr>
          <p:spPr>
            <a:xfrm>
              <a:off x="393202" y="1911075"/>
              <a:ext cx="23091" cy="216000"/>
            </a:xfrm>
            <a:custGeom>
              <a:avLst/>
              <a:gdLst>
                <a:gd name="csX0" fmla="*/ 11546 w 23091"/>
                <a:gd name="csY0" fmla="*/ 0 h 305249"/>
                <a:gd name="csX1" fmla="*/ 0 w 23091"/>
                <a:gd name="csY1" fmla="*/ 11447 h 305249"/>
                <a:gd name="csX2" fmla="*/ 0 w 23091"/>
                <a:gd name="csY2" fmla="*/ 305250 h 305249"/>
                <a:gd name="csX3" fmla="*/ 23092 w 23091"/>
                <a:gd name="csY3" fmla="*/ 305250 h 305249"/>
                <a:gd name="csX4" fmla="*/ 23092 w 23091"/>
                <a:gd name="csY4" fmla="*/ 11447 h 305249"/>
                <a:gd name="csX5" fmla="*/ 11546 w 23091"/>
                <a:gd name="csY5" fmla="*/ 0 h 3052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23091" h="305249">
                  <a:moveTo>
                    <a:pt x="11546" y="0"/>
                  </a:moveTo>
                  <a:cubicBezTo>
                    <a:pt x="5003" y="0"/>
                    <a:pt x="0" y="4960"/>
                    <a:pt x="0" y="11447"/>
                  </a:cubicBezTo>
                  <a:lnTo>
                    <a:pt x="0" y="305250"/>
                  </a:lnTo>
                  <a:lnTo>
                    <a:pt x="23092" y="305250"/>
                  </a:lnTo>
                  <a:lnTo>
                    <a:pt x="23092" y="11447"/>
                  </a:lnTo>
                  <a:cubicBezTo>
                    <a:pt x="23092" y="4960"/>
                    <a:pt x="18089" y="0"/>
                    <a:pt x="11546" y="0"/>
                  </a:cubicBezTo>
                  <a:close/>
                </a:path>
              </a:pathLst>
            </a:custGeom>
            <a:solidFill>
              <a:srgbClr val="002060"/>
            </a:solidFill>
            <a:ln w="3770" cap="flat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7" name="Forma libre: forma 56">
              <a:extLst>
                <a:ext uri="{FF2B5EF4-FFF2-40B4-BE49-F238E27FC236}">
                  <a16:creationId xmlns:a16="http://schemas.microsoft.com/office/drawing/2014/main" id="{5A63FA01-3E39-25D3-F10E-16E4EE32206A}"/>
                </a:ext>
              </a:extLst>
            </p:cNvPr>
            <p:cNvSpPr/>
            <p:nvPr/>
          </p:nvSpPr>
          <p:spPr>
            <a:xfrm>
              <a:off x="431688" y="1910312"/>
              <a:ext cx="177038" cy="137362"/>
            </a:xfrm>
            <a:custGeom>
              <a:avLst/>
              <a:gdLst>
                <a:gd name="csX0" fmla="*/ 48878 w 177038"/>
                <a:gd name="csY0" fmla="*/ 0 h 137362"/>
                <a:gd name="csX1" fmla="*/ 0 w 177038"/>
                <a:gd name="csY1" fmla="*/ 11065 h 137362"/>
                <a:gd name="csX2" fmla="*/ 0 w 177038"/>
                <a:gd name="csY2" fmla="*/ 137363 h 137362"/>
                <a:gd name="csX3" fmla="*/ 48878 w 177038"/>
                <a:gd name="csY3" fmla="*/ 126297 h 137362"/>
                <a:gd name="csX4" fmla="*/ 177038 w 177038"/>
                <a:gd name="csY4" fmla="*/ 127060 h 137362"/>
                <a:gd name="csX5" fmla="*/ 177038 w 177038"/>
                <a:gd name="csY5" fmla="*/ 763 h 137362"/>
                <a:gd name="csX6" fmla="*/ 48878 w 177038"/>
                <a:gd name="csY6" fmla="*/ 0 h 1373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77038" h="137362">
                  <a:moveTo>
                    <a:pt x="48878" y="0"/>
                  </a:moveTo>
                  <a:cubicBezTo>
                    <a:pt x="15010" y="0"/>
                    <a:pt x="0" y="11065"/>
                    <a:pt x="0" y="11065"/>
                  </a:cubicBezTo>
                  <a:lnTo>
                    <a:pt x="0" y="137363"/>
                  </a:lnTo>
                  <a:cubicBezTo>
                    <a:pt x="0" y="137363"/>
                    <a:pt x="14625" y="126297"/>
                    <a:pt x="48878" y="126297"/>
                  </a:cubicBezTo>
                  <a:cubicBezTo>
                    <a:pt x="89674" y="126297"/>
                    <a:pt x="129700" y="148428"/>
                    <a:pt x="177038" y="127060"/>
                  </a:cubicBezTo>
                  <a:lnTo>
                    <a:pt x="177038" y="763"/>
                  </a:lnTo>
                  <a:cubicBezTo>
                    <a:pt x="117384" y="18315"/>
                    <a:pt x="89674" y="0"/>
                    <a:pt x="48878" y="0"/>
                  </a:cubicBezTo>
                  <a:close/>
                </a:path>
              </a:pathLst>
            </a:custGeom>
            <a:solidFill>
              <a:srgbClr val="002060"/>
            </a:solidFill>
            <a:ln w="3770" cap="flat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9" name="Elipse 58">
              <a:extLst>
                <a:ext uri="{FF2B5EF4-FFF2-40B4-BE49-F238E27FC236}">
                  <a16:creationId xmlns:a16="http://schemas.microsoft.com/office/drawing/2014/main" id="{0F07963C-1AC5-5C03-005D-772E50587BC4}"/>
                </a:ext>
              </a:extLst>
            </p:cNvPr>
            <p:cNvSpPr/>
            <p:nvPr/>
          </p:nvSpPr>
          <p:spPr>
            <a:xfrm>
              <a:off x="292894" y="2055169"/>
              <a:ext cx="221683" cy="130093"/>
            </a:xfrm>
            <a:prstGeom prst="ellipse">
              <a:avLst/>
            </a:prstGeom>
            <a:noFill/>
            <a:ln>
              <a:solidFill>
                <a:srgbClr val="00206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graphicFrame>
        <p:nvGraphicFramePr>
          <p:cNvPr id="91" name="Objeto 90">
            <a:extLst>
              <a:ext uri="{FF2B5EF4-FFF2-40B4-BE49-F238E27FC236}">
                <a16:creationId xmlns:a16="http://schemas.microsoft.com/office/drawing/2014/main" id="{934F85B9-CF88-EF79-BF7F-DFA1BC3EA9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9344353"/>
              </p:ext>
            </p:extLst>
          </p:nvPr>
        </p:nvGraphicFramePr>
        <p:xfrm>
          <a:off x="721557" y="2839239"/>
          <a:ext cx="158432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3" imgW="1585102" imgH="685658" progId="Excel.Sheet.12">
                  <p:link updateAutomatic="1"/>
                </p:oleObj>
              </mc:Choice>
              <mc:Fallback>
                <p:oleObj name="Worksheet" r:id="rId33" imgW="1585102" imgH="685658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721557" y="2839239"/>
                        <a:ext cx="1584325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" name="Objeto 92">
            <a:extLst>
              <a:ext uri="{FF2B5EF4-FFF2-40B4-BE49-F238E27FC236}">
                <a16:creationId xmlns:a16="http://schemas.microsoft.com/office/drawing/2014/main" id="{F38FF134-EEEA-19D3-5B8F-0C5B4CD22F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9928803"/>
              </p:ext>
            </p:extLst>
          </p:nvPr>
        </p:nvGraphicFramePr>
        <p:xfrm>
          <a:off x="9744462" y="3610503"/>
          <a:ext cx="2293937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5" imgW="2293655" imgH="685658" progId="Excel.Sheet.12">
                  <p:link updateAutomatic="1"/>
                </p:oleObj>
              </mc:Choice>
              <mc:Fallback>
                <p:oleObj name="Worksheet" r:id="rId35" imgW="2293655" imgH="685658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9744462" y="3610503"/>
                        <a:ext cx="2293937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5" name="Grupo 94">
            <a:extLst>
              <a:ext uri="{FF2B5EF4-FFF2-40B4-BE49-F238E27FC236}">
                <a16:creationId xmlns:a16="http://schemas.microsoft.com/office/drawing/2014/main" id="{54DEFED0-8C2C-B0A8-DE7C-F32D56357DC0}"/>
              </a:ext>
            </a:extLst>
          </p:cNvPr>
          <p:cNvGrpSpPr/>
          <p:nvPr/>
        </p:nvGrpSpPr>
        <p:grpSpPr>
          <a:xfrm>
            <a:off x="4192528" y="6044316"/>
            <a:ext cx="144000" cy="144000"/>
            <a:chOff x="600810" y="5132688"/>
            <a:chExt cx="144000" cy="144000"/>
          </a:xfrm>
        </p:grpSpPr>
        <p:sp>
          <p:nvSpPr>
            <p:cNvPr id="97" name="Diagrama de flujo: conector 96">
              <a:extLst>
                <a:ext uri="{FF2B5EF4-FFF2-40B4-BE49-F238E27FC236}">
                  <a16:creationId xmlns:a16="http://schemas.microsoft.com/office/drawing/2014/main" id="{14FDF831-D067-5C81-5AE7-B62B857C41B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0810" y="5132688"/>
              <a:ext cx="144000" cy="144000"/>
            </a:xfrm>
            <a:prstGeom prst="flowChartConnector">
              <a:avLst/>
            </a:prstGeom>
            <a:solidFill>
              <a:srgbClr val="1C9A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pic>
          <p:nvPicPr>
            <p:cNvPr id="99" name="Gráfico 98" descr="Checkmark con relleno sólido">
              <a:extLst>
                <a:ext uri="{FF2B5EF4-FFF2-40B4-BE49-F238E27FC236}">
                  <a16:creationId xmlns:a16="http://schemas.microsoft.com/office/drawing/2014/main" id="{C0B2D48C-4A1B-D37E-0B34-B66F6ABA568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18054" y="5149932"/>
              <a:ext cx="109512" cy="109512"/>
            </a:xfrm>
            <a:prstGeom prst="rect">
              <a:avLst/>
            </a:prstGeom>
          </p:spPr>
        </p:pic>
      </p:grpSp>
      <p:graphicFrame>
        <p:nvGraphicFramePr>
          <p:cNvPr id="100" name="Tabla 99">
            <a:extLst>
              <a:ext uri="{FF2B5EF4-FFF2-40B4-BE49-F238E27FC236}">
                <a16:creationId xmlns:a16="http://schemas.microsoft.com/office/drawing/2014/main" id="{736BB796-2DB5-6535-DE9C-54F36D4A5C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249336"/>
              </p:ext>
            </p:extLst>
          </p:nvPr>
        </p:nvGraphicFramePr>
        <p:xfrm>
          <a:off x="8462019" y="5122214"/>
          <a:ext cx="3564000" cy="12954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81178">
                  <a:extLst>
                    <a:ext uri="{9D8B030D-6E8A-4147-A177-3AD203B41FA5}">
                      <a16:colId xmlns:a16="http://schemas.microsoft.com/office/drawing/2014/main" val="886283614"/>
                    </a:ext>
                  </a:extLst>
                </a:gridCol>
                <a:gridCol w="1982822">
                  <a:extLst>
                    <a:ext uri="{9D8B030D-6E8A-4147-A177-3AD203B41FA5}">
                      <a16:colId xmlns:a16="http://schemas.microsoft.com/office/drawing/2014/main" val="2576080768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100" b="1">
                          <a:latin typeface="Arial Narrow" panose="020B0606020202030204" pitchFamily="34" charset="0"/>
                        </a:rPr>
                        <a:t>Entregable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100" b="1" dirty="0">
                          <a:latin typeface="Arial Narrow" panose="020B0606020202030204" pitchFamily="34" charset="0"/>
                        </a:rPr>
                        <a:t>Estado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316014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100" b="1">
                          <a:latin typeface="Arial Narrow" panose="020B0606020202030204" pitchFamily="34" charset="0"/>
                        </a:rPr>
                        <a:t>Modelo de Datos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100" b="1" dirty="0">
                          <a:latin typeface="Arial Narrow" panose="020B0606020202030204" pitchFamily="34" charset="0"/>
                        </a:rPr>
                        <a:t>Disponible / actualizado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1255912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100" b="1" dirty="0">
                          <a:latin typeface="Arial Narrow" panose="020B0606020202030204" pitchFamily="34" charset="0"/>
                        </a:rPr>
                        <a:t>Casos de Uso principales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100" b="1" dirty="0">
                          <a:latin typeface="Arial Narrow" panose="020B0606020202030204" pitchFamily="34" charset="0"/>
                        </a:rPr>
                        <a:t>Disponible / en revisión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41413329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100" b="1">
                          <a:latin typeface="Arial Narrow" panose="020B0606020202030204" pitchFamily="34" charset="0"/>
                        </a:rPr>
                        <a:t>Casos de Prueba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100" b="1" dirty="0">
                          <a:latin typeface="Arial Narrow" panose="020B0606020202030204" pitchFamily="34" charset="0"/>
                        </a:rPr>
                        <a:t>En desarrollo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7796108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100" b="1" dirty="0">
                          <a:latin typeface="Arial Narrow" panose="020B0606020202030204" pitchFamily="34" charset="0"/>
                        </a:rPr>
                        <a:t>Arquitectura 4+1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100" b="1" dirty="0">
                          <a:latin typeface="Arial Narrow" panose="020B0606020202030204" pitchFamily="34" charset="0"/>
                        </a:rPr>
                        <a:t>En consolidación / validación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B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370232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796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Imagen 84">
            <a:extLst>
              <a:ext uri="{FF2B5EF4-FFF2-40B4-BE49-F238E27FC236}">
                <a16:creationId xmlns:a16="http://schemas.microsoft.com/office/drawing/2014/main" id="{D8845E12-DC9B-494E-4372-73C5FE3D97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522" cy="6858000"/>
          </a:xfrm>
          <a:prstGeom prst="rect">
            <a:avLst/>
          </a:prstGeom>
        </p:spPr>
      </p:pic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D72D52EE-C7E8-A54E-4BD0-AD078E97D0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5612858"/>
              </p:ext>
            </p:extLst>
          </p:nvPr>
        </p:nvGraphicFramePr>
        <p:xfrm>
          <a:off x="360553" y="1178250"/>
          <a:ext cx="9158250" cy="3562672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761306">
                  <a:extLst>
                    <a:ext uri="{9D8B030D-6E8A-4147-A177-3AD203B41FA5}">
                      <a16:colId xmlns:a16="http://schemas.microsoft.com/office/drawing/2014/main" val="2846520394"/>
                    </a:ext>
                  </a:extLst>
                </a:gridCol>
                <a:gridCol w="2442608">
                  <a:extLst>
                    <a:ext uri="{9D8B030D-6E8A-4147-A177-3AD203B41FA5}">
                      <a16:colId xmlns:a16="http://schemas.microsoft.com/office/drawing/2014/main" val="1453531337"/>
                    </a:ext>
                  </a:extLst>
                </a:gridCol>
                <a:gridCol w="1065266">
                  <a:extLst>
                    <a:ext uri="{9D8B030D-6E8A-4147-A177-3AD203B41FA5}">
                      <a16:colId xmlns:a16="http://schemas.microsoft.com/office/drawing/2014/main" val="1846673113"/>
                    </a:ext>
                  </a:extLst>
                </a:gridCol>
                <a:gridCol w="831938">
                  <a:extLst>
                    <a:ext uri="{9D8B030D-6E8A-4147-A177-3AD203B41FA5}">
                      <a16:colId xmlns:a16="http://schemas.microsoft.com/office/drawing/2014/main" val="453678013"/>
                    </a:ext>
                  </a:extLst>
                </a:gridCol>
                <a:gridCol w="4057132">
                  <a:extLst>
                    <a:ext uri="{9D8B030D-6E8A-4147-A177-3AD203B41FA5}">
                      <a16:colId xmlns:a16="http://schemas.microsoft.com/office/drawing/2014/main" val="2166989025"/>
                    </a:ext>
                  </a:extLst>
                </a:gridCol>
              </a:tblGrid>
              <a:tr h="44533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1" u="none" strike="noStrike" dirty="0">
                          <a:effectLst/>
                          <a:latin typeface="Arial Narrow" panose="020B0606020202030204" pitchFamily="34" charset="0"/>
                        </a:rPr>
                        <a:t>CS-08-01</a:t>
                      </a:r>
                      <a:endParaRPr lang="es-CL" sz="11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1444" marR="71444" marT="35722" marB="35722" anchor="ctr"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1100" b="0" u="none" strike="noStrike" dirty="0">
                          <a:effectLst/>
                          <a:latin typeface="Arial Narrow" panose="020B0606020202030204" pitchFamily="34" charset="0"/>
                        </a:rPr>
                        <a:t>Preparar la base técnica para el inicio del desarrollo H-03</a:t>
                      </a:r>
                      <a:endParaRPr lang="es-CL" sz="11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1444" marR="71444" marT="35722" marB="35722" anchor="ctr"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dirty="0">
                          <a:effectLst/>
                          <a:latin typeface="Arial Narrow" panose="020B0606020202030204" pitchFamily="34" charset="0"/>
                        </a:rPr>
                        <a:t>Equipo completo</a:t>
                      </a:r>
                      <a:endParaRPr lang="es-CL" sz="11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1444" marR="71444" marT="35722" marB="35722" anchor="ctr"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1" u="none" strike="noStrike" dirty="0">
                          <a:effectLst/>
                          <a:latin typeface="Arial Narrow" panose="020B0606020202030204" pitchFamily="34" charset="0"/>
                        </a:rPr>
                        <a:t>Cerrado</a:t>
                      </a:r>
                      <a:endParaRPr lang="es-CL" sz="11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1444" marR="71444" marT="35722" marB="35722" anchor="ctr"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1100" b="0" u="none" strike="noStrike" dirty="0">
                          <a:effectLst/>
                          <a:latin typeface="Arial Narrow" panose="020B0606020202030204" pitchFamily="34" charset="0"/>
                        </a:rPr>
                        <a:t>Base técnica preparada para dar inicio a las actividades de desarrollo.</a:t>
                      </a:r>
                      <a:endParaRPr lang="es-CL" sz="11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1444" marR="71444" marT="35722" marB="35722" anchor="ctr">
                    <a:solidFill>
                      <a:srgbClr val="F0F7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7879984"/>
                  </a:ext>
                </a:extLst>
              </a:tr>
              <a:tr h="44533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1" u="none" strike="noStrike" dirty="0">
                          <a:effectLst/>
                          <a:latin typeface="Arial Narrow" panose="020B0606020202030204" pitchFamily="34" charset="0"/>
                        </a:rPr>
                        <a:t>CS-08-02</a:t>
                      </a:r>
                      <a:endParaRPr lang="es-CL" sz="11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1444" marR="71444" marT="35722" marB="35722" anchor="ctr"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1100" b="0" u="none" strike="noStrike" dirty="0">
                          <a:effectLst/>
                          <a:latin typeface="Arial Narrow" panose="020B0606020202030204" pitchFamily="34" charset="0"/>
                        </a:rPr>
                        <a:t>Consolidar la arquitectura técnica aprobada</a:t>
                      </a:r>
                      <a:endParaRPr lang="es-CL" sz="11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1444" marR="71444" marT="35722" marB="35722" anchor="ctr"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dirty="0">
                          <a:effectLst/>
                          <a:latin typeface="Arial Narrow" panose="020B0606020202030204" pitchFamily="34" charset="0"/>
                        </a:rPr>
                        <a:t>Carlos / Equipo</a:t>
                      </a:r>
                      <a:endParaRPr lang="es-CL" sz="11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1444" marR="71444" marT="35722" marB="35722" anchor="ctr"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1" u="none" strike="noStrike" dirty="0">
                          <a:effectLst/>
                          <a:latin typeface="Arial Narrow" panose="020B0606020202030204" pitchFamily="34" charset="0"/>
                        </a:rPr>
                        <a:t>Cerrado</a:t>
                      </a:r>
                      <a:endParaRPr lang="es-CL" sz="11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1444" marR="71444" marT="35722" marB="35722" anchor="ctr"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1100" b="0" u="none" strike="noStrike" dirty="0">
                          <a:effectLst/>
                          <a:latin typeface="Arial Narrow" panose="020B0606020202030204" pitchFamily="34" charset="0"/>
                        </a:rPr>
                        <a:t>Arquitectura técnica consolidada como base para la construcción de la solución.</a:t>
                      </a:r>
                      <a:endParaRPr lang="es-CL" sz="11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1444" marR="71444" marT="35722" marB="35722" anchor="ctr">
                    <a:solidFill>
                      <a:srgbClr val="F0F7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960247"/>
                  </a:ext>
                </a:extLst>
              </a:tr>
              <a:tr h="44533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1" u="none" strike="noStrike" dirty="0">
                          <a:effectLst/>
                          <a:latin typeface="Arial Narrow" panose="020B0606020202030204" pitchFamily="34" charset="0"/>
                        </a:rPr>
                        <a:t>CS-08-03</a:t>
                      </a:r>
                      <a:endParaRPr lang="es-CL" sz="11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1444" marR="71444" marT="35722" marB="35722" anchor="ctr"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1100" b="0" u="none" strike="noStrike" dirty="0">
                          <a:effectLst/>
                          <a:latin typeface="Arial Narrow" panose="020B0606020202030204" pitchFamily="34" charset="0"/>
                        </a:rPr>
                        <a:t>Crear y configurar los repositorios del proyecto</a:t>
                      </a:r>
                      <a:endParaRPr lang="es-CL" sz="11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1444" marR="71444" marT="35722" marB="35722" anchor="ctr"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dirty="0">
                          <a:effectLst/>
                          <a:latin typeface="Arial Narrow" panose="020B0606020202030204" pitchFamily="34" charset="0"/>
                        </a:rPr>
                        <a:t>Carlos</a:t>
                      </a:r>
                      <a:endParaRPr lang="es-CL" sz="11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1444" marR="71444" marT="35722" marB="35722" anchor="ctr"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1" u="none" strike="noStrike" dirty="0">
                          <a:effectLst/>
                          <a:latin typeface="Arial Narrow" panose="020B0606020202030204" pitchFamily="34" charset="0"/>
                        </a:rPr>
                        <a:t>Cerrado</a:t>
                      </a:r>
                      <a:endParaRPr lang="es-CL" sz="11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1444" marR="71444" marT="35722" marB="35722" anchor="ctr"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1100" b="0" u="none" strike="noStrike" dirty="0">
                          <a:effectLst/>
                          <a:latin typeface="Arial Narrow" panose="020B0606020202030204" pitchFamily="34" charset="0"/>
                        </a:rPr>
                        <a:t>Repositorios creados y configurados para el trabajo colaborativo del equipo.</a:t>
                      </a:r>
                      <a:endParaRPr lang="es-CL" sz="11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1444" marR="71444" marT="35722" marB="35722" anchor="ctr">
                    <a:solidFill>
                      <a:srgbClr val="F0F7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066632"/>
                  </a:ext>
                </a:extLst>
              </a:tr>
              <a:tr h="44533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1" u="none" strike="noStrike" dirty="0">
                          <a:effectLst/>
                          <a:latin typeface="Arial Narrow" panose="020B0606020202030204" pitchFamily="34" charset="0"/>
                        </a:rPr>
                        <a:t>CS-08-04</a:t>
                      </a:r>
                      <a:endParaRPr lang="es-CL" sz="11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1444" marR="71444" marT="35722" marB="35722" anchor="ctr"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1100" b="0" u="none" strike="noStrike">
                          <a:effectLst/>
                          <a:latin typeface="Arial Narrow" panose="020B0606020202030204" pitchFamily="34" charset="0"/>
                        </a:rPr>
                        <a:t>Definir la estructura inicial del backend</a:t>
                      </a:r>
                      <a:endParaRPr lang="es-CL" sz="11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1444" marR="71444" marT="35722" marB="35722" anchor="ctr"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dirty="0">
                          <a:effectLst/>
                          <a:latin typeface="Arial Narrow" panose="020B0606020202030204" pitchFamily="34" charset="0"/>
                        </a:rPr>
                        <a:t>Carlos</a:t>
                      </a:r>
                      <a:endParaRPr lang="es-CL" sz="11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1444" marR="71444" marT="35722" marB="35722" anchor="ctr"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1" u="none" strike="noStrike" dirty="0">
                          <a:effectLst/>
                          <a:latin typeface="Arial Narrow" panose="020B0606020202030204" pitchFamily="34" charset="0"/>
                        </a:rPr>
                        <a:t>Cerrado</a:t>
                      </a:r>
                      <a:endParaRPr lang="es-CL" sz="11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1444" marR="71444" marT="35722" marB="35722" anchor="ctr"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1100" b="0" u="none" strike="noStrike" dirty="0">
                          <a:effectLst/>
                          <a:latin typeface="Arial Narrow" panose="020B0606020202030204" pitchFamily="34" charset="0"/>
                        </a:rPr>
                        <a:t>Estructura base del </a:t>
                      </a:r>
                      <a:r>
                        <a:rPr lang="es-CL" sz="1100" b="0" u="none" strike="noStrike" dirty="0" err="1">
                          <a:effectLst/>
                          <a:latin typeface="Arial Narrow" panose="020B0606020202030204" pitchFamily="34" charset="0"/>
                        </a:rPr>
                        <a:t>backend</a:t>
                      </a:r>
                      <a:r>
                        <a:rPr lang="es-CL" sz="1100" b="0" u="none" strike="noStrike" dirty="0">
                          <a:effectLst/>
                          <a:latin typeface="Arial Narrow" panose="020B0606020202030204" pitchFamily="34" charset="0"/>
                        </a:rPr>
                        <a:t> definida y preparada para la implementación de funcionalidades.</a:t>
                      </a:r>
                      <a:endParaRPr lang="es-CL" sz="11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1444" marR="71444" marT="35722" marB="35722" anchor="ctr">
                    <a:solidFill>
                      <a:srgbClr val="F0F7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3255028"/>
                  </a:ext>
                </a:extLst>
              </a:tr>
              <a:tr h="44533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1" u="none" strike="noStrike" dirty="0">
                          <a:effectLst/>
                          <a:latin typeface="Arial Narrow" panose="020B0606020202030204" pitchFamily="34" charset="0"/>
                        </a:rPr>
                        <a:t>CS-08-05</a:t>
                      </a:r>
                      <a:endParaRPr lang="es-CL" sz="11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1444" marR="71444" marT="35722" marB="35722" anchor="ctr"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1100" b="0" u="none" strike="noStrike">
                          <a:effectLst/>
                          <a:latin typeface="Arial Narrow" panose="020B0606020202030204" pitchFamily="34" charset="0"/>
                        </a:rPr>
                        <a:t>Definir la estructura inicial de la aplicación web</a:t>
                      </a:r>
                      <a:endParaRPr lang="es-CL" sz="11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1444" marR="71444" marT="35722" marB="35722" anchor="ctr"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dirty="0">
                          <a:effectLst/>
                          <a:latin typeface="Arial Narrow" panose="020B0606020202030204" pitchFamily="34" charset="0"/>
                        </a:rPr>
                        <a:t>Alejandro</a:t>
                      </a:r>
                      <a:endParaRPr lang="es-CL" sz="11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1444" marR="71444" marT="35722" marB="35722" anchor="ctr"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1" u="none" strike="noStrike" dirty="0">
                          <a:effectLst/>
                          <a:latin typeface="Arial Narrow" panose="020B0606020202030204" pitchFamily="34" charset="0"/>
                        </a:rPr>
                        <a:t>Cerrado</a:t>
                      </a:r>
                      <a:endParaRPr lang="es-CL" sz="11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1444" marR="71444" marT="35722" marB="35722" anchor="ctr"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1100" b="0" u="none" strike="noStrike" dirty="0">
                          <a:effectLst/>
                          <a:latin typeface="Arial Narrow" panose="020B0606020202030204" pitchFamily="34" charset="0"/>
                        </a:rPr>
                        <a:t>Estructura inicial de la aplicación web establecida conforme a la arquitectura definida.</a:t>
                      </a:r>
                      <a:endParaRPr lang="es-CL" sz="11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1444" marR="71444" marT="35722" marB="35722" anchor="ctr">
                    <a:solidFill>
                      <a:srgbClr val="F0F7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3943241"/>
                  </a:ext>
                </a:extLst>
              </a:tr>
              <a:tr h="44533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1" u="none" strike="noStrike" dirty="0">
                          <a:effectLst/>
                          <a:latin typeface="Arial Narrow" panose="020B0606020202030204" pitchFamily="34" charset="0"/>
                        </a:rPr>
                        <a:t>CS-08-06</a:t>
                      </a:r>
                      <a:endParaRPr lang="es-CL" sz="11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1444" marR="71444" marT="35722" marB="35722" anchor="ctr"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1100" b="0" u="none" strike="noStrike" dirty="0">
                          <a:effectLst/>
                          <a:latin typeface="Arial Narrow" panose="020B0606020202030204" pitchFamily="34" charset="0"/>
                        </a:rPr>
                        <a:t>Definir la estructura inicial de la aplicación móvil</a:t>
                      </a:r>
                      <a:endParaRPr lang="es-CL" sz="11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1444" marR="71444" marT="35722" marB="35722" anchor="ctr"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dirty="0">
                          <a:effectLst/>
                          <a:latin typeface="Arial Narrow" panose="020B0606020202030204" pitchFamily="34" charset="0"/>
                        </a:rPr>
                        <a:t>Rubén</a:t>
                      </a:r>
                      <a:endParaRPr lang="es-CL" sz="11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1444" marR="71444" marT="35722" marB="35722" anchor="ctr"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1" u="none" strike="noStrike" dirty="0">
                          <a:effectLst/>
                          <a:latin typeface="Arial Narrow" panose="020B0606020202030204" pitchFamily="34" charset="0"/>
                        </a:rPr>
                        <a:t>Cerrado</a:t>
                      </a:r>
                      <a:endParaRPr lang="es-CL" sz="11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1444" marR="71444" marT="35722" marB="35722" anchor="ctr"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1100" b="0" u="none" strike="noStrike" dirty="0">
                          <a:effectLst/>
                          <a:latin typeface="Arial Narrow" panose="020B0606020202030204" pitchFamily="34" charset="0"/>
                        </a:rPr>
                        <a:t>Estructura inicial de la aplicación móvil definida para continuar su desarrollo.</a:t>
                      </a:r>
                      <a:endParaRPr lang="es-CL" sz="11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1444" marR="71444" marT="35722" marB="35722" anchor="ctr">
                    <a:solidFill>
                      <a:srgbClr val="F0F7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244582"/>
                  </a:ext>
                </a:extLst>
              </a:tr>
              <a:tr h="44533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1" u="none" strike="noStrike" dirty="0">
                          <a:effectLst/>
                          <a:latin typeface="Arial Narrow" panose="020B0606020202030204" pitchFamily="34" charset="0"/>
                        </a:rPr>
                        <a:t>CS-08-07</a:t>
                      </a:r>
                      <a:endParaRPr lang="es-CL" sz="11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1444" marR="71444" marT="35722" marB="35722" anchor="ctr"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1100" b="0" u="none" strike="noStrike">
                          <a:effectLst/>
                          <a:latin typeface="Arial Narrow" panose="020B0606020202030204" pitchFamily="34" charset="0"/>
                        </a:rPr>
                        <a:t>Configurar ambientes y estrategia de control de versiones</a:t>
                      </a:r>
                      <a:endParaRPr lang="es-CL" sz="1100" b="0" i="0" u="none" strike="noStrike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1444" marR="71444" marT="35722" marB="35722" anchor="ctr"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dirty="0">
                          <a:effectLst/>
                          <a:latin typeface="Arial Narrow" panose="020B0606020202030204" pitchFamily="34" charset="0"/>
                        </a:rPr>
                        <a:t>Carlos / Equipo</a:t>
                      </a:r>
                      <a:endParaRPr lang="es-CL" sz="11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1444" marR="71444" marT="35722" marB="35722" anchor="ctr"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1" u="none" strike="noStrike" dirty="0">
                          <a:effectLst/>
                          <a:latin typeface="Arial Narrow" panose="020B0606020202030204" pitchFamily="34" charset="0"/>
                        </a:rPr>
                        <a:t>Cerrado</a:t>
                      </a:r>
                      <a:endParaRPr lang="es-CL" sz="11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1444" marR="71444" marT="35722" marB="35722" anchor="ctr"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1100" b="0" u="none" strike="noStrike" dirty="0">
                          <a:effectLst/>
                          <a:latin typeface="Arial Narrow" panose="020B0606020202030204" pitchFamily="34" charset="0"/>
                        </a:rPr>
                        <a:t>Ambientes y estrategia de versionado configurados para el desarrollo controlado del proyecto.</a:t>
                      </a:r>
                      <a:endParaRPr lang="es-CL" sz="11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1444" marR="71444" marT="35722" marB="35722" anchor="ctr">
                    <a:solidFill>
                      <a:srgbClr val="F0F7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9106976"/>
                  </a:ext>
                </a:extLst>
              </a:tr>
              <a:tr h="44533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1" u="none" strike="noStrike" dirty="0">
                          <a:effectLst/>
                          <a:latin typeface="Arial Narrow" panose="020B0606020202030204" pitchFamily="34" charset="0"/>
                        </a:rPr>
                        <a:t>CS-08-08</a:t>
                      </a:r>
                      <a:endParaRPr lang="es-CL" sz="11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1444" marR="71444" marT="35722" marB="35722" anchor="ctr"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1100" b="0" u="none" strike="noStrike" dirty="0">
                          <a:effectLst/>
                          <a:latin typeface="Arial Narrow" panose="020B0606020202030204" pitchFamily="34" charset="0"/>
                        </a:rPr>
                        <a:t>Iniciar la implementación física de la base de datos</a:t>
                      </a:r>
                      <a:endParaRPr lang="es-CL" sz="11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1444" marR="71444" marT="35722" marB="35722" anchor="ctr"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0" u="none" strike="noStrike" dirty="0">
                          <a:effectLst/>
                          <a:latin typeface="Arial Narrow" panose="020B0606020202030204" pitchFamily="34" charset="0"/>
                        </a:rPr>
                        <a:t>Eduardo</a:t>
                      </a:r>
                      <a:endParaRPr lang="es-CL" sz="11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1444" marR="71444" marT="35722" marB="35722" anchor="ctr"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1" u="none" strike="noStrike" dirty="0">
                          <a:effectLst/>
                          <a:latin typeface="Arial Narrow" panose="020B0606020202030204" pitchFamily="34" charset="0"/>
                        </a:rPr>
                        <a:t>Cerrado</a:t>
                      </a:r>
                      <a:endParaRPr lang="es-CL" sz="11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1444" marR="71444" marT="35722" marB="35722" anchor="ctr"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1100" b="0" u="none" strike="noStrike" dirty="0">
                          <a:effectLst/>
                          <a:latin typeface="Arial Narrow" panose="020B0606020202030204" pitchFamily="34" charset="0"/>
                        </a:rPr>
                        <a:t>Modelo físico y estructura inicial de base de datos implementados a partir del diseño aprobado.</a:t>
                      </a:r>
                      <a:endParaRPr lang="es-CL" sz="11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1444" marR="71444" marT="35722" marB="35722" anchor="ctr">
                    <a:solidFill>
                      <a:srgbClr val="F0F7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095711"/>
                  </a:ext>
                </a:extLst>
              </a:tr>
            </a:tbl>
          </a:graphicData>
        </a:graphic>
      </p:graphicFrame>
      <p:sp>
        <p:nvSpPr>
          <p:cNvPr id="36" name="Rectángulo: esquinas redondeadas 35">
            <a:extLst>
              <a:ext uri="{FF2B5EF4-FFF2-40B4-BE49-F238E27FC236}">
                <a16:creationId xmlns:a16="http://schemas.microsoft.com/office/drawing/2014/main" id="{49F9B917-7FC9-A2E8-61AB-6B2EFACC3B13}"/>
              </a:ext>
            </a:extLst>
          </p:cNvPr>
          <p:cNvSpPr/>
          <p:nvPr/>
        </p:nvSpPr>
        <p:spPr>
          <a:xfrm>
            <a:off x="5174139" y="-466519"/>
            <a:ext cx="1001486" cy="331423"/>
          </a:xfrm>
          <a:prstGeom prst="roundRect">
            <a:avLst>
              <a:gd name="adj" fmla="val 39659"/>
            </a:avLst>
          </a:prstGeom>
          <a:solidFill>
            <a:srgbClr val="FFC00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599CA333-4ADC-8556-1872-EF758B080D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0837" y="217737"/>
            <a:ext cx="1620000" cy="1620000"/>
          </a:xfrm>
          <a:prstGeom prst="rect">
            <a:avLst/>
          </a:prstGeom>
        </p:spPr>
      </p:pic>
      <p:grpSp>
        <p:nvGrpSpPr>
          <p:cNvPr id="9" name="Grupo 8">
            <a:extLst>
              <a:ext uri="{FF2B5EF4-FFF2-40B4-BE49-F238E27FC236}">
                <a16:creationId xmlns:a16="http://schemas.microsoft.com/office/drawing/2014/main" id="{584FC301-180A-7146-FCD7-54BF34C49DC7}"/>
              </a:ext>
            </a:extLst>
          </p:cNvPr>
          <p:cNvGrpSpPr/>
          <p:nvPr/>
        </p:nvGrpSpPr>
        <p:grpSpPr>
          <a:xfrm>
            <a:off x="360553" y="6322468"/>
            <a:ext cx="4541575" cy="479526"/>
            <a:chOff x="362021" y="6264961"/>
            <a:chExt cx="4541575" cy="479526"/>
          </a:xfrm>
        </p:grpSpPr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D9A10FB9-C79C-49E1-660C-644144709F1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colorTemperature colorTemp="47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62021" y="6264961"/>
              <a:ext cx="479526" cy="479526"/>
            </a:xfrm>
            <a:prstGeom prst="rect">
              <a:avLst/>
            </a:prstGeom>
          </p:spPr>
        </p:pic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8257114D-8998-8F5E-25E1-E785142DCD7C}"/>
                </a:ext>
              </a:extLst>
            </p:cNvPr>
            <p:cNvSpPr txBox="1"/>
            <p:nvPr/>
          </p:nvSpPr>
          <p:spPr>
            <a:xfrm>
              <a:off x="418502" y="6330118"/>
              <a:ext cx="4058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600" b="1" dirty="0">
                  <a:solidFill>
                    <a:srgbClr val="0A3E6F"/>
                  </a:solidFill>
                  <a:latin typeface="Aptos Display" panose="020B0004020202020204" pitchFamily="34" charset="0"/>
                  <a:ea typeface="ADLaM Display" panose="02010000000000000000" pitchFamily="2" charset="0"/>
                  <a:cs typeface="Aharoni" panose="020F0502020204030204" pitchFamily="2" charset="-79"/>
                </a:rPr>
                <a:t>04</a:t>
              </a:r>
            </a:p>
          </p:txBody>
        </p: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138C0E52-3ACD-2DD0-B68B-07269DB7AF23}"/>
                </a:ext>
              </a:extLst>
            </p:cNvPr>
            <p:cNvSpPr txBox="1"/>
            <p:nvPr/>
          </p:nvSpPr>
          <p:spPr>
            <a:xfrm>
              <a:off x="841547" y="6372387"/>
              <a:ext cx="24956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200" b="1" dirty="0">
                  <a:solidFill>
                    <a:srgbClr val="002060"/>
                  </a:solidFill>
                  <a:latin typeface="Arial Narrow" panose="020B0606020202030204" pitchFamily="34" charset="0"/>
                </a:rPr>
                <a:t>CAPSTONE · Ingeniería en Informática</a:t>
              </a:r>
            </a:p>
          </p:txBody>
        </p:sp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5AD97802-710C-5384-06AF-A12E341307A4}"/>
                </a:ext>
              </a:extLst>
            </p:cNvPr>
            <p:cNvCxnSpPr/>
            <p:nvPr/>
          </p:nvCxnSpPr>
          <p:spPr>
            <a:xfrm>
              <a:off x="3326720" y="6398507"/>
              <a:ext cx="0" cy="224758"/>
            </a:xfrm>
            <a:prstGeom prst="line">
              <a:avLst/>
            </a:prstGeom>
            <a:ln>
              <a:solidFill>
                <a:srgbClr val="7890B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D20150A9-EC56-556E-367A-21E231066AD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66930" y="6296972"/>
              <a:ext cx="1436666" cy="324000"/>
            </a:xfrm>
            <a:prstGeom prst="rect">
              <a:avLst/>
            </a:prstGeom>
          </p:spPr>
        </p:pic>
      </p:grpSp>
      <p:sp>
        <p:nvSpPr>
          <p:cNvPr id="46" name="Rectángulo: esquinas redondeadas 45">
            <a:extLst>
              <a:ext uri="{FF2B5EF4-FFF2-40B4-BE49-F238E27FC236}">
                <a16:creationId xmlns:a16="http://schemas.microsoft.com/office/drawing/2014/main" id="{61B6B560-B04E-9CA8-57CB-89383E62DE54}"/>
              </a:ext>
            </a:extLst>
          </p:cNvPr>
          <p:cNvSpPr/>
          <p:nvPr/>
        </p:nvSpPr>
        <p:spPr>
          <a:xfrm>
            <a:off x="250372" y="4876800"/>
            <a:ext cx="11691256" cy="1389662"/>
          </a:xfrm>
          <a:prstGeom prst="roundRect">
            <a:avLst>
              <a:gd name="adj" fmla="val 6932"/>
            </a:avLst>
          </a:prstGeom>
          <a:solidFill>
            <a:srgbClr val="F0F7FE"/>
          </a:solidFill>
          <a:ln>
            <a:solidFill>
              <a:srgbClr val="B1C7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grpSp>
        <p:nvGrpSpPr>
          <p:cNvPr id="86" name="Grupo 85">
            <a:extLst>
              <a:ext uri="{FF2B5EF4-FFF2-40B4-BE49-F238E27FC236}">
                <a16:creationId xmlns:a16="http://schemas.microsoft.com/office/drawing/2014/main" id="{40DF6C1F-F64F-313F-E488-54F6046BC3ED}"/>
              </a:ext>
            </a:extLst>
          </p:cNvPr>
          <p:cNvGrpSpPr/>
          <p:nvPr/>
        </p:nvGrpSpPr>
        <p:grpSpPr>
          <a:xfrm>
            <a:off x="409075" y="4955722"/>
            <a:ext cx="457200" cy="457200"/>
            <a:chOff x="409075" y="4955722"/>
            <a:chExt cx="457200" cy="457200"/>
          </a:xfrm>
        </p:grpSpPr>
        <p:sp>
          <p:nvSpPr>
            <p:cNvPr id="47" name="Diagrama de flujo: conector 46">
              <a:extLst>
                <a:ext uri="{FF2B5EF4-FFF2-40B4-BE49-F238E27FC236}">
                  <a16:creationId xmlns:a16="http://schemas.microsoft.com/office/drawing/2014/main" id="{E1C17417-C096-CDFB-CB07-D4AF27F3559D}"/>
                </a:ext>
              </a:extLst>
            </p:cNvPr>
            <p:cNvSpPr/>
            <p:nvPr/>
          </p:nvSpPr>
          <p:spPr>
            <a:xfrm>
              <a:off x="409075" y="4955722"/>
              <a:ext cx="457200" cy="457200"/>
            </a:xfrm>
            <a:prstGeom prst="flowChartConnector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pic>
          <p:nvPicPr>
            <p:cNvPr id="48" name="Gráfico 47" descr="Bullseye con relleno sólido">
              <a:extLst>
                <a:ext uri="{FF2B5EF4-FFF2-40B4-BE49-F238E27FC236}">
                  <a16:creationId xmlns:a16="http://schemas.microsoft.com/office/drawing/2014/main" id="{96FC90DD-61D7-183C-5EAF-2684B7794A5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39675" y="4986322"/>
              <a:ext cx="396000" cy="396000"/>
            </a:xfrm>
            <a:prstGeom prst="rect">
              <a:avLst/>
            </a:prstGeom>
          </p:spPr>
        </p:pic>
      </p:grpSp>
      <p:sp>
        <p:nvSpPr>
          <p:cNvPr id="49" name="CuadroTexto 48">
            <a:extLst>
              <a:ext uri="{FF2B5EF4-FFF2-40B4-BE49-F238E27FC236}">
                <a16:creationId xmlns:a16="http://schemas.microsoft.com/office/drawing/2014/main" id="{8546C650-7077-0768-C0B7-10FA2C82F60C}"/>
              </a:ext>
            </a:extLst>
          </p:cNvPr>
          <p:cNvSpPr txBox="1"/>
          <p:nvPr/>
        </p:nvSpPr>
        <p:spPr>
          <a:xfrm>
            <a:off x="920938" y="4924927"/>
            <a:ext cx="23134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b="1" dirty="0">
                <a:solidFill>
                  <a:srgbClr val="002060"/>
                </a:solidFill>
                <a:latin typeface="Abadi" panose="020B0604020104020204" pitchFamily="34" charset="0"/>
              </a:rPr>
              <a:t>Resumen de cumplimiento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CD218786-9F8C-0B28-86C3-30589EA2FB23}"/>
              </a:ext>
            </a:extLst>
          </p:cNvPr>
          <p:cNvSpPr txBox="1"/>
          <p:nvPr/>
        </p:nvSpPr>
        <p:spPr>
          <a:xfrm>
            <a:off x="745749" y="5597809"/>
            <a:ext cx="96051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1100" b="1" dirty="0">
                <a:solidFill>
                  <a:srgbClr val="002060"/>
                </a:solidFill>
                <a:latin typeface="Arial Narrow" panose="020B0606020202030204" pitchFamily="34" charset="0"/>
              </a:rPr>
              <a:t>Compromisos</a:t>
            </a:r>
          </a:p>
          <a:p>
            <a:pPr algn="ctr"/>
            <a:r>
              <a:rPr lang="es-CL" sz="1100" b="1" dirty="0">
                <a:solidFill>
                  <a:srgbClr val="002060"/>
                </a:solidFill>
                <a:latin typeface="Arial Narrow" panose="020B0606020202030204" pitchFamily="34" charset="0"/>
              </a:rPr>
              <a:t>totales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0F3C58B0-E3AC-4906-D87C-4693831DE59E}"/>
              </a:ext>
            </a:extLst>
          </p:cNvPr>
          <p:cNvSpPr txBox="1"/>
          <p:nvPr/>
        </p:nvSpPr>
        <p:spPr>
          <a:xfrm>
            <a:off x="992991" y="5209558"/>
            <a:ext cx="4122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800" b="1" dirty="0">
                <a:solidFill>
                  <a:srgbClr val="002060"/>
                </a:solidFill>
                <a:latin typeface="Abadi" panose="020B0604020104020204" pitchFamily="34" charset="0"/>
              </a:rPr>
              <a:t>8</a:t>
            </a: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ADE67D0A-159B-D1B4-3926-A42997690BA1}"/>
              </a:ext>
            </a:extLst>
          </p:cNvPr>
          <p:cNvSpPr txBox="1"/>
          <p:nvPr/>
        </p:nvSpPr>
        <p:spPr>
          <a:xfrm>
            <a:off x="2414676" y="5209558"/>
            <a:ext cx="4122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800" b="1" dirty="0">
                <a:solidFill>
                  <a:srgbClr val="13863C"/>
                </a:solidFill>
                <a:latin typeface="Abadi" panose="020B0604020104020204" pitchFamily="34" charset="0"/>
              </a:rPr>
              <a:t>8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5C9F817A-A8FF-ABE2-F3CC-62D089CF9048}"/>
              </a:ext>
            </a:extLst>
          </p:cNvPr>
          <p:cNvSpPr txBox="1"/>
          <p:nvPr/>
        </p:nvSpPr>
        <p:spPr>
          <a:xfrm>
            <a:off x="2275214" y="5623157"/>
            <a:ext cx="69121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1100" b="1" dirty="0">
                <a:solidFill>
                  <a:srgbClr val="13863C"/>
                </a:solidFill>
                <a:latin typeface="Arial Narrow" panose="020B0606020202030204" pitchFamily="34" charset="0"/>
              </a:rPr>
              <a:t>Cerrados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A8882FAC-B4A1-7739-2029-2C77D5BD70DA}"/>
              </a:ext>
            </a:extLst>
          </p:cNvPr>
          <p:cNvSpPr txBox="1"/>
          <p:nvPr/>
        </p:nvSpPr>
        <p:spPr>
          <a:xfrm>
            <a:off x="3759979" y="5209558"/>
            <a:ext cx="4122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800" b="1" dirty="0">
                <a:solidFill>
                  <a:srgbClr val="FFC000"/>
                </a:solidFill>
                <a:latin typeface="Abadi" panose="020B0604020104020204" pitchFamily="34" charset="0"/>
              </a:rPr>
              <a:t>0</a:t>
            </a: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290DB001-D6C2-C850-725A-608DAF0F5834}"/>
              </a:ext>
            </a:extLst>
          </p:cNvPr>
          <p:cNvSpPr txBox="1"/>
          <p:nvPr/>
        </p:nvSpPr>
        <p:spPr>
          <a:xfrm>
            <a:off x="3559605" y="5623157"/>
            <a:ext cx="8130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1100" b="1" dirty="0">
                <a:solidFill>
                  <a:srgbClr val="FFC000"/>
                </a:solidFill>
                <a:latin typeface="Arial Narrow" panose="020B0606020202030204" pitchFamily="34" charset="0"/>
              </a:rPr>
              <a:t>En proceso</a:t>
            </a: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0830FE66-13AA-20CA-47A1-8A9707F8881F}"/>
              </a:ext>
            </a:extLst>
          </p:cNvPr>
          <p:cNvSpPr txBox="1"/>
          <p:nvPr/>
        </p:nvSpPr>
        <p:spPr>
          <a:xfrm>
            <a:off x="5120856" y="5209558"/>
            <a:ext cx="4122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800" b="1" dirty="0">
                <a:solidFill>
                  <a:srgbClr val="C00000"/>
                </a:solidFill>
                <a:latin typeface="Abadi" panose="020B0604020104020204" pitchFamily="34" charset="0"/>
              </a:rPr>
              <a:t>0</a:t>
            </a: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2D4D5C4A-2570-F9B9-54A7-99D4B3D2BC52}"/>
              </a:ext>
            </a:extLst>
          </p:cNvPr>
          <p:cNvSpPr txBox="1"/>
          <p:nvPr/>
        </p:nvSpPr>
        <p:spPr>
          <a:xfrm>
            <a:off x="4635595" y="5629976"/>
            <a:ext cx="15311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1100" b="1" dirty="0">
                <a:solidFill>
                  <a:srgbClr val="C00000"/>
                </a:solidFill>
                <a:latin typeface="Arial Narrow" panose="020B0606020202030204" pitchFamily="34" charset="0"/>
              </a:rPr>
              <a:t>Atrasados / No iniciados</a:t>
            </a:r>
          </a:p>
        </p:txBody>
      </p:sp>
      <p:cxnSp>
        <p:nvCxnSpPr>
          <p:cNvPr id="58" name="Conector recto 57">
            <a:extLst>
              <a:ext uri="{FF2B5EF4-FFF2-40B4-BE49-F238E27FC236}">
                <a16:creationId xmlns:a16="http://schemas.microsoft.com/office/drawing/2014/main" id="{F73B5903-1572-956F-0C98-2D076322BF88}"/>
              </a:ext>
            </a:extLst>
          </p:cNvPr>
          <p:cNvCxnSpPr/>
          <p:nvPr/>
        </p:nvCxnSpPr>
        <p:spPr>
          <a:xfrm>
            <a:off x="1954463" y="5367600"/>
            <a:ext cx="0" cy="576000"/>
          </a:xfrm>
          <a:prstGeom prst="line">
            <a:avLst/>
          </a:prstGeom>
          <a:ln>
            <a:solidFill>
              <a:srgbClr val="B1C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cto 58">
            <a:extLst>
              <a:ext uri="{FF2B5EF4-FFF2-40B4-BE49-F238E27FC236}">
                <a16:creationId xmlns:a16="http://schemas.microsoft.com/office/drawing/2014/main" id="{BF6562B1-70E3-6AC0-F02E-68020E5BBBE7}"/>
              </a:ext>
            </a:extLst>
          </p:cNvPr>
          <p:cNvCxnSpPr>
            <a:cxnSpLocks/>
          </p:cNvCxnSpPr>
          <p:nvPr/>
        </p:nvCxnSpPr>
        <p:spPr>
          <a:xfrm>
            <a:off x="3296654" y="5367600"/>
            <a:ext cx="0" cy="576000"/>
          </a:xfrm>
          <a:prstGeom prst="line">
            <a:avLst/>
          </a:prstGeom>
          <a:ln>
            <a:solidFill>
              <a:srgbClr val="B1C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cto 59">
            <a:extLst>
              <a:ext uri="{FF2B5EF4-FFF2-40B4-BE49-F238E27FC236}">
                <a16:creationId xmlns:a16="http://schemas.microsoft.com/office/drawing/2014/main" id="{04440E7D-F5D9-E38C-E09A-AC15307A8059}"/>
              </a:ext>
            </a:extLst>
          </p:cNvPr>
          <p:cNvCxnSpPr>
            <a:cxnSpLocks/>
          </p:cNvCxnSpPr>
          <p:nvPr/>
        </p:nvCxnSpPr>
        <p:spPr>
          <a:xfrm>
            <a:off x="4641517" y="5361367"/>
            <a:ext cx="0" cy="576000"/>
          </a:xfrm>
          <a:prstGeom prst="line">
            <a:avLst/>
          </a:prstGeom>
          <a:ln>
            <a:solidFill>
              <a:srgbClr val="B1C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ector recto 60">
            <a:extLst>
              <a:ext uri="{FF2B5EF4-FFF2-40B4-BE49-F238E27FC236}">
                <a16:creationId xmlns:a16="http://schemas.microsoft.com/office/drawing/2014/main" id="{66A1AEE4-342E-6930-B174-EDD48A47A654}"/>
              </a:ext>
            </a:extLst>
          </p:cNvPr>
          <p:cNvCxnSpPr>
            <a:cxnSpLocks/>
          </p:cNvCxnSpPr>
          <p:nvPr/>
        </p:nvCxnSpPr>
        <p:spPr>
          <a:xfrm>
            <a:off x="6132845" y="5056696"/>
            <a:ext cx="0" cy="972000"/>
          </a:xfrm>
          <a:prstGeom prst="line">
            <a:avLst/>
          </a:prstGeom>
          <a:ln>
            <a:solidFill>
              <a:srgbClr val="B1C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Bocadillo: ovalado 61">
            <a:extLst>
              <a:ext uri="{FF2B5EF4-FFF2-40B4-BE49-F238E27FC236}">
                <a16:creationId xmlns:a16="http://schemas.microsoft.com/office/drawing/2014/main" id="{CBCB6552-50E3-C61A-E01E-AB4CB4B2A697}"/>
              </a:ext>
            </a:extLst>
          </p:cNvPr>
          <p:cNvSpPr/>
          <p:nvPr/>
        </p:nvSpPr>
        <p:spPr>
          <a:xfrm>
            <a:off x="6464010" y="4916752"/>
            <a:ext cx="294105" cy="287881"/>
          </a:xfrm>
          <a:prstGeom prst="wedgeEllipseCallout">
            <a:avLst>
              <a:gd name="adj1" fmla="val -47196"/>
              <a:gd name="adj2" fmla="val 48990"/>
            </a:avLst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18DC6F48-50CD-C945-11B7-8072342DEB2E}"/>
              </a:ext>
            </a:extLst>
          </p:cNvPr>
          <p:cNvSpPr txBox="1"/>
          <p:nvPr/>
        </p:nvSpPr>
        <p:spPr>
          <a:xfrm>
            <a:off x="6747368" y="4901781"/>
            <a:ext cx="12394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b="1" dirty="0">
                <a:solidFill>
                  <a:srgbClr val="002060"/>
                </a:solidFill>
                <a:latin typeface="Arial Narrow" panose="020B0606020202030204" pitchFamily="34" charset="0"/>
              </a:rPr>
              <a:t>Observaciones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C2CE586F-97B3-2263-45C8-CA42E99238BC}"/>
              </a:ext>
            </a:extLst>
          </p:cNvPr>
          <p:cNvSpPr txBox="1"/>
          <p:nvPr/>
        </p:nvSpPr>
        <p:spPr>
          <a:xfrm>
            <a:off x="6381041" y="5328254"/>
            <a:ext cx="49981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s-CL" sz="1600" dirty="0">
                <a:solidFill>
                  <a:srgbClr val="002060"/>
                </a:solidFill>
                <a:latin typeface="Arial Narrow" panose="020B0606020202030204" pitchFamily="34" charset="0"/>
              </a:rPr>
              <a:t>Todos los compromisos de S8 fueron completados, quedando establecida la base técnica para continuar con el desarrollo e integración de la solución durante H-03.</a:t>
            </a:r>
          </a:p>
        </p:txBody>
      </p:sp>
      <p:cxnSp>
        <p:nvCxnSpPr>
          <p:cNvPr id="65" name="Conector recto 64">
            <a:extLst>
              <a:ext uri="{FF2B5EF4-FFF2-40B4-BE49-F238E27FC236}">
                <a16:creationId xmlns:a16="http://schemas.microsoft.com/office/drawing/2014/main" id="{71ECC6BE-5894-11CA-8835-20F9B915D882}"/>
              </a:ext>
            </a:extLst>
          </p:cNvPr>
          <p:cNvCxnSpPr/>
          <p:nvPr/>
        </p:nvCxnSpPr>
        <p:spPr>
          <a:xfrm>
            <a:off x="6535713" y="5061776"/>
            <a:ext cx="150697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cto 65">
            <a:extLst>
              <a:ext uri="{FF2B5EF4-FFF2-40B4-BE49-F238E27FC236}">
                <a16:creationId xmlns:a16="http://schemas.microsoft.com/office/drawing/2014/main" id="{7E6A0530-7ADB-04AC-7BC6-D3569FBAD482}"/>
              </a:ext>
            </a:extLst>
          </p:cNvPr>
          <p:cNvCxnSpPr/>
          <p:nvPr/>
        </p:nvCxnSpPr>
        <p:spPr>
          <a:xfrm>
            <a:off x="6539061" y="5109455"/>
            <a:ext cx="72000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ectángulo: esquinas redondeadas 66">
            <a:extLst>
              <a:ext uri="{FF2B5EF4-FFF2-40B4-BE49-F238E27FC236}">
                <a16:creationId xmlns:a16="http://schemas.microsoft.com/office/drawing/2014/main" id="{BFF81719-2595-70BA-1A03-750CEABB5DCB}"/>
              </a:ext>
            </a:extLst>
          </p:cNvPr>
          <p:cNvSpPr/>
          <p:nvPr/>
        </p:nvSpPr>
        <p:spPr>
          <a:xfrm>
            <a:off x="9808222" y="982738"/>
            <a:ext cx="1938042" cy="3621186"/>
          </a:xfrm>
          <a:prstGeom prst="roundRect">
            <a:avLst>
              <a:gd name="adj" fmla="val 4515"/>
            </a:avLst>
          </a:prstGeom>
          <a:solidFill>
            <a:srgbClr val="F0F7FE"/>
          </a:solidFill>
          <a:ln>
            <a:solidFill>
              <a:srgbClr val="B1C7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68" name="Conector recto 67">
            <a:extLst>
              <a:ext uri="{FF2B5EF4-FFF2-40B4-BE49-F238E27FC236}">
                <a16:creationId xmlns:a16="http://schemas.microsoft.com/office/drawing/2014/main" id="{689F9B16-5CAE-927B-7EDB-2ECDDDAF9CF2}"/>
              </a:ext>
            </a:extLst>
          </p:cNvPr>
          <p:cNvCxnSpPr>
            <a:cxnSpLocks/>
          </p:cNvCxnSpPr>
          <p:nvPr/>
        </p:nvCxnSpPr>
        <p:spPr>
          <a:xfrm flipH="1">
            <a:off x="9931827" y="3748042"/>
            <a:ext cx="1717333" cy="0"/>
          </a:xfrm>
          <a:prstGeom prst="line">
            <a:avLst/>
          </a:prstGeom>
          <a:ln>
            <a:solidFill>
              <a:srgbClr val="B1C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ector recto 68">
            <a:extLst>
              <a:ext uri="{FF2B5EF4-FFF2-40B4-BE49-F238E27FC236}">
                <a16:creationId xmlns:a16="http://schemas.microsoft.com/office/drawing/2014/main" id="{EA2BE9D4-500B-2541-3959-113866C247CE}"/>
              </a:ext>
            </a:extLst>
          </p:cNvPr>
          <p:cNvCxnSpPr>
            <a:cxnSpLocks/>
          </p:cNvCxnSpPr>
          <p:nvPr/>
        </p:nvCxnSpPr>
        <p:spPr>
          <a:xfrm flipH="1">
            <a:off x="9931827" y="2953674"/>
            <a:ext cx="1717333" cy="0"/>
          </a:xfrm>
          <a:prstGeom prst="line">
            <a:avLst/>
          </a:prstGeom>
          <a:ln>
            <a:solidFill>
              <a:srgbClr val="B1C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ector recto 69">
            <a:extLst>
              <a:ext uri="{FF2B5EF4-FFF2-40B4-BE49-F238E27FC236}">
                <a16:creationId xmlns:a16="http://schemas.microsoft.com/office/drawing/2014/main" id="{DC71C0C6-2CDF-F243-4746-51266259BAC3}"/>
              </a:ext>
            </a:extLst>
          </p:cNvPr>
          <p:cNvCxnSpPr>
            <a:cxnSpLocks/>
          </p:cNvCxnSpPr>
          <p:nvPr/>
        </p:nvCxnSpPr>
        <p:spPr>
          <a:xfrm flipH="1">
            <a:off x="9931827" y="2155260"/>
            <a:ext cx="1717333" cy="0"/>
          </a:xfrm>
          <a:prstGeom prst="line">
            <a:avLst/>
          </a:prstGeom>
          <a:ln>
            <a:solidFill>
              <a:srgbClr val="B1C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Diagrama de flujo: conector 70">
            <a:extLst>
              <a:ext uri="{FF2B5EF4-FFF2-40B4-BE49-F238E27FC236}">
                <a16:creationId xmlns:a16="http://schemas.microsoft.com/office/drawing/2014/main" id="{0184B6BC-734A-88AF-F663-E0D474328371}"/>
              </a:ext>
            </a:extLst>
          </p:cNvPr>
          <p:cNvSpPr>
            <a:spLocks noChangeAspect="1"/>
          </p:cNvSpPr>
          <p:nvPr/>
        </p:nvSpPr>
        <p:spPr>
          <a:xfrm>
            <a:off x="9971517" y="1498562"/>
            <a:ext cx="396000" cy="396000"/>
          </a:xfrm>
          <a:prstGeom prst="flowChartConnector">
            <a:avLst/>
          </a:prstGeom>
          <a:solidFill>
            <a:srgbClr val="10833B"/>
          </a:solidFill>
          <a:ln>
            <a:solidFill>
              <a:srgbClr val="1083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72" name="Gráfico 71" descr="Checkmark con relleno sólido">
            <a:extLst>
              <a:ext uri="{FF2B5EF4-FFF2-40B4-BE49-F238E27FC236}">
                <a16:creationId xmlns:a16="http://schemas.microsoft.com/office/drawing/2014/main" id="{DC5B81DD-F181-5462-F4CB-C790D5A261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053383" y="1580428"/>
            <a:ext cx="232269" cy="232269"/>
          </a:xfrm>
          <a:prstGeom prst="rect">
            <a:avLst/>
          </a:prstGeom>
        </p:spPr>
      </p:pic>
      <p:sp>
        <p:nvSpPr>
          <p:cNvPr id="73" name="Diagrama de flujo: conector 72">
            <a:extLst>
              <a:ext uri="{FF2B5EF4-FFF2-40B4-BE49-F238E27FC236}">
                <a16:creationId xmlns:a16="http://schemas.microsoft.com/office/drawing/2014/main" id="{DA336A95-6325-6070-63AF-C0B4EAC4CFA7}"/>
              </a:ext>
            </a:extLst>
          </p:cNvPr>
          <p:cNvSpPr>
            <a:spLocks noChangeAspect="1"/>
          </p:cNvSpPr>
          <p:nvPr/>
        </p:nvSpPr>
        <p:spPr>
          <a:xfrm>
            <a:off x="9970222" y="2272578"/>
            <a:ext cx="396000" cy="396000"/>
          </a:xfrm>
          <a:prstGeom prst="flowChartConnector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4" name="Diagrama de flujo: conector 73">
            <a:extLst>
              <a:ext uri="{FF2B5EF4-FFF2-40B4-BE49-F238E27FC236}">
                <a16:creationId xmlns:a16="http://schemas.microsoft.com/office/drawing/2014/main" id="{446A22B1-6CC7-0BD2-6CAF-91518D54669A}"/>
              </a:ext>
            </a:extLst>
          </p:cNvPr>
          <p:cNvSpPr>
            <a:spLocks noChangeAspect="1"/>
          </p:cNvSpPr>
          <p:nvPr/>
        </p:nvSpPr>
        <p:spPr>
          <a:xfrm>
            <a:off x="9970222" y="3067084"/>
            <a:ext cx="396000" cy="396000"/>
          </a:xfrm>
          <a:prstGeom prst="flowChartConnector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75" name="Gráfico 74" descr="Clock con relleno sólido">
            <a:extLst>
              <a:ext uri="{FF2B5EF4-FFF2-40B4-BE49-F238E27FC236}">
                <a16:creationId xmlns:a16="http://schemas.microsoft.com/office/drawing/2014/main" id="{C93D89D7-7849-E7DC-6CB6-BD3BD17274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024222" y="2326578"/>
            <a:ext cx="288000" cy="288000"/>
          </a:xfrm>
          <a:prstGeom prst="rect">
            <a:avLst/>
          </a:prstGeom>
        </p:spPr>
      </p:pic>
      <p:pic>
        <p:nvPicPr>
          <p:cNvPr id="76" name="Gráfico 75" descr="Close con relleno sólido">
            <a:extLst>
              <a:ext uri="{FF2B5EF4-FFF2-40B4-BE49-F238E27FC236}">
                <a16:creationId xmlns:a16="http://schemas.microsoft.com/office/drawing/2014/main" id="{7A7D9669-F20A-7A28-DA2C-BE8ECF0C56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042222" y="3139084"/>
            <a:ext cx="252000" cy="252000"/>
          </a:xfrm>
          <a:prstGeom prst="rect">
            <a:avLst/>
          </a:prstGeom>
        </p:spPr>
      </p:pic>
      <p:pic>
        <p:nvPicPr>
          <p:cNvPr id="77" name="Gráfico 76" descr="Badge Unfollow con relleno sólido">
            <a:extLst>
              <a:ext uri="{FF2B5EF4-FFF2-40B4-BE49-F238E27FC236}">
                <a16:creationId xmlns:a16="http://schemas.microsoft.com/office/drawing/2014/main" id="{34C1CA5A-C65D-B49A-B8CD-BD9187699C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898222" y="3788239"/>
            <a:ext cx="540000" cy="540000"/>
          </a:xfrm>
          <a:prstGeom prst="rect">
            <a:avLst/>
          </a:prstGeom>
        </p:spPr>
      </p:pic>
      <p:sp>
        <p:nvSpPr>
          <p:cNvPr id="78" name="CuadroTexto 77">
            <a:extLst>
              <a:ext uri="{FF2B5EF4-FFF2-40B4-BE49-F238E27FC236}">
                <a16:creationId xmlns:a16="http://schemas.microsoft.com/office/drawing/2014/main" id="{44739B5D-5456-8E9B-E08B-3F0F9F97A779}"/>
              </a:ext>
            </a:extLst>
          </p:cNvPr>
          <p:cNvSpPr txBox="1"/>
          <p:nvPr/>
        </p:nvSpPr>
        <p:spPr>
          <a:xfrm>
            <a:off x="10366223" y="1445591"/>
            <a:ext cx="146190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200" b="1" dirty="0">
                <a:latin typeface="Arial Narrow" panose="020B0606020202030204" pitchFamily="34" charset="0"/>
              </a:rPr>
              <a:t>Cerrado</a:t>
            </a:r>
          </a:p>
          <a:p>
            <a:r>
              <a:rPr lang="es-CL" sz="900" dirty="0">
                <a:latin typeface="Arial Narrow" panose="020B0606020202030204" pitchFamily="34" charset="0"/>
              </a:rPr>
              <a:t>Se completo el compromiso en la fecha establecida.</a:t>
            </a:r>
          </a:p>
        </p:txBody>
      </p:sp>
      <p:sp>
        <p:nvSpPr>
          <p:cNvPr id="79" name="CuadroTexto 78">
            <a:extLst>
              <a:ext uri="{FF2B5EF4-FFF2-40B4-BE49-F238E27FC236}">
                <a16:creationId xmlns:a16="http://schemas.microsoft.com/office/drawing/2014/main" id="{030449FB-5CD7-1A82-E072-6EEEDF7E58D4}"/>
              </a:ext>
            </a:extLst>
          </p:cNvPr>
          <p:cNvSpPr txBox="1"/>
          <p:nvPr/>
        </p:nvSpPr>
        <p:spPr>
          <a:xfrm>
            <a:off x="10402769" y="2260521"/>
            <a:ext cx="146190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200" b="1" dirty="0">
                <a:latin typeface="Arial Narrow" panose="020B0606020202030204" pitchFamily="34" charset="0"/>
              </a:rPr>
              <a:t>En proceso</a:t>
            </a:r>
          </a:p>
          <a:p>
            <a:r>
              <a:rPr lang="es-CL" sz="900" dirty="0">
                <a:latin typeface="Arial Narrow" panose="020B0606020202030204" pitchFamily="34" charset="0"/>
              </a:rPr>
              <a:t>Se esta trabajando en el compromiso.</a:t>
            </a:r>
          </a:p>
        </p:txBody>
      </p:sp>
      <p:sp>
        <p:nvSpPr>
          <p:cNvPr id="80" name="CuadroTexto 79">
            <a:extLst>
              <a:ext uri="{FF2B5EF4-FFF2-40B4-BE49-F238E27FC236}">
                <a16:creationId xmlns:a16="http://schemas.microsoft.com/office/drawing/2014/main" id="{59ED1B00-6FC3-1514-7948-1B36416C6E4A}"/>
              </a:ext>
            </a:extLst>
          </p:cNvPr>
          <p:cNvSpPr txBox="1"/>
          <p:nvPr/>
        </p:nvSpPr>
        <p:spPr>
          <a:xfrm>
            <a:off x="10395809" y="3058934"/>
            <a:ext cx="146190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200" b="1" dirty="0">
                <a:latin typeface="Arial Narrow" panose="020B0606020202030204" pitchFamily="34" charset="0"/>
              </a:rPr>
              <a:t>Atrasado</a:t>
            </a:r>
          </a:p>
          <a:p>
            <a:r>
              <a:rPr lang="es-CL" sz="900" dirty="0">
                <a:latin typeface="Arial Narrow" panose="020B0606020202030204" pitchFamily="34" charset="0"/>
              </a:rPr>
              <a:t>No se cumplió la fecha establecida.</a:t>
            </a:r>
          </a:p>
        </p:txBody>
      </p:sp>
      <p:sp>
        <p:nvSpPr>
          <p:cNvPr id="81" name="Rectángulo: esquinas superiores redondeadas 80">
            <a:extLst>
              <a:ext uri="{FF2B5EF4-FFF2-40B4-BE49-F238E27FC236}">
                <a16:creationId xmlns:a16="http://schemas.microsoft.com/office/drawing/2014/main" id="{EA8ADC3E-B2BD-A7DA-1339-F058C2B8AA4E}"/>
              </a:ext>
            </a:extLst>
          </p:cNvPr>
          <p:cNvSpPr/>
          <p:nvPr/>
        </p:nvSpPr>
        <p:spPr>
          <a:xfrm>
            <a:off x="9813376" y="985258"/>
            <a:ext cx="1927734" cy="334370"/>
          </a:xfrm>
          <a:prstGeom prst="round2SameRect">
            <a:avLst>
              <a:gd name="adj1" fmla="val 26795"/>
              <a:gd name="adj2" fmla="val 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2" name="CuadroTexto 81">
            <a:extLst>
              <a:ext uri="{FF2B5EF4-FFF2-40B4-BE49-F238E27FC236}">
                <a16:creationId xmlns:a16="http://schemas.microsoft.com/office/drawing/2014/main" id="{24FD0142-8B2C-B0C0-D732-F16058B59484}"/>
              </a:ext>
            </a:extLst>
          </p:cNvPr>
          <p:cNvSpPr txBox="1"/>
          <p:nvPr/>
        </p:nvSpPr>
        <p:spPr>
          <a:xfrm>
            <a:off x="10395809" y="3848060"/>
            <a:ext cx="135045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200" b="1" dirty="0">
                <a:latin typeface="Arial Narrow" panose="020B0606020202030204" pitchFamily="34" charset="0"/>
              </a:rPr>
              <a:t>No iniciado</a:t>
            </a:r>
          </a:p>
          <a:p>
            <a:r>
              <a:rPr lang="es-CL" sz="900" dirty="0">
                <a:latin typeface="Arial Narrow" panose="020B0606020202030204" pitchFamily="34" charset="0"/>
              </a:rPr>
              <a:t>Aun no se ha comenzado con el compromiso.</a:t>
            </a:r>
          </a:p>
        </p:txBody>
      </p:sp>
      <p:sp>
        <p:nvSpPr>
          <p:cNvPr id="83" name="CuadroTexto 82">
            <a:extLst>
              <a:ext uri="{FF2B5EF4-FFF2-40B4-BE49-F238E27FC236}">
                <a16:creationId xmlns:a16="http://schemas.microsoft.com/office/drawing/2014/main" id="{FDB66227-1CB5-AC36-80D7-AA0F3D9620A9}"/>
              </a:ext>
            </a:extLst>
          </p:cNvPr>
          <p:cNvSpPr txBox="1"/>
          <p:nvPr/>
        </p:nvSpPr>
        <p:spPr>
          <a:xfrm>
            <a:off x="9952323" y="1001497"/>
            <a:ext cx="15921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Arial Narrow" panose="020B0606020202030204" pitchFamily="34" charset="0"/>
              </a:rPr>
              <a:t>Leyenda de estados</a:t>
            </a:r>
          </a:p>
        </p:txBody>
      </p:sp>
      <p:sp>
        <p:nvSpPr>
          <p:cNvPr id="87" name="Rectángulo: esquinas redondeadas 86">
            <a:extLst>
              <a:ext uri="{FF2B5EF4-FFF2-40B4-BE49-F238E27FC236}">
                <a16:creationId xmlns:a16="http://schemas.microsoft.com/office/drawing/2014/main" id="{35030C07-0CC3-CBA0-9AE8-5BE9090D9BAB}"/>
              </a:ext>
            </a:extLst>
          </p:cNvPr>
          <p:cNvSpPr/>
          <p:nvPr/>
        </p:nvSpPr>
        <p:spPr>
          <a:xfrm>
            <a:off x="1658040" y="273008"/>
            <a:ext cx="5529220" cy="390349"/>
          </a:xfrm>
          <a:prstGeom prst="roundRect">
            <a:avLst>
              <a:gd name="adj" fmla="val 3200"/>
            </a:avLst>
          </a:prstGeom>
          <a:solidFill>
            <a:schemeClr val="bg1"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E1F3B860-BE7B-B634-7CBB-D60764E6F68E}"/>
              </a:ext>
            </a:extLst>
          </p:cNvPr>
          <p:cNvSpPr txBox="1"/>
          <p:nvPr/>
        </p:nvSpPr>
        <p:spPr>
          <a:xfrm>
            <a:off x="243204" y="139104"/>
            <a:ext cx="725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200" b="1" dirty="0">
                <a:solidFill>
                  <a:srgbClr val="002060"/>
                </a:solidFill>
                <a:latin typeface="Abadi" panose="020B0604020104020204" pitchFamily="34" charset="0"/>
              </a:rPr>
              <a:t>Compromisos de la Semana Anterior</a:t>
            </a: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C6FB3EC7-9AFB-36C8-49D4-37E42AD536B7}"/>
              </a:ext>
            </a:extLst>
          </p:cNvPr>
          <p:cNvSpPr/>
          <p:nvPr/>
        </p:nvSpPr>
        <p:spPr>
          <a:xfrm>
            <a:off x="6535713" y="-455044"/>
            <a:ext cx="924408" cy="331423"/>
          </a:xfrm>
          <a:prstGeom prst="roundRect">
            <a:avLst>
              <a:gd name="adj" fmla="val 39659"/>
            </a:avLst>
          </a:prstGeom>
          <a:solidFill>
            <a:srgbClr val="C0000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70813E33-AFCE-1B22-CD76-D802E638B993}"/>
              </a:ext>
            </a:extLst>
          </p:cNvPr>
          <p:cNvSpPr/>
          <p:nvPr/>
        </p:nvSpPr>
        <p:spPr>
          <a:xfrm>
            <a:off x="7820209" y="-477561"/>
            <a:ext cx="633603" cy="331423"/>
          </a:xfrm>
          <a:prstGeom prst="roundRect">
            <a:avLst>
              <a:gd name="adj" fmla="val 39659"/>
            </a:avLst>
          </a:prstGeom>
          <a:solidFill>
            <a:srgbClr val="219F4D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D9538712-32C5-BD28-E1A8-8CB5C87DD482}"/>
              </a:ext>
            </a:extLst>
          </p:cNvPr>
          <p:cNvSpPr/>
          <p:nvPr/>
        </p:nvSpPr>
        <p:spPr>
          <a:xfrm>
            <a:off x="4717948" y="1249005"/>
            <a:ext cx="633603" cy="331423"/>
          </a:xfrm>
          <a:prstGeom prst="roundRect">
            <a:avLst>
              <a:gd name="adj" fmla="val 39659"/>
            </a:avLst>
          </a:prstGeom>
          <a:solidFill>
            <a:srgbClr val="219F4D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3EEBBFB5-E93C-6E91-3987-5920636B83B0}"/>
              </a:ext>
            </a:extLst>
          </p:cNvPr>
          <p:cNvSpPr/>
          <p:nvPr/>
        </p:nvSpPr>
        <p:spPr>
          <a:xfrm>
            <a:off x="4738029" y="1690100"/>
            <a:ext cx="633603" cy="331423"/>
          </a:xfrm>
          <a:prstGeom prst="roundRect">
            <a:avLst>
              <a:gd name="adj" fmla="val 39659"/>
            </a:avLst>
          </a:prstGeom>
          <a:solidFill>
            <a:srgbClr val="219F4D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DE674D00-9245-A33F-DD67-9AB9A19DD71E}"/>
              </a:ext>
            </a:extLst>
          </p:cNvPr>
          <p:cNvSpPr/>
          <p:nvPr/>
        </p:nvSpPr>
        <p:spPr>
          <a:xfrm>
            <a:off x="4726815" y="2117645"/>
            <a:ext cx="633603" cy="331423"/>
          </a:xfrm>
          <a:prstGeom prst="roundRect">
            <a:avLst>
              <a:gd name="adj" fmla="val 39659"/>
            </a:avLst>
          </a:prstGeom>
          <a:solidFill>
            <a:srgbClr val="219F4D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054E7380-F428-585B-3708-0DD0309060D4}"/>
              </a:ext>
            </a:extLst>
          </p:cNvPr>
          <p:cNvSpPr/>
          <p:nvPr/>
        </p:nvSpPr>
        <p:spPr>
          <a:xfrm>
            <a:off x="4738029" y="2572544"/>
            <a:ext cx="633603" cy="331423"/>
          </a:xfrm>
          <a:prstGeom prst="roundRect">
            <a:avLst>
              <a:gd name="adj" fmla="val 39659"/>
            </a:avLst>
          </a:prstGeom>
          <a:solidFill>
            <a:srgbClr val="219F4D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35" name="Rectángulo: esquinas redondeadas 34">
            <a:extLst>
              <a:ext uri="{FF2B5EF4-FFF2-40B4-BE49-F238E27FC236}">
                <a16:creationId xmlns:a16="http://schemas.microsoft.com/office/drawing/2014/main" id="{05058595-8741-6BAF-473B-D246E1BCE857}"/>
              </a:ext>
            </a:extLst>
          </p:cNvPr>
          <p:cNvSpPr/>
          <p:nvPr/>
        </p:nvSpPr>
        <p:spPr>
          <a:xfrm>
            <a:off x="4738029" y="3014877"/>
            <a:ext cx="633603" cy="331423"/>
          </a:xfrm>
          <a:prstGeom prst="roundRect">
            <a:avLst>
              <a:gd name="adj" fmla="val 39659"/>
            </a:avLst>
          </a:prstGeom>
          <a:solidFill>
            <a:srgbClr val="219F4D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40" name="Rectángulo: esquinas redondeadas 39">
            <a:extLst>
              <a:ext uri="{FF2B5EF4-FFF2-40B4-BE49-F238E27FC236}">
                <a16:creationId xmlns:a16="http://schemas.microsoft.com/office/drawing/2014/main" id="{8320F747-0C72-5DB7-C7DA-2E328D27623A}"/>
              </a:ext>
            </a:extLst>
          </p:cNvPr>
          <p:cNvSpPr/>
          <p:nvPr/>
        </p:nvSpPr>
        <p:spPr>
          <a:xfrm>
            <a:off x="4738029" y="3455972"/>
            <a:ext cx="633603" cy="331423"/>
          </a:xfrm>
          <a:prstGeom prst="roundRect">
            <a:avLst>
              <a:gd name="adj" fmla="val 39659"/>
            </a:avLst>
          </a:prstGeom>
          <a:solidFill>
            <a:srgbClr val="219F4D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42" name="Rectángulo: esquinas redondeadas 41">
            <a:extLst>
              <a:ext uri="{FF2B5EF4-FFF2-40B4-BE49-F238E27FC236}">
                <a16:creationId xmlns:a16="http://schemas.microsoft.com/office/drawing/2014/main" id="{FAD7EB50-BA52-E8A4-A12C-9ACEAE58454F}"/>
              </a:ext>
            </a:extLst>
          </p:cNvPr>
          <p:cNvSpPr/>
          <p:nvPr/>
        </p:nvSpPr>
        <p:spPr>
          <a:xfrm>
            <a:off x="4738030" y="3897067"/>
            <a:ext cx="633603" cy="331423"/>
          </a:xfrm>
          <a:prstGeom prst="roundRect">
            <a:avLst>
              <a:gd name="adj" fmla="val 39659"/>
            </a:avLst>
          </a:prstGeom>
          <a:solidFill>
            <a:srgbClr val="219F4D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43" name="Rectángulo: esquinas superiores redondeadas 42">
            <a:extLst>
              <a:ext uri="{FF2B5EF4-FFF2-40B4-BE49-F238E27FC236}">
                <a16:creationId xmlns:a16="http://schemas.microsoft.com/office/drawing/2014/main" id="{FE77816E-7DB9-030C-8C97-179CEB16698A}"/>
              </a:ext>
            </a:extLst>
          </p:cNvPr>
          <p:cNvSpPr/>
          <p:nvPr/>
        </p:nvSpPr>
        <p:spPr>
          <a:xfrm>
            <a:off x="358441" y="861830"/>
            <a:ext cx="9158250" cy="307777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002060"/>
          </a:solidFill>
          <a:ln w="12700">
            <a:solidFill>
              <a:srgbClr val="156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aphicFrame>
        <p:nvGraphicFramePr>
          <p:cNvPr id="44" name="Tabla 43">
            <a:extLst>
              <a:ext uri="{FF2B5EF4-FFF2-40B4-BE49-F238E27FC236}">
                <a16:creationId xmlns:a16="http://schemas.microsoft.com/office/drawing/2014/main" id="{787646CE-720F-3FA5-3675-998FD7818F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2489320"/>
              </p:ext>
            </p:extLst>
          </p:nvPr>
        </p:nvGraphicFramePr>
        <p:xfrm>
          <a:off x="358441" y="911306"/>
          <a:ext cx="9158250" cy="26178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761306">
                  <a:extLst>
                    <a:ext uri="{9D8B030D-6E8A-4147-A177-3AD203B41FA5}">
                      <a16:colId xmlns:a16="http://schemas.microsoft.com/office/drawing/2014/main" val="810165024"/>
                    </a:ext>
                  </a:extLst>
                </a:gridCol>
                <a:gridCol w="2442608">
                  <a:extLst>
                    <a:ext uri="{9D8B030D-6E8A-4147-A177-3AD203B41FA5}">
                      <a16:colId xmlns:a16="http://schemas.microsoft.com/office/drawing/2014/main" val="1685095684"/>
                    </a:ext>
                  </a:extLst>
                </a:gridCol>
                <a:gridCol w="1065266">
                  <a:extLst>
                    <a:ext uri="{9D8B030D-6E8A-4147-A177-3AD203B41FA5}">
                      <a16:colId xmlns:a16="http://schemas.microsoft.com/office/drawing/2014/main" val="4264528221"/>
                    </a:ext>
                  </a:extLst>
                </a:gridCol>
                <a:gridCol w="831938">
                  <a:extLst>
                    <a:ext uri="{9D8B030D-6E8A-4147-A177-3AD203B41FA5}">
                      <a16:colId xmlns:a16="http://schemas.microsoft.com/office/drawing/2014/main" val="49704424"/>
                    </a:ext>
                  </a:extLst>
                </a:gridCol>
                <a:gridCol w="4057132">
                  <a:extLst>
                    <a:ext uri="{9D8B030D-6E8A-4147-A177-3AD203B41FA5}">
                      <a16:colId xmlns:a16="http://schemas.microsoft.com/office/drawing/2014/main" val="3657234410"/>
                    </a:ext>
                  </a:extLst>
                </a:gridCol>
              </a:tblGrid>
              <a:tr h="2617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b="1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ID</a:t>
                      </a:r>
                      <a:endParaRPr lang="es-CL" sz="1200" b="1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1444" marR="71444" marT="35722" marB="35722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b="1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Compromiso</a:t>
                      </a:r>
                      <a:endParaRPr lang="es-CL" sz="1200" b="1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1444" marR="71444" marT="35722" marB="35722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b="1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Responsable</a:t>
                      </a:r>
                      <a:endParaRPr lang="es-CL" sz="1200" b="1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1444" marR="71444" marT="35722" marB="35722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b="1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Estado</a:t>
                      </a:r>
                      <a:endParaRPr lang="es-CL" sz="1200" b="1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1444" marR="71444" marT="35722" marB="35722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200" b="1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Comentario / Resultado</a:t>
                      </a:r>
                      <a:endParaRPr lang="es-CL" sz="1200" b="1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1444" marR="71444" marT="35722" marB="35722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9685603"/>
                  </a:ext>
                </a:extLst>
              </a:tr>
            </a:tbl>
          </a:graphicData>
        </a:graphic>
      </p:graphicFrame>
      <p:sp>
        <p:nvSpPr>
          <p:cNvPr id="84" name="Rectángulo: esquinas redondeadas 83">
            <a:extLst>
              <a:ext uri="{FF2B5EF4-FFF2-40B4-BE49-F238E27FC236}">
                <a16:creationId xmlns:a16="http://schemas.microsoft.com/office/drawing/2014/main" id="{DC1124AE-B92D-AEF6-ADCB-38D1B14503A2}"/>
              </a:ext>
            </a:extLst>
          </p:cNvPr>
          <p:cNvSpPr/>
          <p:nvPr/>
        </p:nvSpPr>
        <p:spPr>
          <a:xfrm>
            <a:off x="4741839" y="4367071"/>
            <a:ext cx="633603" cy="331423"/>
          </a:xfrm>
          <a:prstGeom prst="roundRect">
            <a:avLst>
              <a:gd name="adj" fmla="val 39659"/>
            </a:avLst>
          </a:prstGeom>
          <a:solidFill>
            <a:srgbClr val="219F4D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800836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Imagen 33">
            <a:extLst>
              <a:ext uri="{FF2B5EF4-FFF2-40B4-BE49-F238E27FC236}">
                <a16:creationId xmlns:a16="http://schemas.microsoft.com/office/drawing/2014/main" id="{82D7C4C1-BF65-CA06-9864-504C9D41ED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37" name="Rectángulo 36">
            <a:extLst>
              <a:ext uri="{FF2B5EF4-FFF2-40B4-BE49-F238E27FC236}">
                <a16:creationId xmlns:a16="http://schemas.microsoft.com/office/drawing/2014/main" id="{4F4BC047-ECB8-1BEE-505A-68B035860C1B}"/>
              </a:ext>
            </a:extLst>
          </p:cNvPr>
          <p:cNvSpPr/>
          <p:nvPr/>
        </p:nvSpPr>
        <p:spPr>
          <a:xfrm>
            <a:off x="3848100" y="3680460"/>
            <a:ext cx="2324100" cy="26487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36" name="Imagen 35">
            <a:extLst>
              <a:ext uri="{FF2B5EF4-FFF2-40B4-BE49-F238E27FC236}">
                <a16:creationId xmlns:a16="http://schemas.microsoft.com/office/drawing/2014/main" id="{4AFEC9A0-6F06-1380-C751-38767FE285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0837" y="217737"/>
            <a:ext cx="1620000" cy="1620000"/>
          </a:xfrm>
          <a:prstGeom prst="rect">
            <a:avLst/>
          </a:prstGeom>
        </p:spPr>
      </p:pic>
      <p:grpSp>
        <p:nvGrpSpPr>
          <p:cNvPr id="6" name="Grupo 5">
            <a:extLst>
              <a:ext uri="{FF2B5EF4-FFF2-40B4-BE49-F238E27FC236}">
                <a16:creationId xmlns:a16="http://schemas.microsoft.com/office/drawing/2014/main" id="{00128007-4620-8F0D-000C-311061A8DDDA}"/>
              </a:ext>
            </a:extLst>
          </p:cNvPr>
          <p:cNvGrpSpPr/>
          <p:nvPr/>
        </p:nvGrpSpPr>
        <p:grpSpPr>
          <a:xfrm>
            <a:off x="222006" y="6378474"/>
            <a:ext cx="4541575" cy="479526"/>
            <a:chOff x="362021" y="6264961"/>
            <a:chExt cx="4541575" cy="479526"/>
          </a:xfrm>
        </p:grpSpPr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409B00C1-1381-ABA0-3DE9-9C3C7303385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colorTemperature colorTemp="47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62021" y="6264961"/>
              <a:ext cx="479526" cy="479526"/>
            </a:xfrm>
            <a:prstGeom prst="rect">
              <a:avLst/>
            </a:prstGeom>
          </p:spPr>
        </p:pic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27426272-CED4-E877-1CF6-3398C8FE5FD5}"/>
                </a:ext>
              </a:extLst>
            </p:cNvPr>
            <p:cNvSpPr txBox="1"/>
            <p:nvPr/>
          </p:nvSpPr>
          <p:spPr>
            <a:xfrm>
              <a:off x="418502" y="6330118"/>
              <a:ext cx="4058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600" b="1" dirty="0">
                  <a:solidFill>
                    <a:srgbClr val="0A3E6F"/>
                  </a:solidFill>
                  <a:latin typeface="Aptos Display" panose="020B0004020202020204" pitchFamily="34" charset="0"/>
                  <a:ea typeface="ADLaM Display" panose="02010000000000000000" pitchFamily="2" charset="0"/>
                  <a:cs typeface="Aharoni" panose="020F0502020204030204" pitchFamily="2" charset="-79"/>
                </a:rPr>
                <a:t>05</a:t>
              </a:r>
            </a:p>
          </p:txBody>
        </p:sp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53285F09-1E04-F58C-DDE4-165F3E838362}"/>
                </a:ext>
              </a:extLst>
            </p:cNvPr>
            <p:cNvSpPr txBox="1"/>
            <p:nvPr/>
          </p:nvSpPr>
          <p:spPr>
            <a:xfrm>
              <a:off x="841547" y="6372387"/>
              <a:ext cx="24956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200" b="1" dirty="0">
                  <a:solidFill>
                    <a:srgbClr val="002060"/>
                  </a:solidFill>
                  <a:latin typeface="Arial Narrow" panose="020B0606020202030204" pitchFamily="34" charset="0"/>
                </a:rPr>
                <a:t>CAPSTONE · Ingeniería en Informática</a:t>
              </a:r>
            </a:p>
          </p:txBody>
        </p:sp>
        <p:cxnSp>
          <p:nvCxnSpPr>
            <p:cNvPr id="10" name="Conector recto 9">
              <a:extLst>
                <a:ext uri="{FF2B5EF4-FFF2-40B4-BE49-F238E27FC236}">
                  <a16:creationId xmlns:a16="http://schemas.microsoft.com/office/drawing/2014/main" id="{426513F7-0B67-7A09-BB62-8502F63E2ACC}"/>
                </a:ext>
              </a:extLst>
            </p:cNvPr>
            <p:cNvCxnSpPr/>
            <p:nvPr/>
          </p:nvCxnSpPr>
          <p:spPr>
            <a:xfrm>
              <a:off x="3326720" y="6398507"/>
              <a:ext cx="0" cy="224758"/>
            </a:xfrm>
            <a:prstGeom prst="line">
              <a:avLst/>
            </a:prstGeom>
            <a:ln>
              <a:solidFill>
                <a:srgbClr val="7890B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6C4BFAC5-2DDA-8B65-6AF1-3C9C83919AC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66930" y="6296972"/>
              <a:ext cx="1436666" cy="324000"/>
            </a:xfrm>
            <a:prstGeom prst="rect">
              <a:avLst/>
            </a:prstGeom>
          </p:spPr>
        </p:pic>
      </p:grpSp>
      <p:sp>
        <p:nvSpPr>
          <p:cNvPr id="3" name="CuadroTexto 2">
            <a:extLst>
              <a:ext uri="{FF2B5EF4-FFF2-40B4-BE49-F238E27FC236}">
                <a16:creationId xmlns:a16="http://schemas.microsoft.com/office/drawing/2014/main" id="{8A2CCC5B-FF73-075F-1E12-7DEB687083B5}"/>
              </a:ext>
            </a:extLst>
          </p:cNvPr>
          <p:cNvSpPr txBox="1"/>
          <p:nvPr/>
        </p:nvSpPr>
        <p:spPr>
          <a:xfrm>
            <a:off x="293727" y="56719"/>
            <a:ext cx="36483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200" b="1" dirty="0">
                <a:solidFill>
                  <a:srgbClr val="002060"/>
                </a:solidFill>
                <a:latin typeface="Abadi" panose="020B0604020104020204" pitchFamily="34" charset="0"/>
              </a:rPr>
              <a:t>Riesgos e Issues</a:t>
            </a:r>
          </a:p>
        </p:txBody>
      </p:sp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4894D12B-379F-6906-8856-E38E8C4D5F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8312480"/>
              </p:ext>
            </p:extLst>
          </p:nvPr>
        </p:nvGraphicFramePr>
        <p:xfrm>
          <a:off x="280035" y="1301477"/>
          <a:ext cx="11631929" cy="1417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5575">
                  <a:extLst>
                    <a:ext uri="{9D8B030D-6E8A-4147-A177-3AD203B41FA5}">
                      <a16:colId xmlns:a16="http://schemas.microsoft.com/office/drawing/2014/main" val="3485140442"/>
                    </a:ext>
                  </a:extLst>
                </a:gridCol>
                <a:gridCol w="2049194">
                  <a:extLst>
                    <a:ext uri="{9D8B030D-6E8A-4147-A177-3AD203B41FA5}">
                      <a16:colId xmlns:a16="http://schemas.microsoft.com/office/drawing/2014/main" val="2785856097"/>
                    </a:ext>
                  </a:extLst>
                </a:gridCol>
                <a:gridCol w="1880977">
                  <a:extLst>
                    <a:ext uri="{9D8B030D-6E8A-4147-A177-3AD203B41FA5}">
                      <a16:colId xmlns:a16="http://schemas.microsoft.com/office/drawing/2014/main" val="1102949924"/>
                    </a:ext>
                  </a:extLst>
                </a:gridCol>
                <a:gridCol w="1733150">
                  <a:extLst>
                    <a:ext uri="{9D8B030D-6E8A-4147-A177-3AD203B41FA5}">
                      <a16:colId xmlns:a16="http://schemas.microsoft.com/office/drawing/2014/main" val="1623067217"/>
                    </a:ext>
                  </a:extLst>
                </a:gridCol>
                <a:gridCol w="1111255">
                  <a:extLst>
                    <a:ext uri="{9D8B030D-6E8A-4147-A177-3AD203B41FA5}">
                      <a16:colId xmlns:a16="http://schemas.microsoft.com/office/drawing/2014/main" val="3081266804"/>
                    </a:ext>
                  </a:extLst>
                </a:gridCol>
                <a:gridCol w="2946354">
                  <a:extLst>
                    <a:ext uri="{9D8B030D-6E8A-4147-A177-3AD203B41FA5}">
                      <a16:colId xmlns:a16="http://schemas.microsoft.com/office/drawing/2014/main" val="1192606400"/>
                    </a:ext>
                  </a:extLst>
                </a:gridCol>
                <a:gridCol w="1325424">
                  <a:extLst>
                    <a:ext uri="{9D8B030D-6E8A-4147-A177-3AD203B41FA5}">
                      <a16:colId xmlns:a16="http://schemas.microsoft.com/office/drawing/2014/main" val="4110345029"/>
                    </a:ext>
                  </a:extLst>
                </a:gridCol>
              </a:tblGrid>
              <a:tr h="2647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200" b="1" dirty="0">
                          <a:latin typeface="Aptos Narrow" panose="020B0004020202020204" pitchFamily="34" charset="0"/>
                        </a:rPr>
                        <a:t>ID</a:t>
                      </a:r>
                    </a:p>
                  </a:txBody>
                  <a:tcPr anchor="ctr">
                    <a:lnL>
                      <a:noFill/>
                    </a:lnL>
                    <a:lnR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5DB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200" b="1" dirty="0">
                          <a:latin typeface="Aptos Narrow" panose="020B0004020202020204" pitchFamily="34" charset="0"/>
                        </a:rPr>
                        <a:t>Descripción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5DB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200" b="1" dirty="0">
                          <a:latin typeface="Aptos Narrow" panose="020B0004020202020204" pitchFamily="34" charset="0"/>
                        </a:rPr>
                        <a:t>Causa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5DB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200" b="1" dirty="0">
                          <a:latin typeface="Aptos Narrow" panose="020B0004020202020204" pitchFamily="34" charset="0"/>
                        </a:rPr>
                        <a:t>Impacto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5DB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200" b="1" dirty="0">
                          <a:latin typeface="Aptos Narrow" panose="020B0004020202020204" pitchFamily="34" charset="0"/>
                        </a:rPr>
                        <a:t>Estado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5DB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200" b="1" dirty="0">
                          <a:latin typeface="Aptos Narrow" panose="020B0004020202020204" pitchFamily="34" charset="0"/>
                        </a:rPr>
                        <a:t>Acción / resolución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5DB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200" b="1" dirty="0">
                          <a:latin typeface="Aptos Narrow" panose="020B0004020202020204" pitchFamily="34" charset="0"/>
                        </a:rPr>
                        <a:t>Responsable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5DB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3177209"/>
                  </a:ext>
                </a:extLst>
              </a:tr>
              <a:tr h="5516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050" dirty="0">
                          <a:latin typeface="Arial Narrow" panose="020B0606020202030204" pitchFamily="34" charset="0"/>
                        </a:rPr>
                        <a:t>I-01</a:t>
                      </a:r>
                    </a:p>
                  </a:txBody>
                  <a:tcPr anchor="ctr">
                    <a:lnL>
                      <a:noFill/>
                    </a:lnL>
                    <a:lnR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7FE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050" dirty="0">
                          <a:latin typeface="Arial Narrow" panose="020B0606020202030204" pitchFamily="34" charset="0"/>
                        </a:rPr>
                        <a:t>Retraso previo en el levantamiento y consolidación de requisitos.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7FE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050" dirty="0">
                          <a:latin typeface="Arial Narrow" panose="020B0606020202030204" pitchFamily="34" charset="0"/>
                        </a:rPr>
                        <a:t>Mayor tiempo requerido para levantamiento, coordinación y validación.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7FE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050" dirty="0">
                          <a:latin typeface="Arial Narrow" panose="020B0606020202030204" pitchFamily="34" charset="0"/>
                        </a:rPr>
                        <a:t>Generó desviaciones temporales en actividades dependientes de H-02.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7FE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b="1" dirty="0">
                          <a:latin typeface="Arial Narrow" panose="020B0606020202030204" pitchFamily="34" charset="0"/>
                        </a:rPr>
                        <a:t>Cerrado</a:t>
                      </a:r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7FE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050" dirty="0">
                          <a:latin typeface="Arial Narrow" panose="020B0606020202030204" pitchFamily="34" charset="0"/>
                        </a:rPr>
                        <a:t>Requisitos consolidados; entregables dependientes regularizados y considerados en la línea base de H-02.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7FE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050" dirty="0">
                          <a:latin typeface="Arial Narrow" panose="020B0606020202030204" pitchFamily="34" charset="0"/>
                        </a:rPr>
                        <a:t>Rubén Mansilla / Equipo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7FE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728840"/>
                  </a:ext>
                </a:extLst>
              </a:tr>
              <a:tr h="5516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050" dirty="0">
                          <a:latin typeface="Arial Narrow" panose="020B0606020202030204" pitchFamily="34" charset="0"/>
                        </a:rPr>
                        <a:t>I-02</a:t>
                      </a:r>
                    </a:p>
                  </a:txBody>
                  <a:tcPr anchor="ctr">
                    <a:lnL>
                      <a:noFill/>
                    </a:lnL>
                    <a:lnR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7FE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050" dirty="0">
                          <a:latin typeface="Arial Narrow" panose="020B0606020202030204" pitchFamily="34" charset="0"/>
                        </a:rPr>
                        <a:t>Dependencias de diseño afectadas por requisitos pendientes.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7FE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050" dirty="0">
                          <a:latin typeface="Arial Narrow" panose="020B0606020202030204" pitchFamily="34" charset="0"/>
                        </a:rPr>
                        <a:t>Arquitectura, casos de uso, interfaces y </a:t>
                      </a:r>
                      <a:r>
                        <a:rPr lang="es-CL" sz="1050" dirty="0" err="1">
                          <a:latin typeface="Arial Narrow" panose="020B0606020202030204" pitchFamily="34" charset="0"/>
                        </a:rPr>
                        <a:t>ERS</a:t>
                      </a:r>
                      <a:r>
                        <a:rPr lang="es-CL" sz="1050" dirty="0">
                          <a:latin typeface="Arial Narrow" panose="020B0606020202030204" pitchFamily="34" charset="0"/>
                        </a:rPr>
                        <a:t> dependían del cierre de requisitos.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7FE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050" dirty="0">
                          <a:latin typeface="Arial Narrow" panose="020B0606020202030204" pitchFamily="34" charset="0"/>
                        </a:rPr>
                        <a:t>Reprogramación y concentración de actividades durante H-02.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7FE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050" b="1" dirty="0">
                          <a:latin typeface="Arial Narrow" panose="020B0606020202030204" pitchFamily="34" charset="0"/>
                        </a:rPr>
                        <a:t>Cerrado</a:t>
                      </a:r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7FE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050" dirty="0">
                          <a:latin typeface="Arial Narrow" panose="020B0606020202030204" pitchFamily="34" charset="0"/>
                        </a:rPr>
                        <a:t>Dependencias resueltas; arquitectura y diseños consolidados y revisados antes del cierre de H-02.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7FE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050" dirty="0">
                          <a:latin typeface="Arial Narrow" panose="020B0606020202030204" pitchFamily="34" charset="0"/>
                        </a:rPr>
                        <a:t>Equipo de Proyecto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7FE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0195463"/>
                  </a:ext>
                </a:extLst>
              </a:tr>
            </a:tbl>
          </a:graphicData>
        </a:graphic>
      </p:graphicFrame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62EA09DD-420A-7D53-DE76-07260C429F89}"/>
              </a:ext>
            </a:extLst>
          </p:cNvPr>
          <p:cNvSpPr/>
          <p:nvPr/>
        </p:nvSpPr>
        <p:spPr>
          <a:xfrm>
            <a:off x="280033" y="1108842"/>
            <a:ext cx="11631931" cy="1609956"/>
          </a:xfrm>
          <a:prstGeom prst="roundRect">
            <a:avLst>
              <a:gd name="adj" fmla="val 4959"/>
            </a:avLst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" name="Rectángulo: esquinas superiores redondeadas 3">
            <a:extLst>
              <a:ext uri="{FF2B5EF4-FFF2-40B4-BE49-F238E27FC236}">
                <a16:creationId xmlns:a16="http://schemas.microsoft.com/office/drawing/2014/main" id="{1568028A-6625-0482-E860-D1234E63F3DF}"/>
              </a:ext>
            </a:extLst>
          </p:cNvPr>
          <p:cNvSpPr/>
          <p:nvPr/>
        </p:nvSpPr>
        <p:spPr>
          <a:xfrm>
            <a:off x="280035" y="778845"/>
            <a:ext cx="11631930" cy="504632"/>
          </a:xfrm>
          <a:prstGeom prst="round2Same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s-CL" b="1" dirty="0">
                <a:latin typeface="Abadi" panose="020B0604020104020204" pitchFamily="34" charset="0"/>
              </a:rPr>
              <a:t>Issues — desviaciones actuales</a:t>
            </a:r>
          </a:p>
        </p:txBody>
      </p:sp>
      <p:sp>
        <p:nvSpPr>
          <p:cNvPr id="18" name="Diagrama de flujo: conector 17">
            <a:extLst>
              <a:ext uri="{FF2B5EF4-FFF2-40B4-BE49-F238E27FC236}">
                <a16:creationId xmlns:a16="http://schemas.microsoft.com/office/drawing/2014/main" id="{44B3439C-A356-D6E2-A7E6-F26400693508}"/>
              </a:ext>
            </a:extLst>
          </p:cNvPr>
          <p:cNvSpPr>
            <a:spLocks noChangeAspect="1"/>
          </p:cNvSpPr>
          <p:nvPr/>
        </p:nvSpPr>
        <p:spPr>
          <a:xfrm>
            <a:off x="355153" y="837225"/>
            <a:ext cx="360000" cy="360000"/>
          </a:xfrm>
          <a:prstGeom prst="flowChartConnector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17" name="Gráfico 16" descr="Exclamation mark con relleno sólido">
            <a:extLst>
              <a:ext uri="{FF2B5EF4-FFF2-40B4-BE49-F238E27FC236}">
                <a16:creationId xmlns:a16="http://schemas.microsoft.com/office/drawing/2014/main" id="{198FD66A-A4A5-2E0D-C512-7246B11566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3153" y="855225"/>
            <a:ext cx="324000" cy="324000"/>
          </a:xfrm>
          <a:prstGeom prst="rect">
            <a:avLst/>
          </a:prstGeom>
        </p:spPr>
      </p:pic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494571C9-DE1A-3170-9572-015B85E0F0A1}"/>
              </a:ext>
            </a:extLst>
          </p:cNvPr>
          <p:cNvSpPr/>
          <p:nvPr/>
        </p:nvSpPr>
        <p:spPr>
          <a:xfrm>
            <a:off x="6732269" y="1728599"/>
            <a:ext cx="721995" cy="298213"/>
          </a:xfrm>
          <a:prstGeom prst="roundRect">
            <a:avLst>
              <a:gd name="adj" fmla="val 39659"/>
            </a:avLst>
          </a:prstGeom>
          <a:solidFill>
            <a:srgbClr val="219F4D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5C9512FB-B7ED-2215-8784-F8B74D197D69}"/>
              </a:ext>
            </a:extLst>
          </p:cNvPr>
          <p:cNvSpPr/>
          <p:nvPr/>
        </p:nvSpPr>
        <p:spPr>
          <a:xfrm>
            <a:off x="6732268" y="2305715"/>
            <a:ext cx="721995" cy="298213"/>
          </a:xfrm>
          <a:prstGeom prst="roundRect">
            <a:avLst>
              <a:gd name="adj" fmla="val 39659"/>
            </a:avLst>
          </a:prstGeom>
          <a:solidFill>
            <a:srgbClr val="219F4D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26C4BBDF-2B88-070D-6574-B41ACC69B9D6}"/>
              </a:ext>
            </a:extLst>
          </p:cNvPr>
          <p:cNvSpPr/>
          <p:nvPr/>
        </p:nvSpPr>
        <p:spPr>
          <a:xfrm>
            <a:off x="266342" y="3299887"/>
            <a:ext cx="11631931" cy="3041998"/>
          </a:xfrm>
          <a:prstGeom prst="roundRect">
            <a:avLst>
              <a:gd name="adj" fmla="val 2454"/>
            </a:avLst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8" name="Rectángulo: esquinas superiores redondeadas 27">
            <a:extLst>
              <a:ext uri="{FF2B5EF4-FFF2-40B4-BE49-F238E27FC236}">
                <a16:creationId xmlns:a16="http://schemas.microsoft.com/office/drawing/2014/main" id="{40905A14-B5ED-0B9B-C81C-D77D3B4A40D1}"/>
              </a:ext>
            </a:extLst>
          </p:cNvPr>
          <p:cNvSpPr/>
          <p:nvPr/>
        </p:nvSpPr>
        <p:spPr>
          <a:xfrm>
            <a:off x="266342" y="2889212"/>
            <a:ext cx="11631930" cy="504632"/>
          </a:xfrm>
          <a:prstGeom prst="round2Same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s-CL" b="1" dirty="0">
                <a:latin typeface="Abadi" panose="020B0604020104020204" pitchFamily="34" charset="0"/>
              </a:rPr>
              <a:t>Riesgos vigentes para la transición H-02 → H-03</a:t>
            </a:r>
          </a:p>
        </p:txBody>
      </p:sp>
      <p:pic>
        <p:nvPicPr>
          <p:cNvPr id="30" name="Gráfico 29" descr="Warning con relleno sólido">
            <a:extLst>
              <a:ext uri="{FF2B5EF4-FFF2-40B4-BE49-F238E27FC236}">
                <a16:creationId xmlns:a16="http://schemas.microsoft.com/office/drawing/2014/main" id="{5C11A6D0-546C-CAF6-C100-E16F105968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07146" y="2882831"/>
            <a:ext cx="478157" cy="478157"/>
          </a:xfrm>
          <a:prstGeom prst="rect">
            <a:avLst/>
          </a:prstGeom>
        </p:spPr>
      </p:pic>
      <p:graphicFrame>
        <p:nvGraphicFramePr>
          <p:cNvPr id="32" name="Tabla 31">
            <a:extLst>
              <a:ext uri="{FF2B5EF4-FFF2-40B4-BE49-F238E27FC236}">
                <a16:creationId xmlns:a16="http://schemas.microsoft.com/office/drawing/2014/main" id="{4D994101-8DE6-A70A-1246-C825701C7A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6784258"/>
              </p:ext>
            </p:extLst>
          </p:nvPr>
        </p:nvGraphicFramePr>
        <p:xfrm>
          <a:off x="266343" y="3405673"/>
          <a:ext cx="11631929" cy="291882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1492">
                  <a:extLst>
                    <a:ext uri="{9D8B030D-6E8A-4147-A177-3AD203B41FA5}">
                      <a16:colId xmlns:a16="http://schemas.microsoft.com/office/drawing/2014/main" val="3485140442"/>
                    </a:ext>
                  </a:extLst>
                </a:gridCol>
                <a:gridCol w="3020971">
                  <a:extLst>
                    <a:ext uri="{9D8B030D-6E8A-4147-A177-3AD203B41FA5}">
                      <a16:colId xmlns:a16="http://schemas.microsoft.com/office/drawing/2014/main" val="2785856097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1102949924"/>
                    </a:ext>
                  </a:extLst>
                </a:gridCol>
                <a:gridCol w="722354">
                  <a:extLst>
                    <a:ext uri="{9D8B030D-6E8A-4147-A177-3AD203B41FA5}">
                      <a16:colId xmlns:a16="http://schemas.microsoft.com/office/drawing/2014/main" val="1623067217"/>
                    </a:ext>
                  </a:extLst>
                </a:gridCol>
                <a:gridCol w="687346">
                  <a:extLst>
                    <a:ext uri="{9D8B030D-6E8A-4147-A177-3AD203B41FA5}">
                      <a16:colId xmlns:a16="http://schemas.microsoft.com/office/drawing/2014/main" val="3081266804"/>
                    </a:ext>
                  </a:extLst>
                </a:gridCol>
                <a:gridCol w="4360904">
                  <a:extLst>
                    <a:ext uri="{9D8B030D-6E8A-4147-A177-3AD203B41FA5}">
                      <a16:colId xmlns:a16="http://schemas.microsoft.com/office/drawing/2014/main" val="1192606400"/>
                    </a:ext>
                  </a:extLst>
                </a:gridCol>
                <a:gridCol w="1301112">
                  <a:extLst>
                    <a:ext uri="{9D8B030D-6E8A-4147-A177-3AD203B41FA5}">
                      <a16:colId xmlns:a16="http://schemas.microsoft.com/office/drawing/2014/main" val="4110345029"/>
                    </a:ext>
                  </a:extLst>
                </a:gridCol>
              </a:tblGrid>
              <a:tr h="2755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200" b="1" dirty="0">
                          <a:latin typeface="Aptos Narrow" panose="020B0004020202020204" pitchFamily="34" charset="0"/>
                        </a:rPr>
                        <a:t>ID</a:t>
                      </a:r>
                    </a:p>
                  </a:txBody>
                  <a:tcPr anchor="ctr">
                    <a:lnL>
                      <a:noFill/>
                    </a:lnL>
                    <a:lnR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5DB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200" b="1" dirty="0">
                          <a:latin typeface="Aptos Narrow" panose="020B0004020202020204" pitchFamily="34" charset="0"/>
                        </a:rPr>
                        <a:t>Riesgo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5DB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200" b="1" dirty="0">
                          <a:latin typeface="Aptos Narrow" panose="020B0004020202020204" pitchFamily="34" charset="0"/>
                        </a:rPr>
                        <a:t>Probabilidad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5DB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200" b="1" dirty="0">
                          <a:latin typeface="Aptos Narrow" panose="020B0004020202020204" pitchFamily="34" charset="0"/>
                        </a:rPr>
                        <a:t>Impacto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5DB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200" b="1" dirty="0">
                          <a:latin typeface="Aptos Narrow" panose="020B0004020202020204" pitchFamily="34" charset="0"/>
                        </a:rPr>
                        <a:t>Nivel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5DB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200" b="1" dirty="0">
                          <a:latin typeface="Aptos Narrow" panose="020B0004020202020204" pitchFamily="34" charset="0"/>
                        </a:rPr>
                        <a:t>Acción / resolución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5DB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200" b="1" dirty="0">
                          <a:latin typeface="Aptos Narrow" panose="020B0004020202020204" pitchFamily="34" charset="0"/>
                        </a:rPr>
                        <a:t>Responsable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5DB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3177209"/>
                  </a:ext>
                </a:extLst>
              </a:tr>
              <a:tr h="4511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 dirty="0">
                          <a:latin typeface="Arial Narrow" panose="020B0606020202030204" pitchFamily="34" charset="0"/>
                        </a:rPr>
                        <a:t>R-01</a:t>
                      </a:r>
                    </a:p>
                  </a:txBody>
                  <a:tcPr anchor="ctr">
                    <a:lnL>
                      <a:noFill/>
                    </a:lnL>
                    <a:lnR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7FE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 dirty="0">
                          <a:latin typeface="Arial Narrow" panose="020B0606020202030204" pitchFamily="34" charset="0"/>
                        </a:rPr>
                        <a:t>Cambios en requisitos o diseño después de establecer la línea base de H-02.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7FE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200" dirty="0">
                          <a:latin typeface="Arial Narrow" panose="020B0606020202030204" pitchFamily="34" charset="0"/>
                        </a:rPr>
                        <a:t>Media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200" dirty="0">
                          <a:latin typeface="Arial Narrow" panose="020B0606020202030204" pitchFamily="34" charset="0"/>
                        </a:rPr>
                        <a:t>Alta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200" b="1" dirty="0">
                          <a:latin typeface="Arial Narrow" panose="020B0606020202030204" pitchFamily="34" charset="0"/>
                        </a:rPr>
                        <a:t>Alto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 dirty="0">
                          <a:latin typeface="Arial Narrow" panose="020B0606020202030204" pitchFamily="34" charset="0"/>
                        </a:rPr>
                        <a:t>Aplicar control de cambios; evaluar impacto antes de aprobar modificaciones; mantener trazabilidad requisito–diseño–desarrollo.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7FE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 dirty="0">
                          <a:latin typeface="Arial Narrow" panose="020B0606020202030204" pitchFamily="34" charset="0"/>
                        </a:rPr>
                        <a:t>Carlos Araya / Equipo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7FE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728840"/>
                  </a:ext>
                </a:extLst>
              </a:tr>
              <a:tr h="4511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 dirty="0">
                          <a:latin typeface="Arial Narrow" panose="020B0606020202030204" pitchFamily="34" charset="0"/>
                        </a:rPr>
                        <a:t>R-02</a:t>
                      </a:r>
                    </a:p>
                  </a:txBody>
                  <a:tcPr anchor="ctr">
                    <a:lnL>
                      <a:noFill/>
                    </a:lnL>
                    <a:lnR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7FE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 dirty="0">
                          <a:latin typeface="Arial Narrow" panose="020B0606020202030204" pitchFamily="34" charset="0"/>
                        </a:rPr>
                        <a:t>Indisponibilidad o limitaciones de acceso a la API institucional durante el desarrollo.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7FE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200" dirty="0">
                          <a:latin typeface="Arial Narrow" panose="020B0606020202030204" pitchFamily="34" charset="0"/>
                        </a:rPr>
                        <a:t>Media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200" dirty="0">
                          <a:latin typeface="Arial Narrow" panose="020B0606020202030204" pitchFamily="34" charset="0"/>
                        </a:rPr>
                        <a:t>Alta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200" b="1" dirty="0">
                          <a:latin typeface="Arial Narrow" panose="020B0606020202030204" pitchFamily="34" charset="0"/>
                        </a:rPr>
                        <a:t>Alto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 dirty="0">
                          <a:latin typeface="Arial Narrow" panose="020B0606020202030204" pitchFamily="34" charset="0"/>
                        </a:rPr>
                        <a:t>Validar tempranamente disponibilidad; utilizar servicio simulado autorizado si no existe acceso; mantener desacoplada la integración.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7FE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 dirty="0">
                          <a:latin typeface="Arial Narrow" panose="020B0606020202030204" pitchFamily="34" charset="0"/>
                        </a:rPr>
                        <a:t>Eduardo Compan / Carlos Araya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7FE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0195463"/>
                  </a:ext>
                </a:extLst>
              </a:tr>
              <a:tr h="4511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 dirty="0">
                          <a:latin typeface="Arial Narrow" panose="020B0606020202030204" pitchFamily="34" charset="0"/>
                        </a:rPr>
                        <a:t>R-03</a:t>
                      </a:r>
                    </a:p>
                  </a:txBody>
                  <a:tcPr anchor="ctr">
                    <a:lnL>
                      <a:noFill/>
                    </a:lnL>
                    <a:lnR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7FE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 dirty="0">
                          <a:latin typeface="Arial Narrow" panose="020B0606020202030204" pitchFamily="34" charset="0"/>
                        </a:rPr>
                        <a:t>Problemas de integración entre plataforma web, aplicación móvil, API y base de datos.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7FE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200" dirty="0">
                          <a:latin typeface="Arial Narrow" panose="020B0606020202030204" pitchFamily="34" charset="0"/>
                        </a:rPr>
                        <a:t>Media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200" dirty="0">
                          <a:latin typeface="Arial Narrow" panose="020B0606020202030204" pitchFamily="34" charset="0"/>
                        </a:rPr>
                        <a:t>Alta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200" b="1" dirty="0">
                          <a:latin typeface="Arial Narrow" panose="020B0606020202030204" pitchFamily="34" charset="0"/>
                        </a:rPr>
                        <a:t>Alto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 dirty="0">
                          <a:latin typeface="Arial Narrow" panose="020B0606020202030204" pitchFamily="34" charset="0"/>
                        </a:rPr>
                        <a:t>Implementar integración incremental; definir contratos de API; realizar pruebas técnicas tempranas y registrar defectos.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7FE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 dirty="0">
                          <a:latin typeface="Arial Narrow" panose="020B0606020202030204" pitchFamily="34" charset="0"/>
                        </a:rPr>
                        <a:t>Equipo de Proyecto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7FE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496107"/>
                  </a:ext>
                </a:extLst>
              </a:tr>
              <a:tr h="6315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 dirty="0">
                          <a:latin typeface="Arial Narrow" panose="020B0606020202030204" pitchFamily="34" charset="0"/>
                        </a:rPr>
                        <a:t>R-04</a:t>
                      </a:r>
                    </a:p>
                  </a:txBody>
                  <a:tcPr anchor="ctr">
                    <a:lnL>
                      <a:noFill/>
                    </a:lnL>
                    <a:lnR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7FE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 dirty="0">
                          <a:latin typeface="Arial Narrow" panose="020B0606020202030204" pitchFamily="34" charset="0"/>
                        </a:rPr>
                        <a:t>Disponibilidad limitada del equipo durante H-03.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7FE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200" dirty="0">
                          <a:latin typeface="Arial Narrow" panose="020B0606020202030204" pitchFamily="34" charset="0"/>
                        </a:rPr>
                        <a:t>Media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200" dirty="0">
                          <a:latin typeface="Arial Narrow" panose="020B0606020202030204" pitchFamily="34" charset="0"/>
                        </a:rPr>
                        <a:t>Media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L" sz="1200" b="1" dirty="0">
                          <a:latin typeface="Arial Narrow" panose="020B0606020202030204" pitchFamily="34" charset="0"/>
                        </a:rPr>
                        <a:t>Medio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 dirty="0">
                          <a:latin typeface="Arial Narrow" panose="020B0606020202030204" pitchFamily="34" charset="0"/>
                        </a:rPr>
                        <a:t>Distribuir tareas según capacidad; seguimiento semanal; priorizar componentes críticos y redistribuir actividades ante bloqueos.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7FE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 dirty="0">
                          <a:latin typeface="Arial Narrow" panose="020B0606020202030204" pitchFamily="34" charset="0"/>
                        </a:rPr>
                        <a:t>Carlos Araya / Equipo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7FE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6458682"/>
                  </a:ext>
                </a:extLst>
              </a:tr>
              <a:tr h="6315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 dirty="0">
                          <a:latin typeface="Arial Narrow" panose="020B0606020202030204" pitchFamily="34" charset="0"/>
                        </a:rPr>
                        <a:t>R-05</a:t>
                      </a:r>
                    </a:p>
                  </a:txBody>
                  <a:tcPr anchor="ctr">
                    <a:lnL>
                      <a:noFill/>
                    </a:lnL>
                    <a:lnR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7FE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 dirty="0">
                          <a:latin typeface="Arial Narrow" panose="020B0606020202030204" pitchFamily="34" charset="0"/>
                        </a:rPr>
                        <a:t>Defectos detectados durante la implementación que requieran ajustes en componentes previamente diseñados.</a:t>
                      </a:r>
                      <a:endParaRPr lang="es-CL" sz="1200" kern="12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7FE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2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Media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2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Media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200" b="1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Medio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 dirty="0">
                          <a:latin typeface="Arial Narrow" panose="020B0606020202030204" pitchFamily="34" charset="0"/>
                        </a:rPr>
                        <a:t>Ejecutar pruebas tempranas, registrar defectos y corregirlos antes de avanzar hacia la integración final.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7FE">
                        <a:alpha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s-CL" sz="12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Alejandro Gysling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0F7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7FE">
                        <a:alpha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25332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6097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2C370-7D0C-B2D1-76A2-E0299D3B9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Imagen 92">
            <a:extLst>
              <a:ext uri="{FF2B5EF4-FFF2-40B4-BE49-F238E27FC236}">
                <a16:creationId xmlns:a16="http://schemas.microsoft.com/office/drawing/2014/main" id="{E7F06733-4EE5-18DE-4B60-4E9164E110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111" name="Imagen 110">
            <a:extLst>
              <a:ext uri="{FF2B5EF4-FFF2-40B4-BE49-F238E27FC236}">
                <a16:creationId xmlns:a16="http://schemas.microsoft.com/office/drawing/2014/main" id="{B8F85744-DCBB-3EB1-1847-20E3A904C0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0837" y="217737"/>
            <a:ext cx="1620000" cy="1620000"/>
          </a:xfrm>
          <a:prstGeom prst="rect">
            <a:avLst/>
          </a:prstGeom>
        </p:spPr>
      </p:pic>
      <p:sp>
        <p:nvSpPr>
          <p:cNvPr id="96" name="Rectángulo: esquinas redondeadas 95">
            <a:extLst>
              <a:ext uri="{FF2B5EF4-FFF2-40B4-BE49-F238E27FC236}">
                <a16:creationId xmlns:a16="http://schemas.microsoft.com/office/drawing/2014/main" id="{7CD11041-5AB0-BA95-1778-928C76E2C491}"/>
              </a:ext>
            </a:extLst>
          </p:cNvPr>
          <p:cNvSpPr/>
          <p:nvPr/>
        </p:nvSpPr>
        <p:spPr>
          <a:xfrm>
            <a:off x="2060952" y="217310"/>
            <a:ext cx="5529220" cy="390349"/>
          </a:xfrm>
          <a:prstGeom prst="roundRect">
            <a:avLst>
              <a:gd name="adj" fmla="val 3200"/>
            </a:avLst>
          </a:prstGeom>
          <a:solidFill>
            <a:schemeClr val="bg1"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B91E6BC5-CFFB-F93A-8232-B13F9FD45FF7}"/>
              </a:ext>
            </a:extLst>
          </p:cNvPr>
          <p:cNvGrpSpPr/>
          <p:nvPr/>
        </p:nvGrpSpPr>
        <p:grpSpPr>
          <a:xfrm>
            <a:off x="362021" y="6264961"/>
            <a:ext cx="4541575" cy="479526"/>
            <a:chOff x="362021" y="6264961"/>
            <a:chExt cx="4541575" cy="479526"/>
          </a:xfrm>
        </p:grpSpPr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2C262304-8254-A123-1F36-F3C57E33F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colorTemperature colorTemp="47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62021" y="6264961"/>
              <a:ext cx="479526" cy="479526"/>
            </a:xfrm>
            <a:prstGeom prst="rect">
              <a:avLst/>
            </a:prstGeom>
          </p:spPr>
        </p:pic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E58AAF28-A98D-F561-7B4A-92B5F0799DAB}"/>
                </a:ext>
              </a:extLst>
            </p:cNvPr>
            <p:cNvSpPr txBox="1"/>
            <p:nvPr/>
          </p:nvSpPr>
          <p:spPr>
            <a:xfrm>
              <a:off x="418502" y="6330118"/>
              <a:ext cx="4058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600" b="1" dirty="0">
                  <a:solidFill>
                    <a:srgbClr val="0A3E6F"/>
                  </a:solidFill>
                  <a:latin typeface="Aptos Display" panose="020B0004020202020204" pitchFamily="34" charset="0"/>
                  <a:ea typeface="ADLaM Display" panose="02010000000000000000" pitchFamily="2" charset="0"/>
                  <a:cs typeface="Aharoni" panose="020F0502020204030204" pitchFamily="2" charset="-79"/>
                </a:rPr>
                <a:t>08</a:t>
              </a:r>
            </a:p>
          </p:txBody>
        </p: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B45B212F-75A3-7E31-2D3C-9C42E37AE147}"/>
                </a:ext>
              </a:extLst>
            </p:cNvPr>
            <p:cNvSpPr txBox="1"/>
            <p:nvPr/>
          </p:nvSpPr>
          <p:spPr>
            <a:xfrm>
              <a:off x="841547" y="6372387"/>
              <a:ext cx="24956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200" b="1" dirty="0">
                  <a:solidFill>
                    <a:srgbClr val="002060"/>
                  </a:solidFill>
                  <a:latin typeface="Arial Narrow" panose="020B0606020202030204" pitchFamily="34" charset="0"/>
                </a:rPr>
                <a:t>CAPSTONE · Ingeniería en Informática</a:t>
              </a:r>
            </a:p>
          </p:txBody>
        </p:sp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DB95DC67-4C57-C1D3-49F4-99B6A766563C}"/>
                </a:ext>
              </a:extLst>
            </p:cNvPr>
            <p:cNvCxnSpPr/>
            <p:nvPr/>
          </p:nvCxnSpPr>
          <p:spPr>
            <a:xfrm>
              <a:off x="3326720" y="6398507"/>
              <a:ext cx="0" cy="224758"/>
            </a:xfrm>
            <a:prstGeom prst="line">
              <a:avLst/>
            </a:prstGeom>
            <a:ln>
              <a:solidFill>
                <a:srgbClr val="7890B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CE11F716-2FF5-956B-5E61-F6526C2AFFD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66930" y="6296972"/>
              <a:ext cx="1436666" cy="324000"/>
            </a:xfrm>
            <a:prstGeom prst="rect">
              <a:avLst/>
            </a:prstGeom>
          </p:spPr>
        </p:pic>
      </p:grpSp>
      <p:sp>
        <p:nvSpPr>
          <p:cNvPr id="98" name="CuadroTexto 97">
            <a:extLst>
              <a:ext uri="{FF2B5EF4-FFF2-40B4-BE49-F238E27FC236}">
                <a16:creationId xmlns:a16="http://schemas.microsoft.com/office/drawing/2014/main" id="{600EBF6A-F490-31AF-2D83-66BCE21BDBE7}"/>
              </a:ext>
            </a:extLst>
          </p:cNvPr>
          <p:cNvSpPr txBox="1"/>
          <p:nvPr/>
        </p:nvSpPr>
        <p:spPr>
          <a:xfrm>
            <a:off x="577154" y="101025"/>
            <a:ext cx="68571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200" b="1" dirty="0">
                <a:solidFill>
                  <a:srgbClr val="002060"/>
                </a:solidFill>
                <a:latin typeface="Abadi" panose="020B0604020104020204" pitchFamily="34" charset="0"/>
              </a:rPr>
              <a:t>Roadmap General del Proyecto GATI</a:t>
            </a:r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95FDAAE1-98AB-0D21-02C2-7F6E1E86A8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3777496"/>
              </p:ext>
            </p:extLst>
          </p:nvPr>
        </p:nvGraphicFramePr>
        <p:xfrm>
          <a:off x="362021" y="786825"/>
          <a:ext cx="11528818" cy="54094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98982">
                  <a:extLst>
                    <a:ext uri="{9D8B030D-6E8A-4147-A177-3AD203B41FA5}">
                      <a16:colId xmlns:a16="http://schemas.microsoft.com/office/drawing/2014/main" val="211365737"/>
                    </a:ext>
                  </a:extLst>
                </a:gridCol>
                <a:gridCol w="1092204">
                  <a:extLst>
                    <a:ext uri="{9D8B030D-6E8A-4147-A177-3AD203B41FA5}">
                      <a16:colId xmlns:a16="http://schemas.microsoft.com/office/drawing/2014/main" val="4030057109"/>
                    </a:ext>
                  </a:extLst>
                </a:gridCol>
                <a:gridCol w="1092204">
                  <a:extLst>
                    <a:ext uri="{9D8B030D-6E8A-4147-A177-3AD203B41FA5}">
                      <a16:colId xmlns:a16="http://schemas.microsoft.com/office/drawing/2014/main" val="2720637727"/>
                    </a:ext>
                  </a:extLst>
                </a:gridCol>
                <a:gridCol w="1092204">
                  <a:extLst>
                    <a:ext uri="{9D8B030D-6E8A-4147-A177-3AD203B41FA5}">
                      <a16:colId xmlns:a16="http://schemas.microsoft.com/office/drawing/2014/main" val="3562794545"/>
                    </a:ext>
                  </a:extLst>
                </a:gridCol>
                <a:gridCol w="1092204">
                  <a:extLst>
                    <a:ext uri="{9D8B030D-6E8A-4147-A177-3AD203B41FA5}">
                      <a16:colId xmlns:a16="http://schemas.microsoft.com/office/drawing/2014/main" val="3488749394"/>
                    </a:ext>
                  </a:extLst>
                </a:gridCol>
                <a:gridCol w="1092204">
                  <a:extLst>
                    <a:ext uri="{9D8B030D-6E8A-4147-A177-3AD203B41FA5}">
                      <a16:colId xmlns:a16="http://schemas.microsoft.com/office/drawing/2014/main" val="2416245293"/>
                    </a:ext>
                  </a:extLst>
                </a:gridCol>
                <a:gridCol w="1092204">
                  <a:extLst>
                    <a:ext uri="{9D8B030D-6E8A-4147-A177-3AD203B41FA5}">
                      <a16:colId xmlns:a16="http://schemas.microsoft.com/office/drawing/2014/main" val="1534688876"/>
                    </a:ext>
                  </a:extLst>
                </a:gridCol>
                <a:gridCol w="1092204">
                  <a:extLst>
                    <a:ext uri="{9D8B030D-6E8A-4147-A177-3AD203B41FA5}">
                      <a16:colId xmlns:a16="http://schemas.microsoft.com/office/drawing/2014/main" val="1811643572"/>
                    </a:ext>
                  </a:extLst>
                </a:gridCol>
                <a:gridCol w="1092204">
                  <a:extLst>
                    <a:ext uri="{9D8B030D-6E8A-4147-A177-3AD203B41FA5}">
                      <a16:colId xmlns:a16="http://schemas.microsoft.com/office/drawing/2014/main" val="1792467205"/>
                    </a:ext>
                  </a:extLst>
                </a:gridCol>
                <a:gridCol w="1092204">
                  <a:extLst>
                    <a:ext uri="{9D8B030D-6E8A-4147-A177-3AD203B41FA5}">
                      <a16:colId xmlns:a16="http://schemas.microsoft.com/office/drawing/2014/main" val="2638764233"/>
                    </a:ext>
                  </a:extLst>
                </a:gridCol>
              </a:tblGrid>
              <a:tr h="296831">
                <a:tc gridSpan="10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500" b="1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ROADMAP GENERAL DEL PROYECTO GATI</a:t>
                      </a:r>
                      <a:endParaRPr lang="es-CL" sz="1500" b="1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535" marR="5535" marT="5535" marB="0" anchor="ctr"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2179373"/>
                  </a:ext>
                </a:extLst>
              </a:tr>
              <a:tr h="259927">
                <a:tc gridSpan="10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1" u="none" strike="noStrike" dirty="0">
                          <a:solidFill>
                            <a:srgbClr val="002060"/>
                          </a:solidFill>
                          <a:effectLst/>
                          <a:latin typeface="Arial Narrow" panose="020B0606020202030204" pitchFamily="34" charset="0"/>
                        </a:rPr>
                        <a:t>Metodología: Waterfall (Cascada) · Periodo restante: Octubre–Noviembre 2026</a:t>
                      </a:r>
                      <a:endParaRPr lang="es-CL" sz="1100" b="1" i="0" u="none" strike="noStrike" dirty="0">
                        <a:solidFill>
                          <a:srgbClr val="00206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535" marR="5535" marT="5535" marB="0" anchor="ctr">
                    <a:solidFill>
                      <a:srgbClr val="F0F7F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581560"/>
                  </a:ext>
                </a:extLst>
              </a:tr>
              <a:tr h="9311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8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535" marR="5535" marT="553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8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535" marR="5535" marT="553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8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535" marR="5535" marT="553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8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535" marR="5535" marT="553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8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535" marR="5535" marT="553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8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535" marR="5535" marT="553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8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535" marR="5535" marT="553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8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535" marR="5535" marT="553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8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535" marR="5535" marT="553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8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535" marR="5535" marT="553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862881"/>
                  </a:ext>
                </a:extLst>
              </a:tr>
              <a:tr h="27773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000" b="1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FASE WATERFALL</a:t>
                      </a:r>
                      <a:endParaRPr lang="es-CL" sz="1000" b="1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535" marR="5535" marT="5535" marB="0" anchor="ctr">
                    <a:solidFill>
                      <a:srgbClr val="002060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000" b="1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OCTUBRE 2026</a:t>
                      </a:r>
                      <a:endParaRPr lang="es-CL" sz="1000" b="1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535" marR="5535" marT="5535" marB="0" anchor="ctr"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000" b="1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NOVIEMBRE 2026</a:t>
                      </a:r>
                      <a:endParaRPr lang="es-CL" sz="1000" b="1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535" marR="5535" marT="5535" marB="0" anchor="ctr"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4995011"/>
                  </a:ext>
                </a:extLst>
              </a:tr>
              <a:tr h="3680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000" b="1" u="none" strike="noStrike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Fase / Semana</a:t>
                      </a:r>
                      <a:endParaRPr lang="es-CL" sz="1000" b="1" i="0" u="none" strike="noStrike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535" marR="5535" marT="5535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000" b="1" u="none" strike="noStrike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S8</a:t>
                      </a:r>
                      <a:br>
                        <a:rPr lang="es-CL" sz="1000" b="1" u="none" strike="noStrike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</a:br>
                      <a:r>
                        <a:rPr lang="es-CL" sz="1000" b="1" u="none" strike="noStrike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02-10</a:t>
                      </a:r>
                      <a:endParaRPr lang="es-CL" sz="1000" b="1" i="0" u="none" strike="noStrike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535" marR="5535" marT="5535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000" b="1" u="none" strike="noStrike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S9</a:t>
                      </a:r>
                      <a:br>
                        <a:rPr lang="es-CL" sz="1000" b="1" u="none" strike="noStrike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</a:br>
                      <a:r>
                        <a:rPr lang="es-CL" sz="1000" b="1" u="none" strike="noStrike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09-10</a:t>
                      </a:r>
                      <a:endParaRPr lang="es-CL" sz="1000" b="1" i="0" u="none" strike="noStrike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535" marR="5535" marT="5535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000" b="1" u="none" strike="noStrike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S10</a:t>
                      </a:r>
                      <a:br>
                        <a:rPr lang="es-CL" sz="1000" b="1" u="none" strike="noStrike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</a:br>
                      <a:r>
                        <a:rPr lang="es-CL" sz="1000" b="1" u="none" strike="noStrike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16-10</a:t>
                      </a:r>
                      <a:endParaRPr lang="es-CL" sz="1000" b="1" i="0" u="none" strike="noStrike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535" marR="5535" marT="5535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000" b="1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S11</a:t>
                      </a:r>
                      <a:br>
                        <a:rPr lang="es-CL" sz="1000" b="1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</a:br>
                      <a:r>
                        <a:rPr lang="es-CL" sz="1000" b="1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23-10</a:t>
                      </a:r>
                      <a:endParaRPr lang="es-CL" sz="1000" b="1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535" marR="5535" marT="5535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000" b="1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S12</a:t>
                      </a:r>
                      <a:br>
                        <a:rPr lang="es-CL" sz="1000" b="1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</a:br>
                      <a:r>
                        <a:rPr lang="es-CL" sz="1000" b="1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30-10</a:t>
                      </a:r>
                      <a:endParaRPr lang="es-CL" sz="1000" b="1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535" marR="5535" marT="5535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000" b="1" u="none" strike="noStrike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S13</a:t>
                      </a:r>
                      <a:br>
                        <a:rPr lang="es-CL" sz="1000" b="1" u="none" strike="noStrike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</a:br>
                      <a:r>
                        <a:rPr lang="es-CL" sz="1000" b="1" u="none" strike="noStrike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06-11</a:t>
                      </a:r>
                      <a:endParaRPr lang="es-CL" sz="1000" b="1" i="0" u="none" strike="noStrike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535" marR="5535" marT="5535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000" b="1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S14</a:t>
                      </a:r>
                      <a:br>
                        <a:rPr lang="es-CL" sz="1000" b="1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</a:br>
                      <a:r>
                        <a:rPr lang="es-CL" sz="1000" b="1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13-11</a:t>
                      </a:r>
                      <a:endParaRPr lang="es-CL" sz="1000" b="1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535" marR="5535" marT="5535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000" b="1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S15</a:t>
                      </a:r>
                      <a:br>
                        <a:rPr lang="es-CL" sz="1000" b="1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</a:br>
                      <a:r>
                        <a:rPr lang="es-CL" sz="1000" b="1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20-11</a:t>
                      </a:r>
                      <a:endParaRPr lang="es-CL" sz="1000" b="1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535" marR="5535" marT="5535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000" b="1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S16</a:t>
                      </a:r>
                      <a:br>
                        <a:rPr lang="es-CL" sz="1000" b="1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</a:br>
                      <a:r>
                        <a:rPr lang="es-CL" sz="1000" b="1" u="none" strike="noStrike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</a:rPr>
                        <a:t>27-11</a:t>
                      </a:r>
                      <a:endParaRPr lang="es-CL" sz="1000" b="1" i="0" u="none" strike="noStrike" dirty="0"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535" marR="5535" marT="5535" marB="0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7224421"/>
                  </a:ext>
                </a:extLst>
              </a:tr>
              <a:tr h="5640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900" b="1" u="none" strike="noStrike" dirty="0">
                          <a:solidFill>
                            <a:srgbClr val="002060"/>
                          </a:solidFill>
                          <a:effectLst/>
                          <a:latin typeface="Arial Narrow" panose="020B0606020202030204" pitchFamily="34" charset="0"/>
                        </a:rPr>
                        <a:t>F3 · Construcción e     Integración</a:t>
                      </a:r>
                      <a:endParaRPr lang="es-CL" sz="900" b="1" i="0" u="none" strike="noStrike" dirty="0">
                        <a:solidFill>
                          <a:srgbClr val="00206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04000" marR="5535" marT="553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000" u="none" strike="noStrike" dirty="0">
                          <a:effectLst/>
                          <a:latin typeface="Arial Narrow" panose="020B0606020202030204" pitchFamily="34" charset="0"/>
                        </a:rPr>
                        <a:t>Preparación técnica</a:t>
                      </a:r>
                      <a:br>
                        <a:rPr lang="es-CL" sz="1000" u="none" strike="noStrike" dirty="0">
                          <a:effectLst/>
                          <a:latin typeface="Arial Narrow" panose="020B0606020202030204" pitchFamily="34" charset="0"/>
                        </a:rPr>
                      </a:br>
                      <a:r>
                        <a:rPr lang="es-CL" sz="1000" u="none" strike="noStrike" dirty="0">
                          <a:effectLst/>
                          <a:latin typeface="Arial Narrow" panose="020B0606020202030204" pitchFamily="34" charset="0"/>
                        </a:rPr>
                        <a:t>Repositorios y ambientes</a:t>
                      </a:r>
                      <a:br>
                        <a:rPr lang="es-CL" sz="1000" u="none" strike="noStrike" dirty="0">
                          <a:effectLst/>
                          <a:latin typeface="Arial Narrow" panose="020B0606020202030204" pitchFamily="34" charset="0"/>
                        </a:rPr>
                      </a:br>
                      <a:r>
                        <a:rPr lang="es-CL" sz="1000" u="none" strike="noStrike" dirty="0">
                          <a:effectLst/>
                          <a:latin typeface="Arial Narrow" panose="020B0606020202030204" pitchFamily="34" charset="0"/>
                        </a:rPr>
                        <a:t>BD inicial</a:t>
                      </a:r>
                      <a:endParaRPr lang="es-CL" sz="10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535" marR="5535" marT="553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000" u="none" strike="noStrike" dirty="0">
                          <a:effectLst/>
                          <a:latin typeface="Arial Narrow" panose="020B0606020202030204" pitchFamily="34" charset="0"/>
                        </a:rPr>
                        <a:t>Construcción funcional inicial</a:t>
                      </a:r>
                      <a:br>
                        <a:rPr lang="es-CL" sz="1000" u="none" strike="noStrike" dirty="0">
                          <a:effectLst/>
                          <a:latin typeface="Arial Narrow" panose="020B0606020202030204" pitchFamily="34" charset="0"/>
                        </a:rPr>
                      </a:br>
                      <a:r>
                        <a:rPr lang="es-CL" sz="1000" u="none" strike="noStrike" dirty="0">
                          <a:effectLst/>
                          <a:latin typeface="Arial Narrow" panose="020B0606020202030204" pitchFamily="34" charset="0"/>
                        </a:rPr>
                        <a:t>Autenticación</a:t>
                      </a:r>
                      <a:br>
                        <a:rPr lang="es-CL" sz="1000" u="none" strike="noStrike" dirty="0">
                          <a:effectLst/>
                          <a:latin typeface="Arial Narrow" panose="020B0606020202030204" pitchFamily="34" charset="0"/>
                        </a:rPr>
                      </a:br>
                      <a:r>
                        <a:rPr lang="es-CL" sz="1000" u="none" strike="noStrike" dirty="0">
                          <a:effectLst/>
                          <a:latin typeface="Arial Narrow" panose="020B0606020202030204" pitchFamily="34" charset="0"/>
                        </a:rPr>
                        <a:t>Inventario y </a:t>
                      </a:r>
                      <a:r>
                        <a:rPr lang="es-CL" sz="1000" u="none" strike="noStrike" dirty="0" err="1">
                          <a:effectLst/>
                          <a:latin typeface="Arial Narrow" panose="020B0606020202030204" pitchFamily="34" charset="0"/>
                        </a:rPr>
                        <a:t>OC</a:t>
                      </a:r>
                      <a:endParaRPr lang="es-CL" sz="100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000" u="none" strike="noStrike" dirty="0">
                          <a:effectLst/>
                          <a:latin typeface="Arial Narrow" panose="020B0606020202030204" pitchFamily="34" charset="0"/>
                        </a:rPr>
                        <a:t>Licencias</a:t>
                      </a:r>
                      <a:br>
                        <a:rPr lang="es-CL" sz="1000" u="none" strike="noStrike" dirty="0">
                          <a:effectLst/>
                          <a:latin typeface="Arial Narrow" panose="020B0606020202030204" pitchFamily="34" charset="0"/>
                        </a:rPr>
                      </a:br>
                      <a:r>
                        <a:rPr lang="es-CL" sz="1000" u="none" strike="noStrike" dirty="0">
                          <a:effectLst/>
                          <a:latin typeface="Arial Narrow" panose="020B0606020202030204" pitchFamily="34" charset="0"/>
                        </a:rPr>
                        <a:t>Búsqueda</a:t>
                      </a:r>
                      <a:br>
                        <a:rPr lang="es-CL" sz="1000" u="none" strike="noStrike" dirty="0">
                          <a:effectLst/>
                          <a:latin typeface="Arial Narrow" panose="020B0606020202030204" pitchFamily="34" charset="0"/>
                        </a:rPr>
                      </a:br>
                      <a:r>
                        <a:rPr lang="es-CL" sz="1000" u="none" strike="noStrike" dirty="0">
                          <a:effectLst/>
                          <a:latin typeface="Arial Narrow" panose="020B0606020202030204" pitchFamily="34" charset="0"/>
                        </a:rPr>
                        <a:t>Integración del sistema</a:t>
                      </a:r>
                      <a:endParaRPr lang="es-CL" sz="10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  <a:p>
                      <a:pPr algn="ctr" fontAlgn="ctr">
                        <a:buNone/>
                      </a:pPr>
                      <a:endParaRPr lang="es-CL" sz="10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535" marR="5535" marT="553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000" u="none" strike="noStrike" dirty="0">
                          <a:effectLst/>
                          <a:latin typeface="Arial Narrow" panose="020B0606020202030204" pitchFamily="34" charset="0"/>
                        </a:rPr>
                        <a:t>Flujo de asignación</a:t>
                      </a:r>
                      <a:br>
                        <a:rPr lang="es-CL" sz="1000" u="none" strike="noStrike" dirty="0">
                          <a:effectLst/>
                          <a:latin typeface="Arial Narrow" panose="020B0606020202030204" pitchFamily="34" charset="0"/>
                        </a:rPr>
                      </a:br>
                      <a:r>
                        <a:rPr lang="es-CL" sz="1000" u="none" strike="noStrike" dirty="0">
                          <a:effectLst/>
                          <a:latin typeface="Arial Narrow" panose="020B0606020202030204" pitchFamily="34" charset="0"/>
                        </a:rPr>
                        <a:t>Usuarios</a:t>
                      </a:r>
                      <a:br>
                        <a:rPr lang="es-CL" sz="1000" u="none" strike="noStrike" dirty="0">
                          <a:effectLst/>
                          <a:latin typeface="Arial Narrow" panose="020B0606020202030204" pitchFamily="34" charset="0"/>
                        </a:rPr>
                      </a:br>
                      <a:r>
                        <a:rPr lang="es-CL" sz="1000" u="none" strike="noStrike" dirty="0">
                          <a:effectLst/>
                          <a:latin typeface="Arial Narrow" panose="020B0606020202030204" pitchFamily="34" charset="0"/>
                        </a:rPr>
                        <a:t>Actas.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000" u="none" strike="noStrike" dirty="0">
                          <a:effectLst/>
                          <a:latin typeface="Arial Narrow" panose="020B0606020202030204" pitchFamily="34" charset="0"/>
                        </a:rPr>
                        <a:t>Corrección de defectos</a:t>
                      </a:r>
                      <a:br>
                        <a:rPr lang="es-CL" sz="1000" u="none" strike="noStrike" dirty="0">
                          <a:effectLst/>
                          <a:latin typeface="Arial Narrow" panose="020B0606020202030204" pitchFamily="34" charset="0"/>
                        </a:rPr>
                      </a:br>
                      <a:r>
                        <a:rPr lang="es-CL" sz="1000" u="none" strike="noStrike" dirty="0">
                          <a:effectLst/>
                          <a:latin typeface="Arial Narrow" panose="020B0606020202030204" pitchFamily="34" charset="0"/>
                        </a:rPr>
                        <a:t>funcionales e interfaces</a:t>
                      </a:r>
                      <a:endParaRPr lang="es-CL" sz="10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535" marR="5535" marT="553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000" u="none" strike="noStrike" dirty="0">
                          <a:effectLst/>
                          <a:latin typeface="Arial Narrow" panose="020B0606020202030204" pitchFamily="34" charset="0"/>
                        </a:rPr>
                        <a:t>Ciclo de vida de activos</a:t>
                      </a:r>
                      <a:br>
                        <a:rPr lang="es-CL" sz="1000" u="none" strike="noStrike" dirty="0">
                          <a:effectLst/>
                          <a:latin typeface="Arial Narrow" panose="020B0606020202030204" pitchFamily="34" charset="0"/>
                        </a:rPr>
                      </a:br>
                      <a:r>
                        <a:rPr lang="es-CL" sz="1000" u="none" strike="noStrike" dirty="0">
                          <a:effectLst/>
                          <a:latin typeface="Arial Narrow" panose="020B0606020202030204" pitchFamily="34" charset="0"/>
                        </a:rPr>
                        <a:t>Devolución</a:t>
                      </a:r>
                      <a:br>
                        <a:rPr lang="es-CL" sz="1000" u="none" strike="noStrike" dirty="0">
                          <a:effectLst/>
                          <a:latin typeface="Arial Narrow" panose="020B0606020202030204" pitchFamily="34" charset="0"/>
                        </a:rPr>
                      </a:br>
                      <a:r>
                        <a:rPr lang="es-CL" sz="1000" u="none" strike="noStrike" dirty="0">
                          <a:effectLst/>
                          <a:latin typeface="Arial Narrow" panose="020B0606020202030204" pitchFamily="34" charset="0"/>
                        </a:rPr>
                        <a:t>Interfaces</a:t>
                      </a:r>
                      <a:endParaRPr lang="es-CL" sz="10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535" marR="5535" marT="553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CL" sz="10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535" marR="5535" marT="553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CL" sz="10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535" marR="5535" marT="553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000" u="none" strike="noStrike" dirty="0">
                          <a:effectLst/>
                          <a:latin typeface="Arial Narrow" panose="020B0606020202030204" pitchFamily="34" charset="0"/>
                        </a:rPr>
                        <a:t>—</a:t>
                      </a:r>
                      <a:endParaRPr lang="es-CL" sz="10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535" marR="5535" marT="553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000" u="none" strike="noStrike" dirty="0">
                          <a:effectLst/>
                          <a:latin typeface="Arial Narrow" panose="020B0606020202030204" pitchFamily="34" charset="0"/>
                        </a:rPr>
                        <a:t>—</a:t>
                      </a:r>
                      <a:endParaRPr lang="es-CL" sz="10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535" marR="5535" marT="553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000" u="none" strike="noStrike" dirty="0">
                          <a:effectLst/>
                          <a:latin typeface="Arial Narrow" panose="020B0606020202030204" pitchFamily="34" charset="0"/>
                        </a:rPr>
                        <a:t>—</a:t>
                      </a:r>
                      <a:endParaRPr lang="es-CL" sz="10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535" marR="5535" marT="553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0077993"/>
                  </a:ext>
                </a:extLst>
              </a:tr>
              <a:tr h="61161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900" b="1" u="none" strike="noStrike" dirty="0">
                          <a:solidFill>
                            <a:srgbClr val="002060"/>
                          </a:solidFill>
                          <a:effectLst/>
                          <a:latin typeface="Arial Narrow" panose="020B0606020202030204" pitchFamily="34" charset="0"/>
                        </a:rPr>
                        <a:t>F4 · Pruebas y Transición</a:t>
                      </a:r>
                      <a:endParaRPr lang="es-CL" sz="900" b="1" i="0" u="none" strike="noStrike" dirty="0">
                        <a:solidFill>
                          <a:srgbClr val="00206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04000" marR="5535" marT="553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000" u="none" strike="noStrike" dirty="0">
                          <a:effectLst/>
                          <a:latin typeface="Arial Narrow" panose="020B0606020202030204" pitchFamily="34" charset="0"/>
                        </a:rPr>
                        <a:t>—</a:t>
                      </a:r>
                      <a:endParaRPr lang="es-CL" sz="10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535" marR="5535" marT="553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000" u="none" strike="noStrike" dirty="0">
                          <a:effectLst/>
                          <a:latin typeface="Arial Narrow" panose="020B0606020202030204" pitchFamily="34" charset="0"/>
                        </a:rPr>
                        <a:t>—</a:t>
                      </a:r>
                      <a:endParaRPr lang="es-CL" sz="10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535" marR="5535" marT="553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000" u="none" strike="noStrike" dirty="0">
                          <a:effectLst/>
                          <a:latin typeface="Arial Narrow" panose="020B0606020202030204" pitchFamily="34" charset="0"/>
                        </a:rPr>
                        <a:t>—</a:t>
                      </a:r>
                      <a:endParaRPr lang="es-CL" sz="10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535" marR="5535" marT="553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000" u="none" strike="noStrike" dirty="0">
                          <a:effectLst/>
                          <a:latin typeface="Arial Narrow" panose="020B0606020202030204" pitchFamily="34" charset="0"/>
                        </a:rPr>
                        <a:t>Inicio </a:t>
                      </a:r>
                      <a:r>
                        <a:rPr lang="es-CL" sz="1000" u="none" strike="noStrike" dirty="0" err="1">
                          <a:effectLst/>
                          <a:latin typeface="Arial Narrow" panose="020B0606020202030204" pitchFamily="34" charset="0"/>
                        </a:rPr>
                        <a:t>QA</a:t>
                      </a:r>
                      <a:br>
                        <a:rPr lang="es-CL" sz="1000" u="none" strike="noStrike" dirty="0">
                          <a:effectLst/>
                          <a:latin typeface="Arial Narrow" panose="020B0606020202030204" pitchFamily="34" charset="0"/>
                        </a:rPr>
                      </a:br>
                      <a:r>
                        <a:rPr lang="es-CL" sz="1000" u="none" strike="noStrike" dirty="0">
                          <a:effectLst/>
                          <a:latin typeface="Arial Narrow" panose="020B0606020202030204" pitchFamily="34" charset="0"/>
                        </a:rPr>
                        <a:t>Pruebas funcionales</a:t>
                      </a:r>
                      <a:br>
                        <a:rPr lang="es-CL" sz="1000" u="none" strike="noStrike" dirty="0">
                          <a:effectLst/>
                          <a:latin typeface="Arial Narrow" panose="020B0606020202030204" pitchFamily="34" charset="0"/>
                        </a:rPr>
                      </a:br>
                      <a:r>
                        <a:rPr lang="es-CL" sz="1000" u="none" strike="noStrike" dirty="0">
                          <a:effectLst/>
                          <a:latin typeface="Arial Narrow" panose="020B0606020202030204" pitchFamily="34" charset="0"/>
                        </a:rPr>
                        <a:t>Integración Web–API–BD</a:t>
                      </a:r>
                      <a:endParaRPr lang="es-CL" sz="10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535" marR="5535" marT="553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000" u="none" strike="noStrike" dirty="0">
                          <a:effectLst/>
                          <a:latin typeface="Arial Narrow" panose="020B0606020202030204" pitchFamily="34" charset="0"/>
                        </a:rPr>
                        <a:t>Pruebas funcionales</a:t>
                      </a:r>
                      <a:br>
                        <a:rPr lang="es-CL" sz="1000" u="none" strike="noStrike" dirty="0">
                          <a:effectLst/>
                          <a:latin typeface="Arial Narrow" panose="020B0606020202030204" pitchFamily="34" charset="0"/>
                        </a:rPr>
                      </a:br>
                      <a:r>
                        <a:rPr lang="es-CL" sz="1000" u="none" strike="noStrike" dirty="0">
                          <a:effectLst/>
                          <a:latin typeface="Arial Narrow" panose="020B0606020202030204" pitchFamily="34" charset="0"/>
                        </a:rPr>
                        <a:t>Integración Web–API–BD y móvil</a:t>
                      </a:r>
                      <a:endParaRPr lang="es-CL" sz="10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535" marR="5535" marT="553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000" u="none" strike="noStrike" dirty="0">
                          <a:effectLst/>
                          <a:latin typeface="Arial Narrow" panose="020B0606020202030204" pitchFamily="34" charset="0"/>
                        </a:rPr>
                        <a:t>Regresión</a:t>
                      </a:r>
                      <a:br>
                        <a:rPr lang="es-CL" sz="1000" u="none" strike="noStrike" dirty="0">
                          <a:effectLst/>
                          <a:latin typeface="Arial Narrow" panose="020B0606020202030204" pitchFamily="34" charset="0"/>
                        </a:rPr>
                      </a:br>
                      <a:r>
                        <a:rPr lang="es-CL" sz="1000" u="none" strike="noStrike" dirty="0">
                          <a:effectLst/>
                          <a:latin typeface="Arial Narrow" panose="020B0606020202030204" pitchFamily="34" charset="0"/>
                        </a:rPr>
                        <a:t>Estabilización</a:t>
                      </a:r>
                      <a:br>
                        <a:rPr lang="es-CL" sz="1000" u="none" strike="noStrike" dirty="0">
                          <a:effectLst/>
                          <a:latin typeface="Arial Narrow" panose="020B0606020202030204" pitchFamily="34" charset="0"/>
                        </a:rPr>
                      </a:br>
                      <a:r>
                        <a:rPr lang="es-CL" sz="1000" u="none" strike="noStrike" dirty="0">
                          <a:effectLst/>
                          <a:latin typeface="Arial Narrow" panose="020B0606020202030204" pitchFamily="34" charset="0"/>
                        </a:rPr>
                        <a:t>Verificación integral</a:t>
                      </a:r>
                      <a:endParaRPr lang="es-CL" sz="10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535" marR="5535" marT="553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000" u="none" strike="noStrike" dirty="0">
                          <a:effectLst/>
                          <a:latin typeface="Arial Narrow" panose="020B0606020202030204" pitchFamily="34" charset="0"/>
                        </a:rPr>
                        <a:t>Validación con usuarios</a:t>
                      </a:r>
                      <a:br>
                        <a:rPr lang="es-CL" sz="1000" u="none" strike="noStrike" dirty="0">
                          <a:effectLst/>
                          <a:latin typeface="Arial Narrow" panose="020B0606020202030204" pitchFamily="34" charset="0"/>
                        </a:rPr>
                      </a:br>
                      <a:r>
                        <a:rPr lang="es-CL" sz="1000" u="none" strike="noStrike" dirty="0">
                          <a:effectLst/>
                          <a:latin typeface="Arial Narrow" panose="020B0606020202030204" pitchFamily="34" charset="0"/>
                        </a:rPr>
                        <a:t>Criterios de aceptación</a:t>
                      </a:r>
                      <a:endParaRPr lang="es-CL" sz="10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535" marR="5535" marT="553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000" u="none" strike="noStrike" dirty="0">
                          <a:effectLst/>
                          <a:latin typeface="Arial Narrow" panose="020B0606020202030204" pitchFamily="34" charset="0"/>
                        </a:rPr>
                        <a:t>Correcciones</a:t>
                      </a:r>
                      <a:br>
                        <a:rPr lang="es-CL" sz="1000" u="none" strike="noStrike" dirty="0">
                          <a:effectLst/>
                          <a:latin typeface="Arial Narrow" panose="020B0606020202030204" pitchFamily="34" charset="0"/>
                        </a:rPr>
                      </a:br>
                      <a:r>
                        <a:rPr lang="es-CL" sz="1000" u="none" strike="noStrike" dirty="0">
                          <a:effectLst/>
                          <a:latin typeface="Arial Narrow" panose="020B0606020202030204" pitchFamily="34" charset="0"/>
                        </a:rPr>
                        <a:t>Consolidación versión final</a:t>
                      </a:r>
                      <a:endParaRPr lang="es-CL" sz="10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535" marR="5535" marT="553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000" u="none" strike="noStrike" dirty="0">
                          <a:effectLst/>
                          <a:latin typeface="Arial Narrow" panose="020B0606020202030204" pitchFamily="34" charset="0"/>
                        </a:rPr>
                        <a:t>—</a:t>
                      </a:r>
                      <a:endParaRPr lang="es-CL" sz="10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535" marR="5535" marT="5535" marB="0" anchor="ctr"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4484445"/>
                  </a:ext>
                </a:extLst>
              </a:tr>
              <a:tr h="57043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900" b="1" u="none" strike="noStrike" dirty="0">
                          <a:solidFill>
                            <a:srgbClr val="002060"/>
                          </a:solidFill>
                          <a:effectLst/>
                          <a:latin typeface="Arial Narrow" panose="020B0606020202030204" pitchFamily="34" charset="0"/>
                        </a:rPr>
                        <a:t>F5 · Cierre del Proyecto</a:t>
                      </a:r>
                      <a:endParaRPr lang="es-CL" sz="900" b="1" i="0" u="none" strike="noStrike" dirty="0">
                        <a:solidFill>
                          <a:srgbClr val="00206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04000" marR="5535" marT="553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000" u="none" strike="noStrike" dirty="0">
                          <a:effectLst/>
                          <a:latin typeface="Arial Narrow" panose="020B0606020202030204" pitchFamily="34" charset="0"/>
                        </a:rPr>
                        <a:t>—</a:t>
                      </a:r>
                      <a:endParaRPr lang="es-CL" sz="10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535" marR="5535" marT="553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000" u="none" strike="noStrike" dirty="0">
                          <a:effectLst/>
                          <a:latin typeface="Arial Narrow" panose="020B0606020202030204" pitchFamily="34" charset="0"/>
                        </a:rPr>
                        <a:t>—</a:t>
                      </a:r>
                      <a:endParaRPr lang="es-CL" sz="10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535" marR="5535" marT="553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000" u="none" strike="noStrike" dirty="0">
                          <a:effectLst/>
                          <a:latin typeface="Arial Narrow" panose="020B0606020202030204" pitchFamily="34" charset="0"/>
                        </a:rPr>
                        <a:t>—</a:t>
                      </a:r>
                      <a:endParaRPr lang="es-CL" sz="10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535" marR="5535" marT="553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000" u="none" strike="noStrike" dirty="0">
                          <a:effectLst/>
                          <a:latin typeface="Arial Narrow" panose="020B0606020202030204" pitchFamily="34" charset="0"/>
                        </a:rPr>
                        <a:t>—</a:t>
                      </a:r>
                      <a:endParaRPr lang="es-CL" sz="10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535" marR="5535" marT="553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000" u="none" strike="noStrike" dirty="0">
                          <a:effectLst/>
                          <a:latin typeface="Arial Narrow" panose="020B0606020202030204" pitchFamily="34" charset="0"/>
                        </a:rPr>
                        <a:t>—</a:t>
                      </a:r>
                      <a:endParaRPr lang="es-CL" sz="10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535" marR="5535" marT="553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000" u="none" strike="noStrike" dirty="0">
                          <a:effectLst/>
                          <a:latin typeface="Arial Narrow" panose="020B0606020202030204" pitchFamily="34" charset="0"/>
                        </a:rPr>
                        <a:t>—</a:t>
                      </a:r>
                      <a:endParaRPr lang="es-CL" sz="10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535" marR="5535" marT="553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000" u="none" strike="noStrike" dirty="0">
                          <a:effectLst/>
                          <a:latin typeface="Arial Narrow" panose="020B0606020202030204" pitchFamily="34" charset="0"/>
                        </a:rPr>
                        <a:t>—</a:t>
                      </a:r>
                      <a:endParaRPr lang="es-CL" sz="10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535" marR="5535" marT="553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000" u="none" strike="noStrike" dirty="0">
                          <a:effectLst/>
                          <a:latin typeface="Arial Narrow" panose="020B0606020202030204" pitchFamily="34" charset="0"/>
                        </a:rPr>
                        <a:t>Documentación</a:t>
                      </a:r>
                      <a:br>
                        <a:rPr lang="es-CL" sz="1000" u="none" strike="noStrike" dirty="0">
                          <a:effectLst/>
                          <a:latin typeface="Arial Narrow" panose="020B0606020202030204" pitchFamily="34" charset="0"/>
                        </a:rPr>
                      </a:br>
                      <a:r>
                        <a:rPr lang="es-CL" sz="1000" u="none" strike="noStrike" dirty="0">
                          <a:effectLst/>
                          <a:latin typeface="Arial Narrow" panose="020B0606020202030204" pitchFamily="34" charset="0"/>
                        </a:rPr>
                        <a:t>Manuales</a:t>
                      </a:r>
                      <a:br>
                        <a:rPr lang="es-CL" sz="1000" u="none" strike="noStrike" dirty="0">
                          <a:effectLst/>
                          <a:latin typeface="Arial Narrow" panose="020B0606020202030204" pitchFamily="34" charset="0"/>
                        </a:rPr>
                      </a:br>
                      <a:r>
                        <a:rPr lang="es-CL" sz="1000" u="none" strike="noStrike" dirty="0">
                          <a:effectLst/>
                          <a:latin typeface="Arial Narrow" panose="020B0606020202030204" pitchFamily="34" charset="0"/>
                        </a:rPr>
                        <a:t>Transferencia</a:t>
                      </a:r>
                      <a:endParaRPr lang="es-CL" sz="10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535" marR="5535" marT="553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000" u="none" strike="noStrike" dirty="0">
                          <a:effectLst/>
                          <a:latin typeface="Arial Narrow" panose="020B0606020202030204" pitchFamily="34" charset="0"/>
                        </a:rPr>
                        <a:t>Aceptación final</a:t>
                      </a:r>
                      <a:br>
                        <a:rPr lang="es-CL" sz="1000" u="none" strike="noStrike" dirty="0">
                          <a:effectLst/>
                          <a:latin typeface="Arial Narrow" panose="020B0606020202030204" pitchFamily="34" charset="0"/>
                        </a:rPr>
                      </a:br>
                      <a:r>
                        <a:rPr lang="es-CL" sz="1000" u="none" strike="noStrike" dirty="0">
                          <a:effectLst/>
                          <a:latin typeface="Arial Narrow" panose="020B0606020202030204" pitchFamily="34" charset="0"/>
                        </a:rPr>
                        <a:t>Despliegue / entrega</a:t>
                      </a:r>
                      <a:br>
                        <a:rPr lang="es-CL" sz="1000" u="none" strike="noStrike" dirty="0">
                          <a:effectLst/>
                          <a:latin typeface="Arial Narrow" panose="020B0606020202030204" pitchFamily="34" charset="0"/>
                        </a:rPr>
                      </a:br>
                      <a:r>
                        <a:rPr lang="es-CL" sz="1000" u="none" strike="noStrike" dirty="0">
                          <a:effectLst/>
                          <a:latin typeface="Arial Narrow" panose="020B0606020202030204" pitchFamily="34" charset="0"/>
                        </a:rPr>
                        <a:t>Presentación y cierre</a:t>
                      </a:r>
                      <a:endParaRPr lang="es-CL" sz="10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535" marR="5535" marT="553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5552730"/>
                  </a:ext>
                </a:extLst>
              </a:tr>
              <a:tr h="1265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8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535" marR="5535" marT="553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8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535" marR="5535" marT="553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8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535" marR="5535" marT="553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8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535" marR="5535" marT="553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8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535" marR="5535" marT="553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8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535" marR="5535" marT="553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8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535" marR="5535" marT="553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8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535" marR="5535" marT="553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8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535" marR="5535" marT="553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800" b="0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535" marR="5535" marT="553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427963"/>
                  </a:ext>
                </a:extLst>
              </a:tr>
              <a:tr h="1935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1" u="none" strike="noStrike" dirty="0">
                          <a:effectLst/>
                          <a:latin typeface="Arial Narrow" panose="020B0606020202030204" pitchFamily="34" charset="0"/>
                        </a:rPr>
                        <a:t>HITOS</a:t>
                      </a:r>
                      <a:endParaRPr lang="es-CL" sz="1100" b="1" i="0" u="none" strike="noStrike" dirty="0">
                        <a:solidFill>
                          <a:srgbClr val="17365D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535" marR="5535" marT="5535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1" u="none" strike="noStrike" dirty="0">
                          <a:effectLst/>
                          <a:latin typeface="Arial Narrow" panose="020B0606020202030204" pitchFamily="34" charset="0"/>
                        </a:rPr>
                        <a:t>Inicio H-03</a:t>
                      </a:r>
                      <a:endParaRPr lang="es-CL" sz="1100" b="1" i="0" u="none" strike="noStrike" dirty="0">
                        <a:solidFill>
                          <a:srgbClr val="17365D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535" marR="5535" marT="5535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1" u="none" strike="noStrike" dirty="0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es-CL" sz="1100" b="1" i="0" u="none" strike="noStrike" dirty="0">
                        <a:solidFill>
                          <a:srgbClr val="17365D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535" marR="5535" marT="5535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1" u="none" strike="noStrike" dirty="0">
                          <a:effectLst/>
                          <a:latin typeface="Arial Narrow" panose="020B0606020202030204" pitchFamily="34" charset="0"/>
                        </a:rPr>
                        <a:t>H-03 / 16-10</a:t>
                      </a:r>
                      <a:endParaRPr lang="es-CL" sz="1100" b="1" i="0" u="none" strike="noStrike" dirty="0">
                        <a:solidFill>
                          <a:srgbClr val="17365D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535" marR="5535" marT="5535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1" u="none" strike="noStrike" dirty="0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es-CL" sz="1100" b="1" i="0" u="none" strike="noStrike" dirty="0">
                        <a:solidFill>
                          <a:srgbClr val="17365D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535" marR="5535" marT="5535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1" u="none" strike="noStrike" dirty="0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es-CL" sz="1100" b="1" i="0" u="none" strike="noStrike" dirty="0">
                        <a:solidFill>
                          <a:srgbClr val="17365D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535" marR="5535" marT="5535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1" u="none" strike="noStrike" dirty="0">
                          <a:effectLst/>
                          <a:latin typeface="Arial Narrow" panose="020B0606020202030204" pitchFamily="34" charset="0"/>
                        </a:rPr>
                        <a:t>H-04 / 06-11</a:t>
                      </a:r>
                      <a:endParaRPr lang="es-CL" sz="1100" b="1" i="0" u="none" strike="noStrike" dirty="0">
                        <a:solidFill>
                          <a:srgbClr val="17365D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535" marR="5535" marT="5535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1" u="none" strike="noStrike" dirty="0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es-CL" sz="1100" b="1" i="0" u="none" strike="noStrike" dirty="0">
                        <a:solidFill>
                          <a:srgbClr val="17365D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535" marR="5535" marT="5535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1" u="none" strike="noStrike" dirty="0">
                          <a:effectLst/>
                          <a:latin typeface="Arial Narrow" panose="020B0606020202030204" pitchFamily="34" charset="0"/>
                        </a:rPr>
                        <a:t> </a:t>
                      </a:r>
                      <a:endParaRPr lang="es-CL" sz="1100" b="1" i="0" u="none" strike="noStrike" dirty="0">
                        <a:solidFill>
                          <a:srgbClr val="17365D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535" marR="5535" marT="5535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L" sz="1100" b="1" u="none" strike="noStrike" dirty="0">
                          <a:effectLst/>
                          <a:latin typeface="Arial Narrow" panose="020B0606020202030204" pitchFamily="34" charset="0"/>
                        </a:rPr>
                        <a:t>H-05 / 27-11</a:t>
                      </a:r>
                      <a:endParaRPr lang="es-CL" sz="1100" b="1" i="0" u="none" strike="noStrike" dirty="0">
                        <a:solidFill>
                          <a:srgbClr val="17365D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535" marR="5535" marT="5535" marB="0" anchor="ctr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982610"/>
                  </a:ext>
                </a:extLst>
              </a:tr>
              <a:tr h="9147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1100" b="1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535" marR="5535" marT="553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1100" b="1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535" marR="5535" marT="553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1100" b="1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535" marR="5535" marT="553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1100" b="1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535" marR="5535" marT="553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1100" b="1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535" marR="5535" marT="553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1100" b="1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535" marR="5535" marT="553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1100" b="1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535" marR="5535" marT="553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1100" b="1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535" marR="5535" marT="553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1100" b="1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535" marR="5535" marT="553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s-CL" sz="1100" b="1" i="0" u="none" strike="noStrike" dirty="0"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5535" marR="5535" marT="553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840116"/>
                  </a:ext>
                </a:extLst>
              </a:tr>
              <a:tr h="296831">
                <a:tc gridSpan="10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L" sz="1200" b="1" dirty="0">
                          <a:latin typeface="Arial Narrow" panose="020B0606020202030204" pitchFamily="34" charset="0"/>
                        </a:rPr>
                        <a:t>Lectura:</a:t>
                      </a:r>
                      <a:r>
                        <a:rPr lang="es-CL" sz="1200" dirty="0">
                          <a:latin typeface="Arial Narrow" panose="020B0606020202030204" pitchFamily="34" charset="0"/>
                        </a:rPr>
                        <a:t> H-02 establece la línea base de diseño para H-03 Desarrollo. Las actividades de </a:t>
                      </a:r>
                      <a:r>
                        <a:rPr lang="es-CL" sz="1200" dirty="0" err="1">
                          <a:latin typeface="Arial Narrow" panose="020B0606020202030204" pitchFamily="34" charset="0"/>
                        </a:rPr>
                        <a:t>QA</a:t>
                      </a:r>
                      <a:r>
                        <a:rPr lang="es-CL" sz="1200" dirty="0">
                          <a:latin typeface="Arial Narrow" panose="020B0606020202030204" pitchFamily="34" charset="0"/>
                        </a:rPr>
                        <a:t> se ejecutan progresivamente durante la construcción y culminan con la validación, despliegue, aceptación y cierre del proyecto. El detalle operativo se mantiene en la Carta Gantt.</a:t>
                      </a:r>
                      <a:endParaRPr lang="es-CL" sz="1200" b="1" i="0" u="none" strike="noStrike" dirty="0">
                        <a:solidFill>
                          <a:srgbClr val="595959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108000" marR="5535" marT="5535" marB="0" anchor="ctr">
                    <a:solidFill>
                      <a:srgbClr val="F0F7F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4997019"/>
                  </a:ext>
                </a:extLst>
              </a:tr>
            </a:tbl>
          </a:graphicData>
        </a:graphic>
      </p:graphicFrame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CBC44229-7557-C836-4DD4-FC9FA83EC8D4}"/>
              </a:ext>
            </a:extLst>
          </p:cNvPr>
          <p:cNvSpPr/>
          <p:nvPr/>
        </p:nvSpPr>
        <p:spPr>
          <a:xfrm>
            <a:off x="408177" y="1383368"/>
            <a:ext cx="11411477" cy="85341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1599DD99-3D6C-28C1-8D29-C7B3D8908895}"/>
              </a:ext>
            </a:extLst>
          </p:cNvPr>
          <p:cNvGrpSpPr>
            <a:grpSpLocks noChangeAspect="1"/>
          </p:cNvGrpSpPr>
          <p:nvPr/>
        </p:nvGrpSpPr>
        <p:grpSpPr>
          <a:xfrm>
            <a:off x="489405" y="1504076"/>
            <a:ext cx="612000" cy="612000"/>
            <a:chOff x="12523067" y="1747010"/>
            <a:chExt cx="448800" cy="448800"/>
          </a:xfrm>
        </p:grpSpPr>
        <p:sp>
          <p:nvSpPr>
            <p:cNvPr id="16" name="Diagrama de flujo: conector 15">
              <a:extLst>
                <a:ext uri="{FF2B5EF4-FFF2-40B4-BE49-F238E27FC236}">
                  <a16:creationId xmlns:a16="http://schemas.microsoft.com/office/drawing/2014/main" id="{7A5A841E-D8CE-A2DF-8DF6-6EEE163B737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523067" y="1747010"/>
              <a:ext cx="448800" cy="448800"/>
            </a:xfrm>
            <a:prstGeom prst="flowChartConnector">
              <a:avLst/>
            </a:prstGeom>
            <a:gradFill flip="none" rotWithShape="1">
              <a:gsLst>
                <a:gs pos="0">
                  <a:schemeClr val="accent3">
                    <a:lumMod val="67000"/>
                  </a:schemeClr>
                </a:gs>
                <a:gs pos="48000">
                  <a:schemeClr val="accent3">
                    <a:lumMod val="97000"/>
                    <a:lumOff val="3000"/>
                  </a:schemeClr>
                </a:gs>
                <a:gs pos="100000">
                  <a:schemeClr val="accent3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pic>
          <p:nvPicPr>
            <p:cNvPr id="36" name="Gráfico 35" descr="Checkmark con relleno sólido">
              <a:extLst>
                <a:ext uri="{FF2B5EF4-FFF2-40B4-BE49-F238E27FC236}">
                  <a16:creationId xmlns:a16="http://schemas.microsoft.com/office/drawing/2014/main" id="{D9CF6818-2C84-663B-FA4E-6E734243792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2631333" y="1865198"/>
              <a:ext cx="232269" cy="232269"/>
            </a:xfrm>
            <a:prstGeom prst="rect">
              <a:avLst/>
            </a:prstGeom>
          </p:spPr>
        </p:pic>
      </p:grpSp>
      <p:sp>
        <p:nvSpPr>
          <p:cNvPr id="40" name="CuadroTexto 39">
            <a:extLst>
              <a:ext uri="{FF2B5EF4-FFF2-40B4-BE49-F238E27FC236}">
                <a16:creationId xmlns:a16="http://schemas.microsoft.com/office/drawing/2014/main" id="{1A378733-CAA9-407D-B1E9-B230D7BA02F5}"/>
              </a:ext>
            </a:extLst>
          </p:cNvPr>
          <p:cNvSpPr txBox="1"/>
          <p:nvPr/>
        </p:nvSpPr>
        <p:spPr>
          <a:xfrm>
            <a:off x="1101405" y="1492764"/>
            <a:ext cx="25434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b="1" dirty="0">
                <a:solidFill>
                  <a:srgbClr val="208332"/>
                </a:solidFill>
                <a:latin typeface="Arial Narrow" panose="020B0606020202030204" pitchFamily="34" charset="0"/>
              </a:rPr>
              <a:t>H-02 · DISEÑO Y ARQUITECTURA</a:t>
            </a:r>
          </a:p>
        </p:txBody>
      </p:sp>
      <p:sp>
        <p:nvSpPr>
          <p:cNvPr id="51" name="Rectángulo: esquinas redondeadas 50">
            <a:extLst>
              <a:ext uri="{FF2B5EF4-FFF2-40B4-BE49-F238E27FC236}">
                <a16:creationId xmlns:a16="http://schemas.microsoft.com/office/drawing/2014/main" id="{41A7E083-FDBA-59B0-1275-BE98E9569867}"/>
              </a:ext>
            </a:extLst>
          </p:cNvPr>
          <p:cNvSpPr/>
          <p:nvPr/>
        </p:nvSpPr>
        <p:spPr>
          <a:xfrm>
            <a:off x="1387737" y="1812428"/>
            <a:ext cx="1725503" cy="307777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000" b="1" dirty="0">
                <a:latin typeface="Arial Narrow" panose="020B0606020202030204" pitchFamily="34" charset="0"/>
              </a:rPr>
              <a:t>COMPLETADO (25/09/2026)</a:t>
            </a:r>
          </a:p>
        </p:txBody>
      </p:sp>
      <p:pic>
        <p:nvPicPr>
          <p:cNvPr id="55" name="Gráfico 54" descr="Cube con relleno sólido">
            <a:extLst>
              <a:ext uri="{FF2B5EF4-FFF2-40B4-BE49-F238E27FC236}">
                <a16:creationId xmlns:a16="http://schemas.microsoft.com/office/drawing/2014/main" id="{DD6055A3-DC62-3A2D-0196-2E67AD395E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594638" y="1566812"/>
            <a:ext cx="540000" cy="540000"/>
          </a:xfrm>
          <a:prstGeom prst="rect">
            <a:avLst/>
          </a:prstGeom>
        </p:spPr>
      </p:pic>
      <p:pic>
        <p:nvPicPr>
          <p:cNvPr id="59" name="Gráfico 58" descr="Database contorno">
            <a:extLst>
              <a:ext uri="{FF2B5EF4-FFF2-40B4-BE49-F238E27FC236}">
                <a16:creationId xmlns:a16="http://schemas.microsoft.com/office/drawing/2014/main" id="{0D42AB86-034C-549E-A51F-BC1B920C7C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738917" y="1548950"/>
            <a:ext cx="540000" cy="540000"/>
          </a:xfrm>
          <a:prstGeom prst="rect">
            <a:avLst/>
          </a:prstGeom>
        </p:spPr>
      </p:pic>
      <p:pic>
        <p:nvPicPr>
          <p:cNvPr id="61" name="Gráfico 60" descr="Document con relleno sólido">
            <a:extLst>
              <a:ext uri="{FF2B5EF4-FFF2-40B4-BE49-F238E27FC236}">
                <a16:creationId xmlns:a16="http://schemas.microsoft.com/office/drawing/2014/main" id="{DB9BDD4D-BF89-577F-A018-10249BC483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855502" y="1579180"/>
            <a:ext cx="540000" cy="540000"/>
          </a:xfrm>
          <a:prstGeom prst="rect">
            <a:avLst/>
          </a:prstGeom>
        </p:spPr>
      </p:pic>
      <p:sp>
        <p:nvSpPr>
          <p:cNvPr id="63" name="CuadroTexto 62">
            <a:extLst>
              <a:ext uri="{FF2B5EF4-FFF2-40B4-BE49-F238E27FC236}">
                <a16:creationId xmlns:a16="http://schemas.microsoft.com/office/drawing/2014/main" id="{87BA1046-DE49-9972-29D3-7FBDC3705039}"/>
              </a:ext>
            </a:extLst>
          </p:cNvPr>
          <p:cNvSpPr txBox="1"/>
          <p:nvPr/>
        </p:nvSpPr>
        <p:spPr>
          <a:xfrm>
            <a:off x="4126256" y="1670979"/>
            <a:ext cx="15135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600" b="1" dirty="0">
                <a:solidFill>
                  <a:srgbClr val="002060"/>
                </a:solidFill>
                <a:latin typeface="Arial Narrow" panose="020B0606020202030204" pitchFamily="34" charset="0"/>
              </a:rPr>
              <a:t>Arquitectura 4+1</a:t>
            </a:r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381E12AD-B480-40A2-DF45-92C8F444C5D7}"/>
              </a:ext>
            </a:extLst>
          </p:cNvPr>
          <p:cNvSpPr txBox="1"/>
          <p:nvPr/>
        </p:nvSpPr>
        <p:spPr>
          <a:xfrm>
            <a:off x="6190680" y="1657578"/>
            <a:ext cx="15263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600" b="1" dirty="0">
                <a:solidFill>
                  <a:srgbClr val="002060"/>
                </a:solidFill>
                <a:latin typeface="Arial Narrow" panose="020B0606020202030204" pitchFamily="34" charset="0"/>
              </a:rPr>
              <a:t>Modelo de Datos</a:t>
            </a:r>
          </a:p>
        </p:txBody>
      </p:sp>
      <p:sp>
        <p:nvSpPr>
          <p:cNvPr id="71" name="CuadroTexto 70">
            <a:extLst>
              <a:ext uri="{FF2B5EF4-FFF2-40B4-BE49-F238E27FC236}">
                <a16:creationId xmlns:a16="http://schemas.microsoft.com/office/drawing/2014/main" id="{2608AC1A-2237-DD1B-D31B-8A9A4FFEBBD3}"/>
              </a:ext>
            </a:extLst>
          </p:cNvPr>
          <p:cNvSpPr txBox="1"/>
          <p:nvPr/>
        </p:nvSpPr>
        <p:spPr>
          <a:xfrm>
            <a:off x="8330800" y="1671587"/>
            <a:ext cx="12747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600" b="1" dirty="0">
                <a:solidFill>
                  <a:srgbClr val="002060"/>
                </a:solidFill>
                <a:latin typeface="Arial Narrow" panose="020B0606020202030204" pitchFamily="34" charset="0"/>
              </a:rPr>
              <a:t>Casos de uso</a:t>
            </a:r>
          </a:p>
        </p:txBody>
      </p:sp>
      <p:cxnSp>
        <p:nvCxnSpPr>
          <p:cNvPr id="75" name="Conector recto 74">
            <a:extLst>
              <a:ext uri="{FF2B5EF4-FFF2-40B4-BE49-F238E27FC236}">
                <a16:creationId xmlns:a16="http://schemas.microsoft.com/office/drawing/2014/main" id="{F888803A-D388-FD3A-ECDD-CCB014F47A33}"/>
              </a:ext>
            </a:extLst>
          </p:cNvPr>
          <p:cNvCxnSpPr/>
          <p:nvPr/>
        </p:nvCxnSpPr>
        <p:spPr>
          <a:xfrm>
            <a:off x="5650134" y="1597590"/>
            <a:ext cx="0" cy="442721"/>
          </a:xfrm>
          <a:prstGeom prst="line">
            <a:avLst/>
          </a:prstGeom>
          <a:ln>
            <a:solidFill>
              <a:srgbClr val="2083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cto 76">
            <a:extLst>
              <a:ext uri="{FF2B5EF4-FFF2-40B4-BE49-F238E27FC236}">
                <a16:creationId xmlns:a16="http://schemas.microsoft.com/office/drawing/2014/main" id="{7EE9EF5B-74C6-2D2A-6ED7-2DF756606FD0}"/>
              </a:ext>
            </a:extLst>
          </p:cNvPr>
          <p:cNvCxnSpPr/>
          <p:nvPr/>
        </p:nvCxnSpPr>
        <p:spPr>
          <a:xfrm>
            <a:off x="7751688" y="1579180"/>
            <a:ext cx="0" cy="442721"/>
          </a:xfrm>
          <a:prstGeom prst="line">
            <a:avLst/>
          </a:prstGeom>
          <a:ln>
            <a:solidFill>
              <a:srgbClr val="2083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ectángulo: esquinas redondeadas 78">
            <a:extLst>
              <a:ext uri="{FF2B5EF4-FFF2-40B4-BE49-F238E27FC236}">
                <a16:creationId xmlns:a16="http://schemas.microsoft.com/office/drawing/2014/main" id="{D103B760-6019-91F2-9041-683A835F9261}"/>
              </a:ext>
            </a:extLst>
          </p:cNvPr>
          <p:cNvSpPr/>
          <p:nvPr/>
        </p:nvSpPr>
        <p:spPr>
          <a:xfrm>
            <a:off x="9728894" y="1464555"/>
            <a:ext cx="1969761" cy="70879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2" name="CuadroTexto 81">
            <a:extLst>
              <a:ext uri="{FF2B5EF4-FFF2-40B4-BE49-F238E27FC236}">
                <a16:creationId xmlns:a16="http://schemas.microsoft.com/office/drawing/2014/main" id="{7AE13750-9F72-197D-F3B8-5202BC04E8E6}"/>
              </a:ext>
            </a:extLst>
          </p:cNvPr>
          <p:cNvSpPr txBox="1"/>
          <p:nvPr/>
        </p:nvSpPr>
        <p:spPr>
          <a:xfrm>
            <a:off x="9824749" y="1553637"/>
            <a:ext cx="2066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b="1" dirty="0">
                <a:solidFill>
                  <a:schemeClr val="accent6">
                    <a:lumMod val="50000"/>
                  </a:schemeClr>
                </a:solidFill>
                <a:latin typeface="Arial Narrow" panose="020B0606020202030204" pitchFamily="34" charset="0"/>
              </a:rPr>
              <a:t>Línea base establecida</a:t>
            </a:r>
          </a:p>
          <a:p>
            <a:r>
              <a:rPr lang="es-CL" sz="1400" b="1" dirty="0">
                <a:solidFill>
                  <a:schemeClr val="accent6">
                    <a:lumMod val="50000"/>
                  </a:schemeClr>
                </a:solidFill>
                <a:latin typeface="Arial Narrow" panose="020B0606020202030204" pitchFamily="34" charset="0"/>
              </a:rPr>
              <a:t>para el inicio de H-03</a:t>
            </a:r>
          </a:p>
        </p:txBody>
      </p:sp>
      <p:pic>
        <p:nvPicPr>
          <p:cNvPr id="84" name="Gráfico 83" descr="Cube con relleno sólido">
            <a:extLst>
              <a:ext uri="{FF2B5EF4-FFF2-40B4-BE49-F238E27FC236}">
                <a16:creationId xmlns:a16="http://schemas.microsoft.com/office/drawing/2014/main" id="{87FAE106-67BD-A0BC-88AE-F33F024637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18502" y="4833586"/>
            <a:ext cx="375214" cy="375214"/>
          </a:xfrm>
          <a:prstGeom prst="rect">
            <a:avLst/>
          </a:prstGeom>
        </p:spPr>
      </p:pic>
      <p:pic>
        <p:nvPicPr>
          <p:cNvPr id="88" name="Gráfico 87" descr="Single gear con relleno sólido">
            <a:extLst>
              <a:ext uri="{FF2B5EF4-FFF2-40B4-BE49-F238E27FC236}">
                <a16:creationId xmlns:a16="http://schemas.microsoft.com/office/drawing/2014/main" id="{9FC8B309-08A2-A161-48D9-5D53CD2CB2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flipH="1">
            <a:off x="407827" y="3330082"/>
            <a:ext cx="410205" cy="410205"/>
          </a:xfrm>
          <a:prstGeom prst="rect">
            <a:avLst/>
          </a:prstGeom>
        </p:spPr>
      </p:pic>
      <p:pic>
        <p:nvPicPr>
          <p:cNvPr id="92" name="Gráfico 91" descr="Clipboard con relleno sólido">
            <a:extLst>
              <a:ext uri="{FF2B5EF4-FFF2-40B4-BE49-F238E27FC236}">
                <a16:creationId xmlns:a16="http://schemas.microsoft.com/office/drawing/2014/main" id="{F87CB29C-61AA-10A6-6567-CAFE89EB2E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14177" y="4252567"/>
            <a:ext cx="375214" cy="375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974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" name="Grupo 118">
            <a:extLst>
              <a:ext uri="{FF2B5EF4-FFF2-40B4-BE49-F238E27FC236}">
                <a16:creationId xmlns:a16="http://schemas.microsoft.com/office/drawing/2014/main" id="{B1B46646-8ADF-D15C-D6E4-7149C0506902}"/>
              </a:ext>
            </a:extLst>
          </p:cNvPr>
          <p:cNvGrpSpPr/>
          <p:nvPr/>
        </p:nvGrpSpPr>
        <p:grpSpPr>
          <a:xfrm>
            <a:off x="3239" y="0"/>
            <a:ext cx="12185522" cy="6858000"/>
            <a:chOff x="3239" y="0"/>
            <a:chExt cx="12185522" cy="6858000"/>
          </a:xfrm>
        </p:grpSpPr>
        <p:pic>
          <p:nvPicPr>
            <p:cNvPr id="120" name="Imagen 119">
              <a:extLst>
                <a:ext uri="{FF2B5EF4-FFF2-40B4-BE49-F238E27FC236}">
                  <a16:creationId xmlns:a16="http://schemas.microsoft.com/office/drawing/2014/main" id="{5F598589-2C09-E73E-38E7-1CAD201A00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39" y="0"/>
              <a:ext cx="12185522" cy="6858000"/>
            </a:xfrm>
            <a:prstGeom prst="rect">
              <a:avLst/>
            </a:prstGeom>
          </p:spPr>
        </p:pic>
        <p:pic>
          <p:nvPicPr>
            <p:cNvPr id="121" name="Imagen 120">
              <a:extLst>
                <a:ext uri="{FF2B5EF4-FFF2-40B4-BE49-F238E27FC236}">
                  <a16:creationId xmlns:a16="http://schemas.microsoft.com/office/drawing/2014/main" id="{B59B0E0C-B700-8B69-011E-7B0D5A22C3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70837" y="217737"/>
              <a:ext cx="1620000" cy="1620000"/>
            </a:xfrm>
            <a:prstGeom prst="rect">
              <a:avLst/>
            </a:prstGeom>
          </p:spPr>
        </p:pic>
      </p:grpSp>
      <p:sp>
        <p:nvSpPr>
          <p:cNvPr id="130" name="Flecha: pentágono 129">
            <a:extLst>
              <a:ext uri="{FF2B5EF4-FFF2-40B4-BE49-F238E27FC236}">
                <a16:creationId xmlns:a16="http://schemas.microsoft.com/office/drawing/2014/main" id="{020E8446-5365-E638-B2FC-3B804F16A3C2}"/>
              </a:ext>
            </a:extLst>
          </p:cNvPr>
          <p:cNvSpPr/>
          <p:nvPr/>
        </p:nvSpPr>
        <p:spPr>
          <a:xfrm>
            <a:off x="330418" y="5903924"/>
            <a:ext cx="11623573" cy="474549"/>
          </a:xfrm>
          <a:prstGeom prst="homePlate">
            <a:avLst>
              <a:gd name="adj" fmla="val 3655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04" name="Rectángulo: esquinas redondeadas 103">
            <a:extLst>
              <a:ext uri="{FF2B5EF4-FFF2-40B4-BE49-F238E27FC236}">
                <a16:creationId xmlns:a16="http://schemas.microsoft.com/office/drawing/2014/main" id="{2B8295B2-F019-8CCD-6AE4-B291DF3F1A53}"/>
              </a:ext>
            </a:extLst>
          </p:cNvPr>
          <p:cNvSpPr/>
          <p:nvPr/>
        </p:nvSpPr>
        <p:spPr>
          <a:xfrm>
            <a:off x="9073584" y="900673"/>
            <a:ext cx="2876170" cy="4922045"/>
          </a:xfrm>
          <a:prstGeom prst="roundRect">
            <a:avLst>
              <a:gd name="adj" fmla="val 877"/>
            </a:avLst>
          </a:prstGeom>
          <a:solidFill>
            <a:srgbClr val="FBFDFF"/>
          </a:solidFill>
          <a:ln w="15875">
            <a:solidFill>
              <a:srgbClr val="BAE2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3" name="Rectángulo: esquinas redondeadas 82">
            <a:extLst>
              <a:ext uri="{FF2B5EF4-FFF2-40B4-BE49-F238E27FC236}">
                <a16:creationId xmlns:a16="http://schemas.microsoft.com/office/drawing/2014/main" id="{80EB9481-ACD9-B7FF-28CE-F2D8333139C3}"/>
              </a:ext>
            </a:extLst>
          </p:cNvPr>
          <p:cNvSpPr/>
          <p:nvPr/>
        </p:nvSpPr>
        <p:spPr>
          <a:xfrm>
            <a:off x="6115854" y="910261"/>
            <a:ext cx="2876170" cy="4922045"/>
          </a:xfrm>
          <a:prstGeom prst="roundRect">
            <a:avLst>
              <a:gd name="adj" fmla="val 877"/>
            </a:avLst>
          </a:prstGeom>
          <a:solidFill>
            <a:srgbClr val="FBFDFF"/>
          </a:solidFill>
          <a:ln w="15875">
            <a:solidFill>
              <a:srgbClr val="BAE2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4" name="Rectángulo: esquinas redondeadas 63">
            <a:extLst>
              <a:ext uri="{FF2B5EF4-FFF2-40B4-BE49-F238E27FC236}">
                <a16:creationId xmlns:a16="http://schemas.microsoft.com/office/drawing/2014/main" id="{F50E57D7-E525-20F5-A9F7-C0C32361E6FB}"/>
              </a:ext>
            </a:extLst>
          </p:cNvPr>
          <p:cNvSpPr/>
          <p:nvPr/>
        </p:nvSpPr>
        <p:spPr>
          <a:xfrm>
            <a:off x="3204746" y="910261"/>
            <a:ext cx="2876170" cy="4922045"/>
          </a:xfrm>
          <a:prstGeom prst="roundRect">
            <a:avLst>
              <a:gd name="adj" fmla="val 877"/>
            </a:avLst>
          </a:prstGeom>
          <a:solidFill>
            <a:srgbClr val="FBFDFF"/>
          </a:solidFill>
          <a:ln w="15875">
            <a:solidFill>
              <a:srgbClr val="BAE2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0" name="Rectángulo: esquinas redondeadas 59">
            <a:extLst>
              <a:ext uri="{FF2B5EF4-FFF2-40B4-BE49-F238E27FC236}">
                <a16:creationId xmlns:a16="http://schemas.microsoft.com/office/drawing/2014/main" id="{4EE3F558-2112-65C6-9B69-01AFD9EA3380}"/>
              </a:ext>
            </a:extLst>
          </p:cNvPr>
          <p:cNvSpPr/>
          <p:nvPr/>
        </p:nvSpPr>
        <p:spPr>
          <a:xfrm>
            <a:off x="293726" y="910261"/>
            <a:ext cx="2876170" cy="4922045"/>
          </a:xfrm>
          <a:prstGeom prst="roundRect">
            <a:avLst>
              <a:gd name="adj" fmla="val 877"/>
            </a:avLst>
          </a:prstGeom>
          <a:solidFill>
            <a:srgbClr val="FBFDFF"/>
          </a:solidFill>
          <a:ln w="15875">
            <a:solidFill>
              <a:srgbClr val="BAE2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FDEFF2B0-1374-FF17-1081-139D56BF74B9}"/>
              </a:ext>
            </a:extLst>
          </p:cNvPr>
          <p:cNvSpPr/>
          <p:nvPr/>
        </p:nvSpPr>
        <p:spPr>
          <a:xfrm>
            <a:off x="293726" y="925793"/>
            <a:ext cx="2880397" cy="485221"/>
          </a:xfrm>
          <a:prstGeom prst="roundRect">
            <a:avLst>
              <a:gd name="adj" fmla="val 10710"/>
            </a:avLst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48000" rtlCol="0" anchor="ctr"/>
          <a:lstStyle/>
          <a:p>
            <a:r>
              <a:rPr lang="es-CL" sz="1400" b="1" dirty="0">
                <a:latin typeface="Arial Narrow" panose="020B0606020202030204" pitchFamily="34" charset="0"/>
              </a:rPr>
              <a:t>ARQUITECTURA 4+1</a:t>
            </a:r>
          </a:p>
          <a:p>
            <a:r>
              <a:rPr lang="es-CL" sz="1100" dirty="0">
                <a:latin typeface="Arial Narrow" panose="020B0606020202030204" pitchFamily="34" charset="0"/>
              </a:rPr>
              <a:t>Vista general de la solución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C1A1AA0-3B8C-FAF5-2ED0-EFEE9E359836}"/>
              </a:ext>
            </a:extLst>
          </p:cNvPr>
          <p:cNvSpPr txBox="1"/>
          <p:nvPr/>
        </p:nvSpPr>
        <p:spPr>
          <a:xfrm>
            <a:off x="293727" y="56719"/>
            <a:ext cx="58937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200" b="1" dirty="0">
                <a:solidFill>
                  <a:srgbClr val="002060"/>
                </a:solidFill>
                <a:latin typeface="Abadi" panose="020B0604020104020204" pitchFamily="34" charset="0"/>
              </a:rPr>
              <a:t>Entregables del Proyecto GATI</a:t>
            </a:r>
          </a:p>
        </p:txBody>
      </p:sp>
      <p:grpSp>
        <p:nvGrpSpPr>
          <p:cNvPr id="24" name="Grupo 23">
            <a:extLst>
              <a:ext uri="{FF2B5EF4-FFF2-40B4-BE49-F238E27FC236}">
                <a16:creationId xmlns:a16="http://schemas.microsoft.com/office/drawing/2014/main" id="{E3A31E54-F359-F985-8303-F51B89BEED35}"/>
              </a:ext>
            </a:extLst>
          </p:cNvPr>
          <p:cNvGrpSpPr/>
          <p:nvPr/>
        </p:nvGrpSpPr>
        <p:grpSpPr>
          <a:xfrm>
            <a:off x="465240" y="930607"/>
            <a:ext cx="396000" cy="413189"/>
            <a:chOff x="465240" y="930607"/>
            <a:chExt cx="396000" cy="413189"/>
          </a:xfrm>
          <a:solidFill>
            <a:schemeClr val="bg1"/>
          </a:solidFill>
        </p:grpSpPr>
        <p:pic>
          <p:nvPicPr>
            <p:cNvPr id="18" name="Gráfico 17" descr="Layers Design con relleno sólido">
              <a:extLst>
                <a:ext uri="{FF2B5EF4-FFF2-40B4-BE49-F238E27FC236}">
                  <a16:creationId xmlns:a16="http://schemas.microsoft.com/office/drawing/2014/main" id="{580354F8-B56F-0F6C-B34B-F6863C951B3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65240" y="930607"/>
              <a:ext cx="396000" cy="396000"/>
            </a:xfrm>
            <a:prstGeom prst="rect">
              <a:avLst/>
            </a:prstGeom>
          </p:spPr>
        </p:pic>
        <p:sp>
          <p:nvSpPr>
            <p:cNvPr id="22" name="Forma libre: forma 21">
              <a:extLst>
                <a:ext uri="{FF2B5EF4-FFF2-40B4-BE49-F238E27FC236}">
                  <a16:creationId xmlns:a16="http://schemas.microsoft.com/office/drawing/2014/main" id="{C47D7CE8-1BB9-FBC4-53E6-BFB9050E5624}"/>
                </a:ext>
              </a:extLst>
            </p:cNvPr>
            <p:cNvSpPr/>
            <p:nvPr/>
          </p:nvSpPr>
          <p:spPr>
            <a:xfrm>
              <a:off x="473647" y="1229010"/>
              <a:ext cx="379186" cy="114786"/>
            </a:xfrm>
            <a:custGeom>
              <a:avLst/>
              <a:gdLst>
                <a:gd name="csX0" fmla="*/ 189593 w 379186"/>
                <a:gd name="csY0" fmla="*/ 46085 h 114786"/>
                <a:gd name="csX1" fmla="*/ 80966 w 379186"/>
                <a:gd name="csY1" fmla="*/ 0 h 114786"/>
                <a:gd name="csX2" fmla="*/ 0 w 379186"/>
                <a:gd name="csY2" fmla="*/ 34349 h 114786"/>
                <a:gd name="csX3" fmla="*/ 189593 w 379186"/>
                <a:gd name="csY3" fmla="*/ 114786 h 114786"/>
                <a:gd name="csX4" fmla="*/ 379187 w 379186"/>
                <a:gd name="csY4" fmla="*/ 34349 h 114786"/>
                <a:gd name="csX5" fmla="*/ 298221 w 379186"/>
                <a:gd name="csY5" fmla="*/ 0 h 114786"/>
                <a:gd name="csX6" fmla="*/ 189593 w 379186"/>
                <a:gd name="csY6" fmla="*/ 46085 h 1147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79186" h="114786">
                  <a:moveTo>
                    <a:pt x="189593" y="46085"/>
                  </a:moveTo>
                  <a:lnTo>
                    <a:pt x="80966" y="0"/>
                  </a:lnTo>
                  <a:lnTo>
                    <a:pt x="0" y="34349"/>
                  </a:lnTo>
                  <a:lnTo>
                    <a:pt x="189593" y="114786"/>
                  </a:lnTo>
                  <a:lnTo>
                    <a:pt x="379187" y="34349"/>
                  </a:lnTo>
                  <a:lnTo>
                    <a:pt x="298221" y="0"/>
                  </a:lnTo>
                  <a:lnTo>
                    <a:pt x="189593" y="46085"/>
                  </a:lnTo>
                  <a:close/>
                </a:path>
              </a:pathLst>
            </a:custGeom>
            <a:grpFill/>
            <a:ln w="4068" cap="flat">
              <a:noFill/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pic>
        <p:nvPicPr>
          <p:cNvPr id="27" name="Imagen 26">
            <a:hlinkClick r:id="rId5" action="ppaction://hlinksldjump"/>
            <a:extLst>
              <a:ext uri="{FF2B5EF4-FFF2-40B4-BE49-F238E27FC236}">
                <a16:creationId xmlns:a16="http://schemas.microsoft.com/office/drawing/2014/main" id="{B9ABC23D-7A6F-F238-3C8D-73B17EC5963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31" b="3194"/>
          <a:stretch>
            <a:fillRect/>
          </a:stretch>
        </p:blipFill>
        <p:spPr>
          <a:xfrm>
            <a:off x="293726" y="1461180"/>
            <a:ext cx="2832753" cy="2745059"/>
          </a:xfrm>
          <a:prstGeom prst="rect">
            <a:avLst/>
          </a:prstGeom>
        </p:spPr>
      </p:pic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4DD94378-31C9-E8FD-8CDA-26C45314D6D5}"/>
              </a:ext>
            </a:extLst>
          </p:cNvPr>
          <p:cNvSpPr/>
          <p:nvPr/>
        </p:nvSpPr>
        <p:spPr>
          <a:xfrm>
            <a:off x="341369" y="4206239"/>
            <a:ext cx="2785110" cy="289560"/>
          </a:xfrm>
          <a:prstGeom prst="roundRect">
            <a:avLst>
              <a:gd name="adj" fmla="val 33772"/>
            </a:avLst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chemeClr val="accent6">
                  <a:lumMod val="45000"/>
                  <a:lumOff val="55000"/>
                </a:schemeClr>
              </a:gs>
              <a:gs pos="100000">
                <a:schemeClr val="accent6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200" b="1" dirty="0">
                <a:solidFill>
                  <a:schemeClr val="tx1"/>
                </a:solidFill>
                <a:latin typeface="Arial Narrow" panose="020B0606020202030204" pitchFamily="34" charset="0"/>
              </a:rPr>
              <a:t>Estado: Consolidado</a:t>
            </a:r>
          </a:p>
        </p:txBody>
      </p:sp>
      <p:grpSp>
        <p:nvGrpSpPr>
          <p:cNvPr id="29" name="Grupo 28">
            <a:extLst>
              <a:ext uri="{FF2B5EF4-FFF2-40B4-BE49-F238E27FC236}">
                <a16:creationId xmlns:a16="http://schemas.microsoft.com/office/drawing/2014/main" id="{CA3A7417-AC8F-CD1F-8784-FA6FA45B0C6E}"/>
              </a:ext>
            </a:extLst>
          </p:cNvPr>
          <p:cNvGrpSpPr>
            <a:grpSpLocks noChangeAspect="1"/>
          </p:cNvGrpSpPr>
          <p:nvPr/>
        </p:nvGrpSpPr>
        <p:grpSpPr>
          <a:xfrm>
            <a:off x="465240" y="4231422"/>
            <a:ext cx="239193" cy="239193"/>
            <a:chOff x="12523067" y="1747010"/>
            <a:chExt cx="448800" cy="448800"/>
          </a:xfrm>
        </p:grpSpPr>
        <p:sp>
          <p:nvSpPr>
            <p:cNvPr id="30" name="Diagrama de flujo: conector 29">
              <a:extLst>
                <a:ext uri="{FF2B5EF4-FFF2-40B4-BE49-F238E27FC236}">
                  <a16:creationId xmlns:a16="http://schemas.microsoft.com/office/drawing/2014/main" id="{23FDC701-938D-B9BA-56AA-8126732EB99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523067" y="1747010"/>
              <a:ext cx="448800" cy="448800"/>
            </a:xfrm>
            <a:prstGeom prst="flowChartConnector">
              <a:avLst/>
            </a:prstGeom>
            <a:gradFill flip="none" rotWithShape="1">
              <a:gsLst>
                <a:gs pos="0">
                  <a:schemeClr val="accent3">
                    <a:lumMod val="67000"/>
                  </a:schemeClr>
                </a:gs>
                <a:gs pos="48000">
                  <a:schemeClr val="accent3">
                    <a:lumMod val="97000"/>
                    <a:lumOff val="3000"/>
                  </a:schemeClr>
                </a:gs>
                <a:gs pos="100000">
                  <a:schemeClr val="accent3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pic>
          <p:nvPicPr>
            <p:cNvPr id="31" name="Gráfico 30" descr="Checkmark con relleno sólido">
              <a:extLst>
                <a:ext uri="{FF2B5EF4-FFF2-40B4-BE49-F238E27FC236}">
                  <a16:creationId xmlns:a16="http://schemas.microsoft.com/office/drawing/2014/main" id="{4E4AE09A-F23B-EE8A-DFEF-6201B3BF55D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2631333" y="1865198"/>
              <a:ext cx="232269" cy="232269"/>
            </a:xfrm>
            <a:prstGeom prst="rect">
              <a:avLst/>
            </a:prstGeom>
          </p:spPr>
        </p:pic>
      </p:grp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9C361691-2656-470C-CC89-5C0520C58BFA}"/>
              </a:ext>
            </a:extLst>
          </p:cNvPr>
          <p:cNvSpPr/>
          <p:nvPr/>
        </p:nvSpPr>
        <p:spPr>
          <a:xfrm>
            <a:off x="341369" y="4520982"/>
            <a:ext cx="2785110" cy="66823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0433A948-D5E2-BF23-241B-40169FBA2C68}"/>
              </a:ext>
            </a:extLst>
          </p:cNvPr>
          <p:cNvSpPr txBox="1"/>
          <p:nvPr/>
        </p:nvSpPr>
        <p:spPr>
          <a:xfrm>
            <a:off x="341369" y="4460670"/>
            <a:ext cx="26212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100" dirty="0">
                <a:latin typeface="Arial Narrow" panose="020B0606020202030204" pitchFamily="34" charset="0"/>
              </a:rPr>
              <a:t>Arquitectura 4+1 definida y documentada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100" dirty="0">
                <a:latin typeface="Arial Narrow" panose="020B0606020202030204" pitchFamily="34" charset="0"/>
              </a:rPr>
              <a:t>Vistas (Lógica, Procesos, Desarrollo, Física </a:t>
            </a:r>
          </a:p>
          <a:p>
            <a:r>
              <a:rPr lang="es-CL" sz="1100" dirty="0">
                <a:latin typeface="Arial Narrow" panose="020B0606020202030204" pitchFamily="34" charset="0"/>
              </a:rPr>
              <a:t>     y Escenarios)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100" dirty="0">
                <a:latin typeface="Arial Narrow" panose="020B0606020202030204" pitchFamily="34" charset="0"/>
              </a:rPr>
              <a:t>Validada por equipo y patrocinador.</a:t>
            </a:r>
          </a:p>
        </p:txBody>
      </p:sp>
      <p:sp>
        <p:nvSpPr>
          <p:cNvPr id="35" name="Rectángulo: esquinas redondeadas 34">
            <a:extLst>
              <a:ext uri="{FF2B5EF4-FFF2-40B4-BE49-F238E27FC236}">
                <a16:creationId xmlns:a16="http://schemas.microsoft.com/office/drawing/2014/main" id="{2642C760-BB87-D9A9-2CA6-64D0EE9876B8}"/>
              </a:ext>
            </a:extLst>
          </p:cNvPr>
          <p:cNvSpPr/>
          <p:nvPr/>
        </p:nvSpPr>
        <p:spPr>
          <a:xfrm>
            <a:off x="341369" y="5230111"/>
            <a:ext cx="2785110" cy="530609"/>
          </a:xfrm>
          <a:prstGeom prst="round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r>
              <a:rPr lang="es-CL" sz="1050" b="1" dirty="0">
                <a:solidFill>
                  <a:srgbClr val="002060"/>
                </a:solidFill>
                <a:latin typeface="Arial Narrow" panose="020B0606020202030204" pitchFamily="34" charset="0"/>
              </a:rPr>
              <a:t>Resultado:</a:t>
            </a:r>
            <a:br>
              <a:rPr lang="es-CL" sz="1050" dirty="0">
                <a:latin typeface="Arial Narrow" panose="020B0606020202030204" pitchFamily="34" charset="0"/>
              </a:rPr>
            </a:br>
            <a:r>
              <a:rPr lang="es-CL" sz="1050" dirty="0">
                <a:solidFill>
                  <a:srgbClr val="002060"/>
                </a:solidFill>
                <a:latin typeface="Arial Narrow" panose="020B0606020202030204" pitchFamily="34" charset="0"/>
              </a:rPr>
              <a:t>Arquitectura aprobada como base técnica para el inicio de H-03 Desarrollo.</a:t>
            </a:r>
          </a:p>
        </p:txBody>
      </p:sp>
      <p:pic>
        <p:nvPicPr>
          <p:cNvPr id="38" name="Gráfico 37" descr="Bullseye con relleno sólido">
            <a:extLst>
              <a:ext uri="{FF2B5EF4-FFF2-40B4-BE49-F238E27FC236}">
                <a16:creationId xmlns:a16="http://schemas.microsoft.com/office/drawing/2014/main" id="{4FA39AA2-2E5C-E1A8-02BE-0CF9A7338E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6836" y="5271002"/>
            <a:ext cx="396000" cy="396000"/>
          </a:xfrm>
          <a:prstGeom prst="rect">
            <a:avLst/>
          </a:prstGeom>
        </p:spPr>
      </p:pic>
      <p:sp>
        <p:nvSpPr>
          <p:cNvPr id="39" name="Flecha: pentágono 38">
            <a:extLst>
              <a:ext uri="{FF2B5EF4-FFF2-40B4-BE49-F238E27FC236}">
                <a16:creationId xmlns:a16="http://schemas.microsoft.com/office/drawing/2014/main" id="{4052C5D5-A728-6C00-9472-D69F6E1F6ACA}"/>
              </a:ext>
            </a:extLst>
          </p:cNvPr>
          <p:cNvSpPr/>
          <p:nvPr/>
        </p:nvSpPr>
        <p:spPr>
          <a:xfrm>
            <a:off x="341369" y="5915849"/>
            <a:ext cx="2354224" cy="451310"/>
          </a:xfrm>
          <a:prstGeom prst="homePlate">
            <a:avLst>
              <a:gd name="adj" fmla="val 35644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r>
              <a:rPr lang="es-CL" sz="900" b="1" dirty="0">
                <a:latin typeface="Arial Narrow" panose="020B0606020202030204" pitchFamily="34" charset="0"/>
              </a:rPr>
              <a:t>H-01</a:t>
            </a:r>
          </a:p>
          <a:p>
            <a:r>
              <a:rPr lang="es-CL" sz="900" b="1" dirty="0">
                <a:latin typeface="Arial Narrow" panose="020B0606020202030204" pitchFamily="34" charset="0"/>
              </a:rPr>
              <a:t>Inicio y Planificación</a:t>
            </a:r>
          </a:p>
          <a:p>
            <a:r>
              <a:rPr lang="es-CL" sz="900" b="1" dirty="0">
                <a:latin typeface="Arial Narrow" panose="020B0606020202030204" pitchFamily="34" charset="0"/>
              </a:rPr>
              <a:t>(10-08 al 04-09)</a:t>
            </a:r>
          </a:p>
        </p:txBody>
      </p:sp>
      <p:grpSp>
        <p:nvGrpSpPr>
          <p:cNvPr id="40" name="Grupo 39">
            <a:extLst>
              <a:ext uri="{FF2B5EF4-FFF2-40B4-BE49-F238E27FC236}">
                <a16:creationId xmlns:a16="http://schemas.microsoft.com/office/drawing/2014/main" id="{51DA18B3-B8AD-B8B5-6993-A0D4AA862A53}"/>
              </a:ext>
            </a:extLst>
          </p:cNvPr>
          <p:cNvGrpSpPr>
            <a:grpSpLocks noChangeAspect="1"/>
          </p:cNvGrpSpPr>
          <p:nvPr/>
        </p:nvGrpSpPr>
        <p:grpSpPr>
          <a:xfrm>
            <a:off x="434479" y="6021907"/>
            <a:ext cx="239193" cy="239193"/>
            <a:chOff x="12523067" y="1747010"/>
            <a:chExt cx="448800" cy="448800"/>
          </a:xfrm>
        </p:grpSpPr>
        <p:sp>
          <p:nvSpPr>
            <p:cNvPr id="41" name="Diagrama de flujo: conector 40">
              <a:extLst>
                <a:ext uri="{FF2B5EF4-FFF2-40B4-BE49-F238E27FC236}">
                  <a16:creationId xmlns:a16="http://schemas.microsoft.com/office/drawing/2014/main" id="{98AD30EB-B3C8-01A9-412D-C7673AA056B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523067" y="1747010"/>
              <a:ext cx="448800" cy="448800"/>
            </a:xfrm>
            <a:prstGeom prst="flowChartConnector">
              <a:avLst/>
            </a:prstGeom>
            <a:gradFill flip="none" rotWithShape="1">
              <a:gsLst>
                <a:gs pos="0">
                  <a:schemeClr val="accent3">
                    <a:lumMod val="67000"/>
                  </a:schemeClr>
                </a:gs>
                <a:gs pos="48000">
                  <a:schemeClr val="accent3">
                    <a:lumMod val="97000"/>
                    <a:lumOff val="3000"/>
                  </a:schemeClr>
                </a:gs>
                <a:gs pos="100000">
                  <a:schemeClr val="accent3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pic>
          <p:nvPicPr>
            <p:cNvPr id="42" name="Gráfico 41" descr="Checkmark con relleno sólido">
              <a:extLst>
                <a:ext uri="{FF2B5EF4-FFF2-40B4-BE49-F238E27FC236}">
                  <a16:creationId xmlns:a16="http://schemas.microsoft.com/office/drawing/2014/main" id="{777B1988-2C8E-FE99-34FD-07E8F9CB791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2631333" y="1865198"/>
              <a:ext cx="232269" cy="232269"/>
            </a:xfrm>
            <a:prstGeom prst="rect">
              <a:avLst/>
            </a:prstGeom>
          </p:spPr>
        </p:pic>
      </p:grpSp>
      <p:sp>
        <p:nvSpPr>
          <p:cNvPr id="43" name="Flecha: cheurón 42">
            <a:extLst>
              <a:ext uri="{FF2B5EF4-FFF2-40B4-BE49-F238E27FC236}">
                <a16:creationId xmlns:a16="http://schemas.microsoft.com/office/drawing/2014/main" id="{8F4D2019-B65D-C393-1425-1BF2D7D09BEA}"/>
              </a:ext>
            </a:extLst>
          </p:cNvPr>
          <p:cNvSpPr/>
          <p:nvPr/>
        </p:nvSpPr>
        <p:spPr>
          <a:xfrm>
            <a:off x="2586011" y="5915849"/>
            <a:ext cx="2635612" cy="447822"/>
          </a:xfrm>
          <a:prstGeom prst="chevron">
            <a:avLst>
              <a:gd name="adj" fmla="val 36387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48000" rtlCol="0" anchor="ctr"/>
          <a:lstStyle/>
          <a:p>
            <a:r>
              <a:rPr lang="es-CL" sz="900" b="1" dirty="0">
                <a:latin typeface="Arial Narrow" panose="020B0606020202030204" pitchFamily="34" charset="0"/>
              </a:rPr>
              <a:t>H-02</a:t>
            </a:r>
          </a:p>
          <a:p>
            <a:r>
              <a:rPr lang="es-CL" sz="900" b="1" dirty="0">
                <a:latin typeface="Arial Narrow" panose="020B0606020202030204" pitchFamily="34" charset="0"/>
              </a:rPr>
              <a:t>Diseño y Arquitectura</a:t>
            </a:r>
            <a:br>
              <a:rPr lang="es-CL" sz="900" b="1" dirty="0">
                <a:latin typeface="Arial Narrow" panose="020B0606020202030204" pitchFamily="34" charset="0"/>
              </a:rPr>
            </a:br>
            <a:r>
              <a:rPr lang="es-CL" sz="900" b="1" dirty="0">
                <a:latin typeface="Arial Narrow" panose="020B0606020202030204" pitchFamily="34" charset="0"/>
              </a:rPr>
              <a:t>(07-09 al 25-09)</a:t>
            </a:r>
          </a:p>
        </p:txBody>
      </p:sp>
      <p:grpSp>
        <p:nvGrpSpPr>
          <p:cNvPr id="44" name="Grupo 43">
            <a:extLst>
              <a:ext uri="{FF2B5EF4-FFF2-40B4-BE49-F238E27FC236}">
                <a16:creationId xmlns:a16="http://schemas.microsoft.com/office/drawing/2014/main" id="{435AB7AA-F473-D6F9-ED4C-217D28E8891B}"/>
              </a:ext>
            </a:extLst>
          </p:cNvPr>
          <p:cNvGrpSpPr>
            <a:grpSpLocks noChangeAspect="1"/>
          </p:cNvGrpSpPr>
          <p:nvPr/>
        </p:nvGrpSpPr>
        <p:grpSpPr>
          <a:xfrm>
            <a:off x="2978346" y="6020163"/>
            <a:ext cx="239193" cy="239193"/>
            <a:chOff x="12523067" y="1747010"/>
            <a:chExt cx="448800" cy="448800"/>
          </a:xfrm>
        </p:grpSpPr>
        <p:sp>
          <p:nvSpPr>
            <p:cNvPr id="45" name="Diagrama de flujo: conector 44">
              <a:extLst>
                <a:ext uri="{FF2B5EF4-FFF2-40B4-BE49-F238E27FC236}">
                  <a16:creationId xmlns:a16="http://schemas.microsoft.com/office/drawing/2014/main" id="{E77FAD75-BA83-70EC-33AC-293B2D7AAF5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523067" y="1747010"/>
              <a:ext cx="448800" cy="448800"/>
            </a:xfrm>
            <a:prstGeom prst="flowChartConnector">
              <a:avLst/>
            </a:prstGeom>
            <a:gradFill flip="none" rotWithShape="1">
              <a:gsLst>
                <a:gs pos="0">
                  <a:schemeClr val="accent3">
                    <a:lumMod val="67000"/>
                  </a:schemeClr>
                </a:gs>
                <a:gs pos="48000">
                  <a:schemeClr val="accent3">
                    <a:lumMod val="97000"/>
                    <a:lumOff val="3000"/>
                  </a:schemeClr>
                </a:gs>
                <a:gs pos="100000">
                  <a:schemeClr val="accent3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pic>
          <p:nvPicPr>
            <p:cNvPr id="46" name="Gráfico 45" descr="Checkmark con relleno sólido">
              <a:extLst>
                <a:ext uri="{FF2B5EF4-FFF2-40B4-BE49-F238E27FC236}">
                  <a16:creationId xmlns:a16="http://schemas.microsoft.com/office/drawing/2014/main" id="{60E23352-1508-6B58-9AF4-96C7E42EF0C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2631333" y="1865198"/>
              <a:ext cx="232269" cy="232269"/>
            </a:xfrm>
            <a:prstGeom prst="rect">
              <a:avLst/>
            </a:prstGeom>
          </p:spPr>
        </p:pic>
      </p:grpSp>
      <p:sp>
        <p:nvSpPr>
          <p:cNvPr id="48" name="Flecha: cheurón 47">
            <a:extLst>
              <a:ext uri="{FF2B5EF4-FFF2-40B4-BE49-F238E27FC236}">
                <a16:creationId xmlns:a16="http://schemas.microsoft.com/office/drawing/2014/main" id="{02075571-2092-157D-5FA0-582404F345A8}"/>
              </a:ext>
            </a:extLst>
          </p:cNvPr>
          <p:cNvSpPr/>
          <p:nvPr/>
        </p:nvSpPr>
        <p:spPr>
          <a:xfrm>
            <a:off x="5105257" y="5915849"/>
            <a:ext cx="2361008" cy="447822"/>
          </a:xfrm>
          <a:prstGeom prst="chevron">
            <a:avLst>
              <a:gd name="adj" fmla="val 36387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48000" rtlCol="0" anchor="ctr"/>
          <a:lstStyle/>
          <a:p>
            <a:r>
              <a:rPr lang="es-CL" sz="900" b="1" dirty="0">
                <a:latin typeface="Arial Narrow" panose="020B0606020202030204" pitchFamily="34" charset="0"/>
              </a:rPr>
              <a:t>H-03</a:t>
            </a:r>
          </a:p>
          <a:p>
            <a:r>
              <a:rPr lang="es-CL" sz="900" b="1" dirty="0">
                <a:latin typeface="Arial Narrow" panose="020B0606020202030204" pitchFamily="34" charset="0"/>
              </a:rPr>
              <a:t>Desarrollo</a:t>
            </a:r>
          </a:p>
          <a:p>
            <a:r>
              <a:rPr lang="es-CL" sz="900" b="1" dirty="0">
                <a:latin typeface="Arial Narrow" panose="020B0606020202030204" pitchFamily="34" charset="0"/>
              </a:rPr>
              <a:t>(02-10 al 06-11)</a:t>
            </a:r>
          </a:p>
        </p:txBody>
      </p:sp>
      <p:sp>
        <p:nvSpPr>
          <p:cNvPr id="50" name="Flecha: cheurón 49">
            <a:extLst>
              <a:ext uri="{FF2B5EF4-FFF2-40B4-BE49-F238E27FC236}">
                <a16:creationId xmlns:a16="http://schemas.microsoft.com/office/drawing/2014/main" id="{C8742063-A48A-CCE5-F122-8DB04F4FC424}"/>
              </a:ext>
            </a:extLst>
          </p:cNvPr>
          <p:cNvSpPr/>
          <p:nvPr/>
        </p:nvSpPr>
        <p:spPr>
          <a:xfrm>
            <a:off x="7340267" y="5915848"/>
            <a:ext cx="2361008" cy="447822"/>
          </a:xfrm>
          <a:prstGeom prst="chevron">
            <a:avLst>
              <a:gd name="adj" fmla="val 3638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48000" rtlCol="0" anchor="ctr"/>
          <a:lstStyle/>
          <a:p>
            <a:r>
              <a:rPr lang="es-CL" sz="900" b="1" dirty="0">
                <a:latin typeface="Arial Narrow" panose="020B0606020202030204" pitchFamily="34" charset="0"/>
              </a:rPr>
              <a:t>H-04</a:t>
            </a:r>
          </a:p>
          <a:p>
            <a:r>
              <a:rPr lang="es-CL" sz="900" b="1" dirty="0">
                <a:latin typeface="Arial Narrow" panose="020B0606020202030204" pitchFamily="34" charset="0"/>
              </a:rPr>
              <a:t>Pruebas y Transición</a:t>
            </a:r>
          </a:p>
          <a:p>
            <a:r>
              <a:rPr lang="es-CL" sz="900" b="1" dirty="0">
                <a:latin typeface="Arial Narrow" panose="020B0606020202030204" pitchFamily="34" charset="0"/>
              </a:rPr>
              <a:t>(13-11 al 20-11)</a:t>
            </a:r>
          </a:p>
        </p:txBody>
      </p:sp>
      <p:sp>
        <p:nvSpPr>
          <p:cNvPr id="52" name="Flecha: cheurón 51">
            <a:extLst>
              <a:ext uri="{FF2B5EF4-FFF2-40B4-BE49-F238E27FC236}">
                <a16:creationId xmlns:a16="http://schemas.microsoft.com/office/drawing/2014/main" id="{9B1882FC-2D81-32FB-6481-116DCE831E8A}"/>
              </a:ext>
            </a:extLst>
          </p:cNvPr>
          <p:cNvSpPr/>
          <p:nvPr/>
        </p:nvSpPr>
        <p:spPr>
          <a:xfrm>
            <a:off x="9575277" y="5915847"/>
            <a:ext cx="2361008" cy="447822"/>
          </a:xfrm>
          <a:prstGeom prst="chevron">
            <a:avLst>
              <a:gd name="adj" fmla="val 36387"/>
            </a:avLst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48000" rtlCol="0" anchor="ctr"/>
          <a:lstStyle/>
          <a:p>
            <a:r>
              <a:rPr lang="es-CL" sz="900" b="1" dirty="0">
                <a:latin typeface="Arial Narrow" panose="020B0606020202030204" pitchFamily="34" charset="0"/>
              </a:rPr>
              <a:t>H-05</a:t>
            </a:r>
          </a:p>
          <a:p>
            <a:r>
              <a:rPr lang="es-CL" sz="900" b="1" dirty="0">
                <a:latin typeface="Arial Narrow" panose="020B0606020202030204" pitchFamily="34" charset="0"/>
              </a:rPr>
              <a:t>Cierre del Proyecto</a:t>
            </a:r>
          </a:p>
          <a:p>
            <a:r>
              <a:rPr lang="es-CL" sz="900" b="1" dirty="0">
                <a:latin typeface="Arial Narrow" panose="020B0606020202030204" pitchFamily="34" charset="0"/>
              </a:rPr>
              <a:t>(27-11)</a:t>
            </a:r>
          </a:p>
        </p:txBody>
      </p:sp>
      <p:pic>
        <p:nvPicPr>
          <p:cNvPr id="55" name="Gráfico 54" descr="Single gear con relleno sólido">
            <a:extLst>
              <a:ext uri="{FF2B5EF4-FFF2-40B4-BE49-F238E27FC236}">
                <a16:creationId xmlns:a16="http://schemas.microsoft.com/office/drawing/2014/main" id="{ACBFB6E1-692E-6EA1-9AAA-11C48A7851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flipH="1">
            <a:off x="5311124" y="5934655"/>
            <a:ext cx="410205" cy="410205"/>
          </a:xfrm>
          <a:prstGeom prst="rect">
            <a:avLst/>
          </a:prstGeom>
        </p:spPr>
      </p:pic>
      <p:pic>
        <p:nvPicPr>
          <p:cNvPr id="57" name="Gráfico 56" descr="Clipboard con relleno sólido">
            <a:extLst>
              <a:ext uri="{FF2B5EF4-FFF2-40B4-BE49-F238E27FC236}">
                <a16:creationId xmlns:a16="http://schemas.microsoft.com/office/drawing/2014/main" id="{95C765AA-A5DD-0C00-1638-EE1B4CBBAB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530142" y="5977406"/>
            <a:ext cx="332071" cy="324701"/>
          </a:xfrm>
          <a:prstGeom prst="rect">
            <a:avLst/>
          </a:prstGeom>
        </p:spPr>
      </p:pic>
      <p:pic>
        <p:nvPicPr>
          <p:cNvPr id="59" name="Gráfico 58" descr="Cube con relleno sólido">
            <a:extLst>
              <a:ext uri="{FF2B5EF4-FFF2-40B4-BE49-F238E27FC236}">
                <a16:creationId xmlns:a16="http://schemas.microsoft.com/office/drawing/2014/main" id="{8235B8BC-F575-8FDB-D70E-CDB2E6C546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765152" y="5959185"/>
            <a:ext cx="375214" cy="375214"/>
          </a:xfrm>
          <a:prstGeom prst="rect">
            <a:avLst/>
          </a:prstGeom>
        </p:spPr>
      </p:pic>
      <p:sp>
        <p:nvSpPr>
          <p:cNvPr id="62" name="Rectángulo: esquinas redondeadas 61">
            <a:extLst>
              <a:ext uri="{FF2B5EF4-FFF2-40B4-BE49-F238E27FC236}">
                <a16:creationId xmlns:a16="http://schemas.microsoft.com/office/drawing/2014/main" id="{64F42737-665F-08FD-0EF9-02E5F80B8215}"/>
              </a:ext>
            </a:extLst>
          </p:cNvPr>
          <p:cNvSpPr/>
          <p:nvPr/>
        </p:nvSpPr>
        <p:spPr>
          <a:xfrm>
            <a:off x="3208973" y="926520"/>
            <a:ext cx="2865532" cy="485221"/>
          </a:xfrm>
          <a:prstGeom prst="roundRect">
            <a:avLst>
              <a:gd name="adj" fmla="val 10710"/>
            </a:avLst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48000" rtlCol="0" anchor="ctr"/>
          <a:lstStyle/>
          <a:p>
            <a:r>
              <a:rPr lang="es-CL" sz="1400" b="1" dirty="0">
                <a:latin typeface="Arial Narrow" panose="020B0606020202030204" pitchFamily="34" charset="0"/>
              </a:rPr>
              <a:t>MODELO DE DATOS</a:t>
            </a:r>
          </a:p>
          <a:p>
            <a:r>
              <a:rPr lang="es-CL" sz="1100" dirty="0">
                <a:latin typeface="Arial Narrow" panose="020B0606020202030204" pitchFamily="34" charset="0"/>
              </a:rPr>
              <a:t>Modelo del sistema</a:t>
            </a:r>
          </a:p>
        </p:txBody>
      </p:sp>
      <p:pic>
        <p:nvPicPr>
          <p:cNvPr id="14" name="Gráfico 13" descr="Database contorno">
            <a:extLst>
              <a:ext uri="{FF2B5EF4-FFF2-40B4-BE49-F238E27FC236}">
                <a16:creationId xmlns:a16="http://schemas.microsoft.com/office/drawing/2014/main" id="{E7BA929E-C80B-B836-A588-886BC15E2A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321162" y="970403"/>
            <a:ext cx="396000" cy="396000"/>
          </a:xfrm>
          <a:prstGeom prst="rect">
            <a:avLst/>
          </a:prstGeom>
        </p:spPr>
      </p:pic>
      <p:sp>
        <p:nvSpPr>
          <p:cNvPr id="66" name="Rectángulo: esquinas redondeadas 65">
            <a:extLst>
              <a:ext uri="{FF2B5EF4-FFF2-40B4-BE49-F238E27FC236}">
                <a16:creationId xmlns:a16="http://schemas.microsoft.com/office/drawing/2014/main" id="{5362AD25-710E-8B12-E90B-9F36F4754C04}"/>
              </a:ext>
            </a:extLst>
          </p:cNvPr>
          <p:cNvSpPr/>
          <p:nvPr/>
        </p:nvSpPr>
        <p:spPr>
          <a:xfrm>
            <a:off x="6111086" y="925792"/>
            <a:ext cx="2865532" cy="485221"/>
          </a:xfrm>
          <a:prstGeom prst="roundRect">
            <a:avLst>
              <a:gd name="adj" fmla="val 10710"/>
            </a:avLst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48000" rtlCol="0" anchor="ctr"/>
          <a:lstStyle/>
          <a:p>
            <a:r>
              <a:rPr lang="es-CL" sz="1400" b="1" dirty="0">
                <a:latin typeface="Arial Narrow" panose="020B0606020202030204" pitchFamily="34" charset="0"/>
              </a:rPr>
              <a:t>CASOS DE USO</a:t>
            </a:r>
          </a:p>
          <a:p>
            <a:r>
              <a:rPr lang="es-CL" sz="1100" dirty="0">
                <a:latin typeface="Arial Narrow" panose="020B0606020202030204" pitchFamily="34" charset="0"/>
              </a:rPr>
              <a:t>Funcionalidades Principales</a:t>
            </a:r>
          </a:p>
        </p:txBody>
      </p:sp>
      <p:pic>
        <p:nvPicPr>
          <p:cNvPr id="12" name="Gráfico 11" descr="Users con relleno sólido">
            <a:extLst>
              <a:ext uri="{FF2B5EF4-FFF2-40B4-BE49-F238E27FC236}">
                <a16:creationId xmlns:a16="http://schemas.microsoft.com/office/drawing/2014/main" id="{B996B7B5-6DD3-0977-1377-7E59A1B010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153150" y="941070"/>
            <a:ext cx="440206" cy="440055"/>
          </a:xfrm>
          <a:prstGeom prst="rect">
            <a:avLst/>
          </a:prstGeom>
        </p:spPr>
      </p:pic>
      <p:pic>
        <p:nvPicPr>
          <p:cNvPr id="68" name="Imagen 67">
            <a:hlinkClick r:id="rId14" action="ppaction://hlinksldjump"/>
            <a:extLst>
              <a:ext uri="{FF2B5EF4-FFF2-40B4-BE49-F238E27FC236}">
                <a16:creationId xmlns:a16="http://schemas.microsoft.com/office/drawing/2014/main" id="{1ED39827-3111-591D-6B4B-6D959836A41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11"/>
          <a:stretch>
            <a:fillRect/>
          </a:stretch>
        </p:blipFill>
        <p:spPr>
          <a:xfrm>
            <a:off x="6142205" y="1461180"/>
            <a:ext cx="2823468" cy="2590837"/>
          </a:xfrm>
          <a:prstGeom prst="rect">
            <a:avLst/>
          </a:prstGeom>
        </p:spPr>
      </p:pic>
      <p:sp>
        <p:nvSpPr>
          <p:cNvPr id="70" name="Rectángulo: esquinas redondeadas 69">
            <a:extLst>
              <a:ext uri="{FF2B5EF4-FFF2-40B4-BE49-F238E27FC236}">
                <a16:creationId xmlns:a16="http://schemas.microsoft.com/office/drawing/2014/main" id="{EFE5C642-A74A-BC1F-5556-5C21ADB4AE25}"/>
              </a:ext>
            </a:extLst>
          </p:cNvPr>
          <p:cNvSpPr/>
          <p:nvPr/>
        </p:nvSpPr>
        <p:spPr>
          <a:xfrm>
            <a:off x="6187440" y="4206239"/>
            <a:ext cx="2785110" cy="289560"/>
          </a:xfrm>
          <a:prstGeom prst="roundRect">
            <a:avLst>
              <a:gd name="adj" fmla="val 33772"/>
            </a:avLst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chemeClr val="accent6">
                  <a:lumMod val="45000"/>
                  <a:lumOff val="55000"/>
                </a:schemeClr>
              </a:gs>
              <a:gs pos="100000">
                <a:schemeClr val="accent6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200" b="1" dirty="0">
                <a:solidFill>
                  <a:schemeClr val="tx1"/>
                </a:solidFill>
                <a:latin typeface="Arial Narrow" panose="020B0606020202030204" pitchFamily="34" charset="0"/>
              </a:rPr>
              <a:t>Estado: Disponible</a:t>
            </a:r>
          </a:p>
        </p:txBody>
      </p:sp>
      <p:sp>
        <p:nvSpPr>
          <p:cNvPr id="72" name="Rectángulo: esquinas redondeadas 71">
            <a:extLst>
              <a:ext uri="{FF2B5EF4-FFF2-40B4-BE49-F238E27FC236}">
                <a16:creationId xmlns:a16="http://schemas.microsoft.com/office/drawing/2014/main" id="{B9F39163-DAC6-7CC7-BB4E-E9DD38BA69A4}"/>
              </a:ext>
            </a:extLst>
          </p:cNvPr>
          <p:cNvSpPr/>
          <p:nvPr/>
        </p:nvSpPr>
        <p:spPr>
          <a:xfrm>
            <a:off x="6187440" y="4520982"/>
            <a:ext cx="2785110" cy="66823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4" name="CuadroTexto 73">
            <a:extLst>
              <a:ext uri="{FF2B5EF4-FFF2-40B4-BE49-F238E27FC236}">
                <a16:creationId xmlns:a16="http://schemas.microsoft.com/office/drawing/2014/main" id="{6301A759-526C-E977-68EF-776401142DA3}"/>
              </a:ext>
            </a:extLst>
          </p:cNvPr>
          <p:cNvSpPr txBox="1"/>
          <p:nvPr/>
        </p:nvSpPr>
        <p:spPr>
          <a:xfrm>
            <a:off x="6225881" y="4536229"/>
            <a:ext cx="2492990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100" dirty="0">
                <a:latin typeface="Arial Narrow" panose="020B0606020202030204" pitchFamily="34" charset="0"/>
              </a:rPr>
              <a:t>Casos de uso principales definidos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100" dirty="0">
                <a:latin typeface="Arial Narrow" panose="020B0606020202030204" pitchFamily="34" charset="0"/>
              </a:rPr>
              <a:t>Actores y funcionalidades identificados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100" dirty="0">
                <a:latin typeface="Arial Narrow" panose="020B0606020202030204" pitchFamily="34" charset="0"/>
              </a:rPr>
              <a:t>Diagramas y especificaciones disponibles</a:t>
            </a:r>
          </a:p>
        </p:txBody>
      </p:sp>
      <p:sp>
        <p:nvSpPr>
          <p:cNvPr id="76" name="Rectángulo: esquinas redondeadas 75">
            <a:extLst>
              <a:ext uri="{FF2B5EF4-FFF2-40B4-BE49-F238E27FC236}">
                <a16:creationId xmlns:a16="http://schemas.microsoft.com/office/drawing/2014/main" id="{A303F7F7-891F-98EF-EBFA-E72D3731328A}"/>
              </a:ext>
            </a:extLst>
          </p:cNvPr>
          <p:cNvSpPr/>
          <p:nvPr/>
        </p:nvSpPr>
        <p:spPr>
          <a:xfrm>
            <a:off x="6187440" y="5230111"/>
            <a:ext cx="2785110" cy="530609"/>
          </a:xfrm>
          <a:prstGeom prst="round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r>
              <a:rPr lang="es-CL" sz="1050" b="1" dirty="0">
                <a:solidFill>
                  <a:srgbClr val="002060"/>
                </a:solidFill>
                <a:latin typeface="Arial Narrow" panose="020B0606020202030204" pitchFamily="34" charset="0"/>
              </a:rPr>
              <a:t>Resultado:</a:t>
            </a:r>
            <a:br>
              <a:rPr lang="es-CL" sz="1050" dirty="0">
                <a:latin typeface="Arial Narrow" panose="020B0606020202030204" pitchFamily="34" charset="0"/>
              </a:rPr>
            </a:br>
            <a:r>
              <a:rPr lang="es-CL" sz="1050" dirty="0">
                <a:solidFill>
                  <a:srgbClr val="002060"/>
                </a:solidFill>
                <a:latin typeface="Arial Narrow" panose="020B0606020202030204" pitchFamily="34" charset="0"/>
              </a:rPr>
              <a:t>Casos de uso validados y alineados con los procesos de GATI.</a:t>
            </a:r>
          </a:p>
        </p:txBody>
      </p:sp>
      <p:pic>
        <p:nvPicPr>
          <p:cNvPr id="78" name="Gráfico 77" descr="Bullseye con relleno sólido">
            <a:extLst>
              <a:ext uri="{FF2B5EF4-FFF2-40B4-BE49-F238E27FC236}">
                <a16:creationId xmlns:a16="http://schemas.microsoft.com/office/drawing/2014/main" id="{B2AC0DBC-C089-253A-C9C7-86F27763B5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32907" y="5271002"/>
            <a:ext cx="396000" cy="396000"/>
          </a:xfrm>
          <a:prstGeom prst="rect">
            <a:avLst/>
          </a:prstGeom>
        </p:spPr>
      </p:pic>
      <p:grpSp>
        <p:nvGrpSpPr>
          <p:cNvPr id="79" name="Grupo 78">
            <a:extLst>
              <a:ext uri="{FF2B5EF4-FFF2-40B4-BE49-F238E27FC236}">
                <a16:creationId xmlns:a16="http://schemas.microsoft.com/office/drawing/2014/main" id="{12707D17-72BE-4CA5-759E-8B9BF2EFC2D8}"/>
              </a:ext>
            </a:extLst>
          </p:cNvPr>
          <p:cNvGrpSpPr>
            <a:grpSpLocks noChangeAspect="1"/>
          </p:cNvGrpSpPr>
          <p:nvPr/>
        </p:nvGrpSpPr>
        <p:grpSpPr>
          <a:xfrm>
            <a:off x="6311310" y="4231421"/>
            <a:ext cx="239193" cy="239193"/>
            <a:chOff x="12523067" y="1747010"/>
            <a:chExt cx="448800" cy="448800"/>
          </a:xfrm>
        </p:grpSpPr>
        <p:sp>
          <p:nvSpPr>
            <p:cNvPr id="80" name="Diagrama de flujo: conector 79">
              <a:extLst>
                <a:ext uri="{FF2B5EF4-FFF2-40B4-BE49-F238E27FC236}">
                  <a16:creationId xmlns:a16="http://schemas.microsoft.com/office/drawing/2014/main" id="{F2F762CE-9ED5-18CB-1A30-41F7F91ADC3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523067" y="1747010"/>
              <a:ext cx="448800" cy="448800"/>
            </a:xfrm>
            <a:prstGeom prst="flowChartConnector">
              <a:avLst/>
            </a:prstGeom>
            <a:gradFill flip="none" rotWithShape="1">
              <a:gsLst>
                <a:gs pos="0">
                  <a:schemeClr val="accent3">
                    <a:lumMod val="67000"/>
                  </a:schemeClr>
                </a:gs>
                <a:gs pos="48000">
                  <a:schemeClr val="accent3">
                    <a:lumMod val="97000"/>
                    <a:lumOff val="3000"/>
                  </a:schemeClr>
                </a:gs>
                <a:gs pos="100000">
                  <a:schemeClr val="accent3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pic>
          <p:nvPicPr>
            <p:cNvPr id="81" name="Gráfico 80" descr="Checkmark con relleno sólido">
              <a:extLst>
                <a:ext uri="{FF2B5EF4-FFF2-40B4-BE49-F238E27FC236}">
                  <a16:creationId xmlns:a16="http://schemas.microsoft.com/office/drawing/2014/main" id="{5D13C671-2E5A-5056-FA78-2BD94F68434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2631333" y="1865198"/>
              <a:ext cx="232269" cy="232269"/>
            </a:xfrm>
            <a:prstGeom prst="rect">
              <a:avLst/>
            </a:prstGeom>
          </p:spPr>
        </p:pic>
      </p:grpSp>
      <p:sp>
        <p:nvSpPr>
          <p:cNvPr id="85" name="Rectángulo: esquinas redondeadas 84">
            <a:extLst>
              <a:ext uri="{FF2B5EF4-FFF2-40B4-BE49-F238E27FC236}">
                <a16:creationId xmlns:a16="http://schemas.microsoft.com/office/drawing/2014/main" id="{8DEC24A0-7172-CC36-09AB-8BD95C748899}"/>
              </a:ext>
            </a:extLst>
          </p:cNvPr>
          <p:cNvSpPr/>
          <p:nvPr/>
        </p:nvSpPr>
        <p:spPr>
          <a:xfrm>
            <a:off x="9082094" y="903239"/>
            <a:ext cx="2865532" cy="485221"/>
          </a:xfrm>
          <a:prstGeom prst="roundRect">
            <a:avLst>
              <a:gd name="adj" fmla="val 10710"/>
            </a:avLst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48000" rtlCol="0" anchor="ctr"/>
          <a:lstStyle/>
          <a:p>
            <a:r>
              <a:rPr lang="es-CL" sz="1400" b="1" dirty="0">
                <a:latin typeface="Arial Narrow" panose="020B0606020202030204" pitchFamily="34" charset="0"/>
              </a:rPr>
              <a:t>CASOS DE PRUEBA</a:t>
            </a:r>
          </a:p>
          <a:p>
            <a:r>
              <a:rPr lang="es-CL" sz="1100" dirty="0">
                <a:latin typeface="Arial Narrow" panose="020B0606020202030204" pitchFamily="34" charset="0"/>
              </a:rPr>
              <a:t>Validaciones de Funcionalidades</a:t>
            </a:r>
          </a:p>
        </p:txBody>
      </p:sp>
      <p:pic>
        <p:nvPicPr>
          <p:cNvPr id="16" name="Gráfico 15" descr="Document con relleno sólido">
            <a:extLst>
              <a:ext uri="{FF2B5EF4-FFF2-40B4-BE49-F238E27FC236}">
                <a16:creationId xmlns:a16="http://schemas.microsoft.com/office/drawing/2014/main" id="{2795B1F5-F929-3999-268A-1AA6EB7F46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131634" y="963096"/>
            <a:ext cx="396000" cy="396000"/>
          </a:xfrm>
          <a:prstGeom prst="rect">
            <a:avLst/>
          </a:prstGeom>
        </p:spPr>
      </p:pic>
      <p:sp>
        <p:nvSpPr>
          <p:cNvPr id="87" name="Rectángulo: esquinas redondeadas 86">
            <a:extLst>
              <a:ext uri="{FF2B5EF4-FFF2-40B4-BE49-F238E27FC236}">
                <a16:creationId xmlns:a16="http://schemas.microsoft.com/office/drawing/2014/main" id="{027FE9A4-B1DF-E2FF-5403-A22E50022B9D}"/>
              </a:ext>
            </a:extLst>
          </p:cNvPr>
          <p:cNvSpPr/>
          <p:nvPr/>
        </p:nvSpPr>
        <p:spPr>
          <a:xfrm>
            <a:off x="9096420" y="4171110"/>
            <a:ext cx="2785110" cy="289560"/>
          </a:xfrm>
          <a:prstGeom prst="roundRect">
            <a:avLst>
              <a:gd name="adj" fmla="val 33772"/>
            </a:avLst>
          </a:prstGeo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200" b="1" dirty="0">
                <a:solidFill>
                  <a:schemeClr val="tx1"/>
                </a:solidFill>
                <a:latin typeface="Arial Narrow" panose="020B0606020202030204" pitchFamily="34" charset="0"/>
              </a:rPr>
              <a:t>Estado: EN DESARROLLO</a:t>
            </a:r>
          </a:p>
        </p:txBody>
      </p:sp>
      <p:sp>
        <p:nvSpPr>
          <p:cNvPr id="89" name="Rectángulo: esquinas redondeadas 88">
            <a:extLst>
              <a:ext uri="{FF2B5EF4-FFF2-40B4-BE49-F238E27FC236}">
                <a16:creationId xmlns:a16="http://schemas.microsoft.com/office/drawing/2014/main" id="{0545C218-2D5D-8225-F931-D00001136D3B}"/>
              </a:ext>
            </a:extLst>
          </p:cNvPr>
          <p:cNvSpPr/>
          <p:nvPr/>
        </p:nvSpPr>
        <p:spPr>
          <a:xfrm>
            <a:off x="9096420" y="4485853"/>
            <a:ext cx="2785110" cy="1293884"/>
          </a:xfrm>
          <a:prstGeom prst="roundRect">
            <a:avLst>
              <a:gd name="adj" fmla="val 8029"/>
            </a:avLst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1" name="CuadroTexto 90">
            <a:extLst>
              <a:ext uri="{FF2B5EF4-FFF2-40B4-BE49-F238E27FC236}">
                <a16:creationId xmlns:a16="http://schemas.microsoft.com/office/drawing/2014/main" id="{AEE00BAE-3AAC-93D6-ABCD-8A56335266F6}"/>
              </a:ext>
            </a:extLst>
          </p:cNvPr>
          <p:cNvSpPr txBox="1"/>
          <p:nvPr/>
        </p:nvSpPr>
        <p:spPr>
          <a:xfrm>
            <a:off x="9054110" y="4485852"/>
            <a:ext cx="288312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s-CL" sz="1000" dirty="0">
                <a:latin typeface="Arial Narrow" panose="020B0606020202030204" pitchFamily="34" charset="0"/>
              </a:rPr>
              <a:t>Elaboración de casos de prueba </a:t>
            </a:r>
            <a:r>
              <a:rPr lang="es-CL" sz="1000" b="1" dirty="0">
                <a:latin typeface="Arial Narrow" panose="020B0606020202030204" pitchFamily="34" charset="0"/>
              </a:rPr>
              <a:t>iniciada / planificada para H-03</a:t>
            </a:r>
            <a:r>
              <a:rPr lang="es-CL" sz="1000" dirty="0">
                <a:latin typeface="Arial Narrow" panose="020B0606020202030204" pitchFamily="34" charset="0"/>
              </a:rPr>
              <a:t>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s-CL" sz="1000" dirty="0">
                <a:latin typeface="Arial Narrow" panose="020B0606020202030204" pitchFamily="34" charset="0"/>
              </a:rPr>
              <a:t>Se definirán a partir de los </a:t>
            </a:r>
            <a:r>
              <a:rPr lang="es-CL" sz="1000" b="1" dirty="0">
                <a:latin typeface="Arial Narrow" panose="020B0606020202030204" pitchFamily="34" charset="0"/>
              </a:rPr>
              <a:t>requisitos y funcionalidades implementadas</a:t>
            </a:r>
            <a:r>
              <a:rPr lang="es-CL" sz="1000" dirty="0">
                <a:latin typeface="Arial Narrow" panose="020B0606020202030204" pitchFamily="34" charset="0"/>
              </a:rPr>
              <a:t>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s-CL" sz="1000" dirty="0">
                <a:latin typeface="Arial Narrow" panose="020B0606020202030204" pitchFamily="34" charset="0"/>
              </a:rPr>
              <a:t>Considerarán inicialmente </a:t>
            </a:r>
            <a:r>
              <a:rPr lang="es-CL" sz="1000" b="1" dirty="0">
                <a:latin typeface="Arial Narrow" panose="020B0606020202030204" pitchFamily="34" charset="0"/>
              </a:rPr>
              <a:t>autenticación, inventario, Órdenes de Compra, asignaciones y devoluciones</a:t>
            </a:r>
            <a:r>
              <a:rPr lang="es-CL" sz="1000" dirty="0">
                <a:latin typeface="Arial Narrow" panose="020B0606020202030204" pitchFamily="34" charset="0"/>
              </a:rPr>
              <a:t>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s-CL" sz="1000" dirty="0">
                <a:latin typeface="Arial Narrow" panose="020B0606020202030204" pitchFamily="34" charset="0"/>
              </a:rPr>
              <a:t>Su ejecución y ampliación continuará durante </a:t>
            </a:r>
            <a:r>
              <a:rPr lang="es-CL" sz="1000" b="1" dirty="0">
                <a:latin typeface="Arial Narrow" panose="020B0606020202030204" pitchFamily="34" charset="0"/>
              </a:rPr>
              <a:t>H-03 y H-04</a:t>
            </a:r>
            <a:r>
              <a:rPr lang="es-CL" sz="1000" dirty="0">
                <a:latin typeface="Arial Narrow" panose="020B0606020202030204" pitchFamily="34" charset="0"/>
              </a:rPr>
              <a:t>.</a:t>
            </a:r>
          </a:p>
        </p:txBody>
      </p:sp>
      <p:sp>
        <p:nvSpPr>
          <p:cNvPr id="105" name="Rectángulo: esquinas redondeadas 104">
            <a:extLst>
              <a:ext uri="{FF2B5EF4-FFF2-40B4-BE49-F238E27FC236}">
                <a16:creationId xmlns:a16="http://schemas.microsoft.com/office/drawing/2014/main" id="{BAFEDF94-FD51-E3BE-99C2-E161CCB4AD71}"/>
              </a:ext>
            </a:extLst>
          </p:cNvPr>
          <p:cNvSpPr/>
          <p:nvPr/>
        </p:nvSpPr>
        <p:spPr>
          <a:xfrm>
            <a:off x="3237882" y="4213587"/>
            <a:ext cx="2785110" cy="289560"/>
          </a:xfrm>
          <a:prstGeom prst="roundRect">
            <a:avLst>
              <a:gd name="adj" fmla="val 33772"/>
            </a:avLst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chemeClr val="accent6">
                  <a:lumMod val="45000"/>
                  <a:lumOff val="55000"/>
                </a:schemeClr>
              </a:gs>
              <a:gs pos="100000">
                <a:schemeClr val="accent6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200" b="1" dirty="0">
                <a:solidFill>
                  <a:schemeClr val="tx1"/>
                </a:solidFill>
                <a:latin typeface="Arial Narrow" panose="020B0606020202030204" pitchFamily="34" charset="0"/>
              </a:rPr>
              <a:t>Estado: Disponible</a:t>
            </a:r>
          </a:p>
        </p:txBody>
      </p:sp>
      <p:sp>
        <p:nvSpPr>
          <p:cNvPr id="106" name="Rectángulo: esquinas redondeadas 105">
            <a:extLst>
              <a:ext uri="{FF2B5EF4-FFF2-40B4-BE49-F238E27FC236}">
                <a16:creationId xmlns:a16="http://schemas.microsoft.com/office/drawing/2014/main" id="{D5679B84-DFD3-192F-88B5-DF6851471BA1}"/>
              </a:ext>
            </a:extLst>
          </p:cNvPr>
          <p:cNvSpPr/>
          <p:nvPr/>
        </p:nvSpPr>
        <p:spPr>
          <a:xfrm>
            <a:off x="3237882" y="4528330"/>
            <a:ext cx="2785110" cy="66823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07" name="CuadroTexto 106">
            <a:extLst>
              <a:ext uri="{FF2B5EF4-FFF2-40B4-BE49-F238E27FC236}">
                <a16:creationId xmlns:a16="http://schemas.microsoft.com/office/drawing/2014/main" id="{3BDBA18C-02B5-EC1E-8683-9DE7DCD021AB}"/>
              </a:ext>
            </a:extLst>
          </p:cNvPr>
          <p:cNvSpPr txBox="1"/>
          <p:nvPr/>
        </p:nvSpPr>
        <p:spPr>
          <a:xfrm>
            <a:off x="3176569" y="4477961"/>
            <a:ext cx="297658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s-CL" sz="1050" dirty="0">
                <a:latin typeface="Arial Narrow" panose="020B0606020202030204" pitchFamily="34" charset="0"/>
              </a:rPr>
              <a:t>Entidades principales identificadas.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s-CL" sz="1050" dirty="0">
                <a:latin typeface="Arial Narrow" panose="020B0606020202030204" pitchFamily="34" charset="0"/>
              </a:rPr>
              <a:t>Atributos y conexiones definidas.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s-CL" sz="1050" dirty="0">
                <a:latin typeface="Arial Narrow" panose="020B0606020202030204" pitchFamily="34" charset="0"/>
              </a:rPr>
              <a:t>Reglas y estructura lógica del modelo.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s-CL" sz="1050" dirty="0">
                <a:latin typeface="Arial Narrow" panose="020B0606020202030204" pitchFamily="34" charset="0"/>
              </a:rPr>
              <a:t>Base para la construcción del modelo físico de datos.</a:t>
            </a:r>
          </a:p>
        </p:txBody>
      </p:sp>
      <p:sp>
        <p:nvSpPr>
          <p:cNvPr id="108" name="Rectángulo: esquinas redondeadas 107">
            <a:extLst>
              <a:ext uri="{FF2B5EF4-FFF2-40B4-BE49-F238E27FC236}">
                <a16:creationId xmlns:a16="http://schemas.microsoft.com/office/drawing/2014/main" id="{F3BF1799-28FE-7B58-8DC0-DE9BE8CC1F39}"/>
              </a:ext>
            </a:extLst>
          </p:cNvPr>
          <p:cNvSpPr/>
          <p:nvPr/>
        </p:nvSpPr>
        <p:spPr>
          <a:xfrm>
            <a:off x="3237882" y="5237459"/>
            <a:ext cx="2785110" cy="530609"/>
          </a:xfrm>
          <a:prstGeom prst="round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r>
              <a:rPr lang="es-CL" sz="1050" b="1" dirty="0">
                <a:solidFill>
                  <a:srgbClr val="002060"/>
                </a:solidFill>
                <a:latin typeface="Arial Narrow" panose="020B0606020202030204" pitchFamily="34" charset="0"/>
              </a:rPr>
              <a:t>Resultado:</a:t>
            </a:r>
            <a:br>
              <a:rPr lang="es-CL" sz="1050" dirty="0">
                <a:latin typeface="Arial Narrow" panose="020B0606020202030204" pitchFamily="34" charset="0"/>
              </a:rPr>
            </a:br>
            <a:r>
              <a:rPr lang="es-CL" sz="1050" dirty="0">
                <a:solidFill>
                  <a:srgbClr val="002060"/>
                </a:solidFill>
                <a:latin typeface="Arial Narrow" panose="020B0606020202030204" pitchFamily="34" charset="0"/>
              </a:rPr>
              <a:t>Modelo validado y disponible para su implementación en H-03</a:t>
            </a:r>
          </a:p>
        </p:txBody>
      </p:sp>
      <p:pic>
        <p:nvPicPr>
          <p:cNvPr id="109" name="Gráfico 108" descr="Bullseye con relleno sólido">
            <a:extLst>
              <a:ext uri="{FF2B5EF4-FFF2-40B4-BE49-F238E27FC236}">
                <a16:creationId xmlns:a16="http://schemas.microsoft.com/office/drawing/2014/main" id="{9EBBAD8E-F4CB-7CAE-A24C-4FBFA3E190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283349" y="5278350"/>
            <a:ext cx="396000" cy="396000"/>
          </a:xfrm>
          <a:prstGeom prst="rect">
            <a:avLst/>
          </a:prstGeom>
        </p:spPr>
      </p:pic>
      <p:grpSp>
        <p:nvGrpSpPr>
          <p:cNvPr id="110" name="Grupo 109">
            <a:extLst>
              <a:ext uri="{FF2B5EF4-FFF2-40B4-BE49-F238E27FC236}">
                <a16:creationId xmlns:a16="http://schemas.microsoft.com/office/drawing/2014/main" id="{84EA10CB-77D3-D882-D166-85C1D14FF3FF}"/>
              </a:ext>
            </a:extLst>
          </p:cNvPr>
          <p:cNvGrpSpPr>
            <a:grpSpLocks noChangeAspect="1"/>
          </p:cNvGrpSpPr>
          <p:nvPr/>
        </p:nvGrpSpPr>
        <p:grpSpPr>
          <a:xfrm>
            <a:off x="3361752" y="4238769"/>
            <a:ext cx="239193" cy="239193"/>
            <a:chOff x="12523067" y="1747010"/>
            <a:chExt cx="448800" cy="448800"/>
          </a:xfrm>
        </p:grpSpPr>
        <p:sp>
          <p:nvSpPr>
            <p:cNvPr id="111" name="Diagrama de flujo: conector 110">
              <a:extLst>
                <a:ext uri="{FF2B5EF4-FFF2-40B4-BE49-F238E27FC236}">
                  <a16:creationId xmlns:a16="http://schemas.microsoft.com/office/drawing/2014/main" id="{87FD822E-96F8-EB5C-7EAC-398AC368ADF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523067" y="1747010"/>
              <a:ext cx="448800" cy="448800"/>
            </a:xfrm>
            <a:prstGeom prst="flowChartConnector">
              <a:avLst/>
            </a:prstGeom>
            <a:gradFill flip="none" rotWithShape="1">
              <a:gsLst>
                <a:gs pos="0">
                  <a:schemeClr val="accent3">
                    <a:lumMod val="67000"/>
                  </a:schemeClr>
                </a:gs>
                <a:gs pos="48000">
                  <a:schemeClr val="accent3">
                    <a:lumMod val="97000"/>
                    <a:lumOff val="3000"/>
                  </a:schemeClr>
                </a:gs>
                <a:gs pos="100000">
                  <a:schemeClr val="accent3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pic>
          <p:nvPicPr>
            <p:cNvPr id="112" name="Gráfico 111" descr="Checkmark con relleno sólido">
              <a:extLst>
                <a:ext uri="{FF2B5EF4-FFF2-40B4-BE49-F238E27FC236}">
                  <a16:creationId xmlns:a16="http://schemas.microsoft.com/office/drawing/2014/main" id="{003E8B42-6444-210E-A342-D91F0FB334D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2631333" y="1865198"/>
              <a:ext cx="232269" cy="232269"/>
            </a:xfrm>
            <a:prstGeom prst="rect">
              <a:avLst/>
            </a:prstGeom>
          </p:spPr>
        </p:pic>
      </p:grpSp>
      <p:grpSp>
        <p:nvGrpSpPr>
          <p:cNvPr id="113" name="Grupo 112">
            <a:extLst>
              <a:ext uri="{FF2B5EF4-FFF2-40B4-BE49-F238E27FC236}">
                <a16:creationId xmlns:a16="http://schemas.microsoft.com/office/drawing/2014/main" id="{681967F7-6F8D-029C-BD35-AAF718F1858E}"/>
              </a:ext>
            </a:extLst>
          </p:cNvPr>
          <p:cNvGrpSpPr/>
          <p:nvPr/>
        </p:nvGrpSpPr>
        <p:grpSpPr>
          <a:xfrm>
            <a:off x="222006" y="6378474"/>
            <a:ext cx="4541575" cy="479526"/>
            <a:chOff x="362021" y="6264961"/>
            <a:chExt cx="4541575" cy="479526"/>
          </a:xfrm>
        </p:grpSpPr>
        <p:pic>
          <p:nvPicPr>
            <p:cNvPr id="114" name="Imagen 113">
              <a:extLst>
                <a:ext uri="{FF2B5EF4-FFF2-40B4-BE49-F238E27FC236}">
                  <a16:creationId xmlns:a16="http://schemas.microsoft.com/office/drawing/2014/main" id="{F024436A-3E1F-AD48-78B3-118C0FD732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18">
                      <a14:imgEffect>
                        <a14:colorTemperature colorTemp="47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62021" y="6264961"/>
              <a:ext cx="479526" cy="479526"/>
            </a:xfrm>
            <a:prstGeom prst="rect">
              <a:avLst/>
            </a:prstGeom>
          </p:spPr>
        </p:pic>
        <p:sp>
          <p:nvSpPr>
            <p:cNvPr id="115" name="CuadroTexto 114">
              <a:extLst>
                <a:ext uri="{FF2B5EF4-FFF2-40B4-BE49-F238E27FC236}">
                  <a16:creationId xmlns:a16="http://schemas.microsoft.com/office/drawing/2014/main" id="{32593DDE-D2F6-7856-0DAB-60AD0C9683A8}"/>
                </a:ext>
              </a:extLst>
            </p:cNvPr>
            <p:cNvSpPr txBox="1"/>
            <p:nvPr/>
          </p:nvSpPr>
          <p:spPr>
            <a:xfrm>
              <a:off x="418502" y="6330118"/>
              <a:ext cx="4058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600" b="1" dirty="0">
                  <a:solidFill>
                    <a:srgbClr val="0A3E6F"/>
                  </a:solidFill>
                  <a:latin typeface="Aptos Display" panose="020B0004020202020204" pitchFamily="34" charset="0"/>
                  <a:ea typeface="ADLaM Display" panose="02010000000000000000" pitchFamily="2" charset="0"/>
                  <a:cs typeface="Aharoni" panose="020F0502020204030204" pitchFamily="2" charset="-79"/>
                </a:rPr>
                <a:t>06</a:t>
              </a:r>
            </a:p>
          </p:txBody>
        </p:sp>
        <p:sp>
          <p:nvSpPr>
            <p:cNvPr id="116" name="CuadroTexto 115">
              <a:extLst>
                <a:ext uri="{FF2B5EF4-FFF2-40B4-BE49-F238E27FC236}">
                  <a16:creationId xmlns:a16="http://schemas.microsoft.com/office/drawing/2014/main" id="{44FAAC4A-6FA7-C24F-2C7E-7C9B7027E3AD}"/>
                </a:ext>
              </a:extLst>
            </p:cNvPr>
            <p:cNvSpPr txBox="1"/>
            <p:nvPr/>
          </p:nvSpPr>
          <p:spPr>
            <a:xfrm>
              <a:off x="841547" y="6372387"/>
              <a:ext cx="24956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200" b="1" dirty="0">
                  <a:solidFill>
                    <a:srgbClr val="002060"/>
                  </a:solidFill>
                  <a:latin typeface="Arial Narrow" panose="020B0606020202030204" pitchFamily="34" charset="0"/>
                </a:rPr>
                <a:t>CAPSTONE · Ingeniería en Informática</a:t>
              </a:r>
            </a:p>
          </p:txBody>
        </p:sp>
        <p:cxnSp>
          <p:nvCxnSpPr>
            <p:cNvPr id="117" name="Conector recto 116">
              <a:extLst>
                <a:ext uri="{FF2B5EF4-FFF2-40B4-BE49-F238E27FC236}">
                  <a16:creationId xmlns:a16="http://schemas.microsoft.com/office/drawing/2014/main" id="{FFB3FCFD-D9F3-C49D-3422-945F2832F458}"/>
                </a:ext>
              </a:extLst>
            </p:cNvPr>
            <p:cNvCxnSpPr/>
            <p:nvPr/>
          </p:nvCxnSpPr>
          <p:spPr>
            <a:xfrm>
              <a:off x="3326720" y="6398507"/>
              <a:ext cx="0" cy="224758"/>
            </a:xfrm>
            <a:prstGeom prst="line">
              <a:avLst/>
            </a:prstGeom>
            <a:ln>
              <a:solidFill>
                <a:srgbClr val="7890B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18" name="Imagen 117">
              <a:extLst>
                <a:ext uri="{FF2B5EF4-FFF2-40B4-BE49-F238E27FC236}">
                  <a16:creationId xmlns:a16="http://schemas.microsoft.com/office/drawing/2014/main" id="{9D06A200-A7B6-F33D-FD81-C3EDB09646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66930" y="6296972"/>
              <a:ext cx="1436666" cy="324000"/>
            </a:xfrm>
            <a:prstGeom prst="rect">
              <a:avLst/>
            </a:prstGeom>
          </p:spPr>
        </p:pic>
      </p:grpSp>
      <p:pic>
        <p:nvPicPr>
          <p:cNvPr id="125" name="Gráfico 124" descr="Hourglass 90% con relleno sólido">
            <a:extLst>
              <a:ext uri="{FF2B5EF4-FFF2-40B4-BE49-F238E27FC236}">
                <a16:creationId xmlns:a16="http://schemas.microsoft.com/office/drawing/2014/main" id="{D48B3763-3120-5974-D0A6-BCE84BC413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285717" y="4171110"/>
            <a:ext cx="289560" cy="289560"/>
          </a:xfrm>
          <a:prstGeom prst="rect">
            <a:avLst/>
          </a:prstGeom>
        </p:spPr>
      </p:pic>
      <p:pic>
        <p:nvPicPr>
          <p:cNvPr id="129" name="Imagen 128">
            <a:hlinkClick r:id="rId21" action="ppaction://hlinksldjump"/>
            <a:extLst>
              <a:ext uri="{FF2B5EF4-FFF2-40B4-BE49-F238E27FC236}">
                <a16:creationId xmlns:a16="http://schemas.microsoft.com/office/drawing/2014/main" id="{3977BB91-3F0B-99A9-3532-438CC6CD635A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0583" y="1443753"/>
            <a:ext cx="2816354" cy="2700329"/>
          </a:xfrm>
          <a:prstGeom prst="rect">
            <a:avLst/>
          </a:prstGeom>
        </p:spPr>
      </p:pic>
      <p:pic>
        <p:nvPicPr>
          <p:cNvPr id="132" name="Imagen 131">
            <a:extLst>
              <a:ext uri="{FF2B5EF4-FFF2-40B4-BE49-F238E27FC236}">
                <a16:creationId xmlns:a16="http://schemas.microsoft.com/office/drawing/2014/main" id="{8DB1AB3F-C511-6BEF-4C10-1481AAF77C55}"/>
              </a:ext>
            </a:extLst>
          </p:cNvPr>
          <p:cNvPicPr>
            <a:picLocks noChangeAspect="1"/>
          </p:cNvPicPr>
          <p:nvPr/>
        </p:nvPicPr>
        <p:blipFill>
          <a:blip r:embed="rId23">
            <a:alphaModFix amt="47000"/>
          </a:blip>
          <a:stretch>
            <a:fillRect/>
          </a:stretch>
        </p:blipFill>
        <p:spPr>
          <a:xfrm>
            <a:off x="9285717" y="1450645"/>
            <a:ext cx="2398283" cy="2698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978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Imagen 70">
            <a:extLst>
              <a:ext uri="{FF2B5EF4-FFF2-40B4-BE49-F238E27FC236}">
                <a16:creationId xmlns:a16="http://schemas.microsoft.com/office/drawing/2014/main" id="{7645EC6F-9961-01C1-E33D-74E8B10800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75" name="Rectángulo: esquinas redondeadas 74">
            <a:extLst>
              <a:ext uri="{FF2B5EF4-FFF2-40B4-BE49-F238E27FC236}">
                <a16:creationId xmlns:a16="http://schemas.microsoft.com/office/drawing/2014/main" id="{5ED604F3-2CDB-B22D-AB98-EF95549F5076}"/>
              </a:ext>
            </a:extLst>
          </p:cNvPr>
          <p:cNvSpPr/>
          <p:nvPr/>
        </p:nvSpPr>
        <p:spPr>
          <a:xfrm>
            <a:off x="1658040" y="273008"/>
            <a:ext cx="5529220" cy="390349"/>
          </a:xfrm>
          <a:prstGeom prst="roundRect">
            <a:avLst>
              <a:gd name="adj" fmla="val 3200"/>
            </a:avLst>
          </a:prstGeom>
          <a:solidFill>
            <a:schemeClr val="bg1"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pic>
        <p:nvPicPr>
          <p:cNvPr id="73" name="Imagen 72">
            <a:extLst>
              <a:ext uri="{FF2B5EF4-FFF2-40B4-BE49-F238E27FC236}">
                <a16:creationId xmlns:a16="http://schemas.microsoft.com/office/drawing/2014/main" id="{FEBD760A-6F26-E9EF-8741-7975593CB7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0837" y="217737"/>
            <a:ext cx="1620000" cy="1620000"/>
          </a:xfrm>
          <a:prstGeom prst="rect">
            <a:avLst/>
          </a:prstGeom>
        </p:spPr>
      </p:pic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35758AF8-5E6F-9CF9-0DF4-B17D9F19C76D}"/>
              </a:ext>
            </a:extLst>
          </p:cNvPr>
          <p:cNvSpPr/>
          <p:nvPr/>
        </p:nvSpPr>
        <p:spPr>
          <a:xfrm>
            <a:off x="10061606" y="1236644"/>
            <a:ext cx="2008742" cy="3621186"/>
          </a:xfrm>
          <a:prstGeom prst="roundRect">
            <a:avLst>
              <a:gd name="adj" fmla="val 4515"/>
            </a:avLst>
          </a:prstGeom>
          <a:solidFill>
            <a:srgbClr val="F0F7FE"/>
          </a:solidFill>
          <a:ln>
            <a:solidFill>
              <a:srgbClr val="B1C7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8331B1B1-CDAB-2828-F6B4-E145732183AA}"/>
              </a:ext>
            </a:extLst>
          </p:cNvPr>
          <p:cNvGrpSpPr/>
          <p:nvPr/>
        </p:nvGrpSpPr>
        <p:grpSpPr>
          <a:xfrm>
            <a:off x="12523067" y="1747010"/>
            <a:ext cx="396000" cy="396000"/>
            <a:chOff x="12523067" y="1747010"/>
            <a:chExt cx="396000" cy="396000"/>
          </a:xfrm>
        </p:grpSpPr>
        <p:sp>
          <p:nvSpPr>
            <p:cNvPr id="9" name="Diagrama de flujo: conector 8">
              <a:extLst>
                <a:ext uri="{FF2B5EF4-FFF2-40B4-BE49-F238E27FC236}">
                  <a16:creationId xmlns:a16="http://schemas.microsoft.com/office/drawing/2014/main" id="{B1F03C0F-972B-2111-E75F-8CF119A4128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523067" y="1747010"/>
              <a:ext cx="396000" cy="396000"/>
            </a:xfrm>
            <a:prstGeom prst="flowChartConnector">
              <a:avLst/>
            </a:prstGeom>
            <a:solidFill>
              <a:srgbClr val="10833B"/>
            </a:solidFill>
            <a:ln>
              <a:solidFill>
                <a:srgbClr val="1083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pic>
          <p:nvPicPr>
            <p:cNvPr id="11" name="Gráfico 10" descr="Checkmark con relleno sólido">
              <a:extLst>
                <a:ext uri="{FF2B5EF4-FFF2-40B4-BE49-F238E27FC236}">
                  <a16:creationId xmlns:a16="http://schemas.microsoft.com/office/drawing/2014/main" id="{24B5124D-A5A0-CBDD-6D5E-3FA071BA8AB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2604932" y="1837737"/>
              <a:ext cx="232269" cy="232269"/>
            </a:xfrm>
            <a:prstGeom prst="rect">
              <a:avLst/>
            </a:prstGeom>
          </p:spPr>
        </p:pic>
      </p:grpSp>
      <p:grpSp>
        <p:nvGrpSpPr>
          <p:cNvPr id="14" name="Grupo 13">
            <a:extLst>
              <a:ext uri="{FF2B5EF4-FFF2-40B4-BE49-F238E27FC236}">
                <a16:creationId xmlns:a16="http://schemas.microsoft.com/office/drawing/2014/main" id="{0324ADCE-987E-57BF-85A9-3A0B8AFDB12F}"/>
              </a:ext>
            </a:extLst>
          </p:cNvPr>
          <p:cNvGrpSpPr/>
          <p:nvPr/>
        </p:nvGrpSpPr>
        <p:grpSpPr>
          <a:xfrm>
            <a:off x="12523066" y="2299133"/>
            <a:ext cx="396000" cy="396000"/>
            <a:chOff x="10294306" y="2526484"/>
            <a:chExt cx="396000" cy="396000"/>
          </a:xfrm>
        </p:grpSpPr>
        <p:sp>
          <p:nvSpPr>
            <p:cNvPr id="13" name="Diagrama de flujo: conector 12">
              <a:extLst>
                <a:ext uri="{FF2B5EF4-FFF2-40B4-BE49-F238E27FC236}">
                  <a16:creationId xmlns:a16="http://schemas.microsoft.com/office/drawing/2014/main" id="{73F9F557-E816-1755-40FE-776A69BE64D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294306" y="2526484"/>
              <a:ext cx="396000" cy="396000"/>
            </a:xfrm>
            <a:prstGeom prst="flowChartConnector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pic>
          <p:nvPicPr>
            <p:cNvPr id="17" name="Gráfico 16" descr="Clock con relleno sólido">
              <a:extLst>
                <a:ext uri="{FF2B5EF4-FFF2-40B4-BE49-F238E27FC236}">
                  <a16:creationId xmlns:a16="http://schemas.microsoft.com/office/drawing/2014/main" id="{6EED11A9-4106-3879-B592-3D0398F7D42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348306" y="2580484"/>
              <a:ext cx="288000" cy="288000"/>
            </a:xfrm>
            <a:prstGeom prst="rect">
              <a:avLst/>
            </a:prstGeom>
          </p:spPr>
        </p:pic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8AA8491E-94DF-D256-5A72-06BA98D6B71D}"/>
              </a:ext>
            </a:extLst>
          </p:cNvPr>
          <p:cNvGrpSpPr/>
          <p:nvPr/>
        </p:nvGrpSpPr>
        <p:grpSpPr>
          <a:xfrm>
            <a:off x="12523066" y="2811579"/>
            <a:ext cx="396000" cy="396000"/>
            <a:chOff x="10294306" y="3320990"/>
            <a:chExt cx="396000" cy="396000"/>
          </a:xfrm>
        </p:grpSpPr>
        <p:sp>
          <p:nvSpPr>
            <p:cNvPr id="15" name="Diagrama de flujo: conector 14">
              <a:extLst>
                <a:ext uri="{FF2B5EF4-FFF2-40B4-BE49-F238E27FC236}">
                  <a16:creationId xmlns:a16="http://schemas.microsoft.com/office/drawing/2014/main" id="{8A081A34-9E2D-332E-F3CB-8555BB2FE70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294306" y="3320990"/>
              <a:ext cx="396000" cy="396000"/>
            </a:xfrm>
            <a:prstGeom prst="flowChartConnector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pic>
          <p:nvPicPr>
            <p:cNvPr id="19" name="Gráfico 18" descr="Close con relleno sólido">
              <a:extLst>
                <a:ext uri="{FF2B5EF4-FFF2-40B4-BE49-F238E27FC236}">
                  <a16:creationId xmlns:a16="http://schemas.microsoft.com/office/drawing/2014/main" id="{1193FA4E-2867-56F5-93CC-2CA2D92EA2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366306" y="3392990"/>
              <a:ext cx="252000" cy="252000"/>
            </a:xfrm>
            <a:prstGeom prst="rect">
              <a:avLst/>
            </a:prstGeom>
          </p:spPr>
        </p:pic>
      </p:grpSp>
      <p:pic>
        <p:nvPicPr>
          <p:cNvPr id="21" name="Gráfico 20" descr="Badge Unfollow con relleno sólido">
            <a:extLst>
              <a:ext uri="{FF2B5EF4-FFF2-40B4-BE49-F238E27FC236}">
                <a16:creationId xmlns:a16="http://schemas.microsoft.com/office/drawing/2014/main" id="{E9905FA3-B57A-4AD2-F3DF-4ACA10D5E4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451066" y="3279579"/>
            <a:ext cx="540000" cy="540000"/>
          </a:xfrm>
          <a:prstGeom prst="rect">
            <a:avLst/>
          </a:prstGeom>
        </p:spPr>
      </p:pic>
      <p:sp>
        <p:nvSpPr>
          <p:cNvPr id="25" name="Rectángulo: esquinas superiores redondeadas 24">
            <a:extLst>
              <a:ext uri="{FF2B5EF4-FFF2-40B4-BE49-F238E27FC236}">
                <a16:creationId xmlns:a16="http://schemas.microsoft.com/office/drawing/2014/main" id="{D0B50F36-8D91-9876-965E-EF3C77832C2A}"/>
              </a:ext>
            </a:extLst>
          </p:cNvPr>
          <p:cNvSpPr/>
          <p:nvPr/>
        </p:nvSpPr>
        <p:spPr>
          <a:xfrm>
            <a:off x="10056452" y="1239164"/>
            <a:ext cx="2008742" cy="386514"/>
          </a:xfrm>
          <a:prstGeom prst="round2SameRect">
            <a:avLst>
              <a:gd name="adj1" fmla="val 26795"/>
              <a:gd name="adj2" fmla="val 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C7D1ACD3-E793-E90C-9051-12DD1AFA7C87}"/>
              </a:ext>
            </a:extLst>
          </p:cNvPr>
          <p:cNvSpPr txBox="1"/>
          <p:nvPr/>
        </p:nvSpPr>
        <p:spPr>
          <a:xfrm>
            <a:off x="10025136" y="1729822"/>
            <a:ext cx="2071374" cy="297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100" dirty="0">
                <a:latin typeface="Arial Narrow" panose="020B0606020202030204" pitchFamily="34" charset="0"/>
              </a:rPr>
              <a:t>La Semana 9 continúa </a:t>
            </a:r>
            <a:r>
              <a:rPr lang="es-CL" sz="1100" b="1" dirty="0">
                <a:latin typeface="Arial Narrow" panose="020B0606020202030204" pitchFamily="34" charset="0"/>
              </a:rPr>
              <a:t>H-03 Desarrollo inicial</a:t>
            </a:r>
            <a:r>
              <a:rPr lang="es-CL" sz="1100" dirty="0">
                <a:latin typeface="Arial Narrow" panose="020B0606020202030204" pitchFamily="34" charset="0"/>
              </a:rPr>
              <a:t>, avanzando desde la preparación técnica hacia la construcción funcional de GATI.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100" dirty="0">
                <a:latin typeface="Arial Narrow" panose="020B0606020202030204" pitchFamily="34" charset="0"/>
              </a:rPr>
              <a:t>Las actividades se concentran en </a:t>
            </a:r>
            <a:r>
              <a:rPr lang="es-CL" sz="1100" b="1" dirty="0" err="1">
                <a:latin typeface="Arial Narrow" panose="020B0606020202030204" pitchFamily="34" charset="0"/>
              </a:rPr>
              <a:t>backend</a:t>
            </a:r>
            <a:r>
              <a:rPr lang="es-CL" sz="1100" b="1" dirty="0">
                <a:latin typeface="Arial Narrow" panose="020B0606020202030204" pitchFamily="34" charset="0"/>
              </a:rPr>
              <a:t>/API, base de datos, inventario, Órdenes de Compra, interfaces e integración con el Sistema Institucional de Compras</a:t>
            </a:r>
            <a:r>
              <a:rPr lang="es-CL" sz="1100" dirty="0">
                <a:latin typeface="Arial Narrow" panose="020B0606020202030204" pitchFamily="34" charset="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1100" dirty="0">
                <a:latin typeface="Arial Narrow" panose="020B0606020202030204" pitchFamily="34" charset="0"/>
              </a:rPr>
              <a:t>Se incorporan actividades de </a:t>
            </a:r>
            <a:r>
              <a:rPr lang="es-CL" sz="1100" b="1" dirty="0">
                <a:latin typeface="Arial Narrow" panose="020B0606020202030204" pitchFamily="34" charset="0"/>
              </a:rPr>
              <a:t>pruebas, trazabilidad y validación funcional</a:t>
            </a:r>
            <a:r>
              <a:rPr lang="es-CL" sz="1100" dirty="0">
                <a:latin typeface="Arial Narrow" panose="020B0606020202030204" pitchFamily="34" charset="0"/>
              </a:rPr>
              <a:t>, permitiendo verificar los componentes desarrollados durante S9.</a:t>
            </a:r>
            <a:endParaRPr lang="es-CL" sz="800" dirty="0">
              <a:latin typeface="Arial Narrow" panose="020B0606020202030204" pitchFamily="34" charset="0"/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A7709E88-1799-2271-3C0B-3E431BE84740}"/>
              </a:ext>
            </a:extLst>
          </p:cNvPr>
          <p:cNvSpPr txBox="1"/>
          <p:nvPr/>
        </p:nvSpPr>
        <p:spPr>
          <a:xfrm>
            <a:off x="10618306" y="1283739"/>
            <a:ext cx="12394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b="1" dirty="0">
                <a:solidFill>
                  <a:schemeClr val="bg1"/>
                </a:solidFill>
                <a:latin typeface="Arial Narrow" panose="020B0606020202030204" pitchFamily="34" charset="0"/>
              </a:rPr>
              <a:t>Observaciones</a:t>
            </a:r>
          </a:p>
        </p:txBody>
      </p: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FEF497D2-2562-F3DE-9E59-D23BD0C792FB}"/>
              </a:ext>
            </a:extLst>
          </p:cNvPr>
          <p:cNvSpPr/>
          <p:nvPr/>
        </p:nvSpPr>
        <p:spPr>
          <a:xfrm>
            <a:off x="6889760" y="1768390"/>
            <a:ext cx="823585" cy="298213"/>
          </a:xfrm>
          <a:prstGeom prst="roundRect">
            <a:avLst>
              <a:gd name="adj" fmla="val 39659"/>
            </a:avLst>
          </a:prstGeom>
          <a:solidFill>
            <a:srgbClr val="7D7D7F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33" name="Rectángulo: esquinas redondeadas 32">
            <a:extLst>
              <a:ext uri="{FF2B5EF4-FFF2-40B4-BE49-F238E27FC236}">
                <a16:creationId xmlns:a16="http://schemas.microsoft.com/office/drawing/2014/main" id="{D35764BB-3C44-C6D2-A95F-E439A0124895}"/>
              </a:ext>
            </a:extLst>
          </p:cNvPr>
          <p:cNvSpPr/>
          <p:nvPr/>
        </p:nvSpPr>
        <p:spPr>
          <a:xfrm>
            <a:off x="6889760" y="2198920"/>
            <a:ext cx="823585" cy="298213"/>
          </a:xfrm>
          <a:prstGeom prst="roundRect">
            <a:avLst>
              <a:gd name="adj" fmla="val 39659"/>
            </a:avLst>
          </a:prstGeom>
          <a:solidFill>
            <a:srgbClr val="7D7D7F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35" name="Rectángulo: esquinas redondeadas 34">
            <a:extLst>
              <a:ext uri="{FF2B5EF4-FFF2-40B4-BE49-F238E27FC236}">
                <a16:creationId xmlns:a16="http://schemas.microsoft.com/office/drawing/2014/main" id="{345ABF90-1A9D-6268-6185-5EE59B670776}"/>
              </a:ext>
            </a:extLst>
          </p:cNvPr>
          <p:cNvSpPr/>
          <p:nvPr/>
        </p:nvSpPr>
        <p:spPr>
          <a:xfrm>
            <a:off x="6889760" y="2624271"/>
            <a:ext cx="823585" cy="298213"/>
          </a:xfrm>
          <a:prstGeom prst="roundRect">
            <a:avLst>
              <a:gd name="adj" fmla="val 39659"/>
            </a:avLst>
          </a:prstGeom>
          <a:solidFill>
            <a:srgbClr val="7D7D7F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37" name="Rectángulo: esquinas redondeadas 36">
            <a:extLst>
              <a:ext uri="{FF2B5EF4-FFF2-40B4-BE49-F238E27FC236}">
                <a16:creationId xmlns:a16="http://schemas.microsoft.com/office/drawing/2014/main" id="{051BC40D-D922-1639-F1CC-A1F0A47F24CA}"/>
              </a:ext>
            </a:extLst>
          </p:cNvPr>
          <p:cNvSpPr/>
          <p:nvPr/>
        </p:nvSpPr>
        <p:spPr>
          <a:xfrm>
            <a:off x="6903095" y="3058473"/>
            <a:ext cx="823585" cy="298213"/>
          </a:xfrm>
          <a:prstGeom prst="roundRect">
            <a:avLst>
              <a:gd name="adj" fmla="val 39659"/>
            </a:avLst>
          </a:prstGeom>
          <a:solidFill>
            <a:srgbClr val="7D7D7F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39" name="Rectángulo: esquinas redondeadas 38">
            <a:extLst>
              <a:ext uri="{FF2B5EF4-FFF2-40B4-BE49-F238E27FC236}">
                <a16:creationId xmlns:a16="http://schemas.microsoft.com/office/drawing/2014/main" id="{F80A41BB-38DE-9044-5FA5-0114BCFA90CE}"/>
              </a:ext>
            </a:extLst>
          </p:cNvPr>
          <p:cNvSpPr/>
          <p:nvPr/>
        </p:nvSpPr>
        <p:spPr>
          <a:xfrm>
            <a:off x="6903095" y="3483824"/>
            <a:ext cx="823585" cy="298213"/>
          </a:xfrm>
          <a:prstGeom prst="roundRect">
            <a:avLst>
              <a:gd name="adj" fmla="val 39659"/>
            </a:avLst>
          </a:prstGeom>
          <a:solidFill>
            <a:srgbClr val="7D7D7F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41" name="Rectángulo: esquinas redondeadas 40">
            <a:extLst>
              <a:ext uri="{FF2B5EF4-FFF2-40B4-BE49-F238E27FC236}">
                <a16:creationId xmlns:a16="http://schemas.microsoft.com/office/drawing/2014/main" id="{24EADAF2-E743-50B8-7B06-0A2045ABBB3C}"/>
              </a:ext>
            </a:extLst>
          </p:cNvPr>
          <p:cNvSpPr/>
          <p:nvPr/>
        </p:nvSpPr>
        <p:spPr>
          <a:xfrm>
            <a:off x="6903095" y="3893038"/>
            <a:ext cx="823585" cy="298213"/>
          </a:xfrm>
          <a:prstGeom prst="roundRect">
            <a:avLst>
              <a:gd name="adj" fmla="val 39659"/>
            </a:avLst>
          </a:prstGeom>
          <a:solidFill>
            <a:srgbClr val="7D7D7F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43" name="Rectángulo: esquinas redondeadas 42">
            <a:extLst>
              <a:ext uri="{FF2B5EF4-FFF2-40B4-BE49-F238E27FC236}">
                <a16:creationId xmlns:a16="http://schemas.microsoft.com/office/drawing/2014/main" id="{A3DB31AD-4C73-5129-B8F5-5B8D6FF73053}"/>
              </a:ext>
            </a:extLst>
          </p:cNvPr>
          <p:cNvSpPr/>
          <p:nvPr/>
        </p:nvSpPr>
        <p:spPr>
          <a:xfrm>
            <a:off x="6924050" y="4333271"/>
            <a:ext cx="823585" cy="298213"/>
          </a:xfrm>
          <a:prstGeom prst="roundRect">
            <a:avLst>
              <a:gd name="adj" fmla="val 39659"/>
            </a:avLst>
          </a:prstGeom>
          <a:solidFill>
            <a:srgbClr val="7D7D7F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45" name="Rectángulo: esquinas redondeadas 44">
            <a:extLst>
              <a:ext uri="{FF2B5EF4-FFF2-40B4-BE49-F238E27FC236}">
                <a16:creationId xmlns:a16="http://schemas.microsoft.com/office/drawing/2014/main" id="{E5C8A124-C353-89D3-F859-07DEF205A536}"/>
              </a:ext>
            </a:extLst>
          </p:cNvPr>
          <p:cNvSpPr/>
          <p:nvPr/>
        </p:nvSpPr>
        <p:spPr>
          <a:xfrm>
            <a:off x="6924049" y="4758622"/>
            <a:ext cx="823585" cy="298213"/>
          </a:xfrm>
          <a:prstGeom prst="roundRect">
            <a:avLst>
              <a:gd name="adj" fmla="val 39659"/>
            </a:avLst>
          </a:prstGeom>
          <a:solidFill>
            <a:srgbClr val="7D7D7F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EB58BC02-0265-7674-2E66-77EDD17B2D22}"/>
              </a:ext>
            </a:extLst>
          </p:cNvPr>
          <p:cNvGrpSpPr/>
          <p:nvPr/>
        </p:nvGrpSpPr>
        <p:grpSpPr>
          <a:xfrm>
            <a:off x="10294306" y="1269413"/>
            <a:ext cx="294105" cy="287881"/>
            <a:chOff x="13234133" y="4781357"/>
            <a:chExt cx="294105" cy="287881"/>
          </a:xfrm>
        </p:grpSpPr>
        <p:sp>
          <p:nvSpPr>
            <p:cNvPr id="62" name="Bocadillo: ovalado 61">
              <a:extLst>
                <a:ext uri="{FF2B5EF4-FFF2-40B4-BE49-F238E27FC236}">
                  <a16:creationId xmlns:a16="http://schemas.microsoft.com/office/drawing/2014/main" id="{3D54ABD3-216F-C6FA-7F00-AEFA626FD1D7}"/>
                </a:ext>
              </a:extLst>
            </p:cNvPr>
            <p:cNvSpPr/>
            <p:nvPr/>
          </p:nvSpPr>
          <p:spPr>
            <a:xfrm>
              <a:off x="13234133" y="4781357"/>
              <a:ext cx="294105" cy="287881"/>
            </a:xfrm>
            <a:prstGeom prst="wedgeEllipseCallout">
              <a:avLst>
                <a:gd name="adj1" fmla="val -47196"/>
                <a:gd name="adj2" fmla="val 48990"/>
              </a:avLst>
            </a:prstGeom>
            <a:noFill/>
            <a:ln>
              <a:solidFill>
                <a:srgbClr val="F0F7F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p:cxnSp>
          <p:nvCxnSpPr>
            <p:cNvPr id="65" name="Conector recto 64">
              <a:extLst>
                <a:ext uri="{FF2B5EF4-FFF2-40B4-BE49-F238E27FC236}">
                  <a16:creationId xmlns:a16="http://schemas.microsoft.com/office/drawing/2014/main" id="{8BC2FD60-B896-4646-7928-1D8AF3DF5F1F}"/>
                </a:ext>
              </a:extLst>
            </p:cNvPr>
            <p:cNvCxnSpPr/>
            <p:nvPr/>
          </p:nvCxnSpPr>
          <p:spPr>
            <a:xfrm>
              <a:off x="13305836" y="4926381"/>
              <a:ext cx="150697" cy="0"/>
            </a:xfrm>
            <a:prstGeom prst="line">
              <a:avLst/>
            </a:prstGeom>
            <a:ln>
              <a:solidFill>
                <a:srgbClr val="F0F7F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ector recto 65">
              <a:extLst>
                <a:ext uri="{FF2B5EF4-FFF2-40B4-BE49-F238E27FC236}">
                  <a16:creationId xmlns:a16="http://schemas.microsoft.com/office/drawing/2014/main" id="{FB694126-335B-E3CD-0F95-EDE289572569}"/>
                </a:ext>
              </a:extLst>
            </p:cNvPr>
            <p:cNvCxnSpPr/>
            <p:nvPr/>
          </p:nvCxnSpPr>
          <p:spPr>
            <a:xfrm>
              <a:off x="13309184" y="4974060"/>
              <a:ext cx="72000" cy="0"/>
            </a:xfrm>
            <a:prstGeom prst="line">
              <a:avLst/>
            </a:prstGeom>
            <a:ln>
              <a:solidFill>
                <a:srgbClr val="F0F7F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8" name="CuadroTexto 67">
            <a:extLst>
              <a:ext uri="{FF2B5EF4-FFF2-40B4-BE49-F238E27FC236}">
                <a16:creationId xmlns:a16="http://schemas.microsoft.com/office/drawing/2014/main" id="{6EB4C389-8E2A-F5C2-414E-D08BBDA07299}"/>
              </a:ext>
            </a:extLst>
          </p:cNvPr>
          <p:cNvSpPr txBox="1"/>
          <p:nvPr/>
        </p:nvSpPr>
        <p:spPr>
          <a:xfrm>
            <a:off x="218756" y="97572"/>
            <a:ext cx="725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200" b="1" dirty="0">
                <a:solidFill>
                  <a:srgbClr val="002060"/>
                </a:solidFill>
                <a:latin typeface="Abadi" panose="020B0604020104020204" pitchFamily="34" charset="0"/>
              </a:rPr>
              <a:t>Compromisos de la Semana Entrante</a:t>
            </a:r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2B663D7E-972B-9B38-B15A-3830D0B125F0}"/>
              </a:ext>
            </a:extLst>
          </p:cNvPr>
          <p:cNvSpPr txBox="1"/>
          <p:nvPr/>
        </p:nvSpPr>
        <p:spPr>
          <a:xfrm>
            <a:off x="290063" y="598089"/>
            <a:ext cx="40995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000" b="1" dirty="0">
                <a:solidFill>
                  <a:srgbClr val="0070C0"/>
                </a:solidFill>
              </a:rPr>
              <a:t>Semana 9 </a:t>
            </a:r>
            <a:r>
              <a:rPr lang="es-CL" sz="2000" b="1" dirty="0">
                <a:solidFill>
                  <a:srgbClr val="002060"/>
                </a:solidFill>
              </a:rPr>
              <a:t>| H-03 Desarrollo inicial</a:t>
            </a:r>
          </a:p>
        </p:txBody>
      </p:sp>
      <p:grpSp>
        <p:nvGrpSpPr>
          <p:cNvPr id="76" name="Grupo 75">
            <a:extLst>
              <a:ext uri="{FF2B5EF4-FFF2-40B4-BE49-F238E27FC236}">
                <a16:creationId xmlns:a16="http://schemas.microsoft.com/office/drawing/2014/main" id="{03D2BF06-DD6C-4677-7A28-24F368678AC8}"/>
              </a:ext>
            </a:extLst>
          </p:cNvPr>
          <p:cNvGrpSpPr/>
          <p:nvPr/>
        </p:nvGrpSpPr>
        <p:grpSpPr>
          <a:xfrm>
            <a:off x="222006" y="6378474"/>
            <a:ext cx="4541575" cy="479526"/>
            <a:chOff x="362021" y="6264961"/>
            <a:chExt cx="4541575" cy="479526"/>
          </a:xfrm>
        </p:grpSpPr>
        <p:pic>
          <p:nvPicPr>
            <p:cNvPr id="77" name="Imagen 76">
              <a:extLst>
                <a:ext uri="{FF2B5EF4-FFF2-40B4-BE49-F238E27FC236}">
                  <a16:creationId xmlns:a16="http://schemas.microsoft.com/office/drawing/2014/main" id="{8DA92D03-8592-36B5-10AB-FFCFB67BBCB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colorTemperature colorTemp="47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62021" y="6264961"/>
              <a:ext cx="479526" cy="479526"/>
            </a:xfrm>
            <a:prstGeom prst="rect">
              <a:avLst/>
            </a:prstGeom>
          </p:spPr>
        </p:pic>
        <p:sp>
          <p:nvSpPr>
            <p:cNvPr id="78" name="CuadroTexto 77">
              <a:extLst>
                <a:ext uri="{FF2B5EF4-FFF2-40B4-BE49-F238E27FC236}">
                  <a16:creationId xmlns:a16="http://schemas.microsoft.com/office/drawing/2014/main" id="{BC667159-2D75-9D99-332C-649E30447781}"/>
                </a:ext>
              </a:extLst>
            </p:cNvPr>
            <p:cNvSpPr txBox="1"/>
            <p:nvPr/>
          </p:nvSpPr>
          <p:spPr>
            <a:xfrm>
              <a:off x="418502" y="6330118"/>
              <a:ext cx="4058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600" b="1" dirty="0">
                  <a:solidFill>
                    <a:srgbClr val="0A3E6F"/>
                  </a:solidFill>
                  <a:latin typeface="Aptos Display" panose="020B0004020202020204" pitchFamily="34" charset="0"/>
                  <a:ea typeface="ADLaM Display" panose="02010000000000000000" pitchFamily="2" charset="0"/>
                  <a:cs typeface="Aharoni" panose="020F0502020204030204" pitchFamily="2" charset="-79"/>
                </a:rPr>
                <a:t>07</a:t>
              </a:r>
            </a:p>
          </p:txBody>
        </p:sp>
        <p:sp>
          <p:nvSpPr>
            <p:cNvPr id="79" name="CuadroTexto 78">
              <a:extLst>
                <a:ext uri="{FF2B5EF4-FFF2-40B4-BE49-F238E27FC236}">
                  <a16:creationId xmlns:a16="http://schemas.microsoft.com/office/drawing/2014/main" id="{7C0D1C1F-A19C-E54B-3F80-617C457CF0B4}"/>
                </a:ext>
              </a:extLst>
            </p:cNvPr>
            <p:cNvSpPr txBox="1"/>
            <p:nvPr/>
          </p:nvSpPr>
          <p:spPr>
            <a:xfrm>
              <a:off x="841547" y="6372387"/>
              <a:ext cx="24956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200" b="1" dirty="0">
                  <a:solidFill>
                    <a:srgbClr val="002060"/>
                  </a:solidFill>
                  <a:latin typeface="Arial Narrow" panose="020B0606020202030204" pitchFamily="34" charset="0"/>
                </a:rPr>
                <a:t>CAPSTONE · Ingeniería en Informática</a:t>
              </a:r>
            </a:p>
          </p:txBody>
        </p:sp>
        <p:cxnSp>
          <p:nvCxnSpPr>
            <p:cNvPr id="80" name="Conector recto 79">
              <a:extLst>
                <a:ext uri="{FF2B5EF4-FFF2-40B4-BE49-F238E27FC236}">
                  <a16:creationId xmlns:a16="http://schemas.microsoft.com/office/drawing/2014/main" id="{DFAB3B82-3895-0503-BAA1-E1FDB2C1F3F5}"/>
                </a:ext>
              </a:extLst>
            </p:cNvPr>
            <p:cNvCxnSpPr/>
            <p:nvPr/>
          </p:nvCxnSpPr>
          <p:spPr>
            <a:xfrm>
              <a:off x="3326720" y="6398507"/>
              <a:ext cx="0" cy="224758"/>
            </a:xfrm>
            <a:prstGeom prst="line">
              <a:avLst/>
            </a:prstGeom>
            <a:ln>
              <a:solidFill>
                <a:srgbClr val="7890B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81" name="Imagen 80">
              <a:extLst>
                <a:ext uri="{FF2B5EF4-FFF2-40B4-BE49-F238E27FC236}">
                  <a16:creationId xmlns:a16="http://schemas.microsoft.com/office/drawing/2014/main" id="{6548F6DC-8310-5E45-1AF2-326A5076AD8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66930" y="6296972"/>
              <a:ext cx="1436666" cy="324000"/>
            </a:xfrm>
            <a:prstGeom prst="rect">
              <a:avLst/>
            </a:prstGeom>
          </p:spPr>
        </p:pic>
      </p:grp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02471859-B5C7-EF7B-10A1-907E82155A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7752304"/>
              </p:ext>
            </p:extLst>
          </p:nvPr>
        </p:nvGraphicFramePr>
        <p:xfrm>
          <a:off x="277200" y="1355223"/>
          <a:ext cx="9703836" cy="482990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5150">
                  <a:extLst>
                    <a:ext uri="{9D8B030D-6E8A-4147-A177-3AD203B41FA5}">
                      <a16:colId xmlns:a16="http://schemas.microsoft.com/office/drawing/2014/main" val="616191650"/>
                    </a:ext>
                  </a:extLst>
                </a:gridCol>
                <a:gridCol w="2204405">
                  <a:extLst>
                    <a:ext uri="{9D8B030D-6E8A-4147-A177-3AD203B41FA5}">
                      <a16:colId xmlns:a16="http://schemas.microsoft.com/office/drawing/2014/main" val="4181869171"/>
                    </a:ext>
                  </a:extLst>
                </a:gridCol>
                <a:gridCol w="940012">
                  <a:extLst>
                    <a:ext uri="{9D8B030D-6E8A-4147-A177-3AD203B41FA5}">
                      <a16:colId xmlns:a16="http://schemas.microsoft.com/office/drawing/2014/main" val="4265849657"/>
                    </a:ext>
                  </a:extLst>
                </a:gridCol>
                <a:gridCol w="970383">
                  <a:extLst>
                    <a:ext uri="{9D8B030D-6E8A-4147-A177-3AD203B41FA5}">
                      <a16:colId xmlns:a16="http://schemas.microsoft.com/office/drawing/2014/main" val="34468123"/>
                    </a:ext>
                  </a:extLst>
                </a:gridCol>
                <a:gridCol w="958389">
                  <a:extLst>
                    <a:ext uri="{9D8B030D-6E8A-4147-A177-3AD203B41FA5}">
                      <a16:colId xmlns:a16="http://schemas.microsoft.com/office/drawing/2014/main" val="3590417956"/>
                    </a:ext>
                  </a:extLst>
                </a:gridCol>
                <a:gridCol w="1015811">
                  <a:extLst>
                    <a:ext uri="{9D8B030D-6E8A-4147-A177-3AD203B41FA5}">
                      <a16:colId xmlns:a16="http://schemas.microsoft.com/office/drawing/2014/main" val="1788706507"/>
                    </a:ext>
                  </a:extLst>
                </a:gridCol>
                <a:gridCol w="2989686">
                  <a:extLst>
                    <a:ext uri="{9D8B030D-6E8A-4147-A177-3AD203B41FA5}">
                      <a16:colId xmlns:a16="http://schemas.microsoft.com/office/drawing/2014/main" val="2629249367"/>
                    </a:ext>
                  </a:extLst>
                </a:gridCol>
              </a:tblGrid>
              <a:tr h="345628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1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CS-09-01</a:t>
                      </a:r>
                    </a:p>
                  </a:txBody>
                  <a:tcPr marL="12912" marR="12912" marT="6456" marB="6456" anchor="ctr">
                    <a:lnL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s-CL" sz="11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Incorporar datos iniciales necesarios.</a:t>
                      </a:r>
                    </a:p>
                  </a:txBody>
                  <a:tcPr marL="12912" marR="12912" marT="6456" marB="6456" anchor="ctr">
                    <a:lnL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1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Eduardo Compan</a:t>
                      </a:r>
                    </a:p>
                  </a:txBody>
                  <a:tcPr marL="12912" marR="12912" marT="6456" marB="6456" anchor="ctr">
                    <a:lnL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1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05-10-2026</a:t>
                      </a:r>
                    </a:p>
                  </a:txBody>
                  <a:tcPr marL="12912" marR="12912" marT="6456" marB="6456" anchor="ctr">
                    <a:lnL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1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05-10-2026</a:t>
                      </a:r>
                    </a:p>
                  </a:txBody>
                  <a:tcPr marL="12912" marR="12912" marT="6456" marB="6456" anchor="ctr">
                    <a:lnL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100" b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No iniciado</a:t>
                      </a:r>
                    </a:p>
                  </a:txBody>
                  <a:tcPr marL="12912" marR="12912" marT="6456" marB="6456" anchor="ctr">
                    <a:lnL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s-CL" sz="11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Incorporar los datos iniciales requeridos para comenzar la operación de la base de datos.</a:t>
                      </a:r>
                    </a:p>
                  </a:txBody>
                  <a:tcPr marL="12912" marR="12912" marT="6456" marB="6456" anchor="ctr">
                    <a:lnL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490540"/>
                  </a:ext>
                </a:extLst>
              </a:tr>
              <a:tr h="376632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1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CS-09-02</a:t>
                      </a:r>
                    </a:p>
                  </a:txBody>
                  <a:tcPr marL="12912" marR="12912" marT="6456" marB="6456" anchor="ctr">
                    <a:lnL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s-CL" sz="11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Validar conexión </a:t>
                      </a:r>
                      <a:r>
                        <a:rPr lang="es-CL" sz="1100" b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backend</a:t>
                      </a:r>
                      <a:r>
                        <a:rPr lang="es-CL" sz="11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–base de datos.</a:t>
                      </a:r>
                    </a:p>
                  </a:txBody>
                  <a:tcPr marL="12912" marR="12912" marT="6456" marB="6456" anchor="ctr">
                    <a:lnL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1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Carlos Araya / Eduardo Compan</a:t>
                      </a:r>
                    </a:p>
                  </a:txBody>
                  <a:tcPr marL="12912" marR="12912" marT="6456" marB="6456" anchor="ctr">
                    <a:lnL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1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05-10-2026</a:t>
                      </a:r>
                    </a:p>
                  </a:txBody>
                  <a:tcPr marL="12912" marR="12912" marT="6456" marB="6456" anchor="ctr">
                    <a:lnL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1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06-10-2026</a:t>
                      </a:r>
                    </a:p>
                  </a:txBody>
                  <a:tcPr marL="12912" marR="12912" marT="6456" marB="6456" anchor="ctr">
                    <a:lnL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100" b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No iniciado</a:t>
                      </a:r>
                    </a:p>
                  </a:txBody>
                  <a:tcPr marL="12912" marR="12912" marT="6456" marB="6456" anchor="ctr">
                    <a:lnL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s-CL" sz="1100" b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Verificar la comunicación y funcionamiento de la conexión entre backend y base de datos.</a:t>
                      </a:r>
                    </a:p>
                  </a:txBody>
                  <a:tcPr marL="12912" marR="12912" marT="6456" marB="6456" anchor="ctr">
                    <a:lnL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9558589"/>
                  </a:ext>
                </a:extLst>
              </a:tr>
              <a:tr h="345628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1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CS-09-03</a:t>
                      </a:r>
                    </a:p>
                  </a:txBody>
                  <a:tcPr marL="12912" marR="12912" marT="6456" marB="6456" anchor="ctr">
                    <a:lnL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s-CL" sz="11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Desarrollo inicial del </a:t>
                      </a:r>
                      <a:r>
                        <a:rPr lang="es-CL" sz="1100" b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backend</a:t>
                      </a:r>
                      <a:r>
                        <a:rPr lang="es-CL" sz="11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/API.</a:t>
                      </a:r>
                    </a:p>
                  </a:txBody>
                  <a:tcPr marL="12912" marR="12912" marT="6456" marB="6456" anchor="ctr">
                    <a:lnL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1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Carlos Araya</a:t>
                      </a:r>
                    </a:p>
                  </a:txBody>
                  <a:tcPr marL="12912" marR="12912" marT="6456" marB="6456" anchor="ctr">
                    <a:lnL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1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05-10-2026</a:t>
                      </a:r>
                    </a:p>
                  </a:txBody>
                  <a:tcPr marL="12912" marR="12912" marT="6456" marB="6456" anchor="ctr">
                    <a:lnL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1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09-10-2026</a:t>
                      </a:r>
                    </a:p>
                  </a:txBody>
                  <a:tcPr marL="12912" marR="12912" marT="6456" marB="6456" anchor="ctr">
                    <a:lnL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100" b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No iniciado</a:t>
                      </a:r>
                    </a:p>
                  </a:txBody>
                  <a:tcPr marL="12912" marR="12912" marT="6456" marB="6456" anchor="ctr">
                    <a:lnL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s-CL" sz="1100" b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Iniciar la construcción de los componentes y servicios base del backend/API.</a:t>
                      </a:r>
                    </a:p>
                  </a:txBody>
                  <a:tcPr marL="12912" marR="12912" marT="6456" marB="6456" anchor="ctr">
                    <a:lnL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3434770"/>
                  </a:ext>
                </a:extLst>
              </a:tr>
              <a:tr h="376632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100" b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CS-09-04</a:t>
                      </a:r>
                    </a:p>
                  </a:txBody>
                  <a:tcPr marL="12912" marR="12912" marT="6456" marB="6456" anchor="ctr">
                    <a:lnL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s-CL" sz="11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Implementar registro y consulta de Órdenes de Compra.</a:t>
                      </a:r>
                    </a:p>
                  </a:txBody>
                  <a:tcPr marL="12912" marR="12912" marT="6456" marB="6456" anchor="ctr">
                    <a:lnL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1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Carlos Araya / Eduardo Compan</a:t>
                      </a:r>
                    </a:p>
                  </a:txBody>
                  <a:tcPr marL="12912" marR="12912" marT="6456" marB="6456" anchor="ctr">
                    <a:lnL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1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06-10-2026</a:t>
                      </a:r>
                    </a:p>
                  </a:txBody>
                  <a:tcPr marL="12912" marR="12912" marT="6456" marB="6456" anchor="ctr">
                    <a:lnL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1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09-10-2026</a:t>
                      </a:r>
                    </a:p>
                  </a:txBody>
                  <a:tcPr marL="12912" marR="12912" marT="6456" marB="6456" anchor="ctr">
                    <a:lnL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100" b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No iniciado</a:t>
                      </a:r>
                    </a:p>
                  </a:txBody>
                  <a:tcPr marL="12912" marR="12912" marT="6456" marB="6456" anchor="ctr">
                    <a:lnL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s-CL" sz="1100" b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Implementar las operaciones iniciales para registrar y consultar Órdenes de Compra.</a:t>
                      </a:r>
                    </a:p>
                  </a:txBody>
                  <a:tcPr marL="12912" marR="12912" marT="6456" marB="6456" anchor="ctr">
                    <a:lnL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8554273"/>
                  </a:ext>
                </a:extLst>
              </a:tr>
              <a:tr h="376632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1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CS-09-05</a:t>
                      </a:r>
                    </a:p>
                  </a:txBody>
                  <a:tcPr marL="12912" marR="12912" marT="6456" marB="6456" anchor="ctr">
                    <a:lnL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s-CL" sz="1100" b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Implementar individualización de activos tecnológicos.</a:t>
                      </a:r>
                    </a:p>
                  </a:txBody>
                  <a:tcPr marL="12912" marR="12912" marT="6456" marB="6456" anchor="ctr">
                    <a:lnL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1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Eduardo Compan</a:t>
                      </a:r>
                    </a:p>
                  </a:txBody>
                  <a:tcPr marL="12912" marR="12912" marT="6456" marB="6456" anchor="ctr">
                    <a:lnL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100" b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06-10-2026</a:t>
                      </a:r>
                    </a:p>
                  </a:txBody>
                  <a:tcPr marL="12912" marR="12912" marT="6456" marB="6456" anchor="ctr">
                    <a:lnL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1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09-10-2026</a:t>
                      </a:r>
                    </a:p>
                  </a:txBody>
                  <a:tcPr marL="12912" marR="12912" marT="6456" marB="6456" anchor="ctr">
                    <a:lnL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100" b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No iniciado</a:t>
                      </a:r>
                    </a:p>
                  </a:txBody>
                  <a:tcPr marL="12912" marR="12912" marT="6456" marB="6456" anchor="ctr">
                    <a:lnL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s-CL" sz="1100" b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Incorporar la identificación individual de los activos tecnológicos registrados.</a:t>
                      </a:r>
                    </a:p>
                  </a:txBody>
                  <a:tcPr marL="12912" marR="12912" marT="6456" marB="6456" anchor="ctr">
                    <a:lnL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212555"/>
                  </a:ext>
                </a:extLst>
              </a:tr>
              <a:tr h="376632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1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CS-09-06</a:t>
                      </a:r>
                    </a:p>
                  </a:txBody>
                  <a:tcPr marL="12912" marR="12912" marT="6456" marB="6456" anchor="ctr">
                    <a:lnL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s-CL" sz="1100" b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Desarrollar interfaces iniciales de inventario y consulta.</a:t>
                      </a:r>
                    </a:p>
                  </a:txBody>
                  <a:tcPr marL="12912" marR="12912" marT="6456" marB="6456" anchor="ctr">
                    <a:lnL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1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Alejandro Gysling</a:t>
                      </a:r>
                    </a:p>
                  </a:txBody>
                  <a:tcPr marL="12912" marR="12912" marT="6456" marB="6456" anchor="ctr">
                    <a:lnL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1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05-10-2026</a:t>
                      </a:r>
                    </a:p>
                  </a:txBody>
                  <a:tcPr marL="12912" marR="12912" marT="6456" marB="6456" anchor="ctr">
                    <a:lnL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1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09-10-2026</a:t>
                      </a:r>
                    </a:p>
                  </a:txBody>
                  <a:tcPr marL="12912" marR="12912" marT="6456" marB="6456" anchor="ctr">
                    <a:lnL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1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No iniciado</a:t>
                      </a:r>
                    </a:p>
                  </a:txBody>
                  <a:tcPr marL="12912" marR="12912" marT="6456" marB="6456" anchor="ctr">
                    <a:lnL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s-CL" sz="1100" b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Construir las primeras interfaces para visualizar y consultar información del inventario.</a:t>
                      </a:r>
                    </a:p>
                  </a:txBody>
                  <a:tcPr marL="12912" marR="12912" marT="6456" marB="6456" anchor="ctr">
                    <a:lnL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8036137"/>
                  </a:ext>
                </a:extLst>
              </a:tr>
              <a:tr h="376632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1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CS-09-07</a:t>
                      </a:r>
                    </a:p>
                  </a:txBody>
                  <a:tcPr marL="12912" marR="12912" marT="6456" marB="6456" anchor="ctr">
                    <a:lnL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s-CL" sz="11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Implementar servicios iniciales para gestión de inventario.</a:t>
                      </a:r>
                    </a:p>
                  </a:txBody>
                  <a:tcPr marL="12912" marR="12912" marT="6456" marB="6456" anchor="ctr">
                    <a:lnL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1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Carlos Araya</a:t>
                      </a:r>
                    </a:p>
                  </a:txBody>
                  <a:tcPr marL="12912" marR="12912" marT="6456" marB="6456" anchor="ctr">
                    <a:lnL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100" b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06-10-2026</a:t>
                      </a:r>
                    </a:p>
                  </a:txBody>
                  <a:tcPr marL="12912" marR="12912" marT="6456" marB="6456" anchor="ctr">
                    <a:lnL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1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09-10-2026</a:t>
                      </a:r>
                    </a:p>
                  </a:txBody>
                  <a:tcPr marL="12912" marR="12912" marT="6456" marB="6456" anchor="ctr">
                    <a:lnL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1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No iniciado</a:t>
                      </a:r>
                    </a:p>
                  </a:txBody>
                  <a:tcPr marL="12912" marR="12912" marT="6456" marB="6456" anchor="ctr">
                    <a:lnL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s-CL" sz="1100" b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Desarrollar los servicios iniciales necesarios para las operaciones de inventario.</a:t>
                      </a:r>
                    </a:p>
                  </a:txBody>
                  <a:tcPr marL="12912" marR="12912" marT="6456" marB="6456" anchor="ctr">
                    <a:lnL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265112"/>
                  </a:ext>
                </a:extLst>
              </a:tr>
              <a:tr h="49903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1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CS-09-08</a:t>
                      </a:r>
                    </a:p>
                  </a:txBody>
                  <a:tcPr marL="12912" marR="12912" marT="6456" marB="6456" anchor="ctr">
                    <a:lnL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s-CL" sz="1100" b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Preparar estructura de integración con Sistema Institucional de Compras.</a:t>
                      </a:r>
                    </a:p>
                  </a:txBody>
                  <a:tcPr marL="12912" marR="12912" marT="6456" marB="6456" anchor="ctr">
                    <a:lnL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1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Eduardo Compan</a:t>
                      </a:r>
                    </a:p>
                  </a:txBody>
                  <a:tcPr marL="12912" marR="12912" marT="6456" marB="6456" anchor="ctr">
                    <a:lnL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100" b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07-10-2026</a:t>
                      </a:r>
                    </a:p>
                  </a:txBody>
                  <a:tcPr marL="12912" marR="12912" marT="6456" marB="6456" anchor="ctr">
                    <a:lnL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1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09-10-2026</a:t>
                      </a:r>
                    </a:p>
                  </a:txBody>
                  <a:tcPr marL="12912" marR="12912" marT="6456" marB="6456" anchor="ctr">
                    <a:lnL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100" b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No iniciado</a:t>
                      </a:r>
                    </a:p>
                  </a:txBody>
                  <a:tcPr marL="12912" marR="12912" marT="6456" marB="6456" anchor="ctr">
                    <a:lnL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s-CL" sz="1100" b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Preparar la estructura técnica necesaria para la posterior integración con el sistema de compras.</a:t>
                      </a:r>
                    </a:p>
                  </a:txBody>
                  <a:tcPr marL="12912" marR="12912" marT="6456" marB="6456" anchor="ctr">
                    <a:lnL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896263"/>
                  </a:ext>
                </a:extLst>
              </a:tr>
              <a:tr h="376632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1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CS-09-09</a:t>
                      </a:r>
                    </a:p>
                  </a:txBody>
                  <a:tcPr marL="12912" marR="12912" marT="6456" marB="6456" anchor="ctr">
                    <a:lnL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s-CL" sz="1100" b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Diseñar y preparar casos de prueba de los módulos desarrollados.</a:t>
                      </a:r>
                    </a:p>
                  </a:txBody>
                  <a:tcPr marL="12912" marR="12912" marT="6456" marB="6456" anchor="ctr">
                    <a:lnL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1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Alejandro Gysling</a:t>
                      </a:r>
                    </a:p>
                  </a:txBody>
                  <a:tcPr marL="12912" marR="12912" marT="6456" marB="6456" anchor="ctr">
                    <a:lnL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100" b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06-10-2026</a:t>
                      </a:r>
                    </a:p>
                  </a:txBody>
                  <a:tcPr marL="12912" marR="12912" marT="6456" marB="6456" anchor="ctr">
                    <a:lnL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1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09-10-2026</a:t>
                      </a:r>
                    </a:p>
                  </a:txBody>
                  <a:tcPr marL="12912" marR="12912" marT="6456" marB="6456" anchor="ctr">
                    <a:lnL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1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No iniciado</a:t>
                      </a:r>
                    </a:p>
                  </a:txBody>
                  <a:tcPr marL="12912" marR="12912" marT="6456" marB="6456" anchor="ctr">
                    <a:lnL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s-CL" sz="1100" b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Definir casos de prueba para verificar el comportamiento de los componentes desarrollados.</a:t>
                      </a:r>
                    </a:p>
                  </a:txBody>
                  <a:tcPr marL="12912" marR="12912" marT="6456" marB="6456" anchor="ctr">
                    <a:lnL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71882"/>
                  </a:ext>
                </a:extLst>
              </a:tr>
              <a:tr h="49903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1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CS-09-10</a:t>
                      </a:r>
                    </a:p>
                  </a:txBody>
                  <a:tcPr marL="12912" marR="12912" marT="6456" marB="6456" anchor="ctr">
                    <a:lnL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s-CL" sz="1100" b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Actualizar trazabilidad entre requisitos y componentes implementados.</a:t>
                      </a:r>
                    </a:p>
                  </a:txBody>
                  <a:tcPr marL="12912" marR="12912" marT="6456" marB="6456" anchor="ctr">
                    <a:lnL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1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Rubén Mansilla / Alejandro Gysling</a:t>
                      </a:r>
                    </a:p>
                  </a:txBody>
                  <a:tcPr marL="12912" marR="12912" marT="6456" marB="6456" anchor="ctr">
                    <a:lnL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100" b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08-10-2026</a:t>
                      </a:r>
                    </a:p>
                  </a:txBody>
                  <a:tcPr marL="12912" marR="12912" marT="6456" marB="6456" anchor="ctr">
                    <a:lnL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1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09-10-2026</a:t>
                      </a:r>
                    </a:p>
                  </a:txBody>
                  <a:tcPr marL="12912" marR="12912" marT="6456" marB="6456" anchor="ctr">
                    <a:lnL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1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No iniciado</a:t>
                      </a:r>
                    </a:p>
                  </a:txBody>
                  <a:tcPr marL="12912" marR="12912" marT="6456" marB="6456" anchor="ctr">
                    <a:lnL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s-CL" sz="11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Mantener actualizada la relación entre requisitos y componentes implementados durante S9.</a:t>
                      </a:r>
                    </a:p>
                  </a:txBody>
                  <a:tcPr marL="12912" marR="12912" marT="6456" marB="6456" anchor="ctr">
                    <a:lnL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454498"/>
                  </a:ext>
                </a:extLst>
              </a:tr>
              <a:tr h="49903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1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CS-09-11</a:t>
                      </a:r>
                    </a:p>
                  </a:txBody>
                  <a:tcPr marL="12912" marR="12912" marT="6456" marB="6456" anchor="ctr">
                    <a:lnL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s-CL" sz="1100" b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Revisar cumplimiento funcional de los requisitos abordados en S9.</a:t>
                      </a:r>
                    </a:p>
                  </a:txBody>
                  <a:tcPr marL="12912" marR="12912" marT="6456" marB="6456" anchor="ctr">
                    <a:lnL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1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Rubén Mansilla</a:t>
                      </a:r>
                    </a:p>
                  </a:txBody>
                  <a:tcPr marL="12912" marR="12912" marT="6456" marB="6456" anchor="ctr">
                    <a:lnL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100" b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08-10-2026</a:t>
                      </a:r>
                    </a:p>
                  </a:txBody>
                  <a:tcPr marL="12912" marR="12912" marT="6456" marB="6456" anchor="ctr">
                    <a:lnL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1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09-10-2026</a:t>
                      </a:r>
                    </a:p>
                  </a:txBody>
                  <a:tcPr marL="12912" marR="12912" marT="6456" marB="6456" anchor="ctr">
                    <a:lnL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1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No iniciado</a:t>
                      </a:r>
                    </a:p>
                  </a:txBody>
                  <a:tcPr marL="12912" marR="12912" marT="6456" marB="6456" anchor="ctr">
                    <a:lnL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s-CL" sz="11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Verificar que las funcionalidades desarrolladas respondan a los requisitos definidos.</a:t>
                      </a:r>
                    </a:p>
                  </a:txBody>
                  <a:tcPr marL="12912" marR="12912" marT="6456" marB="6456" anchor="ctr">
                    <a:lnL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1780845"/>
                  </a:ext>
                </a:extLst>
              </a:tr>
              <a:tr h="376632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1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CS-09-12</a:t>
                      </a:r>
                    </a:p>
                  </a:txBody>
                  <a:tcPr marL="12912" marR="12912" marT="6456" marB="6456" anchor="ctr">
                    <a:lnL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s-CL" sz="11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Integrar y validar construcción funcional de S9.</a:t>
                      </a:r>
                    </a:p>
                  </a:txBody>
                  <a:tcPr marL="12912" marR="12912" marT="6456" marB="6456" anchor="ctr">
                    <a:lnL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1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Equipo completo</a:t>
                      </a:r>
                    </a:p>
                  </a:txBody>
                  <a:tcPr marL="12912" marR="12912" marT="6456" marB="6456" anchor="ctr">
                    <a:lnL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100" b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09-10-2026</a:t>
                      </a:r>
                    </a:p>
                  </a:txBody>
                  <a:tcPr marL="12912" marR="12912" marT="6456" marB="6456" anchor="ctr">
                    <a:lnL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100" b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09-10-2026</a:t>
                      </a:r>
                    </a:p>
                  </a:txBody>
                  <a:tcPr marL="12912" marR="12912" marT="6456" marB="6456" anchor="ctr">
                    <a:lnL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1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No iniciado</a:t>
                      </a:r>
                    </a:p>
                  </a:txBody>
                  <a:tcPr marL="12912" marR="12912" marT="6456" marB="6456" anchor="ctr">
                    <a:lnL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buNone/>
                      </a:pPr>
                      <a:r>
                        <a:rPr lang="es-CL" sz="1100" b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Integrar los componentes desarrollados y validar el resultado funcional alcanzado durante la semana.</a:t>
                      </a:r>
                    </a:p>
                  </a:txBody>
                  <a:tcPr marL="12912" marR="12912" marT="6456" marB="6456" anchor="ctr">
                    <a:lnL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6008835"/>
                  </a:ext>
                </a:extLst>
              </a:tr>
            </a:tbl>
          </a:graphicData>
        </a:graphic>
      </p:graphicFrame>
      <p:sp>
        <p:nvSpPr>
          <p:cNvPr id="8" name="Rectángulo: esquinas superiores redondeadas 7">
            <a:extLst>
              <a:ext uri="{FF2B5EF4-FFF2-40B4-BE49-F238E27FC236}">
                <a16:creationId xmlns:a16="http://schemas.microsoft.com/office/drawing/2014/main" id="{B231E6E7-B3A7-3052-4E12-B66A9F15C052}"/>
              </a:ext>
            </a:extLst>
          </p:cNvPr>
          <p:cNvSpPr/>
          <p:nvPr/>
        </p:nvSpPr>
        <p:spPr>
          <a:xfrm>
            <a:off x="277199" y="1105624"/>
            <a:ext cx="9703836" cy="240549"/>
          </a:xfrm>
          <a:prstGeom prst="round2SameRect">
            <a:avLst/>
          </a:prstGeom>
          <a:solidFill>
            <a:srgbClr val="002060"/>
          </a:solidFill>
          <a:ln w="12700">
            <a:solidFill>
              <a:srgbClr val="156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5443DBF2-0CCB-E585-CB1A-59152BC0C5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1426542"/>
              </p:ext>
            </p:extLst>
          </p:nvPr>
        </p:nvGraphicFramePr>
        <p:xfrm>
          <a:off x="277200" y="1125337"/>
          <a:ext cx="9703836" cy="1805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5150">
                  <a:extLst>
                    <a:ext uri="{9D8B030D-6E8A-4147-A177-3AD203B41FA5}">
                      <a16:colId xmlns:a16="http://schemas.microsoft.com/office/drawing/2014/main" val="3229214500"/>
                    </a:ext>
                  </a:extLst>
                </a:gridCol>
                <a:gridCol w="2204405">
                  <a:extLst>
                    <a:ext uri="{9D8B030D-6E8A-4147-A177-3AD203B41FA5}">
                      <a16:colId xmlns:a16="http://schemas.microsoft.com/office/drawing/2014/main" val="1730899315"/>
                    </a:ext>
                  </a:extLst>
                </a:gridCol>
                <a:gridCol w="940012">
                  <a:extLst>
                    <a:ext uri="{9D8B030D-6E8A-4147-A177-3AD203B41FA5}">
                      <a16:colId xmlns:a16="http://schemas.microsoft.com/office/drawing/2014/main" val="2466693788"/>
                    </a:ext>
                  </a:extLst>
                </a:gridCol>
                <a:gridCol w="970383">
                  <a:extLst>
                    <a:ext uri="{9D8B030D-6E8A-4147-A177-3AD203B41FA5}">
                      <a16:colId xmlns:a16="http://schemas.microsoft.com/office/drawing/2014/main" val="49653000"/>
                    </a:ext>
                  </a:extLst>
                </a:gridCol>
                <a:gridCol w="958389">
                  <a:extLst>
                    <a:ext uri="{9D8B030D-6E8A-4147-A177-3AD203B41FA5}">
                      <a16:colId xmlns:a16="http://schemas.microsoft.com/office/drawing/2014/main" val="2774254133"/>
                    </a:ext>
                  </a:extLst>
                </a:gridCol>
                <a:gridCol w="1139668">
                  <a:extLst>
                    <a:ext uri="{9D8B030D-6E8A-4147-A177-3AD203B41FA5}">
                      <a16:colId xmlns:a16="http://schemas.microsoft.com/office/drawing/2014/main" val="4108815045"/>
                    </a:ext>
                  </a:extLst>
                </a:gridCol>
                <a:gridCol w="2865829">
                  <a:extLst>
                    <a:ext uri="{9D8B030D-6E8A-4147-A177-3AD203B41FA5}">
                      <a16:colId xmlns:a16="http://schemas.microsoft.com/office/drawing/2014/main" val="2049493468"/>
                    </a:ext>
                  </a:extLst>
                </a:gridCol>
              </a:tblGrid>
              <a:tr h="77106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1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ID</a:t>
                      </a:r>
                    </a:p>
                  </a:txBody>
                  <a:tcPr marL="12912" marR="12912" marT="6456" marB="64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1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Compromiso</a:t>
                      </a:r>
                    </a:p>
                  </a:txBody>
                  <a:tcPr marL="12912" marR="12912" marT="6456" marB="64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1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Responsable</a:t>
                      </a:r>
                    </a:p>
                  </a:txBody>
                  <a:tcPr marL="12912" marR="12912" marT="6456" marB="64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1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Inicio</a:t>
                      </a:r>
                    </a:p>
                  </a:txBody>
                  <a:tcPr marL="12912" marR="12912" marT="6456" marB="64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1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Término</a:t>
                      </a:r>
                    </a:p>
                  </a:txBody>
                  <a:tcPr marL="12912" marR="12912" marT="6456" marB="64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1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Estado</a:t>
                      </a:r>
                    </a:p>
                  </a:txBody>
                  <a:tcPr marL="12912" marR="12912" marT="6456" marB="64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s-CL" sz="11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Comentario</a:t>
                      </a:r>
                    </a:p>
                  </a:txBody>
                  <a:tcPr marL="12912" marR="12912" marT="6456" marB="64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240701"/>
                  </a:ext>
                </a:extLst>
              </a:tr>
            </a:tbl>
          </a:graphicData>
        </a:graphic>
      </p:graphicFrame>
      <p:grpSp>
        <p:nvGrpSpPr>
          <p:cNvPr id="20" name="Grupo 19">
            <a:extLst>
              <a:ext uri="{FF2B5EF4-FFF2-40B4-BE49-F238E27FC236}">
                <a16:creationId xmlns:a16="http://schemas.microsoft.com/office/drawing/2014/main" id="{594526B6-03BC-1B8D-C027-F721675E0209}"/>
              </a:ext>
            </a:extLst>
          </p:cNvPr>
          <p:cNvGrpSpPr/>
          <p:nvPr/>
        </p:nvGrpSpPr>
        <p:grpSpPr>
          <a:xfrm>
            <a:off x="11636743" y="4499561"/>
            <a:ext cx="457200" cy="457200"/>
            <a:chOff x="12624526" y="4709905"/>
            <a:chExt cx="457200" cy="457200"/>
          </a:xfrm>
          <a:effectLst>
            <a:outerShdw blurRad="50800" dist="50800" dir="5400000" algn="ctr" rotWithShape="0">
              <a:schemeClr val="bg1"/>
            </a:outerShdw>
          </a:effectLst>
        </p:grpSpPr>
        <p:sp>
          <p:nvSpPr>
            <p:cNvPr id="47" name="Diagrama de flujo: conector 46">
              <a:extLst>
                <a:ext uri="{FF2B5EF4-FFF2-40B4-BE49-F238E27FC236}">
                  <a16:creationId xmlns:a16="http://schemas.microsoft.com/office/drawing/2014/main" id="{30B151B8-1083-6460-692B-C7B500A59492}"/>
                </a:ext>
              </a:extLst>
            </p:cNvPr>
            <p:cNvSpPr/>
            <p:nvPr/>
          </p:nvSpPr>
          <p:spPr>
            <a:xfrm>
              <a:off x="12624526" y="4709905"/>
              <a:ext cx="457200" cy="457200"/>
            </a:xfrm>
            <a:prstGeom prst="flowChartConnector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pic>
          <p:nvPicPr>
            <p:cNvPr id="48" name="Gráfico 47" descr="Bullseye con relleno sólido">
              <a:extLst>
                <a:ext uri="{FF2B5EF4-FFF2-40B4-BE49-F238E27FC236}">
                  <a16:creationId xmlns:a16="http://schemas.microsoft.com/office/drawing/2014/main" id="{B57BFD62-2873-B5E9-A852-A3DF2CEE9A8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2655126" y="4740505"/>
              <a:ext cx="396000" cy="396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239026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Imagen 92">
            <a:extLst>
              <a:ext uri="{FF2B5EF4-FFF2-40B4-BE49-F238E27FC236}">
                <a16:creationId xmlns:a16="http://schemas.microsoft.com/office/drawing/2014/main" id="{8E9F337E-7285-C564-86FA-E4221400DD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111" name="Imagen 110">
            <a:extLst>
              <a:ext uri="{FF2B5EF4-FFF2-40B4-BE49-F238E27FC236}">
                <a16:creationId xmlns:a16="http://schemas.microsoft.com/office/drawing/2014/main" id="{798C028B-1A4F-D11A-4A4C-11B791AD99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0837" y="217737"/>
            <a:ext cx="1620000" cy="1620000"/>
          </a:xfrm>
          <a:prstGeom prst="rect">
            <a:avLst/>
          </a:prstGeom>
        </p:spPr>
      </p:pic>
      <p:sp>
        <p:nvSpPr>
          <p:cNvPr id="96" name="Rectángulo: esquinas redondeadas 95">
            <a:extLst>
              <a:ext uri="{FF2B5EF4-FFF2-40B4-BE49-F238E27FC236}">
                <a16:creationId xmlns:a16="http://schemas.microsoft.com/office/drawing/2014/main" id="{90AD2E76-9E19-7396-4815-FD0F47CAC919}"/>
              </a:ext>
            </a:extLst>
          </p:cNvPr>
          <p:cNvSpPr/>
          <p:nvPr/>
        </p:nvSpPr>
        <p:spPr>
          <a:xfrm>
            <a:off x="2060952" y="217310"/>
            <a:ext cx="5529220" cy="390349"/>
          </a:xfrm>
          <a:prstGeom prst="roundRect">
            <a:avLst>
              <a:gd name="adj" fmla="val 3200"/>
            </a:avLst>
          </a:prstGeom>
          <a:solidFill>
            <a:schemeClr val="bg1"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94" name="Rectángulo: esquinas redondeadas 93">
            <a:extLst>
              <a:ext uri="{FF2B5EF4-FFF2-40B4-BE49-F238E27FC236}">
                <a16:creationId xmlns:a16="http://schemas.microsoft.com/office/drawing/2014/main" id="{EF462465-A4FE-045F-1058-0287C49BF2F5}"/>
              </a:ext>
            </a:extLst>
          </p:cNvPr>
          <p:cNvSpPr/>
          <p:nvPr/>
        </p:nvSpPr>
        <p:spPr>
          <a:xfrm>
            <a:off x="245660" y="792975"/>
            <a:ext cx="11402054" cy="4620771"/>
          </a:xfrm>
          <a:prstGeom prst="roundRect">
            <a:avLst>
              <a:gd name="adj" fmla="val 3200"/>
            </a:avLst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26B2397A-4E4D-C2A2-9E3C-50A632F8C2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2233180"/>
              </p:ext>
            </p:extLst>
          </p:nvPr>
        </p:nvGraphicFramePr>
        <p:xfrm>
          <a:off x="347870" y="949960"/>
          <a:ext cx="11160000" cy="4399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20000">
                  <a:extLst>
                    <a:ext uri="{9D8B030D-6E8A-4147-A177-3AD203B41FA5}">
                      <a16:colId xmlns:a16="http://schemas.microsoft.com/office/drawing/2014/main" val="23589802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75782322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75263659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23478104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3660803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8472924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56869009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06827959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7305353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621878868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21405722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422224755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31449734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9984821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65508234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12655501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637654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s-CL" sz="1050" b="1" dirty="0">
                          <a:latin typeface="Arial Narrow" panose="020B0606020202030204" pitchFamily="34" charset="0"/>
                        </a:rPr>
                        <a:t>Semanas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latin typeface="Arial Narrow" panose="020B0606020202030204" pitchFamily="34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latin typeface="Arial Narrow" panose="020B060602020203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latin typeface="Arial Narrow" panose="020B060602020203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latin typeface="Arial Narrow" panose="020B0606020202030204" pitchFamily="34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latin typeface="Arial Narrow" panose="020B0606020202030204" pitchFamily="34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latin typeface="Arial Narrow" panose="020B0606020202030204" pitchFamily="34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latin typeface="Arial Narrow" panose="020B0606020202030204" pitchFamily="34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latin typeface="Arial Narrow" panose="020B060602020203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latin typeface="Arial Narrow" panose="020B060602020203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latin typeface="Arial Narrow" panose="020B0606020202030204" pitchFamily="34" charset="0"/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latin typeface="Arial Narrow" panose="020B0606020202030204" pitchFamily="34" charset="0"/>
                        </a:rPr>
                        <a:t>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latin typeface="Arial Narrow" panose="020B0606020202030204" pitchFamily="34" charset="0"/>
                        </a:rPr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latin typeface="Arial Narrow" panose="020B0606020202030204" pitchFamily="34" charset="0"/>
                        </a:rPr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latin typeface="Arial Narrow" panose="020B0606020202030204" pitchFamily="34" charset="0"/>
                        </a:rPr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4102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s-CL" sz="1050" b="1" dirty="0">
                          <a:latin typeface="Arial Narrow" panose="020B0606020202030204" pitchFamily="34" charset="0"/>
                        </a:rPr>
                        <a:t>Hitos Principales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7652958"/>
                  </a:ext>
                </a:extLst>
              </a:tr>
              <a:tr h="481864">
                <a:tc>
                  <a:txBody>
                    <a:bodyPr/>
                    <a:lstStyle/>
                    <a:p>
                      <a:pPr lvl="1"/>
                      <a:r>
                        <a:rPr lang="es-CL" sz="1050" b="1" dirty="0">
                          <a:latin typeface="Arial Narrow" panose="020B0606020202030204" pitchFamily="34" charset="0"/>
                        </a:rPr>
                        <a:t>Propuesta e inicio</a:t>
                      </a:r>
                    </a:p>
                    <a:p>
                      <a:pPr lvl="1"/>
                      <a:r>
                        <a:rPr lang="es-MX" sz="1050" dirty="0">
                          <a:latin typeface="Arial Narrow" panose="020B0606020202030204" pitchFamily="34" charset="0"/>
                        </a:rPr>
                        <a:t>Problema, valor, objetivos, </a:t>
                      </a:r>
                    </a:p>
                    <a:p>
                      <a:pPr lvl="1"/>
                      <a:r>
                        <a:rPr lang="es-MX" sz="1050" dirty="0">
                          <a:latin typeface="Arial Narrow" panose="020B0606020202030204" pitchFamily="34" charset="0"/>
                        </a:rPr>
                        <a:t>metodología, acta y planificación inicial.</a:t>
                      </a:r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9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1"/>
                      <a:r>
                        <a:rPr lang="es-CL" sz="1050" b="1" dirty="0">
                          <a:latin typeface="Arial Narrow" panose="020B0606020202030204" pitchFamily="34" charset="0"/>
                        </a:rPr>
                        <a:t>Requisitos, diseño y arquitectura</a:t>
                      </a:r>
                    </a:p>
                    <a:p>
                      <a:pPr lvl="1"/>
                      <a:r>
                        <a:rPr lang="es-CL" sz="1050" dirty="0">
                          <a:latin typeface="Arial Narrow" panose="020B0606020202030204" pitchFamily="34" charset="0"/>
                        </a:rPr>
                        <a:t>ERS, AS-IS/TO-BE, arquitectura, datos, interfaces, seguridad e integración.</a:t>
                      </a: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59222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1"/>
                      <a:r>
                        <a:rPr lang="es-MX" sz="1050" b="1" dirty="0">
                          <a:latin typeface="Arial Narrow" panose="020B0606020202030204" pitchFamily="34" charset="0"/>
                        </a:rPr>
                        <a:t>Desarrollo inicial </a:t>
                      </a:r>
                    </a:p>
                    <a:p>
                      <a:pPr lvl="1"/>
                      <a:r>
                        <a:rPr lang="es-MX" sz="1050" dirty="0">
                          <a:latin typeface="Arial Narrow" panose="020B0606020202030204" pitchFamily="34" charset="0"/>
                        </a:rPr>
                        <a:t>Base técnica, API, base de datos y primeros módulos funcionales con evidencia.</a:t>
                      </a:r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5839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1"/>
                      <a:r>
                        <a:rPr lang="es-MX" sz="1050" b="1" dirty="0">
                          <a:latin typeface="Arial Narrow" panose="020B0606020202030204" pitchFamily="34" charset="0"/>
                        </a:rPr>
                        <a:t>Desarrollo final y verificación</a:t>
                      </a:r>
                      <a:r>
                        <a:rPr lang="es-MX" sz="1050" dirty="0">
                          <a:latin typeface="Arial Narrow" panose="020B0606020202030204" pitchFamily="34" charset="0"/>
                        </a:rPr>
                        <a:t>  aplicación móvil, QR, integración, pruebas, correcciones y documentación.</a:t>
                      </a:r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21211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1"/>
                      <a:r>
                        <a:rPr lang="es-MX" sz="1050" b="1" dirty="0">
                          <a:latin typeface="Arial Narrow" panose="020B0606020202030204" pitchFamily="34" charset="0"/>
                        </a:rPr>
                        <a:t>Aceptación y cierre</a:t>
                      </a:r>
                    </a:p>
                    <a:p>
                      <a:pPr lvl="1"/>
                      <a:r>
                        <a:rPr lang="es-MX" sz="1050" dirty="0">
                          <a:latin typeface="Arial Narrow" panose="020B0606020202030204" pitchFamily="34" charset="0"/>
                        </a:rPr>
                        <a:t>Entrega, aceptación, informe final, lecciones aprendidas, demostración y defensa.</a:t>
                      </a:r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L" sz="105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211384"/>
                  </a:ext>
                </a:extLst>
              </a:tr>
            </a:tbl>
          </a:graphicData>
        </a:graphic>
      </p:graphicFrame>
      <p:grpSp>
        <p:nvGrpSpPr>
          <p:cNvPr id="9" name="Grupo 8">
            <a:extLst>
              <a:ext uri="{FF2B5EF4-FFF2-40B4-BE49-F238E27FC236}">
                <a16:creationId xmlns:a16="http://schemas.microsoft.com/office/drawing/2014/main" id="{FDEE117D-9FFC-F63B-855A-D946D546B283}"/>
              </a:ext>
            </a:extLst>
          </p:cNvPr>
          <p:cNvGrpSpPr/>
          <p:nvPr/>
        </p:nvGrpSpPr>
        <p:grpSpPr>
          <a:xfrm>
            <a:off x="362021" y="6264961"/>
            <a:ext cx="4541575" cy="479526"/>
            <a:chOff x="362021" y="6264961"/>
            <a:chExt cx="4541575" cy="479526"/>
          </a:xfrm>
        </p:grpSpPr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ABF7E8C3-451D-35CC-6237-10096286415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colorTemperature colorTemp="47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62021" y="6264961"/>
              <a:ext cx="479526" cy="479526"/>
            </a:xfrm>
            <a:prstGeom prst="rect">
              <a:avLst/>
            </a:prstGeom>
          </p:spPr>
        </p:pic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BA169E83-957A-1713-3D8E-F6162DAC9595}"/>
                </a:ext>
              </a:extLst>
            </p:cNvPr>
            <p:cNvSpPr txBox="1"/>
            <p:nvPr/>
          </p:nvSpPr>
          <p:spPr>
            <a:xfrm>
              <a:off x="418502" y="6330118"/>
              <a:ext cx="4058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600" b="1" dirty="0">
                  <a:solidFill>
                    <a:srgbClr val="0A3E6F"/>
                  </a:solidFill>
                  <a:latin typeface="Aptos Display" panose="020B0004020202020204" pitchFamily="34" charset="0"/>
                  <a:ea typeface="ADLaM Display" panose="02010000000000000000" pitchFamily="2" charset="0"/>
                  <a:cs typeface="Aharoni" panose="020F0502020204030204" pitchFamily="2" charset="-79"/>
                </a:rPr>
                <a:t>09</a:t>
              </a:r>
            </a:p>
          </p:txBody>
        </p: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D93153C4-16D1-5B81-0019-5D1BC4D9371D}"/>
                </a:ext>
              </a:extLst>
            </p:cNvPr>
            <p:cNvSpPr txBox="1"/>
            <p:nvPr/>
          </p:nvSpPr>
          <p:spPr>
            <a:xfrm>
              <a:off x="841547" y="6372387"/>
              <a:ext cx="24956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200" b="1" dirty="0">
                  <a:solidFill>
                    <a:srgbClr val="002060"/>
                  </a:solidFill>
                  <a:latin typeface="Arial Narrow" panose="020B0606020202030204" pitchFamily="34" charset="0"/>
                </a:rPr>
                <a:t>CAPSTONE · Ingeniería en Informática</a:t>
              </a:r>
            </a:p>
          </p:txBody>
        </p:sp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3F6D8875-3093-CD27-1844-C173A34E4782}"/>
                </a:ext>
              </a:extLst>
            </p:cNvPr>
            <p:cNvCxnSpPr/>
            <p:nvPr/>
          </p:nvCxnSpPr>
          <p:spPr>
            <a:xfrm>
              <a:off x="3326720" y="6398507"/>
              <a:ext cx="0" cy="224758"/>
            </a:xfrm>
            <a:prstGeom prst="line">
              <a:avLst/>
            </a:prstGeom>
            <a:ln>
              <a:solidFill>
                <a:srgbClr val="7890B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C35CAD8D-0C11-E52C-3631-760E746AC23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66930" y="6296972"/>
              <a:ext cx="1436666" cy="324000"/>
            </a:xfrm>
            <a:prstGeom prst="rect">
              <a:avLst/>
            </a:prstGeom>
          </p:spPr>
        </p:pic>
      </p:grp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59AF6BEF-3DE9-1463-F599-0B0B94373E04}"/>
              </a:ext>
            </a:extLst>
          </p:cNvPr>
          <p:cNvSpPr/>
          <p:nvPr/>
        </p:nvSpPr>
        <p:spPr>
          <a:xfrm>
            <a:off x="1225414" y="5463554"/>
            <a:ext cx="3465095" cy="808523"/>
          </a:xfrm>
          <a:prstGeom prst="roundRect">
            <a:avLst>
              <a:gd name="adj" fmla="val 1588"/>
            </a:avLst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709F665-2D73-09EA-1039-18E7DC8229BF}"/>
              </a:ext>
            </a:extLst>
          </p:cNvPr>
          <p:cNvSpPr txBox="1"/>
          <p:nvPr/>
        </p:nvSpPr>
        <p:spPr>
          <a:xfrm>
            <a:off x="1225414" y="5463554"/>
            <a:ext cx="72167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050" b="1" dirty="0">
                <a:latin typeface="Abadi" panose="020B0604020104020204" pitchFamily="34" charset="0"/>
              </a:rPr>
              <a:t>Leyenda</a:t>
            </a: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A939C3A9-305F-33E8-93CB-AC3CE4162F74}"/>
              </a:ext>
            </a:extLst>
          </p:cNvPr>
          <p:cNvSpPr/>
          <p:nvPr/>
        </p:nvSpPr>
        <p:spPr>
          <a:xfrm>
            <a:off x="1355244" y="5749351"/>
            <a:ext cx="203846" cy="92798"/>
          </a:xfrm>
          <a:prstGeom prst="roundRect">
            <a:avLst/>
          </a:prstGeom>
          <a:solidFill>
            <a:srgbClr val="2083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242D7000-51B2-7BA5-F300-916FD7F7F794}"/>
              </a:ext>
            </a:extLst>
          </p:cNvPr>
          <p:cNvSpPr/>
          <p:nvPr/>
        </p:nvSpPr>
        <p:spPr>
          <a:xfrm>
            <a:off x="1355244" y="6005221"/>
            <a:ext cx="203846" cy="92798"/>
          </a:xfrm>
          <a:prstGeom prst="roundRect">
            <a:avLst/>
          </a:prstGeom>
          <a:solidFill>
            <a:srgbClr val="6336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3EA9B76F-6B38-8DF1-CFC0-973BBFEB99E6}"/>
              </a:ext>
            </a:extLst>
          </p:cNvPr>
          <p:cNvSpPr/>
          <p:nvPr/>
        </p:nvSpPr>
        <p:spPr>
          <a:xfrm>
            <a:off x="2476587" y="5749351"/>
            <a:ext cx="203846" cy="92798"/>
          </a:xfrm>
          <a:prstGeom prst="roundRect">
            <a:avLst/>
          </a:prstGeom>
          <a:solidFill>
            <a:srgbClr val="0A56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10D37208-7686-F169-DEC9-83E5DDBF727C}"/>
              </a:ext>
            </a:extLst>
          </p:cNvPr>
          <p:cNvSpPr/>
          <p:nvPr/>
        </p:nvSpPr>
        <p:spPr>
          <a:xfrm>
            <a:off x="3520182" y="5749351"/>
            <a:ext cx="203846" cy="92798"/>
          </a:xfrm>
          <a:prstGeom prst="roundRect">
            <a:avLst/>
          </a:prstGeom>
          <a:solidFill>
            <a:srgbClr val="EA58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3" name="Rombo 22">
            <a:extLst>
              <a:ext uri="{FF2B5EF4-FFF2-40B4-BE49-F238E27FC236}">
                <a16:creationId xmlns:a16="http://schemas.microsoft.com/office/drawing/2014/main" id="{FA755AA9-DAD5-378F-1361-C7AAD7CD8CF7}"/>
              </a:ext>
            </a:extLst>
          </p:cNvPr>
          <p:cNvSpPr>
            <a:spLocks noChangeAspect="1"/>
          </p:cNvSpPr>
          <p:nvPr/>
        </p:nvSpPr>
        <p:spPr>
          <a:xfrm>
            <a:off x="2476587" y="5979620"/>
            <a:ext cx="144000" cy="144000"/>
          </a:xfrm>
          <a:prstGeom prst="diamond">
            <a:avLst/>
          </a:prstGeom>
          <a:solidFill>
            <a:srgbClr val="BB0E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5F7A08A7-5D9A-8B30-49D5-9BD07B135D76}"/>
              </a:ext>
            </a:extLst>
          </p:cNvPr>
          <p:cNvSpPr txBox="1"/>
          <p:nvPr/>
        </p:nvSpPr>
        <p:spPr>
          <a:xfrm>
            <a:off x="1510106" y="5680334"/>
            <a:ext cx="69602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900" dirty="0">
                <a:latin typeface="Arial Narrow" panose="020B0606020202030204" pitchFamily="34" charset="0"/>
              </a:rPr>
              <a:t>Completado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6B24CD2C-F419-C484-7EC3-0DBBD0D6A17C}"/>
              </a:ext>
            </a:extLst>
          </p:cNvPr>
          <p:cNvSpPr txBox="1"/>
          <p:nvPr/>
        </p:nvSpPr>
        <p:spPr>
          <a:xfrm>
            <a:off x="1532565" y="5924924"/>
            <a:ext cx="56457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900" dirty="0">
                <a:latin typeface="Arial Narrow" panose="020B0606020202030204" pitchFamily="34" charset="0"/>
              </a:rPr>
              <a:t>Posterior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4B740EB7-891D-C950-9DD5-961BA19CC735}"/>
              </a:ext>
            </a:extLst>
          </p:cNvPr>
          <p:cNvSpPr txBox="1"/>
          <p:nvPr/>
        </p:nvSpPr>
        <p:spPr>
          <a:xfrm>
            <a:off x="2629506" y="5680334"/>
            <a:ext cx="55976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900" dirty="0">
                <a:latin typeface="Arial Narrow" panose="020B0606020202030204" pitchFamily="34" charset="0"/>
              </a:rPr>
              <a:t>En curso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FFB4AE97-5C7D-3A53-B2F8-D98E1EB5ED33}"/>
              </a:ext>
            </a:extLst>
          </p:cNvPr>
          <p:cNvSpPr txBox="1"/>
          <p:nvPr/>
        </p:nvSpPr>
        <p:spPr>
          <a:xfrm>
            <a:off x="2602943" y="5926652"/>
            <a:ext cx="9172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900" dirty="0">
                <a:latin typeface="Arial Narrow" panose="020B0606020202030204" pitchFamily="34" charset="0"/>
              </a:rPr>
              <a:t>Hito (Fecha tope)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32496E29-ECE3-8E4C-B1B2-15A1F6FECD7D}"/>
              </a:ext>
            </a:extLst>
          </p:cNvPr>
          <p:cNvSpPr txBox="1"/>
          <p:nvPr/>
        </p:nvSpPr>
        <p:spPr>
          <a:xfrm>
            <a:off x="3697979" y="5677126"/>
            <a:ext cx="53251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900" dirty="0">
                <a:latin typeface="Arial Narrow" panose="020B0606020202030204" pitchFamily="34" charset="0"/>
              </a:rPr>
              <a:t>Próximo</a:t>
            </a:r>
          </a:p>
        </p:txBody>
      </p: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D171AD40-037A-1FD5-1AD7-D97A9F8DDA5F}"/>
              </a:ext>
            </a:extLst>
          </p:cNvPr>
          <p:cNvSpPr/>
          <p:nvPr/>
        </p:nvSpPr>
        <p:spPr>
          <a:xfrm>
            <a:off x="4790459" y="5463554"/>
            <a:ext cx="3253409" cy="808523"/>
          </a:xfrm>
          <a:prstGeom prst="roundRect">
            <a:avLst>
              <a:gd name="adj" fmla="val 1015"/>
            </a:avLst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7A32FF14-7211-4DA1-C276-E7C1BCE35C4D}"/>
              </a:ext>
            </a:extLst>
          </p:cNvPr>
          <p:cNvSpPr txBox="1"/>
          <p:nvPr/>
        </p:nvSpPr>
        <p:spPr>
          <a:xfrm>
            <a:off x="4816963" y="5439884"/>
            <a:ext cx="5325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050" b="1" dirty="0">
                <a:latin typeface="Abadi" panose="020B0604020104020204" pitchFamily="34" charset="0"/>
              </a:rPr>
              <a:t>Notas</a:t>
            </a:r>
            <a:endParaRPr lang="es-CL" sz="1100" b="1" dirty="0">
              <a:latin typeface="Abadi" panose="020B0604020104020204" pitchFamily="34" charset="0"/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C7BB130C-FEA5-3362-CC53-DEA41A9D4CD6}"/>
              </a:ext>
            </a:extLst>
          </p:cNvPr>
          <p:cNvSpPr txBox="1"/>
          <p:nvPr/>
        </p:nvSpPr>
        <p:spPr>
          <a:xfrm>
            <a:off x="4820764" y="5677125"/>
            <a:ext cx="32496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800" dirty="0"/>
              <a:t>Cronograma basado en el Acta de Constitución (GATI-ACT-01).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800" dirty="0"/>
              <a:t>Las fechas podrán ajustarse sólo mediante control de cambios</a:t>
            </a:r>
          </a:p>
          <a:p>
            <a:r>
              <a:rPr lang="es-MX" sz="800" dirty="0"/>
              <a:t>              aprobado.</a:t>
            </a:r>
            <a:endParaRPr lang="es-CL" sz="800" dirty="0"/>
          </a:p>
        </p:txBody>
      </p: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70916C55-8143-ECA2-1CA7-139D01B0BCF1}"/>
              </a:ext>
            </a:extLst>
          </p:cNvPr>
          <p:cNvSpPr/>
          <p:nvPr/>
        </p:nvSpPr>
        <p:spPr>
          <a:xfrm>
            <a:off x="8143818" y="5463554"/>
            <a:ext cx="2613432" cy="808523"/>
          </a:xfrm>
          <a:prstGeom prst="roundRect">
            <a:avLst>
              <a:gd name="adj" fmla="val 1015"/>
            </a:avLst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4EE097A8-07F7-201A-6868-FCB932707C13}"/>
              </a:ext>
            </a:extLst>
          </p:cNvPr>
          <p:cNvSpPr txBox="1"/>
          <p:nvPr/>
        </p:nvSpPr>
        <p:spPr>
          <a:xfrm>
            <a:off x="8143818" y="5439884"/>
            <a:ext cx="101662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050" b="1" dirty="0">
                <a:latin typeface="Abadi" panose="020B0604020104020204" pitchFamily="34" charset="0"/>
              </a:rPr>
              <a:t>Convenciones</a:t>
            </a:r>
            <a:endParaRPr lang="es-CL" sz="1100" b="1" dirty="0">
              <a:latin typeface="Abadi" panose="020B0604020104020204" pitchFamily="34" charset="0"/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5D66522A-BA98-6223-D27B-1A8BAE57A1B8}"/>
              </a:ext>
            </a:extLst>
          </p:cNvPr>
          <p:cNvSpPr txBox="1"/>
          <p:nvPr/>
        </p:nvSpPr>
        <p:spPr>
          <a:xfrm>
            <a:off x="8581343" y="5650925"/>
            <a:ext cx="15664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000" dirty="0">
                <a:latin typeface="Arial Narrow" panose="020B0606020202030204" pitchFamily="34" charset="0"/>
              </a:rPr>
              <a:t>Línea de tiempo actual (HOY)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0D66CE74-06FA-19CC-F5ED-3FEDDDF7A40C}"/>
              </a:ext>
            </a:extLst>
          </p:cNvPr>
          <p:cNvSpPr txBox="1"/>
          <p:nvPr/>
        </p:nvSpPr>
        <p:spPr>
          <a:xfrm>
            <a:off x="8581343" y="5834949"/>
            <a:ext cx="14221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000" dirty="0">
                <a:latin typeface="Arial Narrow" panose="020B0606020202030204" pitchFamily="34" charset="0"/>
              </a:rPr>
              <a:t>Duración estimada del hito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87838AA1-C40A-6C52-F398-F99AF8B4F75F}"/>
              </a:ext>
            </a:extLst>
          </p:cNvPr>
          <p:cNvSpPr txBox="1"/>
          <p:nvPr/>
        </p:nvSpPr>
        <p:spPr>
          <a:xfrm>
            <a:off x="8581343" y="6000509"/>
            <a:ext cx="10711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000" dirty="0">
                <a:latin typeface="Arial Narrow" panose="020B0606020202030204" pitchFamily="34" charset="0"/>
              </a:rPr>
              <a:t>Fecha tope del hito</a:t>
            </a:r>
          </a:p>
        </p:txBody>
      </p:sp>
      <p:sp>
        <p:nvSpPr>
          <p:cNvPr id="39" name="Rectángulo: esquinas redondeadas 38">
            <a:extLst>
              <a:ext uri="{FF2B5EF4-FFF2-40B4-BE49-F238E27FC236}">
                <a16:creationId xmlns:a16="http://schemas.microsoft.com/office/drawing/2014/main" id="{6507208D-FB42-9FA6-7EF5-CD6B8B358871}"/>
              </a:ext>
            </a:extLst>
          </p:cNvPr>
          <p:cNvSpPr/>
          <p:nvPr/>
        </p:nvSpPr>
        <p:spPr>
          <a:xfrm>
            <a:off x="8327522" y="5897648"/>
            <a:ext cx="203846" cy="92798"/>
          </a:xfrm>
          <a:prstGeom prst="roundRect">
            <a:avLst/>
          </a:prstGeom>
          <a:solidFill>
            <a:srgbClr val="0A56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1" name="Rombo 40">
            <a:extLst>
              <a:ext uri="{FF2B5EF4-FFF2-40B4-BE49-F238E27FC236}">
                <a16:creationId xmlns:a16="http://schemas.microsoft.com/office/drawing/2014/main" id="{5D6A0490-0DDE-165C-1F17-A4AFD9B4EBCD}"/>
              </a:ext>
            </a:extLst>
          </p:cNvPr>
          <p:cNvSpPr>
            <a:spLocks noChangeAspect="1"/>
          </p:cNvSpPr>
          <p:nvPr/>
        </p:nvSpPr>
        <p:spPr>
          <a:xfrm>
            <a:off x="8363897" y="6051620"/>
            <a:ext cx="144000" cy="144000"/>
          </a:xfrm>
          <a:prstGeom prst="diamond">
            <a:avLst/>
          </a:prstGeom>
          <a:solidFill>
            <a:srgbClr val="BB0E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096B51E9-599D-CE1B-9ECB-22D3206523A7}"/>
              </a:ext>
            </a:extLst>
          </p:cNvPr>
          <p:cNvCxnSpPr>
            <a:cxnSpLocks/>
          </p:cNvCxnSpPr>
          <p:nvPr/>
        </p:nvCxnSpPr>
        <p:spPr>
          <a:xfrm>
            <a:off x="8301828" y="5791108"/>
            <a:ext cx="279515" cy="1434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ángulo: esquinas redondeadas 37">
            <a:extLst>
              <a:ext uri="{FF2B5EF4-FFF2-40B4-BE49-F238E27FC236}">
                <a16:creationId xmlns:a16="http://schemas.microsoft.com/office/drawing/2014/main" id="{54D87909-4D5F-5837-BCF3-A307FB1C0B90}"/>
              </a:ext>
            </a:extLst>
          </p:cNvPr>
          <p:cNvSpPr/>
          <p:nvPr/>
        </p:nvSpPr>
        <p:spPr>
          <a:xfrm>
            <a:off x="418501" y="1897073"/>
            <a:ext cx="423045" cy="324000"/>
          </a:xfrm>
          <a:prstGeom prst="roundRect">
            <a:avLst/>
          </a:prstGeom>
          <a:solidFill>
            <a:srgbClr val="2083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400" dirty="0"/>
          </a:p>
        </p:txBody>
      </p:sp>
      <p:sp>
        <p:nvSpPr>
          <p:cNvPr id="42" name="Rectángulo: esquinas redondeadas 41">
            <a:extLst>
              <a:ext uri="{FF2B5EF4-FFF2-40B4-BE49-F238E27FC236}">
                <a16:creationId xmlns:a16="http://schemas.microsoft.com/office/drawing/2014/main" id="{FD29D965-56EB-22EB-703D-CCB420C12154}"/>
              </a:ext>
            </a:extLst>
          </p:cNvPr>
          <p:cNvSpPr/>
          <p:nvPr/>
        </p:nvSpPr>
        <p:spPr>
          <a:xfrm>
            <a:off x="418501" y="2656399"/>
            <a:ext cx="423045" cy="324000"/>
          </a:xfrm>
          <a:prstGeom prst="roundRect">
            <a:avLst/>
          </a:prstGeom>
          <a:solidFill>
            <a:srgbClr val="0A56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400" dirty="0"/>
          </a:p>
        </p:txBody>
      </p:sp>
      <p:sp>
        <p:nvSpPr>
          <p:cNvPr id="45" name="Rectángulo: esquinas redondeadas 44">
            <a:extLst>
              <a:ext uri="{FF2B5EF4-FFF2-40B4-BE49-F238E27FC236}">
                <a16:creationId xmlns:a16="http://schemas.microsoft.com/office/drawing/2014/main" id="{C33FF23A-5645-0BB9-3B8B-4DE88647729F}"/>
              </a:ext>
            </a:extLst>
          </p:cNvPr>
          <p:cNvSpPr/>
          <p:nvPr/>
        </p:nvSpPr>
        <p:spPr>
          <a:xfrm>
            <a:off x="418501" y="3370272"/>
            <a:ext cx="423045" cy="324000"/>
          </a:xfrm>
          <a:prstGeom prst="roundRect">
            <a:avLst/>
          </a:prstGeom>
          <a:solidFill>
            <a:srgbClr val="EA58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400" dirty="0"/>
          </a:p>
        </p:txBody>
      </p:sp>
      <p:sp>
        <p:nvSpPr>
          <p:cNvPr id="47" name="Rectángulo: esquinas redondeadas 46">
            <a:extLst>
              <a:ext uri="{FF2B5EF4-FFF2-40B4-BE49-F238E27FC236}">
                <a16:creationId xmlns:a16="http://schemas.microsoft.com/office/drawing/2014/main" id="{47D84F46-6C4C-C58B-6322-28D71EF7795C}"/>
              </a:ext>
            </a:extLst>
          </p:cNvPr>
          <p:cNvSpPr/>
          <p:nvPr/>
        </p:nvSpPr>
        <p:spPr>
          <a:xfrm>
            <a:off x="418501" y="4104550"/>
            <a:ext cx="423045" cy="324000"/>
          </a:xfrm>
          <a:prstGeom prst="roundRect">
            <a:avLst/>
          </a:prstGeom>
          <a:solidFill>
            <a:srgbClr val="6336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400" dirty="0"/>
          </a:p>
        </p:txBody>
      </p:sp>
      <p:sp>
        <p:nvSpPr>
          <p:cNvPr id="49" name="Rectángulo: esquinas redondeadas 48">
            <a:extLst>
              <a:ext uri="{FF2B5EF4-FFF2-40B4-BE49-F238E27FC236}">
                <a16:creationId xmlns:a16="http://schemas.microsoft.com/office/drawing/2014/main" id="{99C6A5D7-1B94-C5DE-A372-24833DB9EED8}"/>
              </a:ext>
            </a:extLst>
          </p:cNvPr>
          <p:cNvSpPr/>
          <p:nvPr/>
        </p:nvSpPr>
        <p:spPr>
          <a:xfrm>
            <a:off x="418501" y="4838828"/>
            <a:ext cx="423045" cy="324000"/>
          </a:xfrm>
          <a:prstGeom prst="roundRect">
            <a:avLst/>
          </a:prstGeom>
          <a:solidFill>
            <a:srgbClr val="BB0E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400" dirty="0"/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286E85CA-2A93-7CE1-E6AE-E04137F89C82}"/>
              </a:ext>
            </a:extLst>
          </p:cNvPr>
          <p:cNvSpPr txBox="1"/>
          <p:nvPr/>
        </p:nvSpPr>
        <p:spPr>
          <a:xfrm>
            <a:off x="392052" y="1917289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200" b="1" dirty="0">
                <a:solidFill>
                  <a:schemeClr val="bg1"/>
                </a:solidFill>
                <a:latin typeface="Arial Narrow" panose="020B0606020202030204" pitchFamily="34" charset="0"/>
              </a:rPr>
              <a:t>H-01</a:t>
            </a: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B5E88557-EFA2-5A96-BF3F-3584DA659E1E}"/>
              </a:ext>
            </a:extLst>
          </p:cNvPr>
          <p:cNvSpPr txBox="1"/>
          <p:nvPr/>
        </p:nvSpPr>
        <p:spPr>
          <a:xfrm>
            <a:off x="408448" y="2679899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200" b="1" dirty="0">
                <a:solidFill>
                  <a:schemeClr val="bg1"/>
                </a:solidFill>
                <a:latin typeface="Arial Narrow" panose="020B0606020202030204" pitchFamily="34" charset="0"/>
              </a:rPr>
              <a:t>H-02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A08E68E3-703D-AAF3-ECC5-DCA664AFAF04}"/>
              </a:ext>
            </a:extLst>
          </p:cNvPr>
          <p:cNvSpPr txBox="1"/>
          <p:nvPr/>
        </p:nvSpPr>
        <p:spPr>
          <a:xfrm>
            <a:off x="392052" y="3393772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200" b="1" dirty="0">
                <a:solidFill>
                  <a:schemeClr val="bg1"/>
                </a:solidFill>
                <a:latin typeface="Arial Narrow" panose="020B0606020202030204" pitchFamily="34" charset="0"/>
              </a:rPr>
              <a:t>H-03</a:t>
            </a: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5FAB2B9E-27D5-932D-B702-9AEEBF4F12F3}"/>
              </a:ext>
            </a:extLst>
          </p:cNvPr>
          <p:cNvSpPr txBox="1"/>
          <p:nvPr/>
        </p:nvSpPr>
        <p:spPr>
          <a:xfrm>
            <a:off x="400633" y="4128050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200" b="1" dirty="0">
                <a:solidFill>
                  <a:schemeClr val="bg1"/>
                </a:solidFill>
                <a:latin typeface="Arial Narrow" panose="020B0606020202030204" pitchFamily="34" charset="0"/>
              </a:rPr>
              <a:t>H-04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423517FA-54D3-540B-95EB-F48167518908}"/>
              </a:ext>
            </a:extLst>
          </p:cNvPr>
          <p:cNvSpPr txBox="1"/>
          <p:nvPr/>
        </p:nvSpPr>
        <p:spPr>
          <a:xfrm>
            <a:off x="392052" y="4862328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200" b="1" dirty="0">
                <a:solidFill>
                  <a:schemeClr val="bg1"/>
                </a:solidFill>
                <a:latin typeface="Arial Narrow" panose="020B0606020202030204" pitchFamily="34" charset="0"/>
              </a:rPr>
              <a:t>H-05</a:t>
            </a:r>
          </a:p>
        </p:txBody>
      </p:sp>
      <p:sp>
        <p:nvSpPr>
          <p:cNvPr id="62" name="Rectángulo: esquinas redondeadas 61">
            <a:extLst>
              <a:ext uri="{FF2B5EF4-FFF2-40B4-BE49-F238E27FC236}">
                <a16:creationId xmlns:a16="http://schemas.microsoft.com/office/drawing/2014/main" id="{5A1E2CC5-D0F0-2BA1-7E97-55E56EC9C3F9}"/>
              </a:ext>
            </a:extLst>
          </p:cNvPr>
          <p:cNvSpPr/>
          <p:nvPr/>
        </p:nvSpPr>
        <p:spPr>
          <a:xfrm>
            <a:off x="2976676" y="1907043"/>
            <a:ext cx="1813783" cy="252000"/>
          </a:xfrm>
          <a:prstGeom prst="roundRect">
            <a:avLst/>
          </a:prstGeom>
          <a:solidFill>
            <a:srgbClr val="2083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4" name="Rectángulo: esquinas redondeadas 63">
            <a:extLst>
              <a:ext uri="{FF2B5EF4-FFF2-40B4-BE49-F238E27FC236}">
                <a16:creationId xmlns:a16="http://schemas.microsoft.com/office/drawing/2014/main" id="{ECB52E68-CA54-C728-62B5-FAA9F9AFF8BC}"/>
              </a:ext>
            </a:extLst>
          </p:cNvPr>
          <p:cNvSpPr/>
          <p:nvPr/>
        </p:nvSpPr>
        <p:spPr>
          <a:xfrm>
            <a:off x="5080665" y="2638363"/>
            <a:ext cx="1156049" cy="252000"/>
          </a:xfrm>
          <a:prstGeom prst="roundRect">
            <a:avLst/>
          </a:prstGeom>
          <a:solidFill>
            <a:srgbClr val="2083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6" name="Rectángulo: esquinas redondeadas 65">
            <a:extLst>
              <a:ext uri="{FF2B5EF4-FFF2-40B4-BE49-F238E27FC236}">
                <a16:creationId xmlns:a16="http://schemas.microsoft.com/office/drawing/2014/main" id="{DCECBCAB-C2DA-826A-EDAA-7D7171AF848C}"/>
              </a:ext>
            </a:extLst>
          </p:cNvPr>
          <p:cNvSpPr/>
          <p:nvPr/>
        </p:nvSpPr>
        <p:spPr>
          <a:xfrm>
            <a:off x="6373206" y="3282533"/>
            <a:ext cx="1584765" cy="2520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8" name="Rectángulo: esquinas redondeadas 67">
            <a:extLst>
              <a:ext uri="{FF2B5EF4-FFF2-40B4-BE49-F238E27FC236}">
                <a16:creationId xmlns:a16="http://schemas.microsoft.com/office/drawing/2014/main" id="{02397409-1078-0AB2-D833-67E242FF41A9}"/>
              </a:ext>
            </a:extLst>
          </p:cNvPr>
          <p:cNvSpPr/>
          <p:nvPr/>
        </p:nvSpPr>
        <p:spPr>
          <a:xfrm>
            <a:off x="7978138" y="4077089"/>
            <a:ext cx="1629342" cy="252000"/>
          </a:xfrm>
          <a:prstGeom prst="roundRect">
            <a:avLst/>
          </a:prstGeom>
          <a:solidFill>
            <a:srgbClr val="EA58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0" name="Rectángulo: esquinas redondeadas 69">
            <a:extLst>
              <a:ext uri="{FF2B5EF4-FFF2-40B4-BE49-F238E27FC236}">
                <a16:creationId xmlns:a16="http://schemas.microsoft.com/office/drawing/2014/main" id="{D004349E-B946-3E6E-FBF6-011EF9954BD8}"/>
              </a:ext>
            </a:extLst>
          </p:cNvPr>
          <p:cNvSpPr/>
          <p:nvPr/>
        </p:nvSpPr>
        <p:spPr>
          <a:xfrm>
            <a:off x="10062883" y="4764888"/>
            <a:ext cx="1192987" cy="255376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2" name="Rombo 71">
            <a:extLst>
              <a:ext uri="{FF2B5EF4-FFF2-40B4-BE49-F238E27FC236}">
                <a16:creationId xmlns:a16="http://schemas.microsoft.com/office/drawing/2014/main" id="{BFDAEB0C-1BD8-0592-7824-D75593874CF4}"/>
              </a:ext>
            </a:extLst>
          </p:cNvPr>
          <p:cNvSpPr>
            <a:spLocks noChangeAspect="1"/>
          </p:cNvSpPr>
          <p:nvPr/>
        </p:nvSpPr>
        <p:spPr>
          <a:xfrm>
            <a:off x="4803998" y="1897073"/>
            <a:ext cx="252000" cy="252000"/>
          </a:xfrm>
          <a:prstGeom prst="diamond">
            <a:avLst/>
          </a:prstGeom>
          <a:solidFill>
            <a:srgbClr val="1083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>
              <a:solidFill>
                <a:srgbClr val="10833B"/>
              </a:solidFill>
              <a:highlight>
                <a:srgbClr val="219F4D"/>
              </a:highlight>
            </a:endParaRPr>
          </a:p>
        </p:txBody>
      </p:sp>
      <p:sp>
        <p:nvSpPr>
          <p:cNvPr id="74" name="Rombo 73">
            <a:extLst>
              <a:ext uri="{FF2B5EF4-FFF2-40B4-BE49-F238E27FC236}">
                <a16:creationId xmlns:a16="http://schemas.microsoft.com/office/drawing/2014/main" id="{453C5E3D-DD2F-97EC-DC62-67B620D5E164}"/>
              </a:ext>
            </a:extLst>
          </p:cNvPr>
          <p:cNvSpPr>
            <a:spLocks noChangeAspect="1"/>
          </p:cNvSpPr>
          <p:nvPr/>
        </p:nvSpPr>
        <p:spPr>
          <a:xfrm>
            <a:off x="6291163" y="2656399"/>
            <a:ext cx="252000" cy="252000"/>
          </a:xfrm>
          <a:prstGeom prst="diamond">
            <a:avLst/>
          </a:prstGeom>
          <a:solidFill>
            <a:srgbClr val="2083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6" name="Rombo 75">
            <a:extLst>
              <a:ext uri="{FF2B5EF4-FFF2-40B4-BE49-F238E27FC236}">
                <a16:creationId xmlns:a16="http://schemas.microsoft.com/office/drawing/2014/main" id="{101CE90F-5EE4-B485-D925-0E8D56A6E622}"/>
              </a:ext>
            </a:extLst>
          </p:cNvPr>
          <p:cNvSpPr>
            <a:spLocks noChangeAspect="1"/>
          </p:cNvSpPr>
          <p:nvPr/>
        </p:nvSpPr>
        <p:spPr>
          <a:xfrm>
            <a:off x="8017818" y="3269588"/>
            <a:ext cx="252000" cy="252000"/>
          </a:xfrm>
          <a:prstGeom prst="diamond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8" name="Rombo 77">
            <a:extLst>
              <a:ext uri="{FF2B5EF4-FFF2-40B4-BE49-F238E27FC236}">
                <a16:creationId xmlns:a16="http://schemas.microsoft.com/office/drawing/2014/main" id="{5A026651-E008-58F3-5BF5-B3EFBFB57115}"/>
              </a:ext>
            </a:extLst>
          </p:cNvPr>
          <p:cNvSpPr>
            <a:spLocks noChangeAspect="1"/>
          </p:cNvSpPr>
          <p:nvPr/>
        </p:nvSpPr>
        <p:spPr>
          <a:xfrm>
            <a:off x="9652470" y="4068764"/>
            <a:ext cx="252000" cy="252000"/>
          </a:xfrm>
          <a:prstGeom prst="diamond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0" name="Rombo 79">
            <a:extLst>
              <a:ext uri="{FF2B5EF4-FFF2-40B4-BE49-F238E27FC236}">
                <a16:creationId xmlns:a16="http://schemas.microsoft.com/office/drawing/2014/main" id="{0A2F1A0E-9C1B-D566-7E6F-83C89CFB4C69}"/>
              </a:ext>
            </a:extLst>
          </p:cNvPr>
          <p:cNvSpPr>
            <a:spLocks noChangeAspect="1"/>
          </p:cNvSpPr>
          <p:nvPr/>
        </p:nvSpPr>
        <p:spPr>
          <a:xfrm>
            <a:off x="11294560" y="4764888"/>
            <a:ext cx="252000" cy="252000"/>
          </a:xfrm>
          <a:prstGeom prst="diamond">
            <a:avLst/>
          </a:prstGeom>
          <a:solidFill>
            <a:srgbClr val="BB0E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1" name="CuadroTexto 80">
            <a:extLst>
              <a:ext uri="{FF2B5EF4-FFF2-40B4-BE49-F238E27FC236}">
                <a16:creationId xmlns:a16="http://schemas.microsoft.com/office/drawing/2014/main" id="{09B4E01D-67CC-97EF-6C6B-6DEE00EB3F04}"/>
              </a:ext>
            </a:extLst>
          </p:cNvPr>
          <p:cNvSpPr txBox="1"/>
          <p:nvPr/>
        </p:nvSpPr>
        <p:spPr>
          <a:xfrm>
            <a:off x="5010876" y="1886502"/>
            <a:ext cx="8194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200" b="1" dirty="0">
                <a:latin typeface="Arial Narrow" panose="020B0606020202030204" pitchFamily="34" charset="0"/>
              </a:rPr>
              <a:t>04/09/2026</a:t>
            </a:r>
          </a:p>
        </p:txBody>
      </p:sp>
      <p:sp>
        <p:nvSpPr>
          <p:cNvPr id="85" name="CuadroTexto 84">
            <a:extLst>
              <a:ext uri="{FF2B5EF4-FFF2-40B4-BE49-F238E27FC236}">
                <a16:creationId xmlns:a16="http://schemas.microsoft.com/office/drawing/2014/main" id="{B278F00D-89F2-0CB6-51D0-DFDC8562973C}"/>
              </a:ext>
            </a:extLst>
          </p:cNvPr>
          <p:cNvSpPr txBox="1"/>
          <p:nvPr/>
        </p:nvSpPr>
        <p:spPr>
          <a:xfrm>
            <a:off x="6500863" y="2631400"/>
            <a:ext cx="8194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200" b="1" dirty="0">
                <a:latin typeface="Arial Narrow" panose="020B0606020202030204" pitchFamily="34" charset="0"/>
              </a:rPr>
              <a:t>25/09/2026</a:t>
            </a:r>
          </a:p>
        </p:txBody>
      </p:sp>
      <p:sp>
        <p:nvSpPr>
          <p:cNvPr id="87" name="CuadroTexto 86">
            <a:extLst>
              <a:ext uri="{FF2B5EF4-FFF2-40B4-BE49-F238E27FC236}">
                <a16:creationId xmlns:a16="http://schemas.microsoft.com/office/drawing/2014/main" id="{CCFD40D0-C6F9-4494-80F9-E8232EDB9E78}"/>
              </a:ext>
            </a:extLst>
          </p:cNvPr>
          <p:cNvSpPr txBox="1"/>
          <p:nvPr/>
        </p:nvSpPr>
        <p:spPr>
          <a:xfrm>
            <a:off x="8225036" y="3270033"/>
            <a:ext cx="8194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200" b="1" dirty="0">
                <a:latin typeface="Arial Narrow" panose="020B0606020202030204" pitchFamily="34" charset="0"/>
              </a:rPr>
              <a:t>16/10/2026</a:t>
            </a:r>
          </a:p>
        </p:txBody>
      </p:sp>
      <p:sp>
        <p:nvSpPr>
          <p:cNvPr id="89" name="CuadroTexto 88">
            <a:extLst>
              <a:ext uri="{FF2B5EF4-FFF2-40B4-BE49-F238E27FC236}">
                <a16:creationId xmlns:a16="http://schemas.microsoft.com/office/drawing/2014/main" id="{DB380DE1-7EEB-C945-97D4-82BE2F8EF253}"/>
              </a:ext>
            </a:extLst>
          </p:cNvPr>
          <p:cNvSpPr txBox="1"/>
          <p:nvPr/>
        </p:nvSpPr>
        <p:spPr>
          <a:xfrm>
            <a:off x="9850605" y="4043765"/>
            <a:ext cx="8125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200" b="1" dirty="0">
                <a:latin typeface="Arial Narrow" panose="020B0606020202030204" pitchFamily="34" charset="0"/>
              </a:rPr>
              <a:t>06/11/2026</a:t>
            </a:r>
          </a:p>
        </p:txBody>
      </p:sp>
      <p:sp>
        <p:nvSpPr>
          <p:cNvPr id="91" name="CuadroTexto 90">
            <a:extLst>
              <a:ext uri="{FF2B5EF4-FFF2-40B4-BE49-F238E27FC236}">
                <a16:creationId xmlns:a16="http://schemas.microsoft.com/office/drawing/2014/main" id="{A02C198E-A18B-6D77-2ABE-5139D5E38DD2}"/>
              </a:ext>
            </a:extLst>
          </p:cNvPr>
          <p:cNvSpPr txBox="1"/>
          <p:nvPr/>
        </p:nvSpPr>
        <p:spPr>
          <a:xfrm>
            <a:off x="10879366" y="5044564"/>
            <a:ext cx="8125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200" b="1" dirty="0">
                <a:latin typeface="Arial Narrow" panose="020B0606020202030204" pitchFamily="34" charset="0"/>
              </a:rPr>
              <a:t>27/11/2026</a:t>
            </a:r>
          </a:p>
        </p:txBody>
      </p:sp>
      <p:sp>
        <p:nvSpPr>
          <p:cNvPr id="98" name="CuadroTexto 97">
            <a:extLst>
              <a:ext uri="{FF2B5EF4-FFF2-40B4-BE49-F238E27FC236}">
                <a16:creationId xmlns:a16="http://schemas.microsoft.com/office/drawing/2014/main" id="{7E3F5788-63B2-568C-742A-676F4A1EFD9F}"/>
              </a:ext>
            </a:extLst>
          </p:cNvPr>
          <p:cNvSpPr txBox="1"/>
          <p:nvPr/>
        </p:nvSpPr>
        <p:spPr>
          <a:xfrm>
            <a:off x="577154" y="101025"/>
            <a:ext cx="8262046" cy="584775"/>
          </a:xfrm>
          <a:prstGeom prst="rect">
            <a:avLst/>
          </a:prstGeom>
          <a:noFill/>
          <a:effectLst>
            <a:outerShdw blurRad="292100" dist="50800" dir="5400000" algn="ctr" rotWithShape="0">
              <a:schemeClr val="bg1"/>
            </a:outerShdw>
          </a:effectLst>
        </p:spPr>
        <p:txBody>
          <a:bodyPr wrap="square" rtlCol="0">
            <a:spAutoFit/>
          </a:bodyPr>
          <a:lstStyle/>
          <a:p>
            <a:r>
              <a:rPr lang="es-CL" sz="3200" b="1" dirty="0">
                <a:solidFill>
                  <a:srgbClr val="002060"/>
                </a:solidFill>
                <a:latin typeface="Abadi" panose="020B0604020104020204" pitchFamily="34" charset="0"/>
              </a:rPr>
              <a:t>Cronograma General e Hitos del Proyecto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82934D02-ADAB-2789-28CC-56389FF8F242}"/>
              </a:ext>
            </a:extLst>
          </p:cNvPr>
          <p:cNvGrpSpPr/>
          <p:nvPr/>
        </p:nvGrpSpPr>
        <p:grpSpPr>
          <a:xfrm>
            <a:off x="6541263" y="1444254"/>
            <a:ext cx="375588" cy="3722562"/>
            <a:chOff x="5915575" y="1440266"/>
            <a:chExt cx="375588" cy="3722562"/>
          </a:xfrm>
        </p:grpSpPr>
        <p:cxnSp>
          <p:nvCxnSpPr>
            <p:cNvPr id="2" name="Conector recto 1">
              <a:extLst>
                <a:ext uri="{FF2B5EF4-FFF2-40B4-BE49-F238E27FC236}">
                  <a16:creationId xmlns:a16="http://schemas.microsoft.com/office/drawing/2014/main" id="{7D22C01F-CE87-0694-6845-5D4F73EFDA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91163" y="1440266"/>
              <a:ext cx="0" cy="3722562"/>
            </a:xfrm>
            <a:prstGeom prst="line">
              <a:avLst/>
            </a:prstGeom>
            <a:ln w="34925" cmpd="sng">
              <a:solidFill>
                <a:srgbClr val="FF0000"/>
              </a:solidFill>
              <a:prstDash val="sysDash"/>
              <a:headEnd type="diamond" w="lg" len="lg"/>
              <a:tailEnd type="diamond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79C40B7D-1E95-ADBB-70F1-B38DC3D28CA7}"/>
                </a:ext>
              </a:extLst>
            </p:cNvPr>
            <p:cNvSpPr txBox="1"/>
            <p:nvPr/>
          </p:nvSpPr>
          <p:spPr>
            <a:xfrm rot="16200000">
              <a:off x="5296174" y="4153051"/>
              <a:ext cx="16081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b="1" dirty="0">
                  <a:solidFill>
                    <a:srgbClr val="FF0000"/>
                  </a:solidFill>
                  <a:latin typeface="Arial Narrow" panose="020B0606020202030204" pitchFamily="34" charset="0"/>
                </a:rPr>
                <a:t>Corte 02/10 · S8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109677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Imagen 105">
            <a:extLst>
              <a:ext uri="{FF2B5EF4-FFF2-40B4-BE49-F238E27FC236}">
                <a16:creationId xmlns:a16="http://schemas.microsoft.com/office/drawing/2014/main" id="{7DB8C2F2-938E-565C-3FD0-376B09FAC8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108" name="Imagen 107">
            <a:extLst>
              <a:ext uri="{FF2B5EF4-FFF2-40B4-BE49-F238E27FC236}">
                <a16:creationId xmlns:a16="http://schemas.microsoft.com/office/drawing/2014/main" id="{6FE0DB37-C7DD-45DE-B791-DC0292DEAB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0837" y="217737"/>
            <a:ext cx="1620000" cy="1620000"/>
          </a:xfrm>
          <a:prstGeom prst="rect">
            <a:avLst/>
          </a:prstGeom>
        </p:spPr>
      </p:pic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2CAF02E0-EB92-B4F8-0F34-39BCC8DC9F21}"/>
              </a:ext>
            </a:extLst>
          </p:cNvPr>
          <p:cNvSpPr/>
          <p:nvPr/>
        </p:nvSpPr>
        <p:spPr>
          <a:xfrm>
            <a:off x="287514" y="964920"/>
            <a:ext cx="5722620" cy="2225040"/>
          </a:xfrm>
          <a:prstGeom prst="roundRect">
            <a:avLst>
              <a:gd name="adj" fmla="val 4338"/>
            </a:avLst>
          </a:prstGeom>
          <a:solidFill>
            <a:srgbClr val="F0F7FE"/>
          </a:solidFill>
          <a:ln>
            <a:solidFill>
              <a:srgbClr val="B1C7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61A21ECE-65DB-0164-B1CB-A30C3FB0923C}"/>
              </a:ext>
            </a:extLst>
          </p:cNvPr>
          <p:cNvSpPr/>
          <p:nvPr/>
        </p:nvSpPr>
        <p:spPr>
          <a:xfrm>
            <a:off x="501419" y="1615367"/>
            <a:ext cx="2362200" cy="756013"/>
          </a:xfrm>
          <a:prstGeom prst="roundRect">
            <a:avLst>
              <a:gd name="adj" fmla="val 11627"/>
            </a:avLst>
          </a:prstGeom>
          <a:solidFill>
            <a:srgbClr val="E0F4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60DA3886-12BA-8CFF-B81C-E98C73AB206E}"/>
              </a:ext>
            </a:extLst>
          </p:cNvPr>
          <p:cNvSpPr/>
          <p:nvPr/>
        </p:nvSpPr>
        <p:spPr>
          <a:xfrm>
            <a:off x="6193014" y="964920"/>
            <a:ext cx="5783580" cy="2225040"/>
          </a:xfrm>
          <a:prstGeom prst="roundRect">
            <a:avLst>
              <a:gd name="adj" fmla="val 4338"/>
            </a:avLst>
          </a:prstGeom>
          <a:solidFill>
            <a:srgbClr val="F0F7FE"/>
          </a:solidFill>
          <a:ln>
            <a:solidFill>
              <a:srgbClr val="B1C7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5E59C63-2884-40FE-0EA7-8C8FD6572D6A}"/>
              </a:ext>
            </a:extLst>
          </p:cNvPr>
          <p:cNvSpPr txBox="1"/>
          <p:nvPr/>
        </p:nvSpPr>
        <p:spPr>
          <a:xfrm>
            <a:off x="335311" y="321007"/>
            <a:ext cx="68571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200" b="1" dirty="0">
                <a:solidFill>
                  <a:srgbClr val="002060"/>
                </a:solidFill>
                <a:latin typeface="Abadi" panose="020B0604020104020204" pitchFamily="34" charset="0"/>
              </a:rPr>
              <a:t>Conclusión Semana 08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26FCBB02-FC76-286C-4528-BBDED423D2D1}"/>
              </a:ext>
            </a:extLst>
          </p:cNvPr>
          <p:cNvSpPr/>
          <p:nvPr/>
        </p:nvSpPr>
        <p:spPr>
          <a:xfrm>
            <a:off x="287514" y="3258540"/>
            <a:ext cx="5722620" cy="2225040"/>
          </a:xfrm>
          <a:prstGeom prst="roundRect">
            <a:avLst>
              <a:gd name="adj" fmla="val 4338"/>
            </a:avLst>
          </a:prstGeom>
          <a:solidFill>
            <a:srgbClr val="F0F7FE"/>
          </a:solidFill>
          <a:ln>
            <a:solidFill>
              <a:srgbClr val="B1C7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EA11E3BF-B840-620C-833D-37CF94183233}"/>
              </a:ext>
            </a:extLst>
          </p:cNvPr>
          <p:cNvSpPr/>
          <p:nvPr/>
        </p:nvSpPr>
        <p:spPr>
          <a:xfrm>
            <a:off x="6193014" y="3258540"/>
            <a:ext cx="5783580" cy="2225040"/>
          </a:xfrm>
          <a:prstGeom prst="roundRect">
            <a:avLst>
              <a:gd name="adj" fmla="val 4338"/>
            </a:avLst>
          </a:prstGeom>
          <a:solidFill>
            <a:srgbClr val="F0F7FE"/>
          </a:solidFill>
          <a:ln>
            <a:solidFill>
              <a:srgbClr val="B1C7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3" name="Rectángulo: esquinas superiores redondeadas 12">
            <a:extLst>
              <a:ext uri="{FF2B5EF4-FFF2-40B4-BE49-F238E27FC236}">
                <a16:creationId xmlns:a16="http://schemas.microsoft.com/office/drawing/2014/main" id="{E69DAFD3-14E9-0094-11F3-AAD60EB8830B}"/>
              </a:ext>
            </a:extLst>
          </p:cNvPr>
          <p:cNvSpPr/>
          <p:nvPr/>
        </p:nvSpPr>
        <p:spPr>
          <a:xfrm>
            <a:off x="301163" y="970939"/>
            <a:ext cx="5701817" cy="499110"/>
          </a:xfrm>
          <a:prstGeom prst="round2SameRect">
            <a:avLst>
              <a:gd name="adj1" fmla="val 17775"/>
              <a:gd name="adj2" fmla="val 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AF71FB9-7510-1728-02C1-E6026F4F9A19}"/>
              </a:ext>
            </a:extLst>
          </p:cNvPr>
          <p:cNvSpPr txBox="1"/>
          <p:nvPr/>
        </p:nvSpPr>
        <p:spPr>
          <a:xfrm>
            <a:off x="851216" y="1053086"/>
            <a:ext cx="18582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600" b="1" dirty="0">
                <a:solidFill>
                  <a:schemeClr val="bg1"/>
                </a:solidFill>
                <a:latin typeface="Aptos Narrow" panose="020B0004020202020204" pitchFamily="34" charset="0"/>
              </a:rPr>
              <a:t>Estado del proyecto</a:t>
            </a:r>
          </a:p>
        </p:txBody>
      </p:sp>
      <p:sp>
        <p:nvSpPr>
          <p:cNvPr id="15" name="Diagrama de flujo: conector 14">
            <a:extLst>
              <a:ext uri="{FF2B5EF4-FFF2-40B4-BE49-F238E27FC236}">
                <a16:creationId xmlns:a16="http://schemas.microsoft.com/office/drawing/2014/main" id="{6A3CE9C2-3792-89D5-A049-A40FBB0F5EDB}"/>
              </a:ext>
            </a:extLst>
          </p:cNvPr>
          <p:cNvSpPr>
            <a:spLocks noChangeAspect="1"/>
          </p:cNvSpPr>
          <p:nvPr/>
        </p:nvSpPr>
        <p:spPr>
          <a:xfrm>
            <a:off x="371365" y="1024363"/>
            <a:ext cx="396000" cy="396000"/>
          </a:xfrm>
          <a:prstGeom prst="flowChartConnector">
            <a:avLst/>
          </a:prstGeom>
          <a:solidFill>
            <a:srgbClr val="B1C7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D22AD84-B158-37EB-2098-92E80F70D3D9}"/>
              </a:ext>
            </a:extLst>
          </p:cNvPr>
          <p:cNvSpPr txBox="1"/>
          <p:nvPr/>
        </p:nvSpPr>
        <p:spPr>
          <a:xfrm>
            <a:off x="364870" y="1053086"/>
            <a:ext cx="3930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600" b="1" dirty="0">
                <a:solidFill>
                  <a:schemeClr val="bg1"/>
                </a:solidFill>
                <a:latin typeface="Aptos Narrow" panose="020B0004020202020204" pitchFamily="34" charset="0"/>
              </a:rPr>
              <a:t>01</a:t>
            </a:r>
          </a:p>
        </p:txBody>
      </p:sp>
      <p:pic>
        <p:nvPicPr>
          <p:cNvPr id="19" name="Gráfico 18" descr="Clipboard con relleno sólido">
            <a:extLst>
              <a:ext uri="{FF2B5EF4-FFF2-40B4-BE49-F238E27FC236}">
                <a16:creationId xmlns:a16="http://schemas.microsoft.com/office/drawing/2014/main" id="{A74B83AA-A2F2-8E04-B2F9-1078CFD25D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65643" y="988363"/>
            <a:ext cx="432000" cy="432000"/>
          </a:xfrm>
          <a:prstGeom prst="rect">
            <a:avLst/>
          </a:prstGeom>
        </p:spPr>
      </p:pic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1E749A4B-77FF-7FDC-9D40-1A3C324F68F5}"/>
              </a:ext>
            </a:extLst>
          </p:cNvPr>
          <p:cNvSpPr/>
          <p:nvPr/>
        </p:nvSpPr>
        <p:spPr>
          <a:xfrm>
            <a:off x="1174757" y="1908494"/>
            <a:ext cx="1458796" cy="356716"/>
          </a:xfrm>
          <a:prstGeom prst="roundRect">
            <a:avLst>
              <a:gd name="adj" fmla="val 23709"/>
            </a:avLst>
          </a:prstGeom>
          <a:gradFill flip="none" rotWithShape="1">
            <a:gsLst>
              <a:gs pos="100000">
                <a:schemeClr val="accent3">
                  <a:lumMod val="20000"/>
                  <a:lumOff val="80000"/>
                </a:schemeClr>
              </a:gs>
              <a:gs pos="56000">
                <a:schemeClr val="accent3">
                  <a:lumMod val="40000"/>
                  <a:lumOff val="60000"/>
                </a:schemeClr>
              </a:gs>
              <a:gs pos="0">
                <a:schemeClr val="accent3">
                  <a:lumMod val="60000"/>
                  <a:lumOff val="4000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AED69483-5002-1CD4-6579-6467764AF16A}"/>
              </a:ext>
            </a:extLst>
          </p:cNvPr>
          <p:cNvSpPr txBox="1"/>
          <p:nvPr/>
        </p:nvSpPr>
        <p:spPr>
          <a:xfrm>
            <a:off x="1359924" y="1926656"/>
            <a:ext cx="1079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600" b="1" dirty="0">
                <a:solidFill>
                  <a:schemeClr val="bg1"/>
                </a:solidFill>
                <a:latin typeface="Aptos Narrow" panose="020B0004020202020204" pitchFamily="34" charset="0"/>
              </a:rPr>
              <a:t>EN CURSO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84C97AFF-90A7-C2BD-76F6-236794D32A8B}"/>
              </a:ext>
            </a:extLst>
          </p:cNvPr>
          <p:cNvSpPr txBox="1"/>
          <p:nvPr/>
        </p:nvSpPr>
        <p:spPr>
          <a:xfrm>
            <a:off x="1087578" y="1615367"/>
            <a:ext cx="11210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200" b="1" dirty="0">
                <a:solidFill>
                  <a:schemeClr val="accent3"/>
                </a:solidFill>
                <a:latin typeface="Arial Narrow" panose="020B0606020202030204" pitchFamily="34" charset="0"/>
              </a:rPr>
              <a:t>Estado general</a:t>
            </a:r>
          </a:p>
        </p:txBody>
      </p:sp>
      <p:pic>
        <p:nvPicPr>
          <p:cNvPr id="24" name="Gráfico 23" descr="Single gear contorno">
            <a:extLst>
              <a:ext uri="{FF2B5EF4-FFF2-40B4-BE49-F238E27FC236}">
                <a16:creationId xmlns:a16="http://schemas.microsoft.com/office/drawing/2014/main" id="{11F2A478-BF14-F5F6-B7BE-F5A9672A46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1398" y="1646910"/>
            <a:ext cx="540000" cy="540000"/>
          </a:xfrm>
          <a:prstGeom prst="rect">
            <a:avLst/>
          </a:prstGeom>
        </p:spPr>
      </p:pic>
      <p:sp>
        <p:nvSpPr>
          <p:cNvPr id="26" name="CuadroTexto 25">
            <a:extLst>
              <a:ext uri="{FF2B5EF4-FFF2-40B4-BE49-F238E27FC236}">
                <a16:creationId xmlns:a16="http://schemas.microsoft.com/office/drawing/2014/main" id="{1E8757DC-F32C-3E2D-5799-6EFE5B619DBF}"/>
              </a:ext>
            </a:extLst>
          </p:cNvPr>
          <p:cNvSpPr txBox="1"/>
          <p:nvPr/>
        </p:nvSpPr>
        <p:spPr>
          <a:xfrm>
            <a:off x="329108" y="2576216"/>
            <a:ext cx="516993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100" dirty="0">
                <a:latin typeface="Arial Narrow" panose="020B0606020202030204" pitchFamily="34" charset="0"/>
              </a:rPr>
              <a:t>El proyecto continúa en H-03 Desarrollo inicial. </a:t>
            </a:r>
          </a:p>
          <a:p>
            <a:r>
              <a:rPr lang="es-CL" sz="1100" dirty="0">
                <a:latin typeface="Arial Narrow" panose="020B0606020202030204" pitchFamily="34" charset="0"/>
              </a:rPr>
              <a:t>Durante la Semana 8 se completaron los compromisos técnicos planificados, manteniéndose una desviación de 1 pp respecto del avance planificado.</a:t>
            </a:r>
            <a:endParaRPr lang="es-CL" sz="11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C21A628E-9C84-769E-542C-52972DF79248}"/>
              </a:ext>
            </a:extLst>
          </p:cNvPr>
          <p:cNvCxnSpPr>
            <a:cxnSpLocks/>
          </p:cNvCxnSpPr>
          <p:nvPr/>
        </p:nvCxnSpPr>
        <p:spPr>
          <a:xfrm>
            <a:off x="2964311" y="1906385"/>
            <a:ext cx="0" cy="816646"/>
          </a:xfrm>
          <a:prstGeom prst="line">
            <a:avLst/>
          </a:prstGeom>
          <a:ln>
            <a:solidFill>
              <a:srgbClr val="B1C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5214B566-6163-9264-1202-80612DFE39C2}"/>
              </a:ext>
            </a:extLst>
          </p:cNvPr>
          <p:cNvCxnSpPr>
            <a:cxnSpLocks/>
          </p:cNvCxnSpPr>
          <p:nvPr/>
        </p:nvCxnSpPr>
        <p:spPr>
          <a:xfrm>
            <a:off x="3897761" y="1906385"/>
            <a:ext cx="0" cy="816646"/>
          </a:xfrm>
          <a:prstGeom prst="line">
            <a:avLst/>
          </a:prstGeom>
          <a:ln>
            <a:solidFill>
              <a:srgbClr val="B1C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598B8660-EF4F-F38A-5458-A425A2000EA3}"/>
              </a:ext>
            </a:extLst>
          </p:cNvPr>
          <p:cNvCxnSpPr>
            <a:cxnSpLocks/>
          </p:cNvCxnSpPr>
          <p:nvPr/>
        </p:nvCxnSpPr>
        <p:spPr>
          <a:xfrm>
            <a:off x="4823047" y="1892366"/>
            <a:ext cx="0" cy="816646"/>
          </a:xfrm>
          <a:prstGeom prst="line">
            <a:avLst/>
          </a:prstGeom>
          <a:ln>
            <a:solidFill>
              <a:srgbClr val="B1C7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uadroTexto 31">
            <a:extLst>
              <a:ext uri="{FF2B5EF4-FFF2-40B4-BE49-F238E27FC236}">
                <a16:creationId xmlns:a16="http://schemas.microsoft.com/office/drawing/2014/main" id="{40CAF68A-3717-9AD9-0A65-8A6D5358F19E}"/>
              </a:ext>
            </a:extLst>
          </p:cNvPr>
          <p:cNvSpPr txBox="1"/>
          <p:nvPr/>
        </p:nvSpPr>
        <p:spPr>
          <a:xfrm>
            <a:off x="3007862" y="1966159"/>
            <a:ext cx="8515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b="1" dirty="0">
                <a:solidFill>
                  <a:srgbClr val="002060"/>
                </a:solidFill>
                <a:latin typeface="Abadi" panose="020B0604020104020204" pitchFamily="34" charset="0"/>
              </a:rPr>
              <a:t>56%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90B95AE7-A567-1BC4-9DF7-EDF5A3392FD3}"/>
              </a:ext>
            </a:extLst>
          </p:cNvPr>
          <p:cNvSpPr txBox="1"/>
          <p:nvPr/>
        </p:nvSpPr>
        <p:spPr>
          <a:xfrm>
            <a:off x="2993673" y="2408398"/>
            <a:ext cx="9050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200" b="1" dirty="0">
                <a:solidFill>
                  <a:srgbClr val="002060"/>
                </a:solidFill>
                <a:latin typeface="Aptos Narrow" panose="020B0004020202020204" pitchFamily="34" charset="0"/>
              </a:rPr>
              <a:t>Planificado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F5879C67-1B9A-7BEE-DA84-03D5EAA2BCBB}"/>
              </a:ext>
            </a:extLst>
          </p:cNvPr>
          <p:cNvSpPr txBox="1"/>
          <p:nvPr/>
        </p:nvSpPr>
        <p:spPr>
          <a:xfrm>
            <a:off x="4137283" y="2408398"/>
            <a:ext cx="4700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200" b="1" dirty="0">
                <a:solidFill>
                  <a:srgbClr val="002060"/>
                </a:solidFill>
                <a:latin typeface="Aptos Narrow" panose="020B0004020202020204" pitchFamily="34" charset="0"/>
              </a:rPr>
              <a:t>Real</a:t>
            </a:r>
          </a:p>
        </p:txBody>
      </p:sp>
      <p:sp>
        <p:nvSpPr>
          <p:cNvPr id="38" name="Rectángulo: esquinas redondeadas 37">
            <a:extLst>
              <a:ext uri="{FF2B5EF4-FFF2-40B4-BE49-F238E27FC236}">
                <a16:creationId xmlns:a16="http://schemas.microsoft.com/office/drawing/2014/main" id="{65E696C3-0C95-31E3-0F3C-51DD256E95A8}"/>
              </a:ext>
            </a:extLst>
          </p:cNvPr>
          <p:cNvSpPr/>
          <p:nvPr/>
        </p:nvSpPr>
        <p:spPr>
          <a:xfrm>
            <a:off x="4910315" y="1913698"/>
            <a:ext cx="962812" cy="802627"/>
          </a:xfrm>
          <a:prstGeom prst="roundRect">
            <a:avLst>
              <a:gd name="adj" fmla="val 10723"/>
            </a:avLst>
          </a:prstGeom>
          <a:solidFill>
            <a:srgbClr val="FEF5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BA34B1E8-6A6A-8C56-E47A-3EEE5C9B1FCA}"/>
              </a:ext>
            </a:extLst>
          </p:cNvPr>
          <p:cNvSpPr txBox="1"/>
          <p:nvPr/>
        </p:nvSpPr>
        <p:spPr>
          <a:xfrm>
            <a:off x="4864048" y="1920985"/>
            <a:ext cx="9893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800" b="1" dirty="0">
                <a:solidFill>
                  <a:srgbClr val="C00000"/>
                </a:solidFill>
                <a:latin typeface="Abadi" panose="020B0604020104020204" pitchFamily="34" charset="0"/>
              </a:rPr>
              <a:t>-1 pp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C66B5DB3-A115-C314-DDC3-20318E774C19}"/>
              </a:ext>
            </a:extLst>
          </p:cNvPr>
          <p:cNvSpPr txBox="1"/>
          <p:nvPr/>
        </p:nvSpPr>
        <p:spPr>
          <a:xfrm>
            <a:off x="4968553" y="2404419"/>
            <a:ext cx="8895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200" b="1" dirty="0">
                <a:solidFill>
                  <a:srgbClr val="002060"/>
                </a:solidFill>
                <a:latin typeface="Aptos Narrow" panose="020B0004020202020204" pitchFamily="34" charset="0"/>
              </a:rPr>
              <a:t>Desviación</a:t>
            </a:r>
          </a:p>
        </p:txBody>
      </p:sp>
      <p:sp>
        <p:nvSpPr>
          <p:cNvPr id="43" name="Rectángulo: esquinas superiores redondeadas 42">
            <a:extLst>
              <a:ext uri="{FF2B5EF4-FFF2-40B4-BE49-F238E27FC236}">
                <a16:creationId xmlns:a16="http://schemas.microsoft.com/office/drawing/2014/main" id="{3E42BF1D-B98E-60FD-7D27-2D69A13ABE79}"/>
              </a:ext>
            </a:extLst>
          </p:cNvPr>
          <p:cNvSpPr/>
          <p:nvPr/>
        </p:nvSpPr>
        <p:spPr>
          <a:xfrm>
            <a:off x="6193012" y="976350"/>
            <a:ext cx="5783580" cy="499110"/>
          </a:xfrm>
          <a:prstGeom prst="round2SameRect">
            <a:avLst>
              <a:gd name="adj1" fmla="val 18493"/>
              <a:gd name="adj2" fmla="val 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D7E1EE26-165D-D9D2-76A7-748EDFBB5CA0}"/>
              </a:ext>
            </a:extLst>
          </p:cNvPr>
          <p:cNvSpPr txBox="1"/>
          <p:nvPr/>
        </p:nvSpPr>
        <p:spPr>
          <a:xfrm>
            <a:off x="6756714" y="1053086"/>
            <a:ext cx="24169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b="1" dirty="0">
                <a:solidFill>
                  <a:schemeClr val="bg1"/>
                </a:solidFill>
                <a:latin typeface="Aptos Narrow" panose="020B0004020202020204" pitchFamily="34" charset="0"/>
              </a:rPr>
              <a:t>Resultado de la semana</a:t>
            </a:r>
          </a:p>
        </p:txBody>
      </p:sp>
      <p:sp>
        <p:nvSpPr>
          <p:cNvPr id="47" name="Diagrama de flujo: conector 46">
            <a:extLst>
              <a:ext uri="{FF2B5EF4-FFF2-40B4-BE49-F238E27FC236}">
                <a16:creationId xmlns:a16="http://schemas.microsoft.com/office/drawing/2014/main" id="{5AF22261-3BCD-1BCC-ED21-25A248DD7BC8}"/>
              </a:ext>
            </a:extLst>
          </p:cNvPr>
          <p:cNvSpPr>
            <a:spLocks noChangeAspect="1"/>
          </p:cNvSpPr>
          <p:nvPr/>
        </p:nvSpPr>
        <p:spPr>
          <a:xfrm>
            <a:off x="6276864" y="1024363"/>
            <a:ext cx="400218" cy="396000"/>
          </a:xfrm>
          <a:prstGeom prst="flowChartConnector">
            <a:avLst/>
          </a:prstGeom>
          <a:solidFill>
            <a:srgbClr val="B1C7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6536D778-7E97-4879-A039-1D1E5FE5AC42}"/>
              </a:ext>
            </a:extLst>
          </p:cNvPr>
          <p:cNvSpPr txBox="1"/>
          <p:nvPr/>
        </p:nvSpPr>
        <p:spPr>
          <a:xfrm>
            <a:off x="6270368" y="1053086"/>
            <a:ext cx="3972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b="1" dirty="0">
                <a:solidFill>
                  <a:schemeClr val="bg1"/>
                </a:solidFill>
                <a:latin typeface="Aptos Narrow" panose="020B0004020202020204" pitchFamily="34" charset="0"/>
              </a:rPr>
              <a:t>02</a:t>
            </a:r>
          </a:p>
        </p:txBody>
      </p:sp>
      <p:pic>
        <p:nvPicPr>
          <p:cNvPr id="53" name="Gráfico 52" descr="Bullseye con relleno sólido">
            <a:extLst>
              <a:ext uri="{FF2B5EF4-FFF2-40B4-BE49-F238E27FC236}">
                <a16:creationId xmlns:a16="http://schemas.microsoft.com/office/drawing/2014/main" id="{D5990D93-7DD2-1631-E23C-E43D87E1ED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363008" y="963567"/>
            <a:ext cx="435600" cy="435600"/>
          </a:xfrm>
          <a:prstGeom prst="rect">
            <a:avLst/>
          </a:prstGeom>
        </p:spPr>
      </p:pic>
      <p:sp>
        <p:nvSpPr>
          <p:cNvPr id="55" name="Arco de bloque 54">
            <a:extLst>
              <a:ext uri="{FF2B5EF4-FFF2-40B4-BE49-F238E27FC236}">
                <a16:creationId xmlns:a16="http://schemas.microsoft.com/office/drawing/2014/main" id="{1934F253-46E0-302A-4742-D7621122346F}"/>
              </a:ext>
            </a:extLst>
          </p:cNvPr>
          <p:cNvSpPr>
            <a:spLocks noChangeAspect="1"/>
          </p:cNvSpPr>
          <p:nvPr/>
        </p:nvSpPr>
        <p:spPr>
          <a:xfrm rot="16200000">
            <a:off x="6388608" y="1579166"/>
            <a:ext cx="1410221" cy="1443045"/>
          </a:xfrm>
          <a:prstGeom prst="blockArc">
            <a:avLst>
              <a:gd name="adj1" fmla="val 7431030"/>
              <a:gd name="adj2" fmla="val 149382"/>
              <a:gd name="adj3" fmla="val 14305"/>
            </a:avLst>
          </a:prstGeom>
          <a:solidFill>
            <a:srgbClr val="D5DB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solidFill>
                <a:schemeClr val="tx1"/>
              </a:solidFill>
            </a:endParaRPr>
          </a:p>
        </p:txBody>
      </p:sp>
      <p:sp>
        <p:nvSpPr>
          <p:cNvPr id="57" name="Arco de bloque 56">
            <a:extLst>
              <a:ext uri="{FF2B5EF4-FFF2-40B4-BE49-F238E27FC236}">
                <a16:creationId xmlns:a16="http://schemas.microsoft.com/office/drawing/2014/main" id="{02EBCEC4-CA4A-5D95-1D93-719D6FF4C150}"/>
              </a:ext>
            </a:extLst>
          </p:cNvPr>
          <p:cNvSpPr>
            <a:spLocks noChangeAspect="1"/>
          </p:cNvSpPr>
          <p:nvPr/>
        </p:nvSpPr>
        <p:spPr>
          <a:xfrm rot="1672868">
            <a:off x="6388253" y="1579165"/>
            <a:ext cx="1410221" cy="1443045"/>
          </a:xfrm>
          <a:prstGeom prst="blockArc">
            <a:avLst>
              <a:gd name="adj1" fmla="val 21487436"/>
              <a:gd name="adj2" fmla="val 21453682"/>
              <a:gd name="adj3" fmla="val 14699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solidFill>
                <a:schemeClr val="tx1"/>
              </a:solidFill>
            </a:endParaRP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AF1C6F20-C14D-181C-FE7F-487D4AA23B89}"/>
              </a:ext>
            </a:extLst>
          </p:cNvPr>
          <p:cNvSpPr txBox="1"/>
          <p:nvPr/>
        </p:nvSpPr>
        <p:spPr>
          <a:xfrm>
            <a:off x="6613076" y="1869801"/>
            <a:ext cx="102463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2800" b="1" dirty="0">
                <a:latin typeface="Aptos Narrow" panose="020B0004020202020204" pitchFamily="34" charset="0"/>
              </a:rPr>
              <a:t>100%</a:t>
            </a:r>
          </a:p>
          <a:p>
            <a:pPr algn="ctr"/>
            <a:r>
              <a:rPr lang="es-CL" sz="1100" b="1" dirty="0">
                <a:latin typeface="Aptos Narrow" panose="020B0004020202020204" pitchFamily="34" charset="0"/>
              </a:rPr>
              <a:t>Cumplimiento</a:t>
            </a:r>
          </a:p>
          <a:p>
            <a:pPr algn="ctr"/>
            <a:r>
              <a:rPr lang="es-CL" sz="1100" b="1" dirty="0">
                <a:latin typeface="Aptos Narrow" panose="020B0004020202020204" pitchFamily="34" charset="0"/>
              </a:rPr>
              <a:t>semanal</a:t>
            </a: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6C4AA35C-5DF0-B4C0-C191-84AAD208A839}"/>
              </a:ext>
            </a:extLst>
          </p:cNvPr>
          <p:cNvSpPr txBox="1"/>
          <p:nvPr/>
        </p:nvSpPr>
        <p:spPr>
          <a:xfrm>
            <a:off x="7815242" y="1522054"/>
            <a:ext cx="422167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L"/>
            </a:defPPr>
            <a:lvl1pPr>
              <a:defRPr sz="1100">
                <a:solidFill>
                  <a:srgbClr val="002060"/>
                </a:solidFill>
                <a:latin typeface="Aptos Narrow" panose="020B0004020202020204" pitchFamily="34" charset="0"/>
              </a:defRPr>
            </a:lvl1pPr>
          </a:lstStyle>
          <a:p>
            <a:r>
              <a:rPr lang="es-CL" sz="1400" dirty="0">
                <a:latin typeface="Arial Narrow" panose="020B0606020202030204" pitchFamily="34" charset="0"/>
              </a:rPr>
              <a:t>Se completaron los 8 compromisos consolidados de la Semana 8, estableciendo la base técnica necesaria para continuar el desarrollo de GATI.</a:t>
            </a:r>
          </a:p>
        </p:txBody>
      </p:sp>
      <p:sp>
        <p:nvSpPr>
          <p:cNvPr id="61" name="Rectángulo: esquinas redondeadas 60">
            <a:extLst>
              <a:ext uri="{FF2B5EF4-FFF2-40B4-BE49-F238E27FC236}">
                <a16:creationId xmlns:a16="http://schemas.microsoft.com/office/drawing/2014/main" id="{A0651C52-CFA9-135F-A3E5-1B6178801815}"/>
              </a:ext>
            </a:extLst>
          </p:cNvPr>
          <p:cNvSpPr/>
          <p:nvPr/>
        </p:nvSpPr>
        <p:spPr>
          <a:xfrm>
            <a:off x="8114361" y="2407083"/>
            <a:ext cx="1119208" cy="674265"/>
          </a:xfrm>
          <a:prstGeom prst="roundRect">
            <a:avLst>
              <a:gd name="adj" fmla="val 11627"/>
            </a:avLst>
          </a:prstGeom>
          <a:solidFill>
            <a:srgbClr val="E0F4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FC612A60-11E6-819F-FA3C-B6CCF0C2DA6F}"/>
              </a:ext>
            </a:extLst>
          </p:cNvPr>
          <p:cNvSpPr txBox="1"/>
          <p:nvPr/>
        </p:nvSpPr>
        <p:spPr>
          <a:xfrm>
            <a:off x="8241474" y="2353699"/>
            <a:ext cx="86626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2800" b="1" dirty="0">
                <a:solidFill>
                  <a:srgbClr val="10833B"/>
                </a:solidFill>
              </a:rPr>
              <a:t>8</a:t>
            </a:r>
            <a:endParaRPr lang="es-CL" sz="2000" b="1" dirty="0">
              <a:solidFill>
                <a:srgbClr val="10833B"/>
              </a:solidFill>
            </a:endParaRPr>
          </a:p>
          <a:p>
            <a:pPr algn="ctr"/>
            <a:r>
              <a:rPr lang="es-CL" sz="1400" b="1" dirty="0">
                <a:solidFill>
                  <a:srgbClr val="10833B"/>
                </a:solidFill>
                <a:latin typeface="Aptos Narrow" panose="020B0004020202020204" pitchFamily="34" charset="0"/>
              </a:rPr>
              <a:t>Cerrados</a:t>
            </a:r>
            <a:endParaRPr lang="es-CL" b="1" dirty="0">
              <a:solidFill>
                <a:srgbClr val="10833B"/>
              </a:solidFill>
              <a:latin typeface="Aptos Narrow" panose="020B0004020202020204" pitchFamily="34" charset="0"/>
            </a:endParaRPr>
          </a:p>
        </p:txBody>
      </p:sp>
      <p:sp>
        <p:nvSpPr>
          <p:cNvPr id="64" name="Rectángulo: esquinas redondeadas 63">
            <a:extLst>
              <a:ext uri="{FF2B5EF4-FFF2-40B4-BE49-F238E27FC236}">
                <a16:creationId xmlns:a16="http://schemas.microsoft.com/office/drawing/2014/main" id="{1EF099C0-3363-F8B6-4D7B-5CA53CA205E1}"/>
              </a:ext>
            </a:extLst>
          </p:cNvPr>
          <p:cNvSpPr/>
          <p:nvPr/>
        </p:nvSpPr>
        <p:spPr>
          <a:xfrm>
            <a:off x="9360682" y="2418098"/>
            <a:ext cx="1187599" cy="674265"/>
          </a:xfrm>
          <a:prstGeom prst="roundRect">
            <a:avLst>
              <a:gd name="adj" fmla="val 11627"/>
            </a:avLst>
          </a:prstGeom>
          <a:solidFill>
            <a:srgbClr val="FDF0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6" name="Rectángulo: esquinas redondeadas 65">
            <a:extLst>
              <a:ext uri="{FF2B5EF4-FFF2-40B4-BE49-F238E27FC236}">
                <a16:creationId xmlns:a16="http://schemas.microsoft.com/office/drawing/2014/main" id="{2EE13F41-B336-B253-C193-D2872C8AC894}"/>
              </a:ext>
            </a:extLst>
          </p:cNvPr>
          <p:cNvSpPr/>
          <p:nvPr/>
        </p:nvSpPr>
        <p:spPr>
          <a:xfrm>
            <a:off x="10657408" y="2418097"/>
            <a:ext cx="1152415" cy="674265"/>
          </a:xfrm>
          <a:prstGeom prst="roundRect">
            <a:avLst>
              <a:gd name="adj" fmla="val 11627"/>
            </a:avLst>
          </a:prstGeom>
          <a:solidFill>
            <a:srgbClr val="FDE3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1F643442-AEF3-3772-5973-ACDDB265E840}"/>
              </a:ext>
            </a:extLst>
          </p:cNvPr>
          <p:cNvSpPr txBox="1"/>
          <p:nvPr/>
        </p:nvSpPr>
        <p:spPr>
          <a:xfrm>
            <a:off x="9450241" y="2362243"/>
            <a:ext cx="100848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2800" b="1" dirty="0">
                <a:solidFill>
                  <a:srgbClr val="FFC000"/>
                </a:solidFill>
              </a:rPr>
              <a:t>0</a:t>
            </a:r>
            <a:endParaRPr lang="es-CL" sz="2000" b="1" dirty="0">
              <a:solidFill>
                <a:srgbClr val="FFC000"/>
              </a:solidFill>
            </a:endParaRPr>
          </a:p>
          <a:p>
            <a:pPr algn="ctr"/>
            <a:r>
              <a:rPr lang="es-CL" sz="1400" b="1" dirty="0">
                <a:solidFill>
                  <a:srgbClr val="FFC000"/>
                </a:solidFill>
                <a:latin typeface="Aptos Narrow" panose="020B0004020202020204" pitchFamily="34" charset="0"/>
              </a:rPr>
              <a:t>En Proceso</a:t>
            </a:r>
            <a:endParaRPr lang="es-CL" b="1" dirty="0">
              <a:solidFill>
                <a:srgbClr val="FFC000"/>
              </a:solidFill>
              <a:latin typeface="Aptos Narrow" panose="020B0004020202020204" pitchFamily="34" charset="0"/>
            </a:endParaRPr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A31D2C27-9D29-6699-C6CD-0A9297724887}"/>
              </a:ext>
            </a:extLst>
          </p:cNvPr>
          <p:cNvSpPr txBox="1"/>
          <p:nvPr/>
        </p:nvSpPr>
        <p:spPr>
          <a:xfrm>
            <a:off x="10746228" y="2362243"/>
            <a:ext cx="101931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2800" b="1" dirty="0">
                <a:solidFill>
                  <a:srgbClr val="C00000"/>
                </a:solidFill>
              </a:rPr>
              <a:t>0</a:t>
            </a:r>
            <a:endParaRPr lang="es-CL" sz="2000" b="1" dirty="0">
              <a:solidFill>
                <a:srgbClr val="C00000"/>
              </a:solidFill>
            </a:endParaRPr>
          </a:p>
          <a:p>
            <a:pPr algn="ctr"/>
            <a:r>
              <a:rPr lang="es-CL" sz="1400" b="1" dirty="0">
                <a:solidFill>
                  <a:srgbClr val="C00000"/>
                </a:solidFill>
                <a:latin typeface="Aptos Narrow" panose="020B0004020202020204" pitchFamily="34" charset="0"/>
              </a:rPr>
              <a:t>Pendientes</a:t>
            </a:r>
            <a:endParaRPr lang="es-CL" b="1" dirty="0">
              <a:solidFill>
                <a:srgbClr val="C00000"/>
              </a:solidFill>
              <a:latin typeface="Aptos Narrow" panose="020B0004020202020204" pitchFamily="34" charset="0"/>
            </a:endParaRPr>
          </a:p>
        </p:txBody>
      </p:sp>
      <p:sp>
        <p:nvSpPr>
          <p:cNvPr id="72" name="Rectángulo: esquinas superiores redondeadas 71">
            <a:extLst>
              <a:ext uri="{FF2B5EF4-FFF2-40B4-BE49-F238E27FC236}">
                <a16:creationId xmlns:a16="http://schemas.microsoft.com/office/drawing/2014/main" id="{EBAC5F81-6FA3-7861-68A8-F56152D6FAA8}"/>
              </a:ext>
            </a:extLst>
          </p:cNvPr>
          <p:cNvSpPr/>
          <p:nvPr/>
        </p:nvSpPr>
        <p:spPr>
          <a:xfrm>
            <a:off x="287513" y="3262611"/>
            <a:ext cx="5722621" cy="499110"/>
          </a:xfrm>
          <a:prstGeom prst="round2SameRect">
            <a:avLst>
              <a:gd name="adj1" fmla="val 20319"/>
              <a:gd name="adj2" fmla="val 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74" name="CuadroTexto 73">
            <a:extLst>
              <a:ext uri="{FF2B5EF4-FFF2-40B4-BE49-F238E27FC236}">
                <a16:creationId xmlns:a16="http://schemas.microsoft.com/office/drawing/2014/main" id="{7D90497F-4433-8941-E9A5-0C69E1275942}"/>
              </a:ext>
            </a:extLst>
          </p:cNvPr>
          <p:cNvSpPr txBox="1"/>
          <p:nvPr/>
        </p:nvSpPr>
        <p:spPr>
          <a:xfrm>
            <a:off x="854759" y="3341200"/>
            <a:ext cx="18437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600" b="1" dirty="0">
                <a:solidFill>
                  <a:schemeClr val="bg1"/>
                </a:solidFill>
                <a:latin typeface="Aptos Narrow" panose="020B0004020202020204" pitchFamily="34" charset="0"/>
              </a:rPr>
              <a:t>Principal Resultado</a:t>
            </a:r>
          </a:p>
        </p:txBody>
      </p:sp>
      <p:sp>
        <p:nvSpPr>
          <p:cNvPr id="76" name="Diagrama de flujo: conector 75">
            <a:extLst>
              <a:ext uri="{FF2B5EF4-FFF2-40B4-BE49-F238E27FC236}">
                <a16:creationId xmlns:a16="http://schemas.microsoft.com/office/drawing/2014/main" id="{57E08A6E-24C7-E84D-229A-85050F8EE997}"/>
              </a:ext>
            </a:extLst>
          </p:cNvPr>
          <p:cNvSpPr>
            <a:spLocks noChangeAspect="1"/>
          </p:cNvSpPr>
          <p:nvPr/>
        </p:nvSpPr>
        <p:spPr>
          <a:xfrm>
            <a:off x="365446" y="3325179"/>
            <a:ext cx="396000" cy="396000"/>
          </a:xfrm>
          <a:prstGeom prst="flowChartConnector">
            <a:avLst/>
          </a:prstGeom>
          <a:solidFill>
            <a:srgbClr val="B1C7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8" name="CuadroTexto 77">
            <a:extLst>
              <a:ext uri="{FF2B5EF4-FFF2-40B4-BE49-F238E27FC236}">
                <a16:creationId xmlns:a16="http://schemas.microsoft.com/office/drawing/2014/main" id="{3A8EDACE-4E67-6A36-EDDC-C45177EA870C}"/>
              </a:ext>
            </a:extLst>
          </p:cNvPr>
          <p:cNvSpPr txBox="1"/>
          <p:nvPr/>
        </p:nvSpPr>
        <p:spPr>
          <a:xfrm>
            <a:off x="362268" y="3344234"/>
            <a:ext cx="3930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600" b="1" dirty="0">
                <a:solidFill>
                  <a:schemeClr val="bg1"/>
                </a:solidFill>
                <a:latin typeface="Aptos Narrow" panose="020B0004020202020204" pitchFamily="34" charset="0"/>
              </a:rPr>
              <a:t>03</a:t>
            </a:r>
          </a:p>
        </p:txBody>
      </p:sp>
      <p:pic>
        <p:nvPicPr>
          <p:cNvPr id="82" name="Gráfico 81" descr="Warning contorno">
            <a:extLst>
              <a:ext uri="{FF2B5EF4-FFF2-40B4-BE49-F238E27FC236}">
                <a16:creationId xmlns:a16="http://schemas.microsoft.com/office/drawing/2014/main" id="{52781B7A-981C-201F-94A8-E3151EACAE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97322" y="3259644"/>
            <a:ext cx="432000" cy="432000"/>
          </a:xfrm>
          <a:prstGeom prst="rect">
            <a:avLst/>
          </a:prstGeom>
        </p:spPr>
      </p:pic>
      <p:sp>
        <p:nvSpPr>
          <p:cNvPr id="84" name="Rectángulo: esquinas redondeadas 83">
            <a:extLst>
              <a:ext uri="{FF2B5EF4-FFF2-40B4-BE49-F238E27FC236}">
                <a16:creationId xmlns:a16="http://schemas.microsoft.com/office/drawing/2014/main" id="{AA05578C-1B23-6816-18D8-3B166F4083E9}"/>
              </a:ext>
            </a:extLst>
          </p:cNvPr>
          <p:cNvSpPr/>
          <p:nvPr/>
        </p:nvSpPr>
        <p:spPr>
          <a:xfrm>
            <a:off x="427778" y="3841524"/>
            <a:ext cx="2894002" cy="1529272"/>
          </a:xfrm>
          <a:prstGeom prst="roundRect">
            <a:avLst>
              <a:gd name="adj" fmla="val 9379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5" name="CuadroTexto 84">
            <a:extLst>
              <a:ext uri="{FF2B5EF4-FFF2-40B4-BE49-F238E27FC236}">
                <a16:creationId xmlns:a16="http://schemas.microsoft.com/office/drawing/2014/main" id="{D62DFE0C-ED72-7344-1D77-FEF92B511D95}"/>
              </a:ext>
            </a:extLst>
          </p:cNvPr>
          <p:cNvSpPr txBox="1"/>
          <p:nvPr/>
        </p:nvSpPr>
        <p:spPr>
          <a:xfrm>
            <a:off x="858437" y="3850196"/>
            <a:ext cx="21058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000" b="1" dirty="0">
                <a:latin typeface="Arial Narrow" panose="020B0606020202030204" pitchFamily="34" charset="0"/>
              </a:rPr>
              <a:t>Base técnica H-03 </a:t>
            </a:r>
          </a:p>
          <a:p>
            <a:pPr algn="ctr"/>
            <a:r>
              <a:rPr lang="es-CL" sz="2000" b="1" dirty="0">
                <a:latin typeface="Arial Narrow" panose="020B0606020202030204" pitchFamily="34" charset="0"/>
              </a:rPr>
              <a:t>establecida</a:t>
            </a:r>
            <a:endParaRPr lang="es-MX" sz="2000" b="1" dirty="0">
              <a:latin typeface="Arial Narrow" panose="020B0606020202030204" pitchFamily="34" charset="0"/>
            </a:endParaRPr>
          </a:p>
        </p:txBody>
      </p:sp>
      <p:sp>
        <p:nvSpPr>
          <p:cNvPr id="87" name="Rectángulo: esquinas redondeadas 86">
            <a:extLst>
              <a:ext uri="{FF2B5EF4-FFF2-40B4-BE49-F238E27FC236}">
                <a16:creationId xmlns:a16="http://schemas.microsoft.com/office/drawing/2014/main" id="{93B535D3-AD18-6FCC-99AE-C1000AB7AA99}"/>
              </a:ext>
            </a:extLst>
          </p:cNvPr>
          <p:cNvSpPr/>
          <p:nvPr/>
        </p:nvSpPr>
        <p:spPr>
          <a:xfrm>
            <a:off x="3393805" y="3861248"/>
            <a:ext cx="2550988" cy="1529272"/>
          </a:xfrm>
          <a:prstGeom prst="roundRect">
            <a:avLst>
              <a:gd name="adj" fmla="val 6457"/>
            </a:avLst>
          </a:prstGeom>
          <a:solidFill>
            <a:srgbClr val="D5DB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88" name="CuadroTexto 87">
            <a:extLst>
              <a:ext uri="{FF2B5EF4-FFF2-40B4-BE49-F238E27FC236}">
                <a16:creationId xmlns:a16="http://schemas.microsoft.com/office/drawing/2014/main" id="{000B598A-4A82-9132-92E3-CE540C9A049B}"/>
              </a:ext>
            </a:extLst>
          </p:cNvPr>
          <p:cNvSpPr txBox="1"/>
          <p:nvPr/>
        </p:nvSpPr>
        <p:spPr>
          <a:xfrm>
            <a:off x="3402436" y="4100337"/>
            <a:ext cx="2565197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s-CL" sz="900" dirty="0"/>
              <a:t>Arquitectura técnica consolidada.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s-CL" sz="900" dirty="0"/>
              <a:t>Repositorios y ambientes configurados.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s-CL" sz="900" dirty="0"/>
              <a:t>Control de versiones establecido.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s-CL" sz="900" dirty="0"/>
              <a:t>Estructuras iniciales de </a:t>
            </a:r>
            <a:r>
              <a:rPr lang="es-CL" sz="900" dirty="0" err="1"/>
              <a:t>backend</a:t>
            </a:r>
            <a:r>
              <a:rPr lang="es-CL" sz="900" dirty="0"/>
              <a:t>, web y móvil definidas.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s-CL" sz="900" dirty="0"/>
              <a:t>Modelo físico y esquema inicial de BD implementados.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s-CL" sz="900" dirty="0"/>
              <a:t>Tablas, claves y conexiones principales creadas.</a:t>
            </a:r>
          </a:p>
        </p:txBody>
      </p:sp>
      <p:sp>
        <p:nvSpPr>
          <p:cNvPr id="90" name="Rectángulo: esquinas superiores redondeadas 89">
            <a:extLst>
              <a:ext uri="{FF2B5EF4-FFF2-40B4-BE49-F238E27FC236}">
                <a16:creationId xmlns:a16="http://schemas.microsoft.com/office/drawing/2014/main" id="{5B998E70-DC88-1282-701F-30CD3A9FC804}"/>
              </a:ext>
            </a:extLst>
          </p:cNvPr>
          <p:cNvSpPr/>
          <p:nvPr/>
        </p:nvSpPr>
        <p:spPr>
          <a:xfrm>
            <a:off x="6200767" y="3268760"/>
            <a:ext cx="5775825" cy="499110"/>
          </a:xfrm>
          <a:prstGeom prst="round2SameRect">
            <a:avLst>
              <a:gd name="adj1" fmla="val 18493"/>
              <a:gd name="adj2" fmla="val 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2" name="CuadroTexto 91">
            <a:extLst>
              <a:ext uri="{FF2B5EF4-FFF2-40B4-BE49-F238E27FC236}">
                <a16:creationId xmlns:a16="http://schemas.microsoft.com/office/drawing/2014/main" id="{53BC7A8B-D336-3B1A-40CA-52B7E8BDA8D0}"/>
              </a:ext>
            </a:extLst>
          </p:cNvPr>
          <p:cNvSpPr txBox="1"/>
          <p:nvPr/>
        </p:nvSpPr>
        <p:spPr>
          <a:xfrm>
            <a:off x="6816580" y="3373140"/>
            <a:ext cx="24169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b="1" dirty="0">
                <a:solidFill>
                  <a:schemeClr val="bg1"/>
                </a:solidFill>
                <a:latin typeface="Aptos Narrow" panose="020B0004020202020204" pitchFamily="34" charset="0"/>
              </a:rPr>
              <a:t>Foco próxima semana</a:t>
            </a:r>
          </a:p>
        </p:txBody>
      </p:sp>
      <p:sp>
        <p:nvSpPr>
          <p:cNvPr id="94" name="Diagrama de flujo: conector 93">
            <a:extLst>
              <a:ext uri="{FF2B5EF4-FFF2-40B4-BE49-F238E27FC236}">
                <a16:creationId xmlns:a16="http://schemas.microsoft.com/office/drawing/2014/main" id="{E7BF84D9-48F1-E42C-4BCF-57000F8A17F1}"/>
              </a:ext>
            </a:extLst>
          </p:cNvPr>
          <p:cNvSpPr>
            <a:spLocks noChangeAspect="1"/>
          </p:cNvSpPr>
          <p:nvPr/>
        </p:nvSpPr>
        <p:spPr>
          <a:xfrm>
            <a:off x="6299799" y="3317992"/>
            <a:ext cx="400218" cy="396000"/>
          </a:xfrm>
          <a:prstGeom prst="flowChartConnector">
            <a:avLst/>
          </a:prstGeom>
          <a:solidFill>
            <a:srgbClr val="B1C7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6" name="CuadroTexto 95">
            <a:extLst>
              <a:ext uri="{FF2B5EF4-FFF2-40B4-BE49-F238E27FC236}">
                <a16:creationId xmlns:a16="http://schemas.microsoft.com/office/drawing/2014/main" id="{0549E346-8E2F-84A4-E797-75B2788FB779}"/>
              </a:ext>
            </a:extLst>
          </p:cNvPr>
          <p:cNvSpPr txBox="1"/>
          <p:nvPr/>
        </p:nvSpPr>
        <p:spPr>
          <a:xfrm>
            <a:off x="6293303" y="3346715"/>
            <a:ext cx="3972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b="1" dirty="0">
                <a:solidFill>
                  <a:schemeClr val="bg1"/>
                </a:solidFill>
                <a:latin typeface="Aptos Narrow" panose="020B0004020202020204" pitchFamily="34" charset="0"/>
              </a:rPr>
              <a:t>04</a:t>
            </a:r>
          </a:p>
        </p:txBody>
      </p:sp>
      <p:pic>
        <p:nvPicPr>
          <p:cNvPr id="98" name="Gráfico 97" descr="Bullseye con relleno sólido">
            <a:extLst>
              <a:ext uri="{FF2B5EF4-FFF2-40B4-BE49-F238E27FC236}">
                <a16:creationId xmlns:a16="http://schemas.microsoft.com/office/drawing/2014/main" id="{5E8BB2CB-678A-C6C1-C7DA-053F872B81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385943" y="3257196"/>
            <a:ext cx="435600" cy="435600"/>
          </a:xfrm>
          <a:prstGeom prst="rect">
            <a:avLst/>
          </a:prstGeom>
        </p:spPr>
      </p:pic>
      <p:sp>
        <p:nvSpPr>
          <p:cNvPr id="99" name="CuadroTexto 98">
            <a:extLst>
              <a:ext uri="{FF2B5EF4-FFF2-40B4-BE49-F238E27FC236}">
                <a16:creationId xmlns:a16="http://schemas.microsoft.com/office/drawing/2014/main" id="{20AEECB0-DD95-5C5A-13E9-3A49D2616A84}"/>
              </a:ext>
            </a:extLst>
          </p:cNvPr>
          <p:cNvSpPr txBox="1"/>
          <p:nvPr/>
        </p:nvSpPr>
        <p:spPr>
          <a:xfrm>
            <a:off x="6449421" y="3732062"/>
            <a:ext cx="4947554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s-CL" sz="1300" dirty="0">
                <a:latin typeface="Arial Narrow" panose="020B0606020202030204" pitchFamily="34" charset="0"/>
              </a:rPr>
              <a:t>Continuar el desarrollo inicial del </a:t>
            </a:r>
            <a:r>
              <a:rPr lang="es-CL" sz="1300" dirty="0" err="1">
                <a:latin typeface="Arial Narrow" panose="020B0606020202030204" pitchFamily="34" charset="0"/>
              </a:rPr>
              <a:t>backend</a:t>
            </a:r>
            <a:r>
              <a:rPr lang="es-CL" sz="1300" dirty="0">
                <a:latin typeface="Arial Narrow" panose="020B0606020202030204" pitchFamily="34" charset="0"/>
              </a:rPr>
              <a:t>/API.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s-CL" sz="1300" dirty="0">
                <a:latin typeface="Arial Narrow" panose="020B0606020202030204" pitchFamily="34" charset="0"/>
              </a:rPr>
              <a:t>Avanzar en las funcionalidades de inventario.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s-CL" sz="1300" dirty="0">
                <a:latin typeface="Arial Narrow" panose="020B0606020202030204" pitchFamily="34" charset="0"/>
              </a:rPr>
              <a:t>Implementar registro y consulta de Órdenes de Compra.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s-CL" sz="1300" dirty="0">
                <a:latin typeface="Arial Narrow" panose="020B0606020202030204" pitchFamily="34" charset="0"/>
              </a:rPr>
              <a:t>Avanzar en la individualización de activos.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s-CL" sz="1300" dirty="0">
                <a:latin typeface="Arial Narrow" panose="020B0606020202030204" pitchFamily="34" charset="0"/>
              </a:rPr>
              <a:t>Desarrollar interfaces funcionales iniciales.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s-CL" sz="1300" dirty="0">
                <a:latin typeface="Arial Narrow" panose="020B0606020202030204" pitchFamily="34" charset="0"/>
              </a:rPr>
              <a:t>Preparar la integración con el Sistema Institucional de Compras.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s-CL" sz="1300" dirty="0">
                <a:latin typeface="Arial Narrow" panose="020B0606020202030204" pitchFamily="34" charset="0"/>
              </a:rPr>
              <a:t>Desarrollar y actualizar casos de prueba.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s-CL" sz="1300" dirty="0">
                <a:latin typeface="Arial Narrow" panose="020B0606020202030204" pitchFamily="34" charset="0"/>
              </a:rPr>
              <a:t>Validar e integrar los componentes construidos durante S9.</a:t>
            </a:r>
          </a:p>
        </p:txBody>
      </p:sp>
      <p:sp>
        <p:nvSpPr>
          <p:cNvPr id="100" name="Rectángulo: esquinas redondeadas 99">
            <a:extLst>
              <a:ext uri="{FF2B5EF4-FFF2-40B4-BE49-F238E27FC236}">
                <a16:creationId xmlns:a16="http://schemas.microsoft.com/office/drawing/2014/main" id="{10E8C2A2-4712-9D92-3945-1C2AD1EA6629}"/>
              </a:ext>
            </a:extLst>
          </p:cNvPr>
          <p:cNvSpPr/>
          <p:nvPr/>
        </p:nvSpPr>
        <p:spPr>
          <a:xfrm>
            <a:off x="232459" y="5522855"/>
            <a:ext cx="11689079" cy="807309"/>
          </a:xfrm>
          <a:prstGeom prst="roundRect">
            <a:avLst/>
          </a:prstGeom>
          <a:solidFill>
            <a:srgbClr val="002060"/>
          </a:solidFill>
          <a:ln>
            <a:noFill/>
          </a:ln>
          <a:effectLst>
            <a:outerShdw blurRad="50800" dist="50800" dir="3240000" algn="ctr" rotWithShape="0">
              <a:schemeClr val="bg1">
                <a:lumMod val="9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01" name="CuadroTexto 100">
            <a:extLst>
              <a:ext uri="{FF2B5EF4-FFF2-40B4-BE49-F238E27FC236}">
                <a16:creationId xmlns:a16="http://schemas.microsoft.com/office/drawing/2014/main" id="{FCC268DF-483F-F7EF-C62B-6A9DB79650FC}"/>
              </a:ext>
            </a:extLst>
          </p:cNvPr>
          <p:cNvSpPr txBox="1"/>
          <p:nvPr/>
        </p:nvSpPr>
        <p:spPr>
          <a:xfrm>
            <a:off x="501419" y="5670813"/>
            <a:ext cx="15600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b="1" dirty="0">
                <a:solidFill>
                  <a:schemeClr val="bg1"/>
                </a:solidFill>
                <a:latin typeface="Arial Narrow" panose="020B0606020202030204" pitchFamily="34" charset="0"/>
              </a:rPr>
              <a:t>Conclusión</a:t>
            </a:r>
          </a:p>
        </p:txBody>
      </p:sp>
      <p:cxnSp>
        <p:nvCxnSpPr>
          <p:cNvPr id="103" name="Conector recto 102">
            <a:extLst>
              <a:ext uri="{FF2B5EF4-FFF2-40B4-BE49-F238E27FC236}">
                <a16:creationId xmlns:a16="http://schemas.microsoft.com/office/drawing/2014/main" id="{87D48F52-020C-44DE-66CD-B9014C2B60D9}"/>
              </a:ext>
            </a:extLst>
          </p:cNvPr>
          <p:cNvCxnSpPr/>
          <p:nvPr/>
        </p:nvCxnSpPr>
        <p:spPr>
          <a:xfrm>
            <a:off x="2344081" y="5828068"/>
            <a:ext cx="0" cy="34338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CuadroTexto 103">
            <a:extLst>
              <a:ext uri="{FF2B5EF4-FFF2-40B4-BE49-F238E27FC236}">
                <a16:creationId xmlns:a16="http://schemas.microsoft.com/office/drawing/2014/main" id="{9137290A-F1E4-6D06-DABF-6CD25F0C4ED7}"/>
              </a:ext>
            </a:extLst>
          </p:cNvPr>
          <p:cNvSpPr txBox="1"/>
          <p:nvPr/>
        </p:nvSpPr>
        <p:spPr>
          <a:xfrm>
            <a:off x="2425894" y="5518686"/>
            <a:ext cx="95506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dirty="0">
                <a:solidFill>
                  <a:schemeClr val="bg1"/>
                </a:solidFill>
                <a:latin typeface="Arial Narrow" panose="020B0606020202030204" pitchFamily="34" charset="0"/>
              </a:rPr>
              <a:t>La Semana 8 finaliza con el 100% de los compromisos semanales cumplidos y la base técnica de H-03 establecida. El proyecto continúa con una desviación de -1 pp respecto de lo planificado, enfocando la Semana 9 en la construcción funcional, integración y validación progresiva de los componentes de GATI.</a:t>
            </a:r>
          </a:p>
        </p:txBody>
      </p:sp>
      <p:grpSp>
        <p:nvGrpSpPr>
          <p:cNvPr id="109" name="Grupo 108">
            <a:extLst>
              <a:ext uri="{FF2B5EF4-FFF2-40B4-BE49-F238E27FC236}">
                <a16:creationId xmlns:a16="http://schemas.microsoft.com/office/drawing/2014/main" id="{B57B7D39-00B5-594A-8755-9C15326AC3E8}"/>
              </a:ext>
            </a:extLst>
          </p:cNvPr>
          <p:cNvGrpSpPr/>
          <p:nvPr/>
        </p:nvGrpSpPr>
        <p:grpSpPr>
          <a:xfrm>
            <a:off x="388383" y="6330732"/>
            <a:ext cx="4541575" cy="479526"/>
            <a:chOff x="362021" y="6264961"/>
            <a:chExt cx="4541575" cy="479526"/>
          </a:xfrm>
        </p:grpSpPr>
        <p:pic>
          <p:nvPicPr>
            <p:cNvPr id="110" name="Imagen 109">
              <a:extLst>
                <a:ext uri="{FF2B5EF4-FFF2-40B4-BE49-F238E27FC236}">
                  <a16:creationId xmlns:a16="http://schemas.microsoft.com/office/drawing/2014/main" id="{2C43446C-AF3F-A36D-CC8E-790A088B281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colorTemperature colorTemp="47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62021" y="6264961"/>
              <a:ext cx="479526" cy="479526"/>
            </a:xfrm>
            <a:prstGeom prst="rect">
              <a:avLst/>
            </a:prstGeom>
          </p:spPr>
        </p:pic>
        <p:sp>
          <p:nvSpPr>
            <p:cNvPr id="111" name="CuadroTexto 110">
              <a:extLst>
                <a:ext uri="{FF2B5EF4-FFF2-40B4-BE49-F238E27FC236}">
                  <a16:creationId xmlns:a16="http://schemas.microsoft.com/office/drawing/2014/main" id="{BCD5CBB1-2A4E-E92F-4FE0-0BFD718D9C8E}"/>
                </a:ext>
              </a:extLst>
            </p:cNvPr>
            <p:cNvSpPr txBox="1"/>
            <p:nvPr/>
          </p:nvSpPr>
          <p:spPr>
            <a:xfrm>
              <a:off x="418502" y="6330118"/>
              <a:ext cx="4058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600" b="1" dirty="0">
                  <a:solidFill>
                    <a:srgbClr val="0A3E6F"/>
                  </a:solidFill>
                  <a:latin typeface="Aptos Display" panose="020B0004020202020204" pitchFamily="34" charset="0"/>
                  <a:ea typeface="ADLaM Display" panose="02010000000000000000" pitchFamily="2" charset="0"/>
                  <a:cs typeface="Aharoni" panose="020F0502020204030204" pitchFamily="2" charset="-79"/>
                </a:rPr>
                <a:t>10</a:t>
              </a:r>
            </a:p>
          </p:txBody>
        </p:sp>
        <p:sp>
          <p:nvSpPr>
            <p:cNvPr id="112" name="CuadroTexto 111">
              <a:extLst>
                <a:ext uri="{FF2B5EF4-FFF2-40B4-BE49-F238E27FC236}">
                  <a16:creationId xmlns:a16="http://schemas.microsoft.com/office/drawing/2014/main" id="{F6184C4D-D188-8CE6-289F-4D031B4D1837}"/>
                </a:ext>
              </a:extLst>
            </p:cNvPr>
            <p:cNvSpPr txBox="1"/>
            <p:nvPr/>
          </p:nvSpPr>
          <p:spPr>
            <a:xfrm>
              <a:off x="841547" y="6372387"/>
              <a:ext cx="24956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L" sz="1200" b="1" dirty="0">
                  <a:solidFill>
                    <a:srgbClr val="002060"/>
                  </a:solidFill>
                  <a:latin typeface="Arial Narrow" panose="020B0606020202030204" pitchFamily="34" charset="0"/>
                </a:rPr>
                <a:t>CAPSTONE · Ingeniería en Informática</a:t>
              </a:r>
            </a:p>
          </p:txBody>
        </p:sp>
        <p:cxnSp>
          <p:nvCxnSpPr>
            <p:cNvPr id="113" name="Conector recto 112">
              <a:extLst>
                <a:ext uri="{FF2B5EF4-FFF2-40B4-BE49-F238E27FC236}">
                  <a16:creationId xmlns:a16="http://schemas.microsoft.com/office/drawing/2014/main" id="{FD16F5FC-AD5B-0BD2-EA98-EBC86965147C}"/>
                </a:ext>
              </a:extLst>
            </p:cNvPr>
            <p:cNvCxnSpPr/>
            <p:nvPr/>
          </p:nvCxnSpPr>
          <p:spPr>
            <a:xfrm>
              <a:off x="3326720" y="6398507"/>
              <a:ext cx="0" cy="224758"/>
            </a:xfrm>
            <a:prstGeom prst="line">
              <a:avLst/>
            </a:prstGeom>
            <a:ln>
              <a:solidFill>
                <a:srgbClr val="7890B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14" name="Imagen 113">
              <a:extLst>
                <a:ext uri="{FF2B5EF4-FFF2-40B4-BE49-F238E27FC236}">
                  <a16:creationId xmlns:a16="http://schemas.microsoft.com/office/drawing/2014/main" id="{DF14B103-24A1-1B8C-7FD9-DF6BA9E538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66930" y="6296972"/>
              <a:ext cx="1436666" cy="324000"/>
            </a:xfrm>
            <a:prstGeom prst="rect">
              <a:avLst/>
            </a:prstGeom>
          </p:spPr>
        </p:pic>
      </p:grpSp>
      <p:sp>
        <p:nvSpPr>
          <p:cNvPr id="5" name="CuadroTexto 4">
            <a:extLst>
              <a:ext uri="{FF2B5EF4-FFF2-40B4-BE49-F238E27FC236}">
                <a16:creationId xmlns:a16="http://schemas.microsoft.com/office/drawing/2014/main" id="{C8C59BCA-B538-069A-5A30-04E150AF52AA}"/>
              </a:ext>
            </a:extLst>
          </p:cNvPr>
          <p:cNvSpPr txBox="1"/>
          <p:nvPr/>
        </p:nvSpPr>
        <p:spPr>
          <a:xfrm>
            <a:off x="464913" y="4449855"/>
            <a:ext cx="289287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dirty="0">
                <a:latin typeface="Arial Narrow" panose="020B0606020202030204" pitchFamily="34" charset="0"/>
              </a:rPr>
              <a:t>Se completó la preparación técnica necesaria para avanzar desde el diseño hacia la construcción funcional de la solución GATI.</a:t>
            </a: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E97DE109-38DD-31A1-DC94-B87CF639A498}"/>
              </a:ext>
            </a:extLst>
          </p:cNvPr>
          <p:cNvSpPr/>
          <p:nvPr/>
        </p:nvSpPr>
        <p:spPr>
          <a:xfrm>
            <a:off x="3995587" y="2029318"/>
            <a:ext cx="748021" cy="331423"/>
          </a:xfrm>
          <a:prstGeom prst="roundRect">
            <a:avLst>
              <a:gd name="adj" fmla="val 39659"/>
            </a:avLst>
          </a:prstGeom>
          <a:solidFill>
            <a:srgbClr val="FFC00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17158F9C-6E61-4EF5-6476-9E2114422257}"/>
              </a:ext>
            </a:extLst>
          </p:cNvPr>
          <p:cNvSpPr/>
          <p:nvPr/>
        </p:nvSpPr>
        <p:spPr>
          <a:xfrm>
            <a:off x="3034913" y="2015912"/>
            <a:ext cx="748021" cy="331423"/>
          </a:xfrm>
          <a:prstGeom prst="roundRect">
            <a:avLst>
              <a:gd name="adj" fmla="val 39659"/>
            </a:avLst>
          </a:prstGeom>
          <a:solidFill>
            <a:srgbClr val="0070C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33309FB7-8622-6C6D-2C07-BE459C1D7EEB}"/>
              </a:ext>
            </a:extLst>
          </p:cNvPr>
          <p:cNvSpPr txBox="1"/>
          <p:nvPr/>
        </p:nvSpPr>
        <p:spPr>
          <a:xfrm>
            <a:off x="3462044" y="3864465"/>
            <a:ext cx="13186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600" b="1" dirty="0">
                <a:latin typeface="Arial Narrow" panose="020B0606020202030204" pitchFamily="34" charset="0"/>
              </a:rPr>
              <a:t>Resultado</a:t>
            </a:r>
            <a:r>
              <a:rPr lang="es-MX" sz="1600" dirty="0">
                <a:latin typeface="Arial Narrow" panose="020B0606020202030204" pitchFamily="34" charset="0"/>
              </a:rPr>
              <a:t> 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66647AFD-6CDA-B718-F70C-E2AD8252DAEC}"/>
              </a:ext>
            </a:extLst>
          </p:cNvPr>
          <p:cNvSpPr txBox="1"/>
          <p:nvPr/>
        </p:nvSpPr>
        <p:spPr>
          <a:xfrm>
            <a:off x="3960460" y="1949202"/>
            <a:ext cx="8515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b="1" dirty="0">
                <a:solidFill>
                  <a:srgbClr val="002060"/>
                </a:solidFill>
                <a:latin typeface="Abadi" panose="020B0604020104020204" pitchFamily="34" charset="0"/>
              </a:rPr>
              <a:t>55%</a:t>
            </a:r>
          </a:p>
        </p:txBody>
      </p:sp>
    </p:spTree>
    <p:extLst>
      <p:ext uri="{BB962C8B-B14F-4D97-AF65-F5344CB8AC3E}">
        <p14:creationId xmlns:p14="http://schemas.microsoft.com/office/powerpoint/2010/main" val="34018665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256E00C-5F61-743A-E745-01DD473DF8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31" b="3194"/>
          <a:stretch>
            <a:fillRect/>
          </a:stretch>
        </p:blipFill>
        <p:spPr>
          <a:xfrm>
            <a:off x="1673287" y="207531"/>
            <a:ext cx="10005079" cy="6650469"/>
          </a:xfrm>
          <a:prstGeom prst="rect">
            <a:avLst/>
          </a:prstGeom>
        </p:spPr>
      </p:pic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029EB80E-0DEF-1423-FA50-51DABD7DC479}"/>
              </a:ext>
            </a:extLst>
          </p:cNvPr>
          <p:cNvSpPr/>
          <p:nvPr/>
        </p:nvSpPr>
        <p:spPr>
          <a:xfrm>
            <a:off x="120805" y="207531"/>
            <a:ext cx="1931732" cy="914400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b="1" dirty="0">
                <a:latin typeface="Arial Narrow" panose="020B0606020202030204" pitchFamily="34" charset="0"/>
              </a:rPr>
              <a:t>VISTA LÓGICA</a:t>
            </a:r>
          </a:p>
        </p:txBody>
      </p:sp>
      <p:sp>
        <p:nvSpPr>
          <p:cNvPr id="6" name="Flecha: hacia la izquierda 5">
            <a:hlinkClick r:id="rId3" action="ppaction://hlinksldjump"/>
            <a:extLst>
              <a:ext uri="{FF2B5EF4-FFF2-40B4-BE49-F238E27FC236}">
                <a16:creationId xmlns:a16="http://schemas.microsoft.com/office/drawing/2014/main" id="{F8D013EE-5F89-771A-F243-09233CFFEF36}"/>
              </a:ext>
            </a:extLst>
          </p:cNvPr>
          <p:cNvSpPr/>
          <p:nvPr/>
        </p:nvSpPr>
        <p:spPr>
          <a:xfrm>
            <a:off x="480232" y="5808288"/>
            <a:ext cx="738968" cy="484632"/>
          </a:xfrm>
          <a:prstGeom prst="lef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874584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66DF5DB-E8A0-9D39-938B-A9DCAEF6D0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7445" y="721853"/>
            <a:ext cx="9646869" cy="5571067"/>
          </a:xfrm>
          <a:prstGeom prst="rect">
            <a:avLst/>
          </a:prstGeom>
        </p:spPr>
      </p:pic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8E0B728D-3E50-2159-5DCE-13CBB7F51E2D}"/>
              </a:ext>
            </a:extLst>
          </p:cNvPr>
          <p:cNvSpPr/>
          <p:nvPr/>
        </p:nvSpPr>
        <p:spPr>
          <a:xfrm>
            <a:off x="181765" y="186266"/>
            <a:ext cx="1931732" cy="914400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b="1" dirty="0">
                <a:latin typeface="Arial Narrow" panose="020B0606020202030204" pitchFamily="34" charset="0"/>
              </a:rPr>
              <a:t>MODELO DATOS</a:t>
            </a:r>
          </a:p>
        </p:txBody>
      </p:sp>
      <p:sp>
        <p:nvSpPr>
          <p:cNvPr id="7" name="Flecha: hacia la izquierda 6">
            <a:hlinkClick r:id="rId3" action="ppaction://hlinksldjump"/>
            <a:extLst>
              <a:ext uri="{FF2B5EF4-FFF2-40B4-BE49-F238E27FC236}">
                <a16:creationId xmlns:a16="http://schemas.microsoft.com/office/drawing/2014/main" id="{548AAB29-39AB-73EB-AFC4-AB63BC92D318}"/>
              </a:ext>
            </a:extLst>
          </p:cNvPr>
          <p:cNvSpPr/>
          <p:nvPr/>
        </p:nvSpPr>
        <p:spPr>
          <a:xfrm>
            <a:off x="642792" y="5727008"/>
            <a:ext cx="738968" cy="484632"/>
          </a:xfrm>
          <a:prstGeom prst="lef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938720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553017F-0E0B-8225-D953-F9D0C20528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11"/>
          <a:stretch>
            <a:fillRect/>
          </a:stretch>
        </p:blipFill>
        <p:spPr>
          <a:xfrm>
            <a:off x="829614" y="643466"/>
            <a:ext cx="10532772" cy="5571067"/>
          </a:xfrm>
          <a:prstGeom prst="rect">
            <a:avLst/>
          </a:prstGeom>
        </p:spPr>
      </p:pic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02D7F387-2EDE-9A30-65A7-8C7E18B77FED}"/>
              </a:ext>
            </a:extLst>
          </p:cNvPr>
          <p:cNvSpPr/>
          <p:nvPr/>
        </p:nvSpPr>
        <p:spPr>
          <a:xfrm>
            <a:off x="181765" y="186266"/>
            <a:ext cx="1931732" cy="914400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b="1" dirty="0">
                <a:latin typeface="Arial Narrow" panose="020B0606020202030204" pitchFamily="34" charset="0"/>
              </a:rPr>
              <a:t>CASO DE USO</a:t>
            </a:r>
          </a:p>
        </p:txBody>
      </p:sp>
      <p:sp>
        <p:nvSpPr>
          <p:cNvPr id="7" name="Flecha: hacia la izquierda 6">
            <a:hlinkClick r:id="rId3" action="ppaction://hlinksldjump"/>
            <a:extLst>
              <a:ext uri="{FF2B5EF4-FFF2-40B4-BE49-F238E27FC236}">
                <a16:creationId xmlns:a16="http://schemas.microsoft.com/office/drawing/2014/main" id="{6755301B-7A4F-B51D-C5FA-80D077CC42E9}"/>
              </a:ext>
            </a:extLst>
          </p:cNvPr>
          <p:cNvSpPr/>
          <p:nvPr/>
        </p:nvSpPr>
        <p:spPr>
          <a:xfrm>
            <a:off x="642792" y="5727008"/>
            <a:ext cx="738968" cy="484632"/>
          </a:xfrm>
          <a:prstGeom prst="lef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8896783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3615</TotalTime>
  <Words>2484</Words>
  <Application>Microsoft Office PowerPoint</Application>
  <PresentationFormat>Panorámica</PresentationFormat>
  <Paragraphs>572</Paragraphs>
  <Slides>13</Slides>
  <Notes>6</Notes>
  <HiddenSlides>0</HiddenSlides>
  <MMClips>0</MMClips>
  <ScaleCrop>false</ScaleCrop>
  <HeadingPairs>
    <vt:vector size="8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Vínculos</vt:lpstr>
      </vt:variant>
      <vt:variant>
        <vt:i4>13</vt:i4>
      </vt:variant>
      <vt:variant>
        <vt:lpstr>Títulos de diapositiva</vt:lpstr>
      </vt:variant>
      <vt:variant>
        <vt:i4>13</vt:i4>
      </vt:variant>
    </vt:vector>
  </HeadingPairs>
  <TitlesOfParts>
    <vt:vector size="34" baseType="lpstr">
      <vt:lpstr>Abadi</vt:lpstr>
      <vt:lpstr>Aptos</vt:lpstr>
      <vt:lpstr>Aptos Display</vt:lpstr>
      <vt:lpstr>Aptos Narrow</vt:lpstr>
      <vt:lpstr>Arial</vt:lpstr>
      <vt:lpstr>Arial Black</vt:lpstr>
      <vt:lpstr>Arial Narrow</vt:lpstr>
      <vt:lpstr>Tema de Office</vt:lpstr>
      <vt:lpstr>C:\Users\carlo\Desktop\DUOC\8vo Semestre\CAPSTONE\PLAN_MAESTRO.xlsx!Dashboard!F3C7</vt:lpstr>
      <vt:lpstr>C:\Users\carlo\Desktop\DUOC\8vo Semestre\CAPSTONE\PLAN_MAESTRO.xlsx!Dashboard!F3C8</vt:lpstr>
      <vt:lpstr>C:\Users\carlo\Desktop\DUOC\8vo Semestre\CAPSTONE\PLAN_MAESTRO.xlsx!Dashboard!F3C10</vt:lpstr>
      <vt:lpstr>C:\Users\carlo\Desktop\DUOC\8vo Semestre\CAPSTONE\PLAN_MAESTRO.xlsx!Dashboard!F3C3</vt:lpstr>
      <vt:lpstr>C:\Users\carlo\Desktop\DUOC\8vo Semestre\CAPSTONE\PLAN_MAESTRO.xlsx!Dashboard!F3C4</vt:lpstr>
      <vt:lpstr>C:\Users\carlo\Desktop\DUOC\8vo Semestre\CAPSTONE\PLAN_MAESTRO.xlsx!Dashboard!F4C5</vt:lpstr>
      <vt:lpstr>C:\Users\carlo\Desktop\DUOC\8vo Semestre\CAPSTONE\PLAN_MAESTRO.xlsx!Dashboard!F3C1</vt:lpstr>
      <vt:lpstr>C:\Users\carlo\Desktop\DUOC\8vo Semestre\CAPSTONE\PLAN_MAESTRO.xlsx!Dashboard!F3C1</vt:lpstr>
      <vt:lpstr>C:\Users\carlo\Desktop\DUOC\8vo Semestre\CAPSTONE\PLAN_MAESTRO.xlsx!Dashboard!F3C11</vt:lpstr>
      <vt:lpstr>C:\Users\carlo\Desktop\DUOC\8vo Semestre\CAPSTONE\PLAN_MAESTRO.xlsx!Dashboard!F3C2</vt:lpstr>
      <vt:lpstr>C:\Users\carlo\Desktop\DUOC\8vo Semestre\CAPSTONE\PLAN_MAESTRO.xlsx!Dashboard![PLAN_MAESTRO.xlsx]Dashboard Gráfico 5</vt:lpstr>
      <vt:lpstr>C:\Users\carlo\Desktop\DUOC\8vo Semestre\CAPSTONE\PLAN_MAESTRO.xlsx!Dashboard!F3C12</vt:lpstr>
      <vt:lpstr>C:\Users\carlo\Desktop\DUOC\8vo Semestre\CAPSTONE\PLAN_MAESTRO.xlsx!Dashboard!F3C13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carlos araya</dc:creator>
  <cp:lastModifiedBy>carlos araya</cp:lastModifiedBy>
  <cp:revision>50</cp:revision>
  <dcterms:created xsi:type="dcterms:W3CDTF">2026-08-24T16:52:46Z</dcterms:created>
  <dcterms:modified xsi:type="dcterms:W3CDTF">2026-10-02T23:38:46Z</dcterms:modified>
</cp:coreProperties>
</file>