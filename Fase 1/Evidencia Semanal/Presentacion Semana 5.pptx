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9" r:id="rId3"/>
    <p:sldId id="270" r:id="rId4"/>
    <p:sldId id="272" r:id="rId5"/>
    <p:sldId id="268" r:id="rId6"/>
    <p:sldId id="271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A"/>
    <a:srgbClr val="F3F4F5"/>
    <a:srgbClr val="FFFFFF"/>
    <a:srgbClr val="F0F7FE"/>
    <a:srgbClr val="D5DBE4"/>
    <a:srgbClr val="FDE3E4"/>
    <a:srgbClr val="FDF0CE"/>
    <a:srgbClr val="10833B"/>
    <a:srgbClr val="7D7D7F"/>
    <a:srgbClr val="FEF5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1283" autoAdjust="0"/>
  </p:normalViewPr>
  <p:slideViewPr>
    <p:cSldViewPr snapToGrid="0">
      <p:cViewPr>
        <p:scale>
          <a:sx n="100" d="100"/>
          <a:sy n="100" d="100"/>
        </p:scale>
        <p:origin x="-294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A2173-2289-4A9F-BC36-5B710C4D3E06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8742B-81F4-4D0A-B0F7-579C5140FE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33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7840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1014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8401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530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C14CF-4D2C-E1D2-90A3-1C39B489F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A0FE20-2136-425C-7DF5-40DD88F6A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D4055-E52D-3EC6-CDF6-E9057AB8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B9B075-E7D7-204D-087E-F7C29D8B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7017A-2F18-3DDB-BEC6-66AD9104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411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091CF-97DA-A986-3DF0-91B64CAC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E571B1-5C49-AA57-F049-E62DD9B0B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07D312-27EE-813D-4346-581CAA1D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EF2409-F63C-6E27-BABF-E5BD9829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82A669-54A3-D001-B727-BD0B1885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60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C80F6-11EB-7EFD-4112-64F55FDD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CC2DB3-F2A4-D72C-44C9-7F965CF55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040F1-5C67-E08E-9238-81BAF815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6C4A5-281D-4197-AF67-8A7812B6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3B88F4-E1B3-D8F1-E87B-E4CC7F46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57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FA7B5-8128-A3D3-18FC-DF051AC3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F0BF64-F055-74BE-0C14-4060D8E07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D5D10E-6893-7A59-4A30-16284F100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431D57-20D7-8149-B228-4F7164ED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85FD30-642E-810B-B8AA-C2B47C17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884C1F-B4DC-1955-F18F-F89B6A75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4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40E98-9801-1E33-1DCC-2E944FF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DB9EA6-F885-F2BB-BB51-9DD05A7A4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3409D0-FDB0-6DCA-1C03-C43BCE784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82A3CC-6CB5-16B9-F714-B0AFFDA2A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C16B0-ACE4-836E-D3BA-4CFF38438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4B3149-7F77-69C0-B3C5-2915C5B0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C1AAB5-5B3A-E126-7B3C-0196D87E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1369EB-634B-CB53-3A8C-5885CE7D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85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2CC79-7E20-3ACB-76BC-D1FE035F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E0A2F5-5561-2122-97EA-F3D6AD26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CDE3D8-BAE8-FE63-FA43-2D4FBD47C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4D7D6B-ED4F-2673-6F6F-C721731F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293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B66A1F-3EAB-6BA4-9F2F-332FEBA9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3118C8-F115-F7A1-8DF4-6EF18297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2FB715-D69E-7DBB-44EA-9906FC26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950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7E6EF-151F-9665-2CBD-86F79EA8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8544A0-BF6B-C783-1638-BA7CBC3A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CF4C5-4B87-C46A-DEB8-E4132D421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E2849C-4C5C-2847-940E-3E9C3E44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3FFAE8-AE09-B11D-9898-D7E24E21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0C027B-4A6B-2D04-D68C-04BEAEEB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589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37BAE-759F-2159-F3D9-B77EB88A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370057-FA56-FE74-1945-EADD0F351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59A018-DB57-06E8-BFDA-AC5439300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36FE7A-CFFB-B8D1-ED04-A72C3853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A38814-3758-63A4-576C-212A0F03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E4830-033E-5DDA-47BD-652D92FA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511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F649A-B42E-A2B3-1218-DBE027ED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AD4F82-FD1B-63A9-58E9-A76C6E099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A303CD-DEC6-D8B7-1E7F-FDFF2C0A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C5CFC4-FCB7-A353-81A9-94AB5066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AFDB8E-6F67-E72E-0AD6-0D017C28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987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965078-E1F3-3C29-5240-0FC9C15A2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10F72C-D2A4-4C18-4908-7A90AF444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2F814A-7D38-0407-F2CE-884BBCFC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C76F-A6B4-4829-D619-1FFF30D8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27323D-59F4-429D-7C69-037FC0A4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27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A655BC-98A0-4920-A673-55763995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1D65A0-693E-5D1D-820C-1E5A56FE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4A6CD9-F47A-4547-885F-516BA1984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674D7-8D83-4C70-BCF0-236F4D4FBFF9}" type="datetimeFigureOut">
              <a:rPr lang="es-CL" smtClean="0"/>
              <a:t>13-09-2026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0D01E-2D7D-6E92-FACA-A96C2E4D0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B3FD35-9A87-F2FA-DDFB-891776E73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151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file:///C:\Users\carlo\Desktop\CAPSTONE\PLAN_MAESTRO.xlsx!Dashboard!F3C2" TargetMode="External"/><Relationship Id="rId18" Type="http://schemas.openxmlformats.org/officeDocument/2006/relationships/image" Target="../media/image17.emf"/><Relationship Id="rId26" Type="http://schemas.openxmlformats.org/officeDocument/2006/relationships/image" Target="../media/image21.emf"/><Relationship Id="rId3" Type="http://schemas.openxmlformats.org/officeDocument/2006/relationships/image" Target="../media/image1.png"/><Relationship Id="rId21" Type="http://schemas.openxmlformats.org/officeDocument/2006/relationships/oleObject" Target="file:///C:\Users\carlo\Desktop\CAPSTONE\PLAN_MAESTRO.xlsx!Dashboard!F3C3" TargetMode="External"/><Relationship Id="rId34" Type="http://schemas.openxmlformats.org/officeDocument/2006/relationships/image" Target="../media/image25.emf"/><Relationship Id="rId7" Type="http://schemas.openxmlformats.org/officeDocument/2006/relationships/image" Target="../media/image11.svg"/><Relationship Id="rId12" Type="http://schemas.openxmlformats.org/officeDocument/2006/relationships/image" Target="../media/image8.png"/><Relationship Id="rId17" Type="http://schemas.openxmlformats.org/officeDocument/2006/relationships/oleObject" Target="file:///C:\Users\carlo\Desktop\CAPSTONE\PLAN_MAESTRO.xlsx!Dashboard!F3C8" TargetMode="External"/><Relationship Id="rId25" Type="http://schemas.openxmlformats.org/officeDocument/2006/relationships/oleObject" Target="file:///C:\Users\carlo\Desktop\CAPSTONE\PLAN_MAESTRO.xlsx!Dashboard!F4C5" TargetMode="External"/><Relationship Id="rId33" Type="http://schemas.openxmlformats.org/officeDocument/2006/relationships/oleObject" Target="file:///C:\Users\carlo\Desktop\CAPSTONE\PLAN_MAESTRO.xlsx!Dashboard!%5bPLAN_MAESTRO.xlsx%5dDashboard%20Gr&#225;fico%205" TargetMode="Externa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20" Type="http://schemas.openxmlformats.org/officeDocument/2006/relationships/image" Target="../media/image18.emf"/><Relationship Id="rId29" Type="http://schemas.openxmlformats.org/officeDocument/2006/relationships/oleObject" Target="file:///C:\Users\carlo\Desktop\CAPSTONE\PLAN_MAESTRO.xlsx!Dashboard!F3C9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microsoft.com/office/2007/relationships/hdphoto" Target="../media/hdphoto1.wdp"/><Relationship Id="rId24" Type="http://schemas.openxmlformats.org/officeDocument/2006/relationships/image" Target="../media/image20.emf"/><Relationship Id="rId32" Type="http://schemas.openxmlformats.org/officeDocument/2006/relationships/image" Target="../media/image24.emf"/><Relationship Id="rId5" Type="http://schemas.openxmlformats.org/officeDocument/2006/relationships/image" Target="../media/image9.svg"/><Relationship Id="rId15" Type="http://schemas.openxmlformats.org/officeDocument/2006/relationships/oleObject" Target="file:///C:\Users\carlo\Desktop\CAPSTONE\PLAN_MAESTRO.xlsx!Dashboard!F3C7" TargetMode="External"/><Relationship Id="rId23" Type="http://schemas.openxmlformats.org/officeDocument/2006/relationships/oleObject" Target="file:///C:\Users\carlo\Desktop\CAPSTONE\PLAN_MAESTRO.xlsx!Dashboard!F3C4" TargetMode="External"/><Relationship Id="rId28" Type="http://schemas.openxmlformats.org/officeDocument/2006/relationships/image" Target="../media/image22.emf"/><Relationship Id="rId10" Type="http://schemas.openxmlformats.org/officeDocument/2006/relationships/image" Target="../media/image14.png"/><Relationship Id="rId19" Type="http://schemas.openxmlformats.org/officeDocument/2006/relationships/oleObject" Target="file:///C:\Users\carlo\Desktop\CAPSTONE\PLAN_MAESTRO.xlsx!Dashboard!F3C10" TargetMode="External"/><Relationship Id="rId31" Type="http://schemas.openxmlformats.org/officeDocument/2006/relationships/oleObject" Target="file:///C:\Users\carlo\Desktop\CAPSTONE\PLAN_MAESTRO.xlsx!Dashboard!F3C11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13.svg"/><Relationship Id="rId14" Type="http://schemas.openxmlformats.org/officeDocument/2006/relationships/image" Target="../media/image15.emf"/><Relationship Id="rId22" Type="http://schemas.openxmlformats.org/officeDocument/2006/relationships/image" Target="../media/image19.emf"/><Relationship Id="rId27" Type="http://schemas.openxmlformats.org/officeDocument/2006/relationships/oleObject" Target="file:///C:\Users\carlo\Desktop\CAPSTONE\PLAN_MAESTRO.xlsx!Dashboard!F3C1" TargetMode="External"/><Relationship Id="rId30" Type="http://schemas.openxmlformats.org/officeDocument/2006/relationships/image" Target="../media/image23.emf"/><Relationship Id="rId8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29.svg"/><Relationship Id="rId5" Type="http://schemas.openxmlformats.org/officeDocument/2006/relationships/image" Target="../media/image14.png"/><Relationship Id="rId10" Type="http://schemas.openxmlformats.org/officeDocument/2006/relationships/image" Target="../media/image28.svg"/><Relationship Id="rId4" Type="http://schemas.openxmlformats.org/officeDocument/2006/relationships/image" Target="../media/image7.png"/><Relationship Id="rId9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11" Type="http://schemas.openxmlformats.org/officeDocument/2006/relationships/image" Target="../media/image8.png"/><Relationship Id="rId5" Type="http://schemas.openxmlformats.org/officeDocument/2006/relationships/image" Target="../media/image32.svg"/><Relationship Id="rId10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186E-EDF9-BB6C-ACC9-4071D7A2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A07EAB-BD97-1533-B899-B4E175221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7" name="Hexágono 16">
            <a:extLst>
              <a:ext uri="{FF2B5EF4-FFF2-40B4-BE49-F238E27FC236}">
                <a16:creationId xmlns:a16="http://schemas.microsoft.com/office/drawing/2014/main" id="{CECE04F8-0312-C3A1-3899-CF3D87AD7BA9}"/>
              </a:ext>
            </a:extLst>
          </p:cNvPr>
          <p:cNvSpPr/>
          <p:nvPr/>
        </p:nvSpPr>
        <p:spPr>
          <a:xfrm rot="5400000">
            <a:off x="7137592" y="520044"/>
            <a:ext cx="970161" cy="834189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Hexágono 18">
            <a:extLst>
              <a:ext uri="{FF2B5EF4-FFF2-40B4-BE49-F238E27FC236}">
                <a16:creationId xmlns:a16="http://schemas.microsoft.com/office/drawing/2014/main" id="{946E67EE-5AB2-C0D8-9597-CB1F51EED898}"/>
              </a:ext>
            </a:extLst>
          </p:cNvPr>
          <p:cNvSpPr>
            <a:spLocks noChangeAspect="1"/>
          </p:cNvSpPr>
          <p:nvPr/>
        </p:nvSpPr>
        <p:spPr>
          <a:xfrm rot="5400000">
            <a:off x="5743717" y="3695219"/>
            <a:ext cx="879227" cy="756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Hexágono 20">
            <a:extLst>
              <a:ext uri="{FF2B5EF4-FFF2-40B4-BE49-F238E27FC236}">
                <a16:creationId xmlns:a16="http://schemas.microsoft.com/office/drawing/2014/main" id="{9B4BD62D-A88E-5CDF-6774-A38F07B2BBE5}"/>
              </a:ext>
            </a:extLst>
          </p:cNvPr>
          <p:cNvSpPr>
            <a:spLocks noChangeAspect="1"/>
          </p:cNvSpPr>
          <p:nvPr/>
        </p:nvSpPr>
        <p:spPr>
          <a:xfrm rot="5400000">
            <a:off x="10466889" y="5186017"/>
            <a:ext cx="921095" cy="792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Hexágono 22">
            <a:extLst>
              <a:ext uri="{FF2B5EF4-FFF2-40B4-BE49-F238E27FC236}">
                <a16:creationId xmlns:a16="http://schemas.microsoft.com/office/drawing/2014/main" id="{E9FC54E3-8950-1E23-FDB0-3BD795FEC542}"/>
              </a:ext>
            </a:extLst>
          </p:cNvPr>
          <p:cNvSpPr>
            <a:spLocks noChangeAspect="1"/>
          </p:cNvSpPr>
          <p:nvPr/>
        </p:nvSpPr>
        <p:spPr>
          <a:xfrm rot="5400000">
            <a:off x="11267692" y="3731219"/>
            <a:ext cx="795491" cy="684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5" name="Gráfico 24" descr="Database con relleno sólido">
            <a:extLst>
              <a:ext uri="{FF2B5EF4-FFF2-40B4-BE49-F238E27FC236}">
                <a16:creationId xmlns:a16="http://schemas.microsoft.com/office/drawing/2014/main" id="{8C38799A-DAD2-55FE-F3E2-2DD276857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3330" y="3692752"/>
            <a:ext cx="720000" cy="720000"/>
          </a:xfrm>
          <a:prstGeom prst="rect">
            <a:avLst/>
          </a:prstGeom>
        </p:spPr>
      </p:pic>
      <p:pic>
        <p:nvPicPr>
          <p:cNvPr id="27" name="Gráfico 26" descr="Smart Phone con relleno sólido">
            <a:extLst>
              <a:ext uri="{FF2B5EF4-FFF2-40B4-BE49-F238E27FC236}">
                <a16:creationId xmlns:a16="http://schemas.microsoft.com/office/drawing/2014/main" id="{E0A68A4C-1EB3-DBFE-FC13-35610EEE1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1544" y="5293489"/>
            <a:ext cx="663616" cy="621146"/>
          </a:xfrm>
          <a:prstGeom prst="rect">
            <a:avLst/>
          </a:prstGeom>
        </p:spPr>
      </p:pic>
      <p:pic>
        <p:nvPicPr>
          <p:cNvPr id="29" name="Gráfico 28" descr="Lock con relleno sólido">
            <a:extLst>
              <a:ext uri="{FF2B5EF4-FFF2-40B4-BE49-F238E27FC236}">
                <a16:creationId xmlns:a16="http://schemas.microsoft.com/office/drawing/2014/main" id="{F2091388-D6B4-130B-F7C6-4F80790CDF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4076" y="3810425"/>
            <a:ext cx="547841" cy="525587"/>
          </a:xfrm>
          <a:prstGeom prst="rect">
            <a:avLst/>
          </a:prstGeom>
        </p:spPr>
      </p:pic>
      <p:pic>
        <p:nvPicPr>
          <p:cNvPr id="31" name="Gráfico 30" descr="Upload con relleno sólido">
            <a:extLst>
              <a:ext uri="{FF2B5EF4-FFF2-40B4-BE49-F238E27FC236}">
                <a16:creationId xmlns:a16="http://schemas.microsoft.com/office/drawing/2014/main" id="{7E2CA7E8-2609-6A3E-5FA2-637FC8E14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584" y="598051"/>
            <a:ext cx="642177" cy="637363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C52E30-DCD1-3D85-F924-E031F37B8894}"/>
              </a:ext>
            </a:extLst>
          </p:cNvPr>
          <p:cNvSpPr txBox="1"/>
          <p:nvPr/>
        </p:nvSpPr>
        <p:spPr>
          <a:xfrm>
            <a:off x="544945" y="365409"/>
            <a:ext cx="5278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>
                <a:solidFill>
                  <a:srgbClr val="0070C0"/>
                </a:solidFill>
                <a:latin typeface="Abadi" panose="020B0604020104020204" pitchFamily="34" charset="0"/>
              </a:rPr>
              <a:t>CAPSTONE · INGENIERÍA EN INFORMÁTICA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FCEC520-DE40-FBD2-074B-4EC2D0F6CCD0}"/>
              </a:ext>
            </a:extLst>
          </p:cNvPr>
          <p:cNvSpPr txBox="1"/>
          <p:nvPr/>
        </p:nvSpPr>
        <p:spPr>
          <a:xfrm>
            <a:off x="544945" y="678869"/>
            <a:ext cx="7398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latin typeface="Arial Narrow" panose="020B0606020202030204" pitchFamily="34" charset="0"/>
              </a:rPr>
              <a:t>CASO · DIRECCIÓN GENERAL DE CONCESIONES DE OBRAS PUBLICAS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5B2825C-83A2-B244-2B34-90018D619E51}"/>
              </a:ext>
            </a:extLst>
          </p:cNvPr>
          <p:cNvSpPr txBox="1"/>
          <p:nvPr/>
        </p:nvSpPr>
        <p:spPr>
          <a:xfrm>
            <a:off x="544945" y="846337"/>
            <a:ext cx="26456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600" b="1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GATI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C316CE1-284C-5B4B-4AE0-DF83F3074ED0}"/>
              </a:ext>
            </a:extLst>
          </p:cNvPr>
          <p:cNvSpPr txBox="1"/>
          <p:nvPr/>
        </p:nvSpPr>
        <p:spPr>
          <a:xfrm>
            <a:off x="560862" y="3347253"/>
            <a:ext cx="4126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>
                <a:latin typeface="Arial Narrow" panose="020B0606020202030204" pitchFamily="34" charset="0"/>
              </a:rPr>
              <a:t>Trazabilidad verificable durante todo el </a:t>
            </a:r>
          </a:p>
          <a:p>
            <a:r>
              <a:rPr lang="es-CL" sz="2000" b="1" dirty="0">
                <a:latin typeface="Arial Narrow" panose="020B0606020202030204" pitchFamily="34" charset="0"/>
              </a:rPr>
              <a:t>ciclo de vida del activo.</a:t>
            </a:r>
          </a:p>
        </p:txBody>
      </p:sp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055562E0-26CE-36CE-92B7-86AF74334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28644"/>
              </p:ext>
            </p:extLst>
          </p:nvPr>
        </p:nvGraphicFramePr>
        <p:xfrm>
          <a:off x="561670" y="4188030"/>
          <a:ext cx="5085881" cy="2072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5773">
                  <a:extLst>
                    <a:ext uri="{9D8B030D-6E8A-4147-A177-3AD203B41FA5}">
                      <a16:colId xmlns:a16="http://schemas.microsoft.com/office/drawing/2014/main" val="1343934128"/>
                    </a:ext>
                  </a:extLst>
                </a:gridCol>
                <a:gridCol w="212691">
                  <a:extLst>
                    <a:ext uri="{9D8B030D-6E8A-4147-A177-3AD203B41FA5}">
                      <a16:colId xmlns:a16="http://schemas.microsoft.com/office/drawing/2014/main" val="847530165"/>
                    </a:ext>
                  </a:extLst>
                </a:gridCol>
                <a:gridCol w="3777417">
                  <a:extLst>
                    <a:ext uri="{9D8B030D-6E8A-4147-A177-3AD203B41FA5}">
                      <a16:colId xmlns:a16="http://schemas.microsoft.com/office/drawing/2014/main" val="166017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Asignatura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CAPSTONE_011V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91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Profesor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Fernando Herrera Francesconi.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24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Fecha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11 de Septiembre de 2026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7896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Integrantes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Carlos Araya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Eduardo Compan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Alejandro Gysling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Ruben Mansilla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4482321"/>
                  </a:ext>
                </a:extLst>
              </a:tr>
            </a:tbl>
          </a:graphicData>
        </a:graphic>
      </p:graphicFrame>
      <p:sp>
        <p:nvSpPr>
          <p:cNvPr id="39" name="CuadroTexto 38">
            <a:extLst>
              <a:ext uri="{FF2B5EF4-FFF2-40B4-BE49-F238E27FC236}">
                <a16:creationId xmlns:a16="http://schemas.microsoft.com/office/drawing/2014/main" id="{3A694859-DAC1-5ED2-2B2B-EFE65E726D72}"/>
              </a:ext>
            </a:extLst>
          </p:cNvPr>
          <p:cNvSpPr txBox="1"/>
          <p:nvPr/>
        </p:nvSpPr>
        <p:spPr>
          <a:xfrm>
            <a:off x="1016000" y="6399349"/>
            <a:ext cx="1665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Avance semanal</a:t>
            </a:r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E5DAAFFC-A10B-6F72-B497-ACA7A4543531}"/>
              </a:ext>
            </a:extLst>
          </p:cNvPr>
          <p:cNvSpPr>
            <a:spLocks noChangeAspect="1"/>
          </p:cNvSpPr>
          <p:nvPr/>
        </p:nvSpPr>
        <p:spPr>
          <a:xfrm>
            <a:off x="631172" y="6357382"/>
            <a:ext cx="360000" cy="360000"/>
          </a:xfrm>
          <a:prstGeom prst="flowChartConnector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2" name="Gráfico 41" descr="Daily calendar con relleno sólido">
            <a:extLst>
              <a:ext uri="{FF2B5EF4-FFF2-40B4-BE49-F238E27FC236}">
                <a16:creationId xmlns:a16="http://schemas.microsoft.com/office/drawing/2014/main" id="{A4B293F2-40EF-EB23-3F92-0B8FCD070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155" y="6378365"/>
            <a:ext cx="318033" cy="318033"/>
          </a:xfrm>
          <a:prstGeom prst="rect">
            <a:avLst/>
          </a:prstGeom>
        </p:spPr>
      </p:pic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BB6889B5-1DFF-5E8B-FBC1-8966FB0EA6E3}"/>
              </a:ext>
            </a:extLst>
          </p:cNvPr>
          <p:cNvSpPr/>
          <p:nvPr/>
        </p:nvSpPr>
        <p:spPr>
          <a:xfrm>
            <a:off x="278101" y="319852"/>
            <a:ext cx="85521" cy="633682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7ED6EEAE-D0B3-09A2-94C0-D4F85FCE2A74}"/>
              </a:ext>
            </a:extLst>
          </p:cNvPr>
          <p:cNvCxnSpPr/>
          <p:nvPr/>
        </p:nvCxnSpPr>
        <p:spPr>
          <a:xfrm>
            <a:off x="652155" y="6273244"/>
            <a:ext cx="3661363" cy="0"/>
          </a:xfrm>
          <a:prstGeom prst="line">
            <a:avLst/>
          </a:prstGeom>
          <a:ln>
            <a:solidFill>
              <a:srgbClr val="04E1F6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70D211E7-AD85-DB61-AE05-3E5D6BB53B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ECF18B8-FF40-2A9E-C960-400773E12BDE}"/>
              </a:ext>
            </a:extLst>
          </p:cNvPr>
          <p:cNvSpPr/>
          <p:nvPr/>
        </p:nvSpPr>
        <p:spPr>
          <a:xfrm>
            <a:off x="4884233" y="2381865"/>
            <a:ext cx="1584683" cy="914400"/>
          </a:xfrm>
          <a:prstGeom prst="roundRect">
            <a:avLst/>
          </a:prstGeom>
          <a:solidFill>
            <a:srgbClr val="F6F6F8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26A05BF-95A7-42F9-FD31-5ACE41F05391}"/>
              </a:ext>
            </a:extLst>
          </p:cNvPr>
          <p:cNvSpPr txBox="1"/>
          <p:nvPr/>
        </p:nvSpPr>
        <p:spPr>
          <a:xfrm>
            <a:off x="561670" y="2073008"/>
            <a:ext cx="60758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latin typeface="Abadi" panose="020B0604020104020204" pitchFamily="34" charset="0"/>
              </a:rPr>
              <a:t>Gestión de Activos</a:t>
            </a:r>
            <a:br>
              <a:rPr lang="es-CL" sz="3600" b="1" dirty="0">
                <a:latin typeface="Abadi" panose="020B0604020104020204" pitchFamily="34" charset="0"/>
              </a:rPr>
            </a:br>
            <a:r>
              <a:rPr lang="es-CL" sz="3600" b="1" dirty="0">
                <a:latin typeface="Abadi" panose="020B0604020104020204" pitchFamily="34" charset="0"/>
              </a:rPr>
              <a:t>Tecnológicos e Informáticos 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D12DB09-85CB-C3AD-FA7C-3813BDED7D73}"/>
              </a:ext>
            </a:extLst>
          </p:cNvPr>
          <p:cNvCxnSpPr/>
          <p:nvPr/>
        </p:nvCxnSpPr>
        <p:spPr>
          <a:xfrm>
            <a:off x="2704269" y="6473317"/>
            <a:ext cx="0" cy="224758"/>
          </a:xfrm>
          <a:prstGeom prst="line">
            <a:avLst/>
          </a:prstGeom>
          <a:ln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78AEDCD7-9599-15C2-9E89-322243AB70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459" y="6381052"/>
            <a:ext cx="1436666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3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n 164">
            <a:extLst>
              <a:ext uri="{FF2B5EF4-FFF2-40B4-BE49-F238E27FC236}">
                <a16:creationId xmlns:a16="http://schemas.microsoft.com/office/drawing/2014/main" id="{36A12536-275B-00EB-41D1-921D0C4D9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67" name="Rectángulo: esquinas redondeadas 166">
            <a:extLst>
              <a:ext uri="{FF2B5EF4-FFF2-40B4-BE49-F238E27FC236}">
                <a16:creationId xmlns:a16="http://schemas.microsoft.com/office/drawing/2014/main" id="{713B086C-D6B5-A9FB-5010-C4850F265AFC}"/>
              </a:ext>
            </a:extLst>
          </p:cNvPr>
          <p:cNvSpPr/>
          <p:nvPr/>
        </p:nvSpPr>
        <p:spPr>
          <a:xfrm>
            <a:off x="2809551" y="987870"/>
            <a:ext cx="6651137" cy="3708370"/>
          </a:xfrm>
          <a:prstGeom prst="roundRect">
            <a:avLst>
              <a:gd name="adj" fmla="val 5891"/>
            </a:avLst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169" name="Imagen 168">
            <a:extLst>
              <a:ext uri="{FF2B5EF4-FFF2-40B4-BE49-F238E27FC236}">
                <a16:creationId xmlns:a16="http://schemas.microsoft.com/office/drawing/2014/main" id="{CA721711-4D09-567C-3EEC-07A96B561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15" name="Rectángulo: esquinas redondeadas 114">
            <a:extLst>
              <a:ext uri="{FF2B5EF4-FFF2-40B4-BE49-F238E27FC236}">
                <a16:creationId xmlns:a16="http://schemas.microsoft.com/office/drawing/2014/main" id="{A9A6DD0C-ADD6-CDA9-4A43-9C62CCE5A561}"/>
              </a:ext>
            </a:extLst>
          </p:cNvPr>
          <p:cNvSpPr/>
          <p:nvPr/>
        </p:nvSpPr>
        <p:spPr>
          <a:xfrm>
            <a:off x="251012" y="4757334"/>
            <a:ext cx="3747246" cy="1598642"/>
          </a:xfrm>
          <a:prstGeom prst="roundRect">
            <a:avLst>
              <a:gd name="adj" fmla="val 5732"/>
            </a:avLst>
          </a:prstGeom>
          <a:solidFill>
            <a:srgbClr val="F1F3FB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2" name="Rectángulo: esquinas superiores redondeadas 121">
            <a:extLst>
              <a:ext uri="{FF2B5EF4-FFF2-40B4-BE49-F238E27FC236}">
                <a16:creationId xmlns:a16="http://schemas.microsoft.com/office/drawing/2014/main" id="{C3A29777-764A-F0E6-6197-D3DAEB9D1643}"/>
              </a:ext>
            </a:extLst>
          </p:cNvPr>
          <p:cNvSpPr/>
          <p:nvPr/>
        </p:nvSpPr>
        <p:spPr>
          <a:xfrm>
            <a:off x="266022" y="4764829"/>
            <a:ext cx="3710011" cy="351357"/>
          </a:xfrm>
          <a:prstGeom prst="round2SameRect">
            <a:avLst>
              <a:gd name="adj1" fmla="val 25994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7" name="Rectángulo: esquinas superiores redondeadas 76">
            <a:extLst>
              <a:ext uri="{FF2B5EF4-FFF2-40B4-BE49-F238E27FC236}">
                <a16:creationId xmlns:a16="http://schemas.microsoft.com/office/drawing/2014/main" id="{42A32A2A-385F-6E65-3E81-FF894A57C49E}"/>
              </a:ext>
            </a:extLst>
          </p:cNvPr>
          <p:cNvSpPr/>
          <p:nvPr/>
        </p:nvSpPr>
        <p:spPr>
          <a:xfrm>
            <a:off x="3520308" y="1322332"/>
            <a:ext cx="882445" cy="2609006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9" name="Rectángulo: esquinas superiores redondeadas 78">
            <a:extLst>
              <a:ext uri="{FF2B5EF4-FFF2-40B4-BE49-F238E27FC236}">
                <a16:creationId xmlns:a16="http://schemas.microsoft.com/office/drawing/2014/main" id="{C2E579E8-3DD9-E7BA-81AA-DCBC9F807D28}"/>
              </a:ext>
            </a:extLst>
          </p:cNvPr>
          <p:cNvSpPr/>
          <p:nvPr/>
        </p:nvSpPr>
        <p:spPr>
          <a:xfrm>
            <a:off x="4438985" y="1322332"/>
            <a:ext cx="1413175" cy="2609006"/>
          </a:xfrm>
          <a:prstGeom prst="round2SameRect">
            <a:avLst>
              <a:gd name="adj1" fmla="val 6961"/>
              <a:gd name="adj2" fmla="val 0"/>
            </a:avLst>
          </a:prstGeom>
          <a:solidFill>
            <a:srgbClr val="E0E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1" name="Rectángulo: esquinas superiores redondeadas 80">
            <a:extLst>
              <a:ext uri="{FF2B5EF4-FFF2-40B4-BE49-F238E27FC236}">
                <a16:creationId xmlns:a16="http://schemas.microsoft.com/office/drawing/2014/main" id="{F7323815-2975-67CB-2CED-85AD9D663F0A}"/>
              </a:ext>
            </a:extLst>
          </p:cNvPr>
          <p:cNvSpPr/>
          <p:nvPr/>
        </p:nvSpPr>
        <p:spPr>
          <a:xfrm>
            <a:off x="5888392" y="1322332"/>
            <a:ext cx="1111848" cy="2609006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FEEB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3" name="Rectángulo: esquinas superiores redondeadas 82">
            <a:extLst>
              <a:ext uri="{FF2B5EF4-FFF2-40B4-BE49-F238E27FC236}">
                <a16:creationId xmlns:a16="http://schemas.microsoft.com/office/drawing/2014/main" id="{FE67FD1B-31E1-D98F-F6ED-BC5E411ED18D}"/>
              </a:ext>
            </a:extLst>
          </p:cNvPr>
          <p:cNvSpPr/>
          <p:nvPr/>
        </p:nvSpPr>
        <p:spPr>
          <a:xfrm>
            <a:off x="7053136" y="1322332"/>
            <a:ext cx="1242504" cy="2609006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E8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5" name="Rectángulo: esquinas superiores redondeadas 84">
            <a:extLst>
              <a:ext uri="{FF2B5EF4-FFF2-40B4-BE49-F238E27FC236}">
                <a16:creationId xmlns:a16="http://schemas.microsoft.com/office/drawing/2014/main" id="{7E4E7468-FF5D-55C9-4B84-7208A104BCBA}"/>
              </a:ext>
            </a:extLst>
          </p:cNvPr>
          <p:cNvSpPr/>
          <p:nvPr/>
        </p:nvSpPr>
        <p:spPr>
          <a:xfrm>
            <a:off x="8348536" y="1318375"/>
            <a:ext cx="882445" cy="2609006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FDD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5CC3CE66-C970-70B9-AE3F-D45F3C70A360}"/>
              </a:ext>
            </a:extLst>
          </p:cNvPr>
          <p:cNvSpPr/>
          <p:nvPr/>
        </p:nvSpPr>
        <p:spPr>
          <a:xfrm>
            <a:off x="9524455" y="1037492"/>
            <a:ext cx="2430142" cy="3037408"/>
          </a:xfrm>
          <a:prstGeom prst="roundRect">
            <a:avLst>
              <a:gd name="adj" fmla="val 3368"/>
            </a:avLst>
          </a:prstGeom>
          <a:solidFill>
            <a:srgbClr val="F1F3FB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6" name="Rectángulo: esquinas superiores redondeadas 75">
            <a:extLst>
              <a:ext uri="{FF2B5EF4-FFF2-40B4-BE49-F238E27FC236}">
                <a16:creationId xmlns:a16="http://schemas.microsoft.com/office/drawing/2014/main" id="{64EB7A44-F25C-D15B-DA48-82F761C2253D}"/>
              </a:ext>
            </a:extLst>
          </p:cNvPr>
          <p:cNvSpPr/>
          <p:nvPr/>
        </p:nvSpPr>
        <p:spPr>
          <a:xfrm>
            <a:off x="9533341" y="1046422"/>
            <a:ext cx="2412370" cy="394747"/>
          </a:xfrm>
          <a:prstGeom prst="round2SameRect">
            <a:avLst>
              <a:gd name="adj1" fmla="val 19212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B6E454CA-5131-8618-0D07-9ECEC6962BB3}"/>
              </a:ext>
            </a:extLst>
          </p:cNvPr>
          <p:cNvSpPr/>
          <p:nvPr/>
        </p:nvSpPr>
        <p:spPr>
          <a:xfrm>
            <a:off x="2822005" y="987869"/>
            <a:ext cx="6633080" cy="3716106"/>
          </a:xfrm>
          <a:prstGeom prst="roundRect">
            <a:avLst>
              <a:gd name="adj" fmla="val 5852"/>
            </a:avLst>
          </a:prstGeom>
          <a:noFill/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F550958-CDC6-D805-F084-C62A4A7EF141}"/>
              </a:ext>
            </a:extLst>
          </p:cNvPr>
          <p:cNvSpPr txBox="1"/>
          <p:nvPr/>
        </p:nvSpPr>
        <p:spPr>
          <a:xfrm>
            <a:off x="577154" y="101025"/>
            <a:ext cx="685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Estado de Avance General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82EB4BB-A52F-430F-DC8D-7C9F00C4B4D6}"/>
              </a:ext>
            </a:extLst>
          </p:cNvPr>
          <p:cNvSpPr/>
          <p:nvPr/>
        </p:nvSpPr>
        <p:spPr>
          <a:xfrm>
            <a:off x="310056" y="1111468"/>
            <a:ext cx="2430142" cy="3402725"/>
          </a:xfrm>
          <a:prstGeom prst="roundRect">
            <a:avLst>
              <a:gd name="adj" fmla="val 3368"/>
            </a:avLst>
          </a:prstGeom>
          <a:solidFill>
            <a:srgbClr val="FCFCFE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AD0241B-DD8F-2627-8B62-C99CC165A1CC}"/>
              </a:ext>
            </a:extLst>
          </p:cNvPr>
          <p:cNvSpPr/>
          <p:nvPr/>
        </p:nvSpPr>
        <p:spPr>
          <a:xfrm>
            <a:off x="418913" y="1231426"/>
            <a:ext cx="2212428" cy="625365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" name="Gráfico 10" descr="Monthly calendar contorno">
            <a:extLst>
              <a:ext uri="{FF2B5EF4-FFF2-40B4-BE49-F238E27FC236}">
                <a16:creationId xmlns:a16="http://schemas.microsoft.com/office/drawing/2014/main" id="{AD74F295-CCEE-0B35-CB64-CCEAAD5A8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807" y="1322332"/>
            <a:ext cx="559676" cy="44355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6DCCC38-8400-726E-4129-9EB4CB460C25}"/>
              </a:ext>
            </a:extLst>
          </p:cNvPr>
          <p:cNvSpPr txBox="1"/>
          <p:nvPr/>
        </p:nvSpPr>
        <p:spPr>
          <a:xfrm>
            <a:off x="977022" y="1249817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Fecha de corte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F36CF02-C3D3-ADB6-B046-983153FDE8EC}"/>
              </a:ext>
            </a:extLst>
          </p:cNvPr>
          <p:cNvSpPr/>
          <p:nvPr/>
        </p:nvSpPr>
        <p:spPr>
          <a:xfrm>
            <a:off x="418913" y="1973239"/>
            <a:ext cx="2212428" cy="794445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C0F9A21-1A3D-4A5A-E862-8030BF06E00D}"/>
              </a:ext>
            </a:extLst>
          </p:cNvPr>
          <p:cNvSpPr txBox="1"/>
          <p:nvPr/>
        </p:nvSpPr>
        <p:spPr>
          <a:xfrm>
            <a:off x="977022" y="1992266"/>
            <a:ext cx="780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Fase actual</a:t>
            </a:r>
          </a:p>
        </p:txBody>
      </p:sp>
      <p:sp>
        <p:nvSpPr>
          <p:cNvPr id="25" name="Gráfico 23" descr="Flag contorno">
            <a:extLst>
              <a:ext uri="{FF2B5EF4-FFF2-40B4-BE49-F238E27FC236}">
                <a16:creationId xmlns:a16="http://schemas.microsoft.com/office/drawing/2014/main" id="{D9D56746-1F31-D720-E9CC-60EA0F5AA1D7}"/>
              </a:ext>
            </a:extLst>
          </p:cNvPr>
          <p:cNvSpPr/>
          <p:nvPr/>
        </p:nvSpPr>
        <p:spPr>
          <a:xfrm>
            <a:off x="549588" y="2099930"/>
            <a:ext cx="242896" cy="314765"/>
          </a:xfrm>
          <a:custGeom>
            <a:avLst/>
            <a:gdLst>
              <a:gd name="csX0" fmla="*/ 274433 w 281435"/>
              <a:gd name="csY0" fmla="*/ 4769 h 339333"/>
              <a:gd name="csX1" fmla="*/ 139046 w 281435"/>
              <a:gd name="csY1" fmla="*/ 8309 h 339333"/>
              <a:gd name="csX2" fmla="*/ 80171 w 281435"/>
              <a:gd name="csY2" fmla="*/ 3775 h 339333"/>
              <a:gd name="csX3" fmla="*/ 11037 w 281435"/>
              <a:gd name="csY3" fmla="*/ 13187 h 339333"/>
              <a:gd name="csX4" fmla="*/ 11037 w 281435"/>
              <a:gd name="csY4" fmla="*/ 4194 h 339333"/>
              <a:gd name="csX5" fmla="*/ 5518 w 281435"/>
              <a:gd name="csY5" fmla="*/ 0 h 339333"/>
              <a:gd name="csX6" fmla="*/ 0 w 281435"/>
              <a:gd name="csY6" fmla="*/ 4194 h 339333"/>
              <a:gd name="csX7" fmla="*/ 0 w 281435"/>
              <a:gd name="csY7" fmla="*/ 339333 h 339333"/>
              <a:gd name="csX8" fmla="*/ 11037 w 281435"/>
              <a:gd name="csY8" fmla="*/ 339333 h 339333"/>
              <a:gd name="csX9" fmla="*/ 11037 w 281435"/>
              <a:gd name="csY9" fmla="*/ 161345 h 339333"/>
              <a:gd name="csX10" fmla="*/ 80171 w 281435"/>
              <a:gd name="csY10" fmla="*/ 151001 h 339333"/>
              <a:gd name="csX11" fmla="*/ 141347 w 281435"/>
              <a:gd name="csY11" fmla="*/ 156345 h 339333"/>
              <a:gd name="csX12" fmla="*/ 278086 w 281435"/>
              <a:gd name="csY12" fmla="*/ 151500 h 339333"/>
              <a:gd name="csX13" fmla="*/ 281436 w 281435"/>
              <a:gd name="csY13" fmla="*/ 150414 h 339333"/>
              <a:gd name="csX14" fmla="*/ 281436 w 281435"/>
              <a:gd name="csY14" fmla="*/ 3284 h 339333"/>
              <a:gd name="csX15" fmla="*/ 270399 w 281435"/>
              <a:gd name="csY15" fmla="*/ 144844 h 339333"/>
              <a:gd name="csX16" fmla="*/ 143212 w 281435"/>
              <a:gd name="csY16" fmla="*/ 148074 h 339333"/>
              <a:gd name="csX17" fmla="*/ 80171 w 281435"/>
              <a:gd name="csY17" fmla="*/ 142621 h 339333"/>
              <a:gd name="csX18" fmla="*/ 11037 w 281435"/>
              <a:gd name="csY18" fmla="*/ 151979 h 339333"/>
              <a:gd name="csX19" fmla="*/ 11037 w 281435"/>
              <a:gd name="csY19" fmla="*/ 22529 h 339333"/>
              <a:gd name="csX20" fmla="*/ 80171 w 281435"/>
              <a:gd name="csY20" fmla="*/ 12164 h 339333"/>
              <a:gd name="csX21" fmla="*/ 137318 w 281435"/>
              <a:gd name="csY21" fmla="*/ 16598 h 339333"/>
              <a:gd name="csX22" fmla="*/ 270399 w 281435"/>
              <a:gd name="csY22" fmla="*/ 14274 h 339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81435" h="339333">
                <a:moveTo>
                  <a:pt x="274433" y="4769"/>
                </a:moveTo>
                <a:cubicBezTo>
                  <a:pt x="214752" y="17407"/>
                  <a:pt x="176261" y="12781"/>
                  <a:pt x="139046" y="8309"/>
                </a:cubicBezTo>
                <a:cubicBezTo>
                  <a:pt x="119613" y="5599"/>
                  <a:pt x="99924" y="4082"/>
                  <a:pt x="80171" y="3775"/>
                </a:cubicBezTo>
                <a:cubicBezTo>
                  <a:pt x="44699" y="3775"/>
                  <a:pt x="22267" y="9354"/>
                  <a:pt x="11037" y="13187"/>
                </a:cubicBezTo>
                <a:lnTo>
                  <a:pt x="11037" y="4194"/>
                </a:lnTo>
                <a:cubicBezTo>
                  <a:pt x="11037" y="1878"/>
                  <a:pt x="8566" y="0"/>
                  <a:pt x="5518" y="0"/>
                </a:cubicBezTo>
                <a:cubicBezTo>
                  <a:pt x="2471" y="0"/>
                  <a:pt x="0" y="1878"/>
                  <a:pt x="0" y="4194"/>
                </a:cubicBezTo>
                <a:lnTo>
                  <a:pt x="0" y="339333"/>
                </a:lnTo>
                <a:lnTo>
                  <a:pt x="11037" y="339333"/>
                </a:lnTo>
                <a:lnTo>
                  <a:pt x="11037" y="161345"/>
                </a:lnTo>
                <a:cubicBezTo>
                  <a:pt x="17808" y="158551"/>
                  <a:pt x="39732" y="151001"/>
                  <a:pt x="80171" y="151001"/>
                </a:cubicBezTo>
                <a:cubicBezTo>
                  <a:pt x="100725" y="151460"/>
                  <a:pt x="121191" y="153248"/>
                  <a:pt x="141347" y="156345"/>
                </a:cubicBezTo>
                <a:cubicBezTo>
                  <a:pt x="184086" y="161919"/>
                  <a:pt x="228288" y="167670"/>
                  <a:pt x="278086" y="151500"/>
                </a:cubicBezTo>
                <a:lnTo>
                  <a:pt x="281436" y="150414"/>
                </a:lnTo>
                <a:lnTo>
                  <a:pt x="281436" y="3284"/>
                </a:lnTo>
                <a:close/>
                <a:moveTo>
                  <a:pt x="270399" y="144844"/>
                </a:moveTo>
                <a:cubicBezTo>
                  <a:pt x="224911" y="158727"/>
                  <a:pt x="183397" y="153312"/>
                  <a:pt x="143212" y="148074"/>
                </a:cubicBezTo>
                <a:cubicBezTo>
                  <a:pt x="122438" y="144910"/>
                  <a:pt x="101349" y="143086"/>
                  <a:pt x="80171" y="142621"/>
                </a:cubicBezTo>
                <a:cubicBezTo>
                  <a:pt x="44516" y="142621"/>
                  <a:pt x="22228" y="148145"/>
                  <a:pt x="11037" y="151979"/>
                </a:cubicBezTo>
                <a:lnTo>
                  <a:pt x="11037" y="22529"/>
                </a:lnTo>
                <a:cubicBezTo>
                  <a:pt x="17962" y="19714"/>
                  <a:pt x="40174" y="12164"/>
                  <a:pt x="80171" y="12164"/>
                </a:cubicBezTo>
                <a:cubicBezTo>
                  <a:pt x="99347" y="12460"/>
                  <a:pt x="118459" y="13943"/>
                  <a:pt x="137318" y="16598"/>
                </a:cubicBezTo>
                <a:cubicBezTo>
                  <a:pt x="174247" y="21031"/>
                  <a:pt x="212368" y="25616"/>
                  <a:pt x="270399" y="14274"/>
                </a:cubicBezTo>
                <a:close/>
              </a:path>
            </a:pathLst>
          </a:custGeom>
          <a:solidFill>
            <a:srgbClr val="002060"/>
          </a:solidFill>
          <a:ln w="5457" cap="flat">
            <a:solidFill>
              <a:srgbClr val="002060"/>
            </a:solidFill>
            <a:prstDash val="solid"/>
            <a:miter/>
          </a:ln>
        </p:spPr>
        <p:txBody>
          <a:bodyPr/>
          <a:lstStyle/>
          <a:p>
            <a:endParaRPr lang="es-CL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CE70F12-8D75-ABB0-DF0B-2468B113FE2D}"/>
              </a:ext>
            </a:extLst>
          </p:cNvPr>
          <p:cNvSpPr/>
          <p:nvPr/>
        </p:nvSpPr>
        <p:spPr>
          <a:xfrm>
            <a:off x="418913" y="2868545"/>
            <a:ext cx="2212428" cy="663869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4D5D298-D996-F182-DE7E-B747A089E191}"/>
              </a:ext>
            </a:extLst>
          </p:cNvPr>
          <p:cNvSpPr txBox="1"/>
          <p:nvPr/>
        </p:nvSpPr>
        <p:spPr>
          <a:xfrm>
            <a:off x="993462" y="2931742"/>
            <a:ext cx="8258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Próximo hito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5FD800F5-67DE-4645-B750-C84FEA752225}"/>
              </a:ext>
            </a:extLst>
          </p:cNvPr>
          <p:cNvSpPr/>
          <p:nvPr/>
        </p:nvSpPr>
        <p:spPr>
          <a:xfrm>
            <a:off x="418913" y="3638070"/>
            <a:ext cx="2212428" cy="718937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525CBF4-9D5C-0AB5-C633-F55A67655AAA}"/>
              </a:ext>
            </a:extLst>
          </p:cNvPr>
          <p:cNvSpPr txBox="1"/>
          <p:nvPr/>
        </p:nvSpPr>
        <p:spPr>
          <a:xfrm>
            <a:off x="998483" y="3633275"/>
            <a:ext cx="960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Estado general</a:t>
            </a:r>
          </a:p>
        </p:txBody>
      </p:sp>
      <p:pic>
        <p:nvPicPr>
          <p:cNvPr id="42" name="Gráfico 41" descr="Bullseye con relleno sólido">
            <a:extLst>
              <a:ext uri="{FF2B5EF4-FFF2-40B4-BE49-F238E27FC236}">
                <a16:creationId xmlns:a16="http://schemas.microsoft.com/office/drawing/2014/main" id="{6E36D181-2CDA-8AA7-F64F-74D399640E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801" y="2988845"/>
            <a:ext cx="396000" cy="396000"/>
          </a:xfrm>
          <a:prstGeom prst="rect">
            <a:avLst/>
          </a:prstGeom>
        </p:spPr>
      </p:pic>
      <p:pic>
        <p:nvPicPr>
          <p:cNvPr id="44" name="Gráfico 43" descr="Heart with pulse contorno">
            <a:extLst>
              <a:ext uri="{FF2B5EF4-FFF2-40B4-BE49-F238E27FC236}">
                <a16:creationId xmlns:a16="http://schemas.microsoft.com/office/drawing/2014/main" id="{12C32BE7-D0F5-D73C-D367-77FF0DD79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645" y="3755086"/>
            <a:ext cx="468000" cy="468000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D315309C-9E7A-2B76-2E01-932143B800C3}"/>
              </a:ext>
            </a:extLst>
          </p:cNvPr>
          <p:cNvSpPr txBox="1"/>
          <p:nvPr/>
        </p:nvSpPr>
        <p:spPr>
          <a:xfrm>
            <a:off x="9597305" y="1564403"/>
            <a:ext cx="1430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Avance Planificado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E2C1668-E6F5-E0E8-B58C-95806C71EAE2}"/>
              </a:ext>
            </a:extLst>
          </p:cNvPr>
          <p:cNvSpPr txBox="1"/>
          <p:nvPr/>
        </p:nvSpPr>
        <p:spPr>
          <a:xfrm>
            <a:off x="9597305" y="2113379"/>
            <a:ext cx="9908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Avance Real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40C6884-B94D-C8FD-8A10-1E81D7207AA8}"/>
              </a:ext>
            </a:extLst>
          </p:cNvPr>
          <p:cNvSpPr txBox="1"/>
          <p:nvPr/>
        </p:nvSpPr>
        <p:spPr>
          <a:xfrm>
            <a:off x="9594896" y="2852902"/>
            <a:ext cx="9044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Desviación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90E08AEC-B9CC-A579-5C27-5A1CC81B4801}"/>
              </a:ext>
            </a:extLst>
          </p:cNvPr>
          <p:cNvSpPr/>
          <p:nvPr/>
        </p:nvSpPr>
        <p:spPr>
          <a:xfrm>
            <a:off x="9594896" y="3271857"/>
            <a:ext cx="2257239" cy="727180"/>
          </a:xfrm>
          <a:prstGeom prst="roundRect">
            <a:avLst>
              <a:gd name="adj" fmla="val 14249"/>
            </a:avLst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AE6B486-4EA3-AEDF-9843-24B5BA19B6E9}"/>
              </a:ext>
            </a:extLst>
          </p:cNvPr>
          <p:cNvSpPr txBox="1"/>
          <p:nvPr/>
        </p:nvSpPr>
        <p:spPr>
          <a:xfrm>
            <a:off x="11125854" y="2850961"/>
            <a:ext cx="736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latin typeface="Abadi" panose="020B0604020104020204" pitchFamily="34" charset="0"/>
              </a:rPr>
              <a:t>(Puntos </a:t>
            </a:r>
          </a:p>
          <a:p>
            <a:pPr algn="ctr"/>
            <a:r>
              <a:rPr lang="es-CL" sz="700" b="1" dirty="0">
                <a:latin typeface="Abadi" panose="020B0604020104020204" pitchFamily="34" charset="0"/>
              </a:rPr>
              <a:t>Porcentuales)</a:t>
            </a: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1126AC6-229C-9E29-D666-5C5040DA5EA2}"/>
              </a:ext>
            </a:extLst>
          </p:cNvPr>
          <p:cNvSpPr/>
          <p:nvPr/>
        </p:nvSpPr>
        <p:spPr>
          <a:xfrm>
            <a:off x="11028823" y="1590061"/>
            <a:ext cx="800219" cy="334496"/>
          </a:xfrm>
          <a:prstGeom prst="roundRect">
            <a:avLst/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5097CF6E-DDE2-14E3-452B-BCA2470CE01B}"/>
              </a:ext>
            </a:extLst>
          </p:cNvPr>
          <p:cNvSpPr/>
          <p:nvPr/>
        </p:nvSpPr>
        <p:spPr>
          <a:xfrm>
            <a:off x="11030278" y="2200197"/>
            <a:ext cx="824265" cy="355999"/>
          </a:xfrm>
          <a:prstGeom prst="roundRect">
            <a:avLst/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C11C2F41-42CA-92A7-372C-3EFD21F4C06E}"/>
              </a:ext>
            </a:extLst>
          </p:cNvPr>
          <p:cNvCxnSpPr>
            <a:cxnSpLocks/>
          </p:cNvCxnSpPr>
          <p:nvPr/>
        </p:nvCxnSpPr>
        <p:spPr>
          <a:xfrm>
            <a:off x="9695341" y="2092569"/>
            <a:ext cx="207379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95F77D5E-50F0-9B1B-A42F-86F186755CEB}"/>
              </a:ext>
            </a:extLst>
          </p:cNvPr>
          <p:cNvCxnSpPr>
            <a:cxnSpLocks/>
          </p:cNvCxnSpPr>
          <p:nvPr/>
        </p:nvCxnSpPr>
        <p:spPr>
          <a:xfrm>
            <a:off x="9695341" y="2649197"/>
            <a:ext cx="207379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77C18E1-FB1F-073A-03A9-F0229F924F97}"/>
              </a:ext>
            </a:extLst>
          </p:cNvPr>
          <p:cNvSpPr txBox="1"/>
          <p:nvPr/>
        </p:nvSpPr>
        <p:spPr>
          <a:xfrm>
            <a:off x="9940929" y="1077537"/>
            <a:ext cx="1765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Indicadores de avance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4265F78A-DB91-B224-9A9D-21FDF5E990AB}"/>
              </a:ext>
            </a:extLst>
          </p:cNvPr>
          <p:cNvSpPr txBox="1"/>
          <p:nvPr/>
        </p:nvSpPr>
        <p:spPr>
          <a:xfrm>
            <a:off x="3683543" y="1422239"/>
            <a:ext cx="5469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13863C"/>
                </a:solidFill>
                <a:latin typeface="Arial Narrow" panose="020B0606020202030204" pitchFamily="34" charset="0"/>
              </a:rPr>
              <a:t>H-01</a:t>
            </a:r>
          </a:p>
          <a:p>
            <a:pPr algn="ctr"/>
            <a:r>
              <a:rPr lang="es-CL" sz="700" b="1" dirty="0">
                <a:solidFill>
                  <a:srgbClr val="13863C"/>
                </a:solidFill>
                <a:latin typeface="Arial Narrow" panose="020B0606020202030204" pitchFamily="34" charset="0"/>
              </a:rPr>
              <a:t>Propuesta</a:t>
            </a:r>
          </a:p>
          <a:p>
            <a:pPr algn="ctr"/>
            <a:r>
              <a:rPr lang="es-CL" sz="700" b="1" dirty="0">
                <a:solidFill>
                  <a:srgbClr val="13863C"/>
                </a:solidFill>
                <a:latin typeface="Arial Narrow" panose="020B0606020202030204" pitchFamily="34" charset="0"/>
              </a:rPr>
              <a:t>e inicio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C33940E3-0AD1-18C4-90CC-A354247FD53D}"/>
              </a:ext>
            </a:extLst>
          </p:cNvPr>
          <p:cNvSpPr txBox="1"/>
          <p:nvPr/>
        </p:nvSpPr>
        <p:spPr>
          <a:xfrm>
            <a:off x="4733252" y="1417857"/>
            <a:ext cx="84350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H-02</a:t>
            </a:r>
          </a:p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Requisitos, diseño</a:t>
            </a:r>
          </a:p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Y arquitectura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CE98CF91-2D94-8686-038D-994278A9BDB0}"/>
              </a:ext>
            </a:extLst>
          </p:cNvPr>
          <p:cNvSpPr txBox="1"/>
          <p:nvPr/>
        </p:nvSpPr>
        <p:spPr>
          <a:xfrm>
            <a:off x="6156632" y="1414842"/>
            <a:ext cx="55175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FFC000"/>
                </a:solidFill>
                <a:latin typeface="Arial Narrow" panose="020B0606020202030204" pitchFamily="34" charset="0"/>
              </a:rPr>
              <a:t>H-03</a:t>
            </a:r>
          </a:p>
          <a:p>
            <a:pPr algn="ctr"/>
            <a:r>
              <a:rPr lang="es-CL" sz="700" b="1" dirty="0">
                <a:solidFill>
                  <a:srgbClr val="FFC000"/>
                </a:solidFill>
                <a:latin typeface="Arial Narrow" panose="020B0606020202030204" pitchFamily="34" charset="0"/>
              </a:rPr>
              <a:t>Desarrollo</a:t>
            </a:r>
          </a:p>
          <a:p>
            <a:pPr algn="ctr"/>
            <a:r>
              <a:rPr lang="es-CL" sz="700" b="1" dirty="0">
                <a:solidFill>
                  <a:srgbClr val="FFC000"/>
                </a:solidFill>
                <a:latin typeface="Arial Narrow" panose="020B0606020202030204" pitchFamily="34" charset="0"/>
              </a:rPr>
              <a:t>Inicial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BAC4633C-A75F-558F-6459-BBE33078EFA2}"/>
              </a:ext>
            </a:extLst>
          </p:cNvPr>
          <p:cNvSpPr txBox="1"/>
          <p:nvPr/>
        </p:nvSpPr>
        <p:spPr>
          <a:xfrm>
            <a:off x="7309530" y="1414842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H-04</a:t>
            </a:r>
          </a:p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Desarrollo final</a:t>
            </a:r>
          </a:p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y verificación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E4440A33-095B-0492-BB7E-A8A9867AD650}"/>
              </a:ext>
            </a:extLst>
          </p:cNvPr>
          <p:cNvSpPr txBox="1"/>
          <p:nvPr/>
        </p:nvSpPr>
        <p:spPr>
          <a:xfrm>
            <a:off x="8488883" y="1443472"/>
            <a:ext cx="5838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FF0000"/>
                </a:solidFill>
                <a:latin typeface="Arial Narrow" panose="020B0606020202030204" pitchFamily="34" charset="0"/>
              </a:rPr>
              <a:t>H-05</a:t>
            </a:r>
          </a:p>
          <a:p>
            <a:pPr algn="ctr"/>
            <a:r>
              <a:rPr lang="es-CL" sz="700" b="1" dirty="0">
                <a:solidFill>
                  <a:srgbClr val="FF0000"/>
                </a:solidFill>
                <a:latin typeface="Arial Narrow" panose="020B0606020202030204" pitchFamily="34" charset="0"/>
              </a:rPr>
              <a:t>Aceptación</a:t>
            </a:r>
          </a:p>
          <a:p>
            <a:pPr algn="ctr"/>
            <a:r>
              <a:rPr lang="es-CL" sz="700" b="1" dirty="0">
                <a:solidFill>
                  <a:srgbClr val="FF0000"/>
                </a:solidFill>
                <a:latin typeface="Arial Narrow" panose="020B0606020202030204" pitchFamily="34" charset="0"/>
              </a:rPr>
              <a:t>y cierre</a:t>
            </a:r>
          </a:p>
        </p:txBody>
      </p:sp>
      <p:sp>
        <p:nvSpPr>
          <p:cNvPr id="96" name="Diagrama de flujo: conector 95">
            <a:extLst>
              <a:ext uri="{FF2B5EF4-FFF2-40B4-BE49-F238E27FC236}">
                <a16:creationId xmlns:a16="http://schemas.microsoft.com/office/drawing/2014/main" id="{32CA407F-9386-2BD8-2803-5F019F76F9F7}"/>
              </a:ext>
            </a:extLst>
          </p:cNvPr>
          <p:cNvSpPr>
            <a:spLocks noChangeAspect="1"/>
          </p:cNvSpPr>
          <p:nvPr/>
        </p:nvSpPr>
        <p:spPr>
          <a:xfrm>
            <a:off x="412215" y="5219112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8" name="Gráfico 97" descr="Checkmark con relleno sólido">
            <a:extLst>
              <a:ext uri="{FF2B5EF4-FFF2-40B4-BE49-F238E27FC236}">
                <a16:creationId xmlns:a16="http://schemas.microsoft.com/office/drawing/2014/main" id="{C5BB61C2-3CFF-CFA9-5B5D-B2B6E52AE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9459" y="5236356"/>
            <a:ext cx="109512" cy="109512"/>
          </a:xfrm>
          <a:prstGeom prst="rect">
            <a:avLst/>
          </a:prstGeom>
        </p:spPr>
      </p:pic>
      <p:sp>
        <p:nvSpPr>
          <p:cNvPr id="100" name="Diagrama de flujo: conector 99">
            <a:extLst>
              <a:ext uri="{FF2B5EF4-FFF2-40B4-BE49-F238E27FC236}">
                <a16:creationId xmlns:a16="http://schemas.microsoft.com/office/drawing/2014/main" id="{33290117-1A5F-EFA8-20AB-FD494D222112}"/>
              </a:ext>
            </a:extLst>
          </p:cNvPr>
          <p:cNvSpPr>
            <a:spLocks noChangeAspect="1"/>
          </p:cNvSpPr>
          <p:nvPr/>
        </p:nvSpPr>
        <p:spPr>
          <a:xfrm>
            <a:off x="412215" y="5470124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" name="Gráfico 101" descr="Checkmark con relleno sólido">
            <a:extLst>
              <a:ext uri="{FF2B5EF4-FFF2-40B4-BE49-F238E27FC236}">
                <a16:creationId xmlns:a16="http://schemas.microsoft.com/office/drawing/2014/main" id="{2CA4B00F-DCCA-FE90-61FF-436AF2C46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8913" y="5487368"/>
            <a:ext cx="109512" cy="109512"/>
          </a:xfrm>
          <a:prstGeom prst="rect">
            <a:avLst/>
          </a:prstGeom>
        </p:spPr>
      </p:pic>
      <p:sp>
        <p:nvSpPr>
          <p:cNvPr id="116" name="CuadroTexto 115">
            <a:extLst>
              <a:ext uri="{FF2B5EF4-FFF2-40B4-BE49-F238E27FC236}">
                <a16:creationId xmlns:a16="http://schemas.microsoft.com/office/drawing/2014/main" id="{B4B65055-6F8C-8042-7C21-A98427FC4EF6}"/>
              </a:ext>
            </a:extLst>
          </p:cNvPr>
          <p:cNvSpPr txBox="1"/>
          <p:nvPr/>
        </p:nvSpPr>
        <p:spPr>
          <a:xfrm>
            <a:off x="598943" y="5180954"/>
            <a:ext cx="26052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Bef>
                <a:spcPts val="250"/>
              </a:spcBef>
              <a:spcAft>
                <a:spcPts val="250"/>
              </a:spcAft>
            </a:pPr>
            <a:r>
              <a:rPr lang="es-CL" sz="1100" dirty="0">
                <a:latin typeface="Aptos Narrow" panose="020B0004020202020204" pitchFamily="34" charset="0"/>
              </a:rPr>
              <a:t>Proceso AS-IS documentado y actualizado. </a:t>
            </a:r>
          </a:p>
          <a:p>
            <a:pPr lvl="0">
              <a:spcBef>
                <a:spcPts val="250"/>
              </a:spcBef>
              <a:spcAft>
                <a:spcPts val="250"/>
              </a:spcAft>
            </a:pPr>
            <a:r>
              <a:rPr lang="es-CL" sz="1100" dirty="0">
                <a:latin typeface="Aptos Narrow" panose="020B0004020202020204" pitchFamily="34" charset="0"/>
              </a:rPr>
              <a:t>Proceso TO-BE preliminar definido.</a:t>
            </a:r>
          </a:p>
        </p:txBody>
      </p:sp>
      <p:sp>
        <p:nvSpPr>
          <p:cNvPr id="118" name="Diagrama de flujo: conector 117">
            <a:extLst>
              <a:ext uri="{FF2B5EF4-FFF2-40B4-BE49-F238E27FC236}">
                <a16:creationId xmlns:a16="http://schemas.microsoft.com/office/drawing/2014/main" id="{E88F4968-7691-5B85-36A2-ECB2F87F1E47}"/>
              </a:ext>
            </a:extLst>
          </p:cNvPr>
          <p:cNvSpPr>
            <a:spLocks noChangeAspect="1"/>
          </p:cNvSpPr>
          <p:nvPr/>
        </p:nvSpPr>
        <p:spPr>
          <a:xfrm>
            <a:off x="1339370" y="4851011"/>
            <a:ext cx="180000" cy="180000"/>
          </a:xfrm>
          <a:prstGeom prst="flowChartConnector">
            <a:avLst/>
          </a:prstGeom>
          <a:noFill/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120" name="Gráfico 119" descr="Checkmark con relleno sólido">
            <a:extLst>
              <a:ext uri="{FF2B5EF4-FFF2-40B4-BE49-F238E27FC236}">
                <a16:creationId xmlns:a16="http://schemas.microsoft.com/office/drawing/2014/main" id="{97CFD53B-6609-1CF8-7B60-AEEFA2815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6716" y="4889888"/>
            <a:ext cx="125308" cy="125308"/>
          </a:xfrm>
          <a:prstGeom prst="rect">
            <a:avLst/>
          </a:prstGeom>
        </p:spPr>
      </p:pic>
      <p:sp>
        <p:nvSpPr>
          <p:cNvPr id="121" name="CuadroTexto 120">
            <a:extLst>
              <a:ext uri="{FF2B5EF4-FFF2-40B4-BE49-F238E27FC236}">
                <a16:creationId xmlns:a16="http://schemas.microsoft.com/office/drawing/2014/main" id="{EE4A6A15-87C9-F430-736C-170059508C10}"/>
              </a:ext>
            </a:extLst>
          </p:cNvPr>
          <p:cNvSpPr txBox="1"/>
          <p:nvPr/>
        </p:nvSpPr>
        <p:spPr>
          <a:xfrm>
            <a:off x="1657858" y="4813918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Logros de la semana</a:t>
            </a:r>
          </a:p>
        </p:txBody>
      </p:sp>
      <p:sp>
        <p:nvSpPr>
          <p:cNvPr id="124" name="Rectángulo: esquinas redondeadas 123">
            <a:extLst>
              <a:ext uri="{FF2B5EF4-FFF2-40B4-BE49-F238E27FC236}">
                <a16:creationId xmlns:a16="http://schemas.microsoft.com/office/drawing/2014/main" id="{6E1F5F18-1A43-309F-0C9C-DC2285C87B9D}"/>
              </a:ext>
            </a:extLst>
          </p:cNvPr>
          <p:cNvSpPr/>
          <p:nvPr/>
        </p:nvSpPr>
        <p:spPr>
          <a:xfrm>
            <a:off x="4105789" y="4768547"/>
            <a:ext cx="4158101" cy="1598642"/>
          </a:xfrm>
          <a:prstGeom prst="roundRect">
            <a:avLst>
              <a:gd name="adj" fmla="val 5732"/>
            </a:avLst>
          </a:prstGeom>
          <a:solidFill>
            <a:srgbClr val="F1F3FB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6" name="Rectángulo: esquinas superiores redondeadas 125">
            <a:extLst>
              <a:ext uri="{FF2B5EF4-FFF2-40B4-BE49-F238E27FC236}">
                <a16:creationId xmlns:a16="http://schemas.microsoft.com/office/drawing/2014/main" id="{965BD592-DAC4-F420-42DD-2BA5A86EF05F}"/>
              </a:ext>
            </a:extLst>
          </p:cNvPr>
          <p:cNvSpPr/>
          <p:nvPr/>
        </p:nvSpPr>
        <p:spPr>
          <a:xfrm>
            <a:off x="4105788" y="4780332"/>
            <a:ext cx="4158101" cy="351357"/>
          </a:xfrm>
          <a:prstGeom prst="round2SameRect">
            <a:avLst>
              <a:gd name="adj1" fmla="val 2642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96A70E2A-C3F8-82D9-F975-BAE8D60F18C9}"/>
              </a:ext>
            </a:extLst>
          </p:cNvPr>
          <p:cNvSpPr txBox="1"/>
          <p:nvPr/>
        </p:nvSpPr>
        <p:spPr>
          <a:xfrm>
            <a:off x="5512635" y="4837216"/>
            <a:ext cx="1471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Entregables en curso</a:t>
            </a:r>
          </a:p>
        </p:txBody>
      </p:sp>
      <p:pic>
        <p:nvPicPr>
          <p:cNvPr id="130" name="Gráfico 129" descr="Single gear contorno">
            <a:extLst>
              <a:ext uri="{FF2B5EF4-FFF2-40B4-BE49-F238E27FC236}">
                <a16:creationId xmlns:a16="http://schemas.microsoft.com/office/drawing/2014/main" id="{C7520D8B-E0C9-B0E5-56C5-91209E6E48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6616" y="4758010"/>
            <a:ext cx="396000" cy="396000"/>
          </a:xfrm>
          <a:prstGeom prst="rect">
            <a:avLst/>
          </a:prstGeom>
        </p:spPr>
      </p:pic>
      <p:sp>
        <p:nvSpPr>
          <p:cNvPr id="131" name="CuadroTexto 130">
            <a:extLst>
              <a:ext uri="{FF2B5EF4-FFF2-40B4-BE49-F238E27FC236}">
                <a16:creationId xmlns:a16="http://schemas.microsoft.com/office/drawing/2014/main" id="{83CF8480-D31D-DED7-EEF3-F51F1B5458C9}"/>
              </a:ext>
            </a:extLst>
          </p:cNvPr>
          <p:cNvSpPr txBox="1"/>
          <p:nvPr/>
        </p:nvSpPr>
        <p:spPr>
          <a:xfrm>
            <a:off x="4466011" y="5298804"/>
            <a:ext cx="3740126" cy="1233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Bef>
                <a:spcPts val="250"/>
              </a:spcBef>
              <a:spcAft>
                <a:spcPts val="250"/>
              </a:spcAft>
            </a:pPr>
            <a:r>
              <a:rPr lang="es-CL" sz="1100" dirty="0">
                <a:latin typeface="Aptos Narrow" panose="020B0004020202020204" pitchFamily="34" charset="0"/>
              </a:rPr>
              <a:t>Levantamiento de requisitos funcionales en curso. </a:t>
            </a:r>
          </a:p>
          <a:p>
            <a:pPr lvl="0">
              <a:spcBef>
                <a:spcPts val="250"/>
              </a:spcBef>
              <a:spcAft>
                <a:spcPts val="250"/>
              </a:spcAft>
            </a:pPr>
            <a:r>
              <a:rPr lang="es-CL" sz="1100" dirty="0">
                <a:latin typeface="Aptos Narrow" panose="020B0004020202020204" pitchFamily="34" charset="0"/>
              </a:rPr>
              <a:t>Levantamiento de requisitos no funcionales en curso. </a:t>
            </a:r>
          </a:p>
          <a:p>
            <a:pPr lvl="0">
              <a:spcBef>
                <a:spcPts val="250"/>
              </a:spcBef>
              <a:spcAft>
                <a:spcPts val="250"/>
              </a:spcAft>
            </a:pPr>
            <a:r>
              <a:rPr lang="es-CL" sz="1100" dirty="0">
                <a:latin typeface="Aptos Narrow" panose="020B0004020202020204" pitchFamily="34" charset="0"/>
              </a:rPr>
              <a:t>Identificación de actores y casos de uso principales pendiente. </a:t>
            </a:r>
          </a:p>
          <a:p>
            <a:pPr lvl="0">
              <a:spcBef>
                <a:spcPts val="250"/>
              </a:spcBef>
              <a:spcAft>
                <a:spcPts val="250"/>
              </a:spcAft>
            </a:pPr>
            <a:r>
              <a:rPr lang="es-CL" sz="1100" dirty="0">
                <a:latin typeface="Aptos Narrow" panose="020B0004020202020204" pitchFamily="34" charset="0"/>
              </a:rPr>
              <a:t>Actualización de la </a:t>
            </a:r>
            <a:r>
              <a:rPr lang="es-CL" sz="1100" b="1" dirty="0">
                <a:latin typeface="Aptos Narrow" panose="020B0004020202020204" pitchFamily="34" charset="0"/>
              </a:rPr>
              <a:t>ERS</a:t>
            </a:r>
            <a:r>
              <a:rPr lang="es-CL" sz="1100" dirty="0">
                <a:latin typeface="Aptos Narrow" panose="020B0004020202020204" pitchFamily="34" charset="0"/>
              </a:rPr>
              <a:t> con los requisitos levantados pendiente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s-CL" sz="1100" dirty="0">
              <a:latin typeface="Aptos Narrow" panose="020B0004020202020204" pitchFamily="34" charset="0"/>
            </a:endParaRPr>
          </a:p>
        </p:txBody>
      </p:sp>
      <p:sp>
        <p:nvSpPr>
          <p:cNvPr id="133" name="Diagrama de flujo: conector 132">
            <a:extLst>
              <a:ext uri="{FF2B5EF4-FFF2-40B4-BE49-F238E27FC236}">
                <a16:creationId xmlns:a16="http://schemas.microsoft.com/office/drawing/2014/main" id="{6298AA84-5B1E-BE2D-DB32-3880F1C97DAA}"/>
              </a:ext>
            </a:extLst>
          </p:cNvPr>
          <p:cNvSpPr>
            <a:spLocks noChangeAspect="1"/>
          </p:cNvSpPr>
          <p:nvPr/>
        </p:nvSpPr>
        <p:spPr>
          <a:xfrm>
            <a:off x="4287298" y="5343761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5" name="Diagrama de flujo: conector 134">
            <a:extLst>
              <a:ext uri="{FF2B5EF4-FFF2-40B4-BE49-F238E27FC236}">
                <a16:creationId xmlns:a16="http://schemas.microsoft.com/office/drawing/2014/main" id="{F5A482C3-4749-49B3-634F-5F11CBFCB8A5}"/>
              </a:ext>
            </a:extLst>
          </p:cNvPr>
          <p:cNvSpPr>
            <a:spLocks noChangeAspect="1"/>
          </p:cNvSpPr>
          <p:nvPr/>
        </p:nvSpPr>
        <p:spPr>
          <a:xfrm>
            <a:off x="4294985" y="5605439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7" name="Diagrama de flujo: conector 136">
            <a:extLst>
              <a:ext uri="{FF2B5EF4-FFF2-40B4-BE49-F238E27FC236}">
                <a16:creationId xmlns:a16="http://schemas.microsoft.com/office/drawing/2014/main" id="{E0A4A013-B8D3-7B0D-01FE-0F8835BA90EF}"/>
              </a:ext>
            </a:extLst>
          </p:cNvPr>
          <p:cNvSpPr>
            <a:spLocks noChangeAspect="1"/>
          </p:cNvSpPr>
          <p:nvPr/>
        </p:nvSpPr>
        <p:spPr>
          <a:xfrm>
            <a:off x="4302688" y="5827746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9" name="Diagrama de flujo: conector 138">
            <a:extLst>
              <a:ext uri="{FF2B5EF4-FFF2-40B4-BE49-F238E27FC236}">
                <a16:creationId xmlns:a16="http://schemas.microsoft.com/office/drawing/2014/main" id="{0C0175D9-F126-51A3-8E7F-DA3F22824199}"/>
              </a:ext>
            </a:extLst>
          </p:cNvPr>
          <p:cNvSpPr>
            <a:spLocks noChangeAspect="1"/>
          </p:cNvSpPr>
          <p:nvPr/>
        </p:nvSpPr>
        <p:spPr>
          <a:xfrm>
            <a:off x="4302688" y="6050053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1" name="Rectángulo: esquinas redondeadas 140">
            <a:extLst>
              <a:ext uri="{FF2B5EF4-FFF2-40B4-BE49-F238E27FC236}">
                <a16:creationId xmlns:a16="http://schemas.microsoft.com/office/drawing/2014/main" id="{7C1DC765-566E-78C7-2C4D-3E5054BE08CE}"/>
              </a:ext>
            </a:extLst>
          </p:cNvPr>
          <p:cNvSpPr/>
          <p:nvPr/>
        </p:nvSpPr>
        <p:spPr>
          <a:xfrm>
            <a:off x="8371420" y="4775608"/>
            <a:ext cx="3718284" cy="1598642"/>
          </a:xfrm>
          <a:prstGeom prst="roundRect">
            <a:avLst>
              <a:gd name="adj" fmla="val 5732"/>
            </a:avLst>
          </a:prstGeom>
          <a:solidFill>
            <a:schemeClr val="bg1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3" name="Rectángulo: esquinas superiores redondeadas 142">
            <a:extLst>
              <a:ext uri="{FF2B5EF4-FFF2-40B4-BE49-F238E27FC236}">
                <a16:creationId xmlns:a16="http://schemas.microsoft.com/office/drawing/2014/main" id="{3E857DF3-F50C-C4A7-37CF-ADF765F40FED}"/>
              </a:ext>
            </a:extLst>
          </p:cNvPr>
          <p:cNvSpPr/>
          <p:nvPr/>
        </p:nvSpPr>
        <p:spPr>
          <a:xfrm>
            <a:off x="8371419" y="4787393"/>
            <a:ext cx="3718284" cy="351357"/>
          </a:xfrm>
          <a:prstGeom prst="round2SameRect">
            <a:avLst>
              <a:gd name="adj1" fmla="val 2642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47570BA4-AC05-240A-BC59-A855EFEC7868}"/>
              </a:ext>
            </a:extLst>
          </p:cNvPr>
          <p:cNvSpPr txBox="1"/>
          <p:nvPr/>
        </p:nvSpPr>
        <p:spPr>
          <a:xfrm>
            <a:off x="9667196" y="4835393"/>
            <a:ext cx="957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Próximo hito</a:t>
            </a:r>
          </a:p>
        </p:txBody>
      </p:sp>
      <p:sp>
        <p:nvSpPr>
          <p:cNvPr id="147" name="Gráfico 23" descr="Flag contorno">
            <a:extLst>
              <a:ext uri="{FF2B5EF4-FFF2-40B4-BE49-F238E27FC236}">
                <a16:creationId xmlns:a16="http://schemas.microsoft.com/office/drawing/2014/main" id="{4F8151F1-BBAA-0F19-EA92-E5BCA7716B43}"/>
              </a:ext>
            </a:extLst>
          </p:cNvPr>
          <p:cNvSpPr/>
          <p:nvPr/>
        </p:nvSpPr>
        <p:spPr>
          <a:xfrm>
            <a:off x="9455085" y="4856762"/>
            <a:ext cx="190665" cy="237906"/>
          </a:xfrm>
          <a:custGeom>
            <a:avLst/>
            <a:gdLst>
              <a:gd name="csX0" fmla="*/ 274433 w 281435"/>
              <a:gd name="csY0" fmla="*/ 4769 h 339333"/>
              <a:gd name="csX1" fmla="*/ 139046 w 281435"/>
              <a:gd name="csY1" fmla="*/ 8309 h 339333"/>
              <a:gd name="csX2" fmla="*/ 80171 w 281435"/>
              <a:gd name="csY2" fmla="*/ 3775 h 339333"/>
              <a:gd name="csX3" fmla="*/ 11037 w 281435"/>
              <a:gd name="csY3" fmla="*/ 13187 h 339333"/>
              <a:gd name="csX4" fmla="*/ 11037 w 281435"/>
              <a:gd name="csY4" fmla="*/ 4194 h 339333"/>
              <a:gd name="csX5" fmla="*/ 5518 w 281435"/>
              <a:gd name="csY5" fmla="*/ 0 h 339333"/>
              <a:gd name="csX6" fmla="*/ 0 w 281435"/>
              <a:gd name="csY6" fmla="*/ 4194 h 339333"/>
              <a:gd name="csX7" fmla="*/ 0 w 281435"/>
              <a:gd name="csY7" fmla="*/ 339333 h 339333"/>
              <a:gd name="csX8" fmla="*/ 11037 w 281435"/>
              <a:gd name="csY8" fmla="*/ 339333 h 339333"/>
              <a:gd name="csX9" fmla="*/ 11037 w 281435"/>
              <a:gd name="csY9" fmla="*/ 161345 h 339333"/>
              <a:gd name="csX10" fmla="*/ 80171 w 281435"/>
              <a:gd name="csY10" fmla="*/ 151001 h 339333"/>
              <a:gd name="csX11" fmla="*/ 141347 w 281435"/>
              <a:gd name="csY11" fmla="*/ 156345 h 339333"/>
              <a:gd name="csX12" fmla="*/ 278086 w 281435"/>
              <a:gd name="csY12" fmla="*/ 151500 h 339333"/>
              <a:gd name="csX13" fmla="*/ 281436 w 281435"/>
              <a:gd name="csY13" fmla="*/ 150414 h 339333"/>
              <a:gd name="csX14" fmla="*/ 281436 w 281435"/>
              <a:gd name="csY14" fmla="*/ 3284 h 339333"/>
              <a:gd name="csX15" fmla="*/ 270399 w 281435"/>
              <a:gd name="csY15" fmla="*/ 144844 h 339333"/>
              <a:gd name="csX16" fmla="*/ 143212 w 281435"/>
              <a:gd name="csY16" fmla="*/ 148074 h 339333"/>
              <a:gd name="csX17" fmla="*/ 80171 w 281435"/>
              <a:gd name="csY17" fmla="*/ 142621 h 339333"/>
              <a:gd name="csX18" fmla="*/ 11037 w 281435"/>
              <a:gd name="csY18" fmla="*/ 151979 h 339333"/>
              <a:gd name="csX19" fmla="*/ 11037 w 281435"/>
              <a:gd name="csY19" fmla="*/ 22529 h 339333"/>
              <a:gd name="csX20" fmla="*/ 80171 w 281435"/>
              <a:gd name="csY20" fmla="*/ 12164 h 339333"/>
              <a:gd name="csX21" fmla="*/ 137318 w 281435"/>
              <a:gd name="csY21" fmla="*/ 16598 h 339333"/>
              <a:gd name="csX22" fmla="*/ 270399 w 281435"/>
              <a:gd name="csY22" fmla="*/ 14274 h 339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81435" h="339333">
                <a:moveTo>
                  <a:pt x="274433" y="4769"/>
                </a:moveTo>
                <a:cubicBezTo>
                  <a:pt x="214752" y="17407"/>
                  <a:pt x="176261" y="12781"/>
                  <a:pt x="139046" y="8309"/>
                </a:cubicBezTo>
                <a:cubicBezTo>
                  <a:pt x="119613" y="5599"/>
                  <a:pt x="99924" y="4082"/>
                  <a:pt x="80171" y="3775"/>
                </a:cubicBezTo>
                <a:cubicBezTo>
                  <a:pt x="44699" y="3775"/>
                  <a:pt x="22267" y="9354"/>
                  <a:pt x="11037" y="13187"/>
                </a:cubicBezTo>
                <a:lnTo>
                  <a:pt x="11037" y="4194"/>
                </a:lnTo>
                <a:cubicBezTo>
                  <a:pt x="11037" y="1878"/>
                  <a:pt x="8566" y="0"/>
                  <a:pt x="5518" y="0"/>
                </a:cubicBezTo>
                <a:cubicBezTo>
                  <a:pt x="2471" y="0"/>
                  <a:pt x="0" y="1878"/>
                  <a:pt x="0" y="4194"/>
                </a:cubicBezTo>
                <a:lnTo>
                  <a:pt x="0" y="339333"/>
                </a:lnTo>
                <a:lnTo>
                  <a:pt x="11037" y="339333"/>
                </a:lnTo>
                <a:lnTo>
                  <a:pt x="11037" y="161345"/>
                </a:lnTo>
                <a:cubicBezTo>
                  <a:pt x="17808" y="158551"/>
                  <a:pt x="39732" y="151001"/>
                  <a:pt x="80171" y="151001"/>
                </a:cubicBezTo>
                <a:cubicBezTo>
                  <a:pt x="100725" y="151460"/>
                  <a:pt x="121191" y="153248"/>
                  <a:pt x="141347" y="156345"/>
                </a:cubicBezTo>
                <a:cubicBezTo>
                  <a:pt x="184086" y="161919"/>
                  <a:pt x="228288" y="167670"/>
                  <a:pt x="278086" y="151500"/>
                </a:cubicBezTo>
                <a:lnTo>
                  <a:pt x="281436" y="150414"/>
                </a:lnTo>
                <a:lnTo>
                  <a:pt x="281436" y="3284"/>
                </a:lnTo>
                <a:close/>
                <a:moveTo>
                  <a:pt x="270399" y="144844"/>
                </a:moveTo>
                <a:cubicBezTo>
                  <a:pt x="224911" y="158727"/>
                  <a:pt x="183397" y="153312"/>
                  <a:pt x="143212" y="148074"/>
                </a:cubicBezTo>
                <a:cubicBezTo>
                  <a:pt x="122438" y="144910"/>
                  <a:pt x="101349" y="143086"/>
                  <a:pt x="80171" y="142621"/>
                </a:cubicBezTo>
                <a:cubicBezTo>
                  <a:pt x="44516" y="142621"/>
                  <a:pt x="22228" y="148145"/>
                  <a:pt x="11037" y="151979"/>
                </a:cubicBezTo>
                <a:lnTo>
                  <a:pt x="11037" y="22529"/>
                </a:lnTo>
                <a:cubicBezTo>
                  <a:pt x="17962" y="19714"/>
                  <a:pt x="40174" y="12164"/>
                  <a:pt x="80171" y="12164"/>
                </a:cubicBezTo>
                <a:cubicBezTo>
                  <a:pt x="99347" y="12460"/>
                  <a:pt x="118459" y="13943"/>
                  <a:pt x="137318" y="16598"/>
                </a:cubicBezTo>
                <a:cubicBezTo>
                  <a:pt x="174247" y="21031"/>
                  <a:pt x="212368" y="25616"/>
                  <a:pt x="270399" y="14274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endParaRPr lang="es-CL" dirty="0"/>
          </a:p>
        </p:txBody>
      </p:sp>
      <p:sp>
        <p:nvSpPr>
          <p:cNvPr id="148" name="Rectángulo: esquinas redondeadas 147">
            <a:extLst>
              <a:ext uri="{FF2B5EF4-FFF2-40B4-BE49-F238E27FC236}">
                <a16:creationId xmlns:a16="http://schemas.microsoft.com/office/drawing/2014/main" id="{5D664C15-5E9D-7433-0BFF-D07E5F25D430}"/>
              </a:ext>
            </a:extLst>
          </p:cNvPr>
          <p:cNvSpPr/>
          <p:nvPr/>
        </p:nvSpPr>
        <p:spPr>
          <a:xfrm>
            <a:off x="8474111" y="5234644"/>
            <a:ext cx="3380432" cy="944468"/>
          </a:xfrm>
          <a:prstGeom prst="roundRect">
            <a:avLst>
              <a:gd name="adj" fmla="val 12633"/>
            </a:avLst>
          </a:prstGeom>
          <a:solidFill>
            <a:srgbClr val="DDF4E7"/>
          </a:solidFill>
          <a:ln>
            <a:solidFill>
              <a:srgbClr val="DDF4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C825382A-4606-B7CE-622A-49BD74DC6521}"/>
              </a:ext>
            </a:extLst>
          </p:cNvPr>
          <p:cNvSpPr txBox="1"/>
          <p:nvPr/>
        </p:nvSpPr>
        <p:spPr>
          <a:xfrm>
            <a:off x="10920900" y="5248878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rial Narrow" panose="020B0606020202030204" pitchFamily="34" charset="0"/>
              </a:rPr>
              <a:t>16/10/2026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5C04DFA9-8245-93F2-299B-0F56D1ECBB76}"/>
              </a:ext>
            </a:extLst>
          </p:cNvPr>
          <p:cNvSpPr txBox="1"/>
          <p:nvPr/>
        </p:nvSpPr>
        <p:spPr>
          <a:xfrm>
            <a:off x="8542020" y="5605439"/>
            <a:ext cx="316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Criterio: </a:t>
            </a:r>
            <a:r>
              <a:rPr lang="es-CL" sz="1100" dirty="0">
                <a:latin typeface="Aptos Narrow" panose="020B0004020202020204" pitchFamily="34" charset="0"/>
              </a:rPr>
              <a:t>Requisitos y diseño base consolidados y aprobados para dar inicio al desarrollo.</a:t>
            </a:r>
            <a:endParaRPr lang="es-CL" sz="1200" dirty="0">
              <a:latin typeface="Aptos Narrow" panose="020B0004020202020204" pitchFamily="34" charset="0"/>
            </a:endParaRPr>
          </a:p>
        </p:txBody>
      </p: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51A1F69A-EDA5-2F15-A8D6-FBF6666807C6}"/>
              </a:ext>
            </a:extLst>
          </p:cNvPr>
          <p:cNvGrpSpPr/>
          <p:nvPr/>
        </p:nvGrpSpPr>
        <p:grpSpPr>
          <a:xfrm>
            <a:off x="360553" y="6322468"/>
            <a:ext cx="4541575" cy="479526"/>
            <a:chOff x="362021" y="6264961"/>
            <a:chExt cx="4541575" cy="479526"/>
          </a:xfrm>
        </p:grpSpPr>
        <p:pic>
          <p:nvPicPr>
            <p:cNvPr id="159" name="Imagen 158">
              <a:extLst>
                <a:ext uri="{FF2B5EF4-FFF2-40B4-BE49-F238E27FC236}">
                  <a16:creationId xmlns:a16="http://schemas.microsoft.com/office/drawing/2014/main" id="{13017CF6-5AC5-B906-E2A1-4C6B34B9B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60" name="CuadroTexto 159">
              <a:extLst>
                <a:ext uri="{FF2B5EF4-FFF2-40B4-BE49-F238E27FC236}">
                  <a16:creationId xmlns:a16="http://schemas.microsoft.com/office/drawing/2014/main" id="{AAEFD319-219C-81D7-0F68-A2461AE15172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02</a:t>
              </a:r>
            </a:p>
          </p:txBody>
        </p:sp>
        <p:sp>
          <p:nvSpPr>
            <p:cNvPr id="161" name="CuadroTexto 160">
              <a:extLst>
                <a:ext uri="{FF2B5EF4-FFF2-40B4-BE49-F238E27FC236}">
                  <a16:creationId xmlns:a16="http://schemas.microsoft.com/office/drawing/2014/main" id="{7EBEEFFB-A4B3-80CB-DA6B-998CB926C8E6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EC0B93B0-7ABE-93FD-F464-BC16571C8B29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3" name="Imagen 162">
              <a:extLst>
                <a:ext uri="{FF2B5EF4-FFF2-40B4-BE49-F238E27FC236}">
                  <a16:creationId xmlns:a16="http://schemas.microsoft.com/office/drawing/2014/main" id="{2E4EDB35-32C9-9F59-996C-C8AD4F1FB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7005C9D9-D50F-A940-A474-9D35966D78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341031"/>
              </p:ext>
            </p:extLst>
          </p:nvPr>
        </p:nvGraphicFramePr>
        <p:xfrm>
          <a:off x="979488" y="1446213"/>
          <a:ext cx="13192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318437" imgH="434506" progId="Excel.Sheet.12">
                  <p:link updateAutomatic="1"/>
                </p:oleObj>
              </mc:Choice>
              <mc:Fallback>
                <p:oleObj name="Worksheet" r:id="rId13" imgW="1318437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79488" y="1446213"/>
                        <a:ext cx="1319212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EFD33B4C-1C53-ECD2-7034-5AA9256566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736238"/>
              </p:ext>
            </p:extLst>
          </p:nvPr>
        </p:nvGraphicFramePr>
        <p:xfrm>
          <a:off x="1138238" y="2101850"/>
          <a:ext cx="5492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548640" imgH="434506" progId="Excel.Sheet.12">
                  <p:link updateAutomatic="1"/>
                </p:oleObj>
              </mc:Choice>
              <mc:Fallback>
                <p:oleObj name="Worksheet" r:id="rId15" imgW="548640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38238" y="2101850"/>
                        <a:ext cx="549275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ECEE9638-7341-BD16-39A7-4D365AF449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753679"/>
              </p:ext>
            </p:extLst>
          </p:nvPr>
        </p:nvGraphicFramePr>
        <p:xfrm>
          <a:off x="469901" y="2336800"/>
          <a:ext cx="2323194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2385095" imgH="434506" progId="Excel.Sheet.12">
                  <p:link updateAutomatic="1"/>
                </p:oleObj>
              </mc:Choice>
              <mc:Fallback>
                <p:oleObj name="Worksheet" r:id="rId17" imgW="2385095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9901" y="2336800"/>
                        <a:ext cx="2323194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CB8C150E-92B3-98EC-835D-8FF7FB932E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207760"/>
              </p:ext>
            </p:extLst>
          </p:nvPr>
        </p:nvGraphicFramePr>
        <p:xfrm>
          <a:off x="869950" y="3106738"/>
          <a:ext cx="1768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9" imgW="1767982" imgH="434506" progId="Excel.Sheet.12">
                  <p:link updateAutomatic="1"/>
                </p:oleObj>
              </mc:Choice>
              <mc:Fallback>
                <p:oleObj name="Worksheet" r:id="rId19" imgW="1767982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69950" y="3106738"/>
                        <a:ext cx="1768475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616CD6F7-CEA1-6879-9109-3DA124DEA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980130"/>
              </p:ext>
            </p:extLst>
          </p:nvPr>
        </p:nvGraphicFramePr>
        <p:xfrm>
          <a:off x="10875364" y="1519489"/>
          <a:ext cx="11430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1" imgW="1143213" imgH="434506" progId="Excel.Sheet.12">
                  <p:link updateAutomatic="1"/>
                </p:oleObj>
              </mc:Choice>
              <mc:Fallback>
                <p:oleObj name="Worksheet" r:id="rId21" imgW="1143213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875364" y="1519489"/>
                        <a:ext cx="1143000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889450CA-0E0A-2864-2FD2-CB7EC5C405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765700"/>
              </p:ext>
            </p:extLst>
          </p:nvPr>
        </p:nvGraphicFramePr>
        <p:xfrm>
          <a:off x="11012824" y="2135187"/>
          <a:ext cx="8620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3" imgW="861237" imgH="434506" progId="Excel.Sheet.12">
                  <p:link updateAutomatic="1"/>
                </p:oleObj>
              </mc:Choice>
              <mc:Fallback>
                <p:oleObj name="Worksheet" r:id="rId23" imgW="861237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012824" y="2135187"/>
                        <a:ext cx="862013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B5129DCB-7D02-AB74-DD6F-C8221007E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050725"/>
              </p:ext>
            </p:extLst>
          </p:nvPr>
        </p:nvGraphicFramePr>
        <p:xfrm>
          <a:off x="10393344" y="2862215"/>
          <a:ext cx="8683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5" imgW="868893" imgH="289528" progId="Excel.Sheet.12">
                  <p:link updateAutomatic="1"/>
                </p:oleObj>
              </mc:Choice>
              <mc:Fallback>
                <p:oleObj name="Worksheet" r:id="rId25" imgW="868893" imgH="28952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393344" y="2862215"/>
                        <a:ext cx="868363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23">
            <a:extLst>
              <a:ext uri="{FF2B5EF4-FFF2-40B4-BE49-F238E27FC236}">
                <a16:creationId xmlns:a16="http://schemas.microsoft.com/office/drawing/2014/main" id="{F639FCEE-0BDE-70DF-E872-071CBDAAEA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880584"/>
              </p:ext>
            </p:extLst>
          </p:nvPr>
        </p:nvGraphicFramePr>
        <p:xfrm>
          <a:off x="9373147" y="1667658"/>
          <a:ext cx="8001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7" imgW="799994" imgH="434506" progId="Excel.Sheet.12">
                  <p:link updateAutomatic="1"/>
                </p:oleObj>
              </mc:Choice>
              <mc:Fallback>
                <p:oleObj name="Worksheet" r:id="rId27" imgW="799994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373147" y="1667658"/>
                        <a:ext cx="800100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o 29">
            <a:extLst>
              <a:ext uri="{FF2B5EF4-FFF2-40B4-BE49-F238E27FC236}">
                <a16:creationId xmlns:a16="http://schemas.microsoft.com/office/drawing/2014/main" id="{21746EA4-77C9-4739-5802-1E2E571144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272709"/>
              </p:ext>
            </p:extLst>
          </p:nvPr>
        </p:nvGraphicFramePr>
        <p:xfrm>
          <a:off x="9418540" y="2266825"/>
          <a:ext cx="8001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7" imgW="799994" imgH="434506" progId="Excel.Sheet.12">
                  <p:link updateAutomatic="1"/>
                </p:oleObj>
              </mc:Choice>
              <mc:Fallback>
                <p:oleObj name="Worksheet" r:id="rId27" imgW="799994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418540" y="2266825"/>
                        <a:ext cx="800100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o 31">
            <a:extLst>
              <a:ext uri="{FF2B5EF4-FFF2-40B4-BE49-F238E27FC236}">
                <a16:creationId xmlns:a16="http://schemas.microsoft.com/office/drawing/2014/main" id="{AAD20567-403F-7AC0-CFE0-ABF616C0FE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986014"/>
              </p:ext>
            </p:extLst>
          </p:nvPr>
        </p:nvGraphicFramePr>
        <p:xfrm>
          <a:off x="1059245" y="3902380"/>
          <a:ext cx="13716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9" imgW="1371600" imgH="434506" progId="Excel.Sheet.12">
                  <p:link updateAutomatic="1"/>
                </p:oleObj>
              </mc:Choice>
              <mc:Fallback>
                <p:oleObj name="Worksheet" r:id="rId29" imgW="1371600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59245" y="3902380"/>
                        <a:ext cx="1371600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to 33">
            <a:extLst>
              <a:ext uri="{FF2B5EF4-FFF2-40B4-BE49-F238E27FC236}">
                <a16:creationId xmlns:a16="http://schemas.microsoft.com/office/drawing/2014/main" id="{7FB488C7-4667-A2DA-60F3-85669BDD9A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176242"/>
              </p:ext>
            </p:extLst>
          </p:nvPr>
        </p:nvGraphicFramePr>
        <p:xfrm>
          <a:off x="9721850" y="3433763"/>
          <a:ext cx="20034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1" imgW="2004025" imgH="434506" progId="Excel.Sheet.12">
                  <p:link updateAutomatic="1"/>
                </p:oleObj>
              </mc:Choice>
              <mc:Fallback>
                <p:oleObj name="Worksheet" r:id="rId31" imgW="2004025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721850" y="3433763"/>
                        <a:ext cx="2003425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to 38">
            <a:extLst>
              <a:ext uri="{FF2B5EF4-FFF2-40B4-BE49-F238E27FC236}">
                <a16:creationId xmlns:a16="http://schemas.microsoft.com/office/drawing/2014/main" id="{855D8399-5A25-E349-D9D9-C33B3FDD89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963448"/>
              </p:ext>
            </p:extLst>
          </p:nvPr>
        </p:nvGraphicFramePr>
        <p:xfrm>
          <a:off x="2853499" y="1037481"/>
          <a:ext cx="6436792" cy="371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3" imgW="6057581" imgH="3505042" progId="Excel.Sheet.12">
                  <p:link updateAutomatic="1"/>
                </p:oleObj>
              </mc:Choice>
              <mc:Fallback>
                <p:oleObj name="Worksheet" r:id="rId33" imgW="6057581" imgH="3505042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853499" y="1037481"/>
                        <a:ext cx="6436792" cy="3716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to 40">
            <a:extLst>
              <a:ext uri="{FF2B5EF4-FFF2-40B4-BE49-F238E27FC236}">
                <a16:creationId xmlns:a16="http://schemas.microsoft.com/office/drawing/2014/main" id="{59407196-96CE-3B8D-97F2-C8B492154E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881388"/>
              </p:ext>
            </p:extLst>
          </p:nvPr>
        </p:nvGraphicFramePr>
        <p:xfrm>
          <a:off x="8534400" y="5265738"/>
          <a:ext cx="1768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9" imgW="1767982" imgH="434506" progId="Excel.Sheet.12">
                  <p:link updateAutomatic="1"/>
                </p:oleObj>
              </mc:Choice>
              <mc:Fallback>
                <p:oleObj name="Worksheet" r:id="rId19" imgW="1767982" imgH="4345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34400" y="5265738"/>
                        <a:ext cx="1768475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79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n 84">
            <a:extLst>
              <a:ext uri="{FF2B5EF4-FFF2-40B4-BE49-F238E27FC236}">
                <a16:creationId xmlns:a16="http://schemas.microsoft.com/office/drawing/2014/main" id="{D8845E12-DC9B-494E-4372-73C5FE3D9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999F871A-026D-FC51-18ED-7700C34C681B}"/>
              </a:ext>
            </a:extLst>
          </p:cNvPr>
          <p:cNvSpPr/>
          <p:nvPr/>
        </p:nvSpPr>
        <p:spPr>
          <a:xfrm>
            <a:off x="439009" y="1719144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9A9BAC2-C442-55EF-4A04-F9AF2CAA21D2}"/>
              </a:ext>
            </a:extLst>
          </p:cNvPr>
          <p:cNvSpPr/>
          <p:nvPr/>
        </p:nvSpPr>
        <p:spPr>
          <a:xfrm>
            <a:off x="417034" y="2216635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8B7C412A-70E7-E656-4FD9-1D72F3EE0D37}"/>
              </a:ext>
            </a:extLst>
          </p:cNvPr>
          <p:cNvSpPr/>
          <p:nvPr/>
        </p:nvSpPr>
        <p:spPr>
          <a:xfrm>
            <a:off x="417034" y="2692352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8F36916-F46C-3852-4E4F-E5AD5A9A2568}"/>
              </a:ext>
            </a:extLst>
          </p:cNvPr>
          <p:cNvSpPr/>
          <p:nvPr/>
        </p:nvSpPr>
        <p:spPr>
          <a:xfrm>
            <a:off x="409075" y="3211830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B9A43FE-C531-D70F-2334-E9C995947183}"/>
              </a:ext>
            </a:extLst>
          </p:cNvPr>
          <p:cNvSpPr/>
          <p:nvPr/>
        </p:nvSpPr>
        <p:spPr>
          <a:xfrm>
            <a:off x="439009" y="3742646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8E431042-074D-A9D0-D87A-FF8C05CD90D2}"/>
              </a:ext>
            </a:extLst>
          </p:cNvPr>
          <p:cNvSpPr/>
          <p:nvPr/>
        </p:nvSpPr>
        <p:spPr>
          <a:xfrm>
            <a:off x="439009" y="4268927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1BBA6BC8-D748-8BFF-3282-7F025CEA1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899593"/>
              </p:ext>
            </p:extLst>
          </p:nvPr>
        </p:nvGraphicFramePr>
        <p:xfrm>
          <a:off x="235014" y="966128"/>
          <a:ext cx="9667427" cy="3769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991">
                  <a:extLst>
                    <a:ext uri="{9D8B030D-6E8A-4147-A177-3AD203B41FA5}">
                      <a16:colId xmlns:a16="http://schemas.microsoft.com/office/drawing/2014/main" val="3019588384"/>
                    </a:ext>
                  </a:extLst>
                </a:gridCol>
                <a:gridCol w="2405859">
                  <a:extLst>
                    <a:ext uri="{9D8B030D-6E8A-4147-A177-3AD203B41FA5}">
                      <a16:colId xmlns:a16="http://schemas.microsoft.com/office/drawing/2014/main" val="1491320180"/>
                    </a:ext>
                  </a:extLst>
                </a:gridCol>
                <a:gridCol w="1573866">
                  <a:extLst>
                    <a:ext uri="{9D8B030D-6E8A-4147-A177-3AD203B41FA5}">
                      <a16:colId xmlns:a16="http://schemas.microsoft.com/office/drawing/2014/main" val="2028155734"/>
                    </a:ext>
                  </a:extLst>
                </a:gridCol>
                <a:gridCol w="1525667">
                  <a:extLst>
                    <a:ext uri="{9D8B030D-6E8A-4147-A177-3AD203B41FA5}">
                      <a16:colId xmlns:a16="http://schemas.microsoft.com/office/drawing/2014/main" val="2030569821"/>
                    </a:ext>
                  </a:extLst>
                </a:gridCol>
                <a:gridCol w="1064217">
                  <a:extLst>
                    <a:ext uri="{9D8B030D-6E8A-4147-A177-3AD203B41FA5}">
                      <a16:colId xmlns:a16="http://schemas.microsoft.com/office/drawing/2014/main" val="3688815339"/>
                    </a:ext>
                  </a:extLst>
                </a:gridCol>
                <a:gridCol w="2136827">
                  <a:extLst>
                    <a:ext uri="{9D8B030D-6E8A-4147-A177-3AD203B41FA5}">
                      <a16:colId xmlns:a16="http://schemas.microsoft.com/office/drawing/2014/main" val="482563918"/>
                    </a:ext>
                  </a:extLst>
                </a:gridCol>
              </a:tblGrid>
              <a:tr h="63830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Compromiso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Responsable</a:t>
                      </a:r>
                      <a:endParaRPr lang="es-CL" sz="10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Fecha</a:t>
                      </a:r>
                      <a:b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</a:b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compromiso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Comentario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263337"/>
                  </a:ext>
                </a:extLst>
              </a:tr>
              <a:tr h="4514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C-01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0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Completar levantamiento de requisitos funcionales.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Ruben Mansilla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10/09/2026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100" b="0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Levantamiento no completado dentro del plazo definido. Continúa pendiente para su regularización.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857131"/>
                  </a:ext>
                </a:extLst>
              </a:tr>
              <a:tr h="4514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C-02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Completar levantamiento de requisitos no funcionales.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Rubén Mansilla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10/09/2026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Atrasado</a:t>
                      </a:r>
                      <a:endParaRPr lang="es-CL" sz="1000" b="1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100" b="0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Requisitos no funcionales pendientes de completar y consolidar en la ERS.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46998"/>
                  </a:ext>
                </a:extLst>
              </a:tr>
              <a:tr h="4514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C-03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Documentar proceso AS-IS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Eduardo Compan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10/09/2026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Cerrado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100" b="0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Proceso AS-IS documentado a partir del levantamiento realizado con Soporte Informático.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05878"/>
                  </a:ext>
                </a:extLst>
              </a:tr>
              <a:tr h="4514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C-04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Definir proceso TO-BE preliminar.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Alejandro Gysling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10/09/2026</a:t>
                      </a:r>
                      <a:endParaRPr lang="es-CL" sz="1100" b="1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Cerrado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100" b="0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Proceso TO-BE preliminar definido considerando el flujo esperado para la solución GATI.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8235"/>
                  </a:ext>
                </a:extLst>
              </a:tr>
              <a:tr h="4514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C-05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Identificar actores y casos de uso principales.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Carlos Araya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10/09/2026</a:t>
                      </a:r>
                      <a:endParaRPr lang="es-CL" sz="1100" b="1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Atrasado</a:t>
                      </a:r>
                      <a:endParaRPr lang="es-CL" sz="1000" b="1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100" b="0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Identificación no completada debido al levantamiento de requisitos aún pendiente.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403275"/>
                  </a:ext>
                </a:extLst>
              </a:tr>
              <a:tr h="365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0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Actualizar ERS con los requisitos levantados.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Rubén Mansilla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1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10/09/2026</a:t>
                      </a:r>
                      <a:endParaRPr lang="es-CL" sz="1100" b="1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Atrasado</a:t>
                      </a:r>
                      <a:endParaRPr lang="es-CL" sz="1000" b="1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100" b="0" kern="120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Actualización de la ERS pendiente, condicionada por el cierre del levantamiento de requisitos.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179258"/>
                  </a:ext>
                </a:extLst>
              </a:tr>
            </a:tbl>
          </a:graphicData>
        </a:graphic>
      </p:graphicFrame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70813E33-AFCE-1B22-CD76-D802E638B993}"/>
              </a:ext>
            </a:extLst>
          </p:cNvPr>
          <p:cNvSpPr/>
          <p:nvPr/>
        </p:nvSpPr>
        <p:spPr>
          <a:xfrm>
            <a:off x="6758115" y="2692352"/>
            <a:ext cx="924408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49F9B917-7FC9-A2E8-61AB-6B2EFACC3B13}"/>
              </a:ext>
            </a:extLst>
          </p:cNvPr>
          <p:cNvSpPr/>
          <p:nvPr/>
        </p:nvSpPr>
        <p:spPr>
          <a:xfrm>
            <a:off x="5174139" y="-466519"/>
            <a:ext cx="1001486" cy="331423"/>
          </a:xfrm>
          <a:prstGeom prst="roundRect">
            <a:avLst>
              <a:gd name="adj" fmla="val 39659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9CA333-4ADC-8556-1872-EF758B080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584FC301-180A-7146-FCD7-54BF34C49DC7}"/>
              </a:ext>
            </a:extLst>
          </p:cNvPr>
          <p:cNvGrpSpPr/>
          <p:nvPr/>
        </p:nvGrpSpPr>
        <p:grpSpPr>
          <a:xfrm>
            <a:off x="360553" y="6322468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9A10FB9-C79C-49E1-660C-644144709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257114D-8998-8F5E-25E1-E785142DCD7C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03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38C0E52-3ACD-2DD0-B68B-07269DB7AF23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5AD97802-710C-5384-06AF-A12E341307A4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20150A9-EC56-556E-367A-21E231066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61B6B560-B04E-9CA8-57CB-89383E62DE54}"/>
              </a:ext>
            </a:extLst>
          </p:cNvPr>
          <p:cNvSpPr/>
          <p:nvPr/>
        </p:nvSpPr>
        <p:spPr>
          <a:xfrm>
            <a:off x="250372" y="4876800"/>
            <a:ext cx="11691256" cy="1389662"/>
          </a:xfrm>
          <a:prstGeom prst="roundRect">
            <a:avLst>
              <a:gd name="adj" fmla="val 6932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E1C17417-C096-CDFB-CB07-D4AF27F3559D}"/>
              </a:ext>
            </a:extLst>
          </p:cNvPr>
          <p:cNvSpPr/>
          <p:nvPr/>
        </p:nvSpPr>
        <p:spPr>
          <a:xfrm>
            <a:off x="409075" y="4955722"/>
            <a:ext cx="457200" cy="457200"/>
          </a:xfrm>
          <a:prstGeom prst="flowChartConnector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8" name="Gráfico 47" descr="Bullseye con relleno sólido">
            <a:extLst>
              <a:ext uri="{FF2B5EF4-FFF2-40B4-BE49-F238E27FC236}">
                <a16:creationId xmlns:a16="http://schemas.microsoft.com/office/drawing/2014/main" id="{96FC90DD-61D7-183C-5EAF-2684B7794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675" y="4986322"/>
            <a:ext cx="396000" cy="396000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8546C650-7077-0768-C0B7-10FA2C82F60C}"/>
              </a:ext>
            </a:extLst>
          </p:cNvPr>
          <p:cNvSpPr txBox="1"/>
          <p:nvPr/>
        </p:nvSpPr>
        <p:spPr>
          <a:xfrm>
            <a:off x="920938" y="4924927"/>
            <a:ext cx="2313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002060"/>
                </a:solidFill>
                <a:latin typeface="Abadi" panose="020B0604020104020204" pitchFamily="34" charset="0"/>
              </a:rPr>
              <a:t>Resumen de cumplimiento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D218786-9F8C-0B28-86C3-30589EA2FB23}"/>
              </a:ext>
            </a:extLst>
          </p:cNvPr>
          <p:cNvSpPr txBox="1"/>
          <p:nvPr/>
        </p:nvSpPr>
        <p:spPr>
          <a:xfrm>
            <a:off x="745749" y="5597809"/>
            <a:ext cx="960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002060"/>
                </a:solidFill>
                <a:latin typeface="Arial Narrow" panose="020B0606020202030204" pitchFamily="34" charset="0"/>
              </a:rPr>
              <a:t>Compromisos</a:t>
            </a:r>
          </a:p>
          <a:p>
            <a:pPr algn="ctr"/>
            <a:r>
              <a:rPr lang="es-CL" sz="1100" b="1" dirty="0">
                <a:solidFill>
                  <a:srgbClr val="002060"/>
                </a:solidFill>
                <a:latin typeface="Arial Narrow" panose="020B0606020202030204" pitchFamily="34" charset="0"/>
              </a:rPr>
              <a:t>totales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F3C58B0-E3AC-4906-D87C-4693831DE59E}"/>
              </a:ext>
            </a:extLst>
          </p:cNvPr>
          <p:cNvSpPr txBox="1"/>
          <p:nvPr/>
        </p:nvSpPr>
        <p:spPr>
          <a:xfrm>
            <a:off x="992991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Abadi" panose="020B0604020104020204" pitchFamily="34" charset="0"/>
              </a:rPr>
              <a:t>6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DE67D0A-159B-D1B4-3926-A42997690BA1}"/>
              </a:ext>
            </a:extLst>
          </p:cNvPr>
          <p:cNvSpPr txBox="1"/>
          <p:nvPr/>
        </p:nvSpPr>
        <p:spPr>
          <a:xfrm>
            <a:off x="2414676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13863C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C9F817A-A8FF-ABE2-F3CC-62D089CF9048}"/>
              </a:ext>
            </a:extLst>
          </p:cNvPr>
          <p:cNvSpPr txBox="1"/>
          <p:nvPr/>
        </p:nvSpPr>
        <p:spPr>
          <a:xfrm>
            <a:off x="2275214" y="5623157"/>
            <a:ext cx="691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13863C"/>
                </a:solidFill>
                <a:latin typeface="Arial Narrow" panose="020B0606020202030204" pitchFamily="34" charset="0"/>
              </a:rPr>
              <a:t>Cerrados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8882FAC-B4A1-7739-2029-2C77D5BD70DA}"/>
              </a:ext>
            </a:extLst>
          </p:cNvPr>
          <p:cNvSpPr txBox="1"/>
          <p:nvPr/>
        </p:nvSpPr>
        <p:spPr>
          <a:xfrm>
            <a:off x="3759979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FFC000"/>
                </a:solidFill>
                <a:latin typeface="Abadi" panose="020B0604020104020204" pitchFamily="34" charset="0"/>
              </a:rPr>
              <a:t>0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90DB001-D6C2-C850-725A-608DAF0F5834}"/>
              </a:ext>
            </a:extLst>
          </p:cNvPr>
          <p:cNvSpPr txBox="1"/>
          <p:nvPr/>
        </p:nvSpPr>
        <p:spPr>
          <a:xfrm>
            <a:off x="3559605" y="5623157"/>
            <a:ext cx="8130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FFC000"/>
                </a:solidFill>
                <a:latin typeface="Arial Narrow" panose="020B0606020202030204" pitchFamily="34" charset="0"/>
              </a:rPr>
              <a:t>En proceso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830FE66-13AA-20CA-47A1-8A9707F8881F}"/>
              </a:ext>
            </a:extLst>
          </p:cNvPr>
          <p:cNvSpPr txBox="1"/>
          <p:nvPr/>
        </p:nvSpPr>
        <p:spPr>
          <a:xfrm>
            <a:off x="5120856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C00000"/>
                </a:solidFill>
                <a:latin typeface="Abadi" panose="020B0604020104020204" pitchFamily="34" charset="0"/>
              </a:rPr>
              <a:t>4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D4D5C4A-2570-F9B9-54A7-99D4B3D2BC52}"/>
              </a:ext>
            </a:extLst>
          </p:cNvPr>
          <p:cNvSpPr txBox="1"/>
          <p:nvPr/>
        </p:nvSpPr>
        <p:spPr>
          <a:xfrm>
            <a:off x="4635595" y="5629976"/>
            <a:ext cx="1531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C00000"/>
                </a:solidFill>
                <a:latin typeface="Arial Narrow" panose="020B0606020202030204" pitchFamily="34" charset="0"/>
              </a:rPr>
              <a:t>Atrasados / No iniciados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F73B5903-1572-956F-0C98-2D076322BF88}"/>
              </a:ext>
            </a:extLst>
          </p:cNvPr>
          <p:cNvCxnSpPr/>
          <p:nvPr/>
        </p:nvCxnSpPr>
        <p:spPr>
          <a:xfrm>
            <a:off x="1954463" y="5367600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BF6562B1-70E3-6AC0-F02E-68020E5BBBE7}"/>
              </a:ext>
            </a:extLst>
          </p:cNvPr>
          <p:cNvCxnSpPr>
            <a:cxnSpLocks/>
          </p:cNvCxnSpPr>
          <p:nvPr/>
        </p:nvCxnSpPr>
        <p:spPr>
          <a:xfrm>
            <a:off x="3296654" y="5367600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4440E7D-F5D9-E38C-E09A-AC15307A8059}"/>
              </a:ext>
            </a:extLst>
          </p:cNvPr>
          <p:cNvCxnSpPr>
            <a:cxnSpLocks/>
          </p:cNvCxnSpPr>
          <p:nvPr/>
        </p:nvCxnSpPr>
        <p:spPr>
          <a:xfrm>
            <a:off x="4641517" y="5361367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6A1AEE4-342E-6930-B174-EDD48A47A654}"/>
              </a:ext>
            </a:extLst>
          </p:cNvPr>
          <p:cNvCxnSpPr>
            <a:cxnSpLocks/>
          </p:cNvCxnSpPr>
          <p:nvPr/>
        </p:nvCxnSpPr>
        <p:spPr>
          <a:xfrm>
            <a:off x="6132845" y="5056696"/>
            <a:ext cx="0" cy="972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Bocadillo: ovalado 61">
            <a:extLst>
              <a:ext uri="{FF2B5EF4-FFF2-40B4-BE49-F238E27FC236}">
                <a16:creationId xmlns:a16="http://schemas.microsoft.com/office/drawing/2014/main" id="{CBCB6552-50E3-C61A-E01E-AB4CB4B2A697}"/>
              </a:ext>
            </a:extLst>
          </p:cNvPr>
          <p:cNvSpPr/>
          <p:nvPr/>
        </p:nvSpPr>
        <p:spPr>
          <a:xfrm>
            <a:off x="6464010" y="4916752"/>
            <a:ext cx="294105" cy="287881"/>
          </a:xfrm>
          <a:prstGeom prst="wedgeEllipseCallout">
            <a:avLst>
              <a:gd name="adj1" fmla="val -47196"/>
              <a:gd name="adj2" fmla="val 48990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18DC6F48-50CD-C945-11B7-8072342DEB2E}"/>
              </a:ext>
            </a:extLst>
          </p:cNvPr>
          <p:cNvSpPr txBox="1"/>
          <p:nvPr/>
        </p:nvSpPr>
        <p:spPr>
          <a:xfrm>
            <a:off x="6747368" y="4901781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002060"/>
                </a:solidFill>
                <a:latin typeface="Arial Narrow" panose="020B0606020202030204" pitchFamily="34" charset="0"/>
              </a:rPr>
              <a:t>Observaciones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2CE586F-97B3-2263-45C8-CA42E99238BC}"/>
              </a:ext>
            </a:extLst>
          </p:cNvPr>
          <p:cNvSpPr txBox="1"/>
          <p:nvPr/>
        </p:nvSpPr>
        <p:spPr>
          <a:xfrm>
            <a:off x="6134799" y="5201863"/>
            <a:ext cx="590701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1050" dirty="0">
                <a:solidFill>
                  <a:srgbClr val="002060"/>
                </a:solidFill>
                <a:latin typeface="Aptos Narrow" panose="020B0004020202020204" pitchFamily="34" charset="0"/>
              </a:rPr>
              <a:t>Se completaron 2 de los 6 compromisos planificados para la Semana 3. </a:t>
            </a:r>
          </a:p>
          <a:p>
            <a:pPr lvl="0"/>
            <a:r>
              <a:rPr lang="es-CL" sz="1050" dirty="0">
                <a:solidFill>
                  <a:srgbClr val="002060"/>
                </a:solidFill>
                <a:latin typeface="Aptos Narrow" panose="020B0004020202020204" pitchFamily="34" charset="0"/>
              </a:rPr>
              <a:t>El levantamiento de requisitos funcionales y no funcionales no fue completado dentro del plazo establecido. </a:t>
            </a:r>
          </a:p>
          <a:p>
            <a:pPr lvl="0"/>
            <a:r>
              <a:rPr lang="es-CL" sz="1050" dirty="0">
                <a:solidFill>
                  <a:srgbClr val="002060"/>
                </a:solidFill>
                <a:latin typeface="Aptos Narrow" panose="020B0004020202020204" pitchFamily="34" charset="0"/>
              </a:rPr>
              <a:t>La identificación de actores/casos de uso y la actualización de la ERS permanecen pendientes y dependen del cierre del levantamiento de requisitos. </a:t>
            </a:r>
          </a:p>
          <a:p>
            <a:pPr lvl="0"/>
            <a:r>
              <a:rPr lang="es-CL" sz="1050" dirty="0">
                <a:solidFill>
                  <a:srgbClr val="002060"/>
                </a:solidFill>
                <a:latin typeface="Aptos Narrow" panose="020B0004020202020204" pitchFamily="34" charset="0"/>
              </a:rPr>
              <a:t>Los compromisos pendientes deberán ser reprogramados y tratados como desviaciones en el seguimiento de la Semana 4.</a:t>
            </a:r>
          </a:p>
        </p:txBody>
      </p: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71ECC6BE-5894-11CA-8835-20F9B915D882}"/>
              </a:ext>
            </a:extLst>
          </p:cNvPr>
          <p:cNvCxnSpPr/>
          <p:nvPr/>
        </p:nvCxnSpPr>
        <p:spPr>
          <a:xfrm>
            <a:off x="6535713" y="5061776"/>
            <a:ext cx="15069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7E6A0530-7ADB-04AC-7BC6-D3569FBAD482}"/>
              </a:ext>
            </a:extLst>
          </p:cNvPr>
          <p:cNvCxnSpPr/>
          <p:nvPr/>
        </p:nvCxnSpPr>
        <p:spPr>
          <a:xfrm>
            <a:off x="6539061" y="5109455"/>
            <a:ext cx="72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BFF81719-2595-70BA-1A03-750CEABB5DCB}"/>
              </a:ext>
            </a:extLst>
          </p:cNvPr>
          <p:cNvSpPr/>
          <p:nvPr/>
        </p:nvSpPr>
        <p:spPr>
          <a:xfrm>
            <a:off x="10013894" y="1104564"/>
            <a:ext cx="1938042" cy="3621186"/>
          </a:xfrm>
          <a:prstGeom prst="roundRect">
            <a:avLst>
              <a:gd name="adj" fmla="val 4515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689F9B16-5CAE-927B-7EDB-2ECDDDAF9CF2}"/>
              </a:ext>
            </a:extLst>
          </p:cNvPr>
          <p:cNvCxnSpPr>
            <a:cxnSpLocks/>
          </p:cNvCxnSpPr>
          <p:nvPr/>
        </p:nvCxnSpPr>
        <p:spPr>
          <a:xfrm flipH="1">
            <a:off x="10137499" y="3869868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EA2BE9D4-500B-2541-3959-113866C247CE}"/>
              </a:ext>
            </a:extLst>
          </p:cNvPr>
          <p:cNvCxnSpPr>
            <a:cxnSpLocks/>
          </p:cNvCxnSpPr>
          <p:nvPr/>
        </p:nvCxnSpPr>
        <p:spPr>
          <a:xfrm flipH="1">
            <a:off x="10137499" y="3075500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DC71C0C6-2CDF-F243-4746-51266259BAC3}"/>
              </a:ext>
            </a:extLst>
          </p:cNvPr>
          <p:cNvCxnSpPr>
            <a:cxnSpLocks/>
          </p:cNvCxnSpPr>
          <p:nvPr/>
        </p:nvCxnSpPr>
        <p:spPr>
          <a:xfrm flipH="1">
            <a:off x="10137499" y="2277086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iagrama de flujo: conector 70">
            <a:extLst>
              <a:ext uri="{FF2B5EF4-FFF2-40B4-BE49-F238E27FC236}">
                <a16:creationId xmlns:a16="http://schemas.microsoft.com/office/drawing/2014/main" id="{0184B6BC-734A-88AF-F663-E0D474328371}"/>
              </a:ext>
            </a:extLst>
          </p:cNvPr>
          <p:cNvSpPr>
            <a:spLocks noChangeAspect="1"/>
          </p:cNvSpPr>
          <p:nvPr/>
        </p:nvSpPr>
        <p:spPr>
          <a:xfrm>
            <a:off x="10177189" y="1620388"/>
            <a:ext cx="396000" cy="396000"/>
          </a:xfrm>
          <a:prstGeom prst="flowChartConnector">
            <a:avLst/>
          </a:prstGeom>
          <a:solidFill>
            <a:srgbClr val="10833B"/>
          </a:solidFill>
          <a:ln>
            <a:solidFill>
              <a:srgbClr val="108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2" name="Gráfico 71" descr="Checkmark con relleno sólido">
            <a:extLst>
              <a:ext uri="{FF2B5EF4-FFF2-40B4-BE49-F238E27FC236}">
                <a16:creationId xmlns:a16="http://schemas.microsoft.com/office/drawing/2014/main" id="{DC5B81DD-F181-5462-F4CB-C790D5A26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9055" y="1702254"/>
            <a:ext cx="232269" cy="232269"/>
          </a:xfrm>
          <a:prstGeom prst="rect">
            <a:avLst/>
          </a:prstGeom>
        </p:spPr>
      </p:pic>
      <p:sp>
        <p:nvSpPr>
          <p:cNvPr id="73" name="Diagrama de flujo: conector 72">
            <a:extLst>
              <a:ext uri="{FF2B5EF4-FFF2-40B4-BE49-F238E27FC236}">
                <a16:creationId xmlns:a16="http://schemas.microsoft.com/office/drawing/2014/main" id="{DA336A95-6325-6070-63AF-C0B4EAC4CFA7}"/>
              </a:ext>
            </a:extLst>
          </p:cNvPr>
          <p:cNvSpPr>
            <a:spLocks noChangeAspect="1"/>
          </p:cNvSpPr>
          <p:nvPr/>
        </p:nvSpPr>
        <p:spPr>
          <a:xfrm>
            <a:off x="10175894" y="2394404"/>
            <a:ext cx="396000" cy="396000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4" name="Diagrama de flujo: conector 73">
            <a:extLst>
              <a:ext uri="{FF2B5EF4-FFF2-40B4-BE49-F238E27FC236}">
                <a16:creationId xmlns:a16="http://schemas.microsoft.com/office/drawing/2014/main" id="{446A22B1-6CC7-0BD2-6CAF-91518D54669A}"/>
              </a:ext>
            </a:extLst>
          </p:cNvPr>
          <p:cNvSpPr>
            <a:spLocks noChangeAspect="1"/>
          </p:cNvSpPr>
          <p:nvPr/>
        </p:nvSpPr>
        <p:spPr>
          <a:xfrm>
            <a:off x="10175894" y="3188910"/>
            <a:ext cx="396000" cy="396000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5" name="Gráfico 74" descr="Clock con relleno sólido">
            <a:extLst>
              <a:ext uri="{FF2B5EF4-FFF2-40B4-BE49-F238E27FC236}">
                <a16:creationId xmlns:a16="http://schemas.microsoft.com/office/drawing/2014/main" id="{C93D89D7-7849-E7DC-6CB6-BD3BD1727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29894" y="2448404"/>
            <a:ext cx="288000" cy="288000"/>
          </a:xfrm>
          <a:prstGeom prst="rect">
            <a:avLst/>
          </a:prstGeom>
        </p:spPr>
      </p:pic>
      <p:pic>
        <p:nvPicPr>
          <p:cNvPr id="76" name="Gráfico 75" descr="Close con relleno sólido">
            <a:extLst>
              <a:ext uri="{FF2B5EF4-FFF2-40B4-BE49-F238E27FC236}">
                <a16:creationId xmlns:a16="http://schemas.microsoft.com/office/drawing/2014/main" id="{7A7D9669-F20A-7A28-DA2C-BE8ECF0C5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47894" y="3260910"/>
            <a:ext cx="252000" cy="252000"/>
          </a:xfrm>
          <a:prstGeom prst="rect">
            <a:avLst/>
          </a:prstGeom>
        </p:spPr>
      </p:pic>
      <p:pic>
        <p:nvPicPr>
          <p:cNvPr id="77" name="Gráfico 76" descr="Badge Unfollow con relleno sólido">
            <a:extLst>
              <a:ext uri="{FF2B5EF4-FFF2-40B4-BE49-F238E27FC236}">
                <a16:creationId xmlns:a16="http://schemas.microsoft.com/office/drawing/2014/main" id="{34C1CA5A-C65D-B49A-B8CD-BD9187699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03894" y="3910065"/>
            <a:ext cx="540000" cy="540000"/>
          </a:xfrm>
          <a:prstGeom prst="rect">
            <a:avLst/>
          </a:prstGeom>
        </p:spPr>
      </p:pic>
      <p:sp>
        <p:nvSpPr>
          <p:cNvPr id="78" name="CuadroTexto 77">
            <a:extLst>
              <a:ext uri="{FF2B5EF4-FFF2-40B4-BE49-F238E27FC236}">
                <a16:creationId xmlns:a16="http://schemas.microsoft.com/office/drawing/2014/main" id="{44739B5D-5456-8E9B-E08B-3F0F9F97A779}"/>
              </a:ext>
            </a:extLst>
          </p:cNvPr>
          <p:cNvSpPr txBox="1"/>
          <p:nvPr/>
        </p:nvSpPr>
        <p:spPr>
          <a:xfrm>
            <a:off x="10571895" y="1567417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Cerrado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Se completo el compromiso en la fecha establecida.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30449FB-5CD7-1A82-E072-6EEEDF7E58D4}"/>
              </a:ext>
            </a:extLst>
          </p:cNvPr>
          <p:cNvSpPr txBox="1"/>
          <p:nvPr/>
        </p:nvSpPr>
        <p:spPr>
          <a:xfrm>
            <a:off x="10608441" y="2382347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En proceso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Se esta trabajando en el compromiso.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59ED1B00-6FC3-1514-7948-1B36416C6E4A}"/>
              </a:ext>
            </a:extLst>
          </p:cNvPr>
          <p:cNvSpPr txBox="1"/>
          <p:nvPr/>
        </p:nvSpPr>
        <p:spPr>
          <a:xfrm>
            <a:off x="10601481" y="3180760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Atrasado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No se cumplió la fecha establecida.</a:t>
            </a:r>
          </a:p>
        </p:txBody>
      </p:sp>
      <p:sp>
        <p:nvSpPr>
          <p:cNvPr id="81" name="Rectángulo: esquinas superiores redondeadas 80">
            <a:extLst>
              <a:ext uri="{FF2B5EF4-FFF2-40B4-BE49-F238E27FC236}">
                <a16:creationId xmlns:a16="http://schemas.microsoft.com/office/drawing/2014/main" id="{EA8ADC3E-B2BD-A7DA-1339-F058C2B8AA4E}"/>
              </a:ext>
            </a:extLst>
          </p:cNvPr>
          <p:cNvSpPr/>
          <p:nvPr/>
        </p:nvSpPr>
        <p:spPr>
          <a:xfrm>
            <a:off x="10019048" y="1107084"/>
            <a:ext cx="1927734" cy="334370"/>
          </a:xfrm>
          <a:prstGeom prst="round2SameRect">
            <a:avLst>
              <a:gd name="adj1" fmla="val 26795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24FD0142-8B2C-B0C0-D732-F16058B59484}"/>
              </a:ext>
            </a:extLst>
          </p:cNvPr>
          <p:cNvSpPr txBox="1"/>
          <p:nvPr/>
        </p:nvSpPr>
        <p:spPr>
          <a:xfrm>
            <a:off x="10601481" y="3969886"/>
            <a:ext cx="13504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No iniciado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Aun no se ha comenzado con el compromiso.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FDB66227-1CB5-AC36-80D7-AA0F3D9620A9}"/>
              </a:ext>
            </a:extLst>
          </p:cNvPr>
          <p:cNvSpPr txBox="1"/>
          <p:nvPr/>
        </p:nvSpPr>
        <p:spPr>
          <a:xfrm>
            <a:off x="10157995" y="1123323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Leyenda de estados</a:t>
            </a:r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35030C07-0CC3-CBA0-9AE8-5BE9090D9BAB}"/>
              </a:ext>
            </a:extLst>
          </p:cNvPr>
          <p:cNvSpPr/>
          <p:nvPr/>
        </p:nvSpPr>
        <p:spPr>
          <a:xfrm>
            <a:off x="1837869" y="495760"/>
            <a:ext cx="5529220" cy="390349"/>
          </a:xfrm>
          <a:prstGeom prst="roundRect">
            <a:avLst>
              <a:gd name="adj" fmla="val 3200"/>
            </a:avLst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1F3B860-BE7B-B634-7CBB-D60764E6F68E}"/>
              </a:ext>
            </a:extLst>
          </p:cNvPr>
          <p:cNvSpPr txBox="1"/>
          <p:nvPr/>
        </p:nvSpPr>
        <p:spPr>
          <a:xfrm>
            <a:off x="360553" y="374257"/>
            <a:ext cx="725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Compromisos de la Semana Anterior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6FB3EC7-9AFB-36C8-49D4-37E42AD536B7}"/>
              </a:ext>
            </a:extLst>
          </p:cNvPr>
          <p:cNvSpPr/>
          <p:nvPr/>
        </p:nvSpPr>
        <p:spPr>
          <a:xfrm>
            <a:off x="6758115" y="1697115"/>
            <a:ext cx="924408" cy="331423"/>
          </a:xfrm>
          <a:prstGeom prst="roundRect">
            <a:avLst>
              <a:gd name="adj" fmla="val 39659"/>
            </a:avLst>
          </a:prstGeom>
          <a:solidFill>
            <a:srgbClr val="C0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CF8011E-5A1D-5C22-812B-23D3FF638679}"/>
              </a:ext>
            </a:extLst>
          </p:cNvPr>
          <p:cNvSpPr/>
          <p:nvPr/>
        </p:nvSpPr>
        <p:spPr>
          <a:xfrm>
            <a:off x="6758115" y="3245636"/>
            <a:ext cx="924408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4B7733F-E696-DF61-63AA-D9D1061CA5D2}"/>
              </a:ext>
            </a:extLst>
          </p:cNvPr>
          <p:cNvSpPr/>
          <p:nvPr/>
        </p:nvSpPr>
        <p:spPr>
          <a:xfrm>
            <a:off x="6758115" y="2200479"/>
            <a:ext cx="924408" cy="331423"/>
          </a:xfrm>
          <a:prstGeom prst="roundRect">
            <a:avLst>
              <a:gd name="adj" fmla="val 39659"/>
            </a:avLst>
          </a:prstGeom>
          <a:solidFill>
            <a:srgbClr val="C0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5D6ED0F-703D-B5B2-E835-DDE656BE49B6}"/>
              </a:ext>
            </a:extLst>
          </p:cNvPr>
          <p:cNvSpPr/>
          <p:nvPr/>
        </p:nvSpPr>
        <p:spPr>
          <a:xfrm>
            <a:off x="6751537" y="3770231"/>
            <a:ext cx="924408" cy="331423"/>
          </a:xfrm>
          <a:prstGeom prst="roundRect">
            <a:avLst>
              <a:gd name="adj" fmla="val 39659"/>
            </a:avLst>
          </a:prstGeom>
          <a:solidFill>
            <a:srgbClr val="C0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321FF43F-2672-0174-CAB3-DB1C56177401}"/>
              </a:ext>
            </a:extLst>
          </p:cNvPr>
          <p:cNvSpPr/>
          <p:nvPr/>
        </p:nvSpPr>
        <p:spPr>
          <a:xfrm>
            <a:off x="6758115" y="4321455"/>
            <a:ext cx="924408" cy="331423"/>
          </a:xfrm>
          <a:prstGeom prst="roundRect">
            <a:avLst>
              <a:gd name="adj" fmla="val 39659"/>
            </a:avLst>
          </a:prstGeom>
          <a:solidFill>
            <a:srgbClr val="C0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0083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008E25C-7D08-DF3E-DDE9-F5AFC42DD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29" y="0"/>
            <a:ext cx="12185522" cy="6858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CC2989BA-4E48-6E4C-66ED-547BEF9096CC}"/>
              </a:ext>
            </a:extLst>
          </p:cNvPr>
          <p:cNvSpPr/>
          <p:nvPr/>
        </p:nvSpPr>
        <p:spPr>
          <a:xfrm>
            <a:off x="179614" y="6231702"/>
            <a:ext cx="5896818" cy="569579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00128007-4620-8F0D-000C-311061A8DDDA}"/>
              </a:ext>
            </a:extLst>
          </p:cNvPr>
          <p:cNvGrpSpPr/>
          <p:nvPr/>
        </p:nvGrpSpPr>
        <p:grpSpPr>
          <a:xfrm>
            <a:off x="237246" y="6276728"/>
            <a:ext cx="4541575" cy="479526"/>
            <a:chOff x="362021" y="6264961"/>
            <a:chExt cx="4541575" cy="479526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09B00C1-1381-ABA0-3DE9-9C3C73033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7426272-CED4-E877-1CF6-3398C8FE5FD5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04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53285F09-1E04-F58C-DDE4-165F3E838362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426513F7-0B67-7A09-BB62-8502F63E2ACC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6C4BFAC5-2DDA-8B65-6AF1-3C9C83919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B180CB2-2566-A0D5-8D58-7D78EF5A6235}"/>
              </a:ext>
            </a:extLst>
          </p:cNvPr>
          <p:cNvSpPr/>
          <p:nvPr/>
        </p:nvSpPr>
        <p:spPr>
          <a:xfrm>
            <a:off x="293727" y="639097"/>
            <a:ext cx="4868208" cy="442452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609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n 92">
            <a:extLst>
              <a:ext uri="{FF2B5EF4-FFF2-40B4-BE49-F238E27FC236}">
                <a16:creationId xmlns:a16="http://schemas.microsoft.com/office/drawing/2014/main" id="{8E9F337E-7285-C564-86FA-E4221400D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798C028B-1A4F-D11A-4A4C-11B791AD9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90AD2E76-9E19-7396-4815-FD0F47CAC919}"/>
              </a:ext>
            </a:extLst>
          </p:cNvPr>
          <p:cNvSpPr/>
          <p:nvPr/>
        </p:nvSpPr>
        <p:spPr>
          <a:xfrm>
            <a:off x="2060952" y="217310"/>
            <a:ext cx="5529220" cy="390349"/>
          </a:xfrm>
          <a:prstGeom prst="roundRect">
            <a:avLst>
              <a:gd name="adj" fmla="val 3200"/>
            </a:avLst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EF462465-A4FE-045F-1058-0287C49BF2F5}"/>
              </a:ext>
            </a:extLst>
          </p:cNvPr>
          <p:cNvSpPr/>
          <p:nvPr/>
        </p:nvSpPr>
        <p:spPr>
          <a:xfrm>
            <a:off x="245660" y="792975"/>
            <a:ext cx="11402054" cy="4620771"/>
          </a:xfrm>
          <a:prstGeom prst="roundRect">
            <a:avLst>
              <a:gd name="adj" fmla="val 3200"/>
            </a:avLst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6B2397A-4E4D-C2A2-9E3C-50A632F8C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571886"/>
              </p:ext>
            </p:extLst>
          </p:nvPr>
        </p:nvGraphicFramePr>
        <p:xfrm>
          <a:off x="347870" y="949960"/>
          <a:ext cx="11160000" cy="439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3589802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5782322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5263659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47810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3660803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8472924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6869009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682795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305353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218788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1405722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222475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144973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998482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5508234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655501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765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Semanas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10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Hitos Principales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652958"/>
                  </a:ext>
                </a:extLst>
              </a:tr>
              <a:tr h="481864">
                <a:tc>
                  <a:txBody>
                    <a:bodyPr/>
                    <a:lstStyle/>
                    <a:p>
                      <a:pPr lvl="1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Propuesta e inicio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Problema, valor, objetivos, 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metodología, acta y planificación inicial.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Requisitos, diseño y arquitectura</a:t>
                      </a:r>
                    </a:p>
                    <a:p>
                      <a:pPr lvl="1"/>
                      <a:r>
                        <a:rPr lang="es-CL" sz="1050" dirty="0">
                          <a:latin typeface="Arial Narrow" panose="020B0606020202030204" pitchFamily="34" charset="0"/>
                        </a:rPr>
                        <a:t>ERS, AS-IS/TO-BE, arquitectura, datos, interfaces, seguridad e integración.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9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Desarrollo inicial 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Base técnica, API, base de datos y primeros módulos funcionales con evidencia.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839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Desarrollo final y </a:t>
                      </a:r>
                      <a:r>
                        <a:rPr lang="es-MX" sz="1050" b="1">
                          <a:latin typeface="Arial Narrow" panose="020B0606020202030204" pitchFamily="34" charset="0"/>
                        </a:rPr>
                        <a:t>verificación</a:t>
                      </a:r>
                      <a:r>
                        <a:rPr lang="es-MX" sz="1050">
                          <a:latin typeface="Arial Narrow" panose="020B0606020202030204" pitchFamily="34" charset="0"/>
                        </a:rPr>
                        <a:t> completo</a:t>
                      </a:r>
                      <a:r>
                        <a:rPr lang="es-MX" sz="1050" dirty="0">
                          <a:latin typeface="Arial Narrow" panose="020B0606020202030204" pitchFamily="34" charset="0"/>
                        </a:rPr>
                        <a:t>, aplicación móvil, QR, integración, pruebas, correcciones y documentación.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12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Aceptación y cierre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Entrega, aceptación, informe final, lecciones aprendidas, demostración y defensa.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211384"/>
                  </a:ext>
                </a:extLst>
              </a:tr>
            </a:tbl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FDEE117D-9FFC-F63B-855A-D946D546B283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BF7E8C3-451D-35CC-6237-100962864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BA169E83-957A-1713-3D8E-F6162DAC9595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05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93153C4-16D1-5B81-0019-5D1BC4D9371D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3F6D8875-3093-CD27-1844-C173A34E4782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35CAD8D-0C11-E52C-3631-760E746AC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9AF6BEF-3DE9-1463-F599-0B0B94373E04}"/>
              </a:ext>
            </a:extLst>
          </p:cNvPr>
          <p:cNvSpPr/>
          <p:nvPr/>
        </p:nvSpPr>
        <p:spPr>
          <a:xfrm>
            <a:off x="1225414" y="5463554"/>
            <a:ext cx="3465095" cy="808523"/>
          </a:xfrm>
          <a:prstGeom prst="roundRect">
            <a:avLst>
              <a:gd name="adj" fmla="val 1588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709F665-2D73-09EA-1039-18E7DC8229BF}"/>
              </a:ext>
            </a:extLst>
          </p:cNvPr>
          <p:cNvSpPr txBox="1"/>
          <p:nvPr/>
        </p:nvSpPr>
        <p:spPr>
          <a:xfrm>
            <a:off x="1225414" y="5463554"/>
            <a:ext cx="721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Leyenda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939C3A9-305F-33E8-93CB-AC3CE4162F74}"/>
              </a:ext>
            </a:extLst>
          </p:cNvPr>
          <p:cNvSpPr/>
          <p:nvPr/>
        </p:nvSpPr>
        <p:spPr>
          <a:xfrm>
            <a:off x="1355244" y="5749351"/>
            <a:ext cx="203846" cy="92798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42D7000-51B2-7BA5-F300-916FD7F7F794}"/>
              </a:ext>
            </a:extLst>
          </p:cNvPr>
          <p:cNvSpPr/>
          <p:nvPr/>
        </p:nvSpPr>
        <p:spPr>
          <a:xfrm>
            <a:off x="1355244" y="6005221"/>
            <a:ext cx="203846" cy="92798"/>
          </a:xfrm>
          <a:prstGeom prst="roundRect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3EA9B76F-6B38-8DF1-CFC0-973BBFEB99E6}"/>
              </a:ext>
            </a:extLst>
          </p:cNvPr>
          <p:cNvSpPr/>
          <p:nvPr/>
        </p:nvSpPr>
        <p:spPr>
          <a:xfrm>
            <a:off x="2476587" y="5749351"/>
            <a:ext cx="203846" cy="92798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0D37208-7686-F169-DEC9-83E5DDBF727C}"/>
              </a:ext>
            </a:extLst>
          </p:cNvPr>
          <p:cNvSpPr/>
          <p:nvPr/>
        </p:nvSpPr>
        <p:spPr>
          <a:xfrm>
            <a:off x="3520182" y="5749351"/>
            <a:ext cx="203846" cy="92798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ombo 22">
            <a:extLst>
              <a:ext uri="{FF2B5EF4-FFF2-40B4-BE49-F238E27FC236}">
                <a16:creationId xmlns:a16="http://schemas.microsoft.com/office/drawing/2014/main" id="{FA755AA9-DAD5-378F-1361-C7AAD7CD8CF7}"/>
              </a:ext>
            </a:extLst>
          </p:cNvPr>
          <p:cNvSpPr>
            <a:spLocks noChangeAspect="1"/>
          </p:cNvSpPr>
          <p:nvPr/>
        </p:nvSpPr>
        <p:spPr>
          <a:xfrm>
            <a:off x="2476587" y="5979620"/>
            <a:ext cx="144000" cy="144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F7A08A7-5D9A-8B30-49D5-9BD07B135D76}"/>
              </a:ext>
            </a:extLst>
          </p:cNvPr>
          <p:cNvSpPr txBox="1"/>
          <p:nvPr/>
        </p:nvSpPr>
        <p:spPr>
          <a:xfrm>
            <a:off x="1510106" y="5680334"/>
            <a:ext cx="696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Completado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B24CD2C-F419-C484-7EC3-0DBBD0D6A17C}"/>
              </a:ext>
            </a:extLst>
          </p:cNvPr>
          <p:cNvSpPr txBox="1"/>
          <p:nvPr/>
        </p:nvSpPr>
        <p:spPr>
          <a:xfrm>
            <a:off x="1532565" y="5924924"/>
            <a:ext cx="564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Posterior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B740EB7-891D-C950-9DD5-961BA19CC735}"/>
              </a:ext>
            </a:extLst>
          </p:cNvPr>
          <p:cNvSpPr txBox="1"/>
          <p:nvPr/>
        </p:nvSpPr>
        <p:spPr>
          <a:xfrm>
            <a:off x="2629506" y="5680334"/>
            <a:ext cx="5597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En curso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FB4AE97-5C7D-3A53-B2F8-D98E1EB5ED33}"/>
              </a:ext>
            </a:extLst>
          </p:cNvPr>
          <p:cNvSpPr txBox="1"/>
          <p:nvPr/>
        </p:nvSpPr>
        <p:spPr>
          <a:xfrm>
            <a:off x="2602943" y="5926652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Hito (Fecha tope)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2496E29-ECE3-8E4C-B1B2-15A1F6FECD7D}"/>
              </a:ext>
            </a:extLst>
          </p:cNvPr>
          <p:cNvSpPr txBox="1"/>
          <p:nvPr/>
        </p:nvSpPr>
        <p:spPr>
          <a:xfrm>
            <a:off x="3697979" y="5677126"/>
            <a:ext cx="5325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Próximo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D171AD40-037A-1FD5-1AD7-D97A9F8DDA5F}"/>
              </a:ext>
            </a:extLst>
          </p:cNvPr>
          <p:cNvSpPr/>
          <p:nvPr/>
        </p:nvSpPr>
        <p:spPr>
          <a:xfrm>
            <a:off x="4790459" y="5463554"/>
            <a:ext cx="3253409" cy="808523"/>
          </a:xfrm>
          <a:prstGeom prst="roundRect">
            <a:avLst>
              <a:gd name="adj" fmla="val 1015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A32FF14-7211-4DA1-C276-E7C1BCE35C4D}"/>
              </a:ext>
            </a:extLst>
          </p:cNvPr>
          <p:cNvSpPr txBox="1"/>
          <p:nvPr/>
        </p:nvSpPr>
        <p:spPr>
          <a:xfrm>
            <a:off x="4816963" y="5439884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Notas</a:t>
            </a:r>
            <a:endParaRPr lang="es-CL" sz="1100" b="1" dirty="0">
              <a:latin typeface="Abadi" panose="020B0604020104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7BB130C-FEA5-3362-CC53-DEA41A9D4CD6}"/>
              </a:ext>
            </a:extLst>
          </p:cNvPr>
          <p:cNvSpPr txBox="1"/>
          <p:nvPr/>
        </p:nvSpPr>
        <p:spPr>
          <a:xfrm>
            <a:off x="4820764" y="5677125"/>
            <a:ext cx="3249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800" dirty="0"/>
              <a:t>Cronograma basado en el Acta de Constitución (GATI-ACT-01).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800" dirty="0"/>
              <a:t>Las fechas podrán ajustarse sólo mediante control de cambios</a:t>
            </a:r>
          </a:p>
          <a:p>
            <a:r>
              <a:rPr lang="es-MX" sz="800" dirty="0"/>
              <a:t>              aprobado.</a:t>
            </a:r>
            <a:endParaRPr lang="es-CL" sz="800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70916C55-8143-ECA2-1CA7-139D01B0BCF1}"/>
              </a:ext>
            </a:extLst>
          </p:cNvPr>
          <p:cNvSpPr/>
          <p:nvPr/>
        </p:nvSpPr>
        <p:spPr>
          <a:xfrm>
            <a:off x="8143818" y="5463554"/>
            <a:ext cx="2613432" cy="808523"/>
          </a:xfrm>
          <a:prstGeom prst="roundRect">
            <a:avLst>
              <a:gd name="adj" fmla="val 1015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EE097A8-07F7-201A-6868-FCB932707C13}"/>
              </a:ext>
            </a:extLst>
          </p:cNvPr>
          <p:cNvSpPr txBox="1"/>
          <p:nvPr/>
        </p:nvSpPr>
        <p:spPr>
          <a:xfrm>
            <a:off x="8143818" y="5439884"/>
            <a:ext cx="10166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Convenciones</a:t>
            </a:r>
            <a:endParaRPr lang="es-CL" sz="1100" b="1" dirty="0">
              <a:latin typeface="Abadi" panose="020B0604020104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D66522A-BA98-6223-D27B-1A8BAE57A1B8}"/>
              </a:ext>
            </a:extLst>
          </p:cNvPr>
          <p:cNvSpPr txBox="1"/>
          <p:nvPr/>
        </p:nvSpPr>
        <p:spPr>
          <a:xfrm>
            <a:off x="8581343" y="5650925"/>
            <a:ext cx="1566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Línea de tiempo actual (HOY)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D66CE74-06FA-19CC-F5ED-3FEDDDF7A40C}"/>
              </a:ext>
            </a:extLst>
          </p:cNvPr>
          <p:cNvSpPr txBox="1"/>
          <p:nvPr/>
        </p:nvSpPr>
        <p:spPr>
          <a:xfrm>
            <a:off x="8581343" y="5834949"/>
            <a:ext cx="1422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Duración estimada del hito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7838AA1-C40A-6C52-F398-F99AF8B4F75F}"/>
              </a:ext>
            </a:extLst>
          </p:cNvPr>
          <p:cNvSpPr txBox="1"/>
          <p:nvPr/>
        </p:nvSpPr>
        <p:spPr>
          <a:xfrm>
            <a:off x="8581343" y="6000509"/>
            <a:ext cx="10711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Fecha tope del hito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6507208D-FB42-9FA6-7EF5-CD6B8B358871}"/>
              </a:ext>
            </a:extLst>
          </p:cNvPr>
          <p:cNvSpPr/>
          <p:nvPr/>
        </p:nvSpPr>
        <p:spPr>
          <a:xfrm>
            <a:off x="8327522" y="5897648"/>
            <a:ext cx="203846" cy="92798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Rombo 40">
            <a:extLst>
              <a:ext uri="{FF2B5EF4-FFF2-40B4-BE49-F238E27FC236}">
                <a16:creationId xmlns:a16="http://schemas.microsoft.com/office/drawing/2014/main" id="{5D6A0490-0DDE-165C-1F17-A4AFD9B4EBCD}"/>
              </a:ext>
            </a:extLst>
          </p:cNvPr>
          <p:cNvSpPr>
            <a:spLocks noChangeAspect="1"/>
          </p:cNvSpPr>
          <p:nvPr/>
        </p:nvSpPr>
        <p:spPr>
          <a:xfrm>
            <a:off x="8363897" y="6051620"/>
            <a:ext cx="144000" cy="144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96B51E9-599D-CE1B-9ECB-22D3206523A7}"/>
              </a:ext>
            </a:extLst>
          </p:cNvPr>
          <p:cNvCxnSpPr>
            <a:cxnSpLocks/>
          </p:cNvCxnSpPr>
          <p:nvPr/>
        </p:nvCxnSpPr>
        <p:spPr>
          <a:xfrm>
            <a:off x="8301828" y="5791108"/>
            <a:ext cx="279515" cy="143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54D87909-4D5F-5837-BCF3-A307FB1C0B90}"/>
              </a:ext>
            </a:extLst>
          </p:cNvPr>
          <p:cNvSpPr/>
          <p:nvPr/>
        </p:nvSpPr>
        <p:spPr>
          <a:xfrm>
            <a:off x="418501" y="1897073"/>
            <a:ext cx="423045" cy="324000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FD29D965-56EB-22EB-703D-CCB420C12154}"/>
              </a:ext>
            </a:extLst>
          </p:cNvPr>
          <p:cNvSpPr/>
          <p:nvPr/>
        </p:nvSpPr>
        <p:spPr>
          <a:xfrm>
            <a:off x="418501" y="2656399"/>
            <a:ext cx="423045" cy="324000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C33FF23A-5645-0BB9-3B8B-4DE88647729F}"/>
              </a:ext>
            </a:extLst>
          </p:cNvPr>
          <p:cNvSpPr/>
          <p:nvPr/>
        </p:nvSpPr>
        <p:spPr>
          <a:xfrm>
            <a:off x="418501" y="3370272"/>
            <a:ext cx="423045" cy="324000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47D84F46-6C4C-C58B-6322-28D71EF7795C}"/>
              </a:ext>
            </a:extLst>
          </p:cNvPr>
          <p:cNvSpPr/>
          <p:nvPr/>
        </p:nvSpPr>
        <p:spPr>
          <a:xfrm>
            <a:off x="418501" y="4104550"/>
            <a:ext cx="423045" cy="324000"/>
          </a:xfrm>
          <a:prstGeom prst="roundRect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99C6A5D7-1B94-C5DE-A372-24833DB9EED8}"/>
              </a:ext>
            </a:extLst>
          </p:cNvPr>
          <p:cNvSpPr/>
          <p:nvPr/>
        </p:nvSpPr>
        <p:spPr>
          <a:xfrm>
            <a:off x="418501" y="4838828"/>
            <a:ext cx="423045" cy="324000"/>
          </a:xfrm>
          <a:prstGeom prst="roundRect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86E85CA-2A93-7CE1-E6AE-E04137F89C82}"/>
              </a:ext>
            </a:extLst>
          </p:cNvPr>
          <p:cNvSpPr txBox="1"/>
          <p:nvPr/>
        </p:nvSpPr>
        <p:spPr>
          <a:xfrm>
            <a:off x="392052" y="191728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H-01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5E88557-EFA2-5A96-BF3F-3584DA659E1E}"/>
              </a:ext>
            </a:extLst>
          </p:cNvPr>
          <p:cNvSpPr txBox="1"/>
          <p:nvPr/>
        </p:nvSpPr>
        <p:spPr>
          <a:xfrm>
            <a:off x="408448" y="267989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08E68E3-703D-AAF3-ECC5-DCA664AFAF04}"/>
              </a:ext>
            </a:extLst>
          </p:cNvPr>
          <p:cNvSpPr txBox="1"/>
          <p:nvPr/>
        </p:nvSpPr>
        <p:spPr>
          <a:xfrm>
            <a:off x="392052" y="339377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H-03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FAB2B9E-27D5-932D-B702-9AEEBF4F12F3}"/>
              </a:ext>
            </a:extLst>
          </p:cNvPr>
          <p:cNvSpPr txBox="1"/>
          <p:nvPr/>
        </p:nvSpPr>
        <p:spPr>
          <a:xfrm>
            <a:off x="400633" y="4128050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H-04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23517FA-54D3-540B-95EB-F48167518908}"/>
              </a:ext>
            </a:extLst>
          </p:cNvPr>
          <p:cNvSpPr txBox="1"/>
          <p:nvPr/>
        </p:nvSpPr>
        <p:spPr>
          <a:xfrm>
            <a:off x="392052" y="486232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H-05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5A1E2CC5-D0F0-2BA1-7E97-55E56EC9C3F9}"/>
              </a:ext>
            </a:extLst>
          </p:cNvPr>
          <p:cNvSpPr/>
          <p:nvPr/>
        </p:nvSpPr>
        <p:spPr>
          <a:xfrm>
            <a:off x="3061563" y="1950141"/>
            <a:ext cx="1778534" cy="252000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ECB52E68-CA54-C728-62B5-FAA9F9AFF8BC}"/>
              </a:ext>
            </a:extLst>
          </p:cNvPr>
          <p:cNvSpPr/>
          <p:nvPr/>
        </p:nvSpPr>
        <p:spPr>
          <a:xfrm>
            <a:off x="5015798" y="2638363"/>
            <a:ext cx="1312870" cy="252000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DCECBCAB-C2DA-826A-EDAA-7D7171AF848C}"/>
              </a:ext>
            </a:extLst>
          </p:cNvPr>
          <p:cNvSpPr/>
          <p:nvPr/>
        </p:nvSpPr>
        <p:spPr>
          <a:xfrm>
            <a:off x="6682742" y="3370272"/>
            <a:ext cx="1208419" cy="252000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02397409-1078-0AB2-D833-67E242FF41A9}"/>
              </a:ext>
            </a:extLst>
          </p:cNvPr>
          <p:cNvSpPr/>
          <p:nvPr/>
        </p:nvSpPr>
        <p:spPr>
          <a:xfrm>
            <a:off x="8301828" y="4077089"/>
            <a:ext cx="1305652" cy="252000"/>
          </a:xfrm>
          <a:prstGeom prst="roundRect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D004349E-B946-3E6E-FBF6-011EF9954BD8}"/>
              </a:ext>
            </a:extLst>
          </p:cNvPr>
          <p:cNvSpPr/>
          <p:nvPr/>
        </p:nvSpPr>
        <p:spPr>
          <a:xfrm>
            <a:off x="9904470" y="4750582"/>
            <a:ext cx="1436314" cy="255376"/>
          </a:xfrm>
          <a:prstGeom prst="roundRect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2" name="Rombo 71">
            <a:extLst>
              <a:ext uri="{FF2B5EF4-FFF2-40B4-BE49-F238E27FC236}">
                <a16:creationId xmlns:a16="http://schemas.microsoft.com/office/drawing/2014/main" id="{BFDAEB0C-1BD8-0592-7824-D75593874CF4}"/>
              </a:ext>
            </a:extLst>
          </p:cNvPr>
          <p:cNvSpPr>
            <a:spLocks noChangeAspect="1"/>
          </p:cNvSpPr>
          <p:nvPr/>
        </p:nvSpPr>
        <p:spPr>
          <a:xfrm>
            <a:off x="4871511" y="1947304"/>
            <a:ext cx="252000" cy="252000"/>
          </a:xfrm>
          <a:prstGeom prst="diamond">
            <a:avLst/>
          </a:prstGeom>
          <a:solidFill>
            <a:srgbClr val="1083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10833B"/>
              </a:solidFill>
              <a:highlight>
                <a:srgbClr val="219F4D"/>
              </a:highlight>
            </a:endParaRPr>
          </a:p>
        </p:txBody>
      </p:sp>
      <p:sp>
        <p:nvSpPr>
          <p:cNvPr id="78" name="Rombo 77">
            <a:extLst>
              <a:ext uri="{FF2B5EF4-FFF2-40B4-BE49-F238E27FC236}">
                <a16:creationId xmlns:a16="http://schemas.microsoft.com/office/drawing/2014/main" id="{5A026651-E008-58F3-5BF5-B3EFBFB57115}"/>
              </a:ext>
            </a:extLst>
          </p:cNvPr>
          <p:cNvSpPr>
            <a:spLocks noChangeAspect="1"/>
          </p:cNvSpPr>
          <p:nvPr/>
        </p:nvSpPr>
        <p:spPr>
          <a:xfrm>
            <a:off x="9652470" y="4068764"/>
            <a:ext cx="252000" cy="252000"/>
          </a:xfrm>
          <a:prstGeom prst="diamond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0" name="Rombo 79">
            <a:extLst>
              <a:ext uri="{FF2B5EF4-FFF2-40B4-BE49-F238E27FC236}">
                <a16:creationId xmlns:a16="http://schemas.microsoft.com/office/drawing/2014/main" id="{0A2F1A0E-9C1B-D566-7E6F-83C89CFB4C69}"/>
              </a:ext>
            </a:extLst>
          </p:cNvPr>
          <p:cNvSpPr>
            <a:spLocks noChangeAspect="1"/>
          </p:cNvSpPr>
          <p:nvPr/>
        </p:nvSpPr>
        <p:spPr>
          <a:xfrm>
            <a:off x="10467856" y="5063349"/>
            <a:ext cx="252000" cy="252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9B4E01D-67CC-97EF-6C6B-6DEE00EB3F04}"/>
              </a:ext>
            </a:extLst>
          </p:cNvPr>
          <p:cNvSpPr txBox="1"/>
          <p:nvPr/>
        </p:nvSpPr>
        <p:spPr>
          <a:xfrm>
            <a:off x="5083222" y="1942288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208332"/>
                </a:solidFill>
                <a:latin typeface="Arial Narrow" panose="020B0606020202030204" pitchFamily="34" charset="0"/>
              </a:rPr>
              <a:t>04/09/2026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283D1E0-1F48-7F34-5772-E2E2ADF8932F}"/>
              </a:ext>
            </a:extLst>
          </p:cNvPr>
          <p:cNvGrpSpPr/>
          <p:nvPr/>
        </p:nvGrpSpPr>
        <p:grpSpPr>
          <a:xfrm>
            <a:off x="6401041" y="2656399"/>
            <a:ext cx="1096087" cy="285014"/>
            <a:chOff x="5349481" y="2656399"/>
            <a:chExt cx="1096087" cy="285014"/>
          </a:xfrm>
        </p:grpSpPr>
        <p:sp>
          <p:nvSpPr>
            <p:cNvPr id="74" name="Rombo 73">
              <a:extLst>
                <a:ext uri="{FF2B5EF4-FFF2-40B4-BE49-F238E27FC236}">
                  <a16:creationId xmlns:a16="http://schemas.microsoft.com/office/drawing/2014/main" id="{453C5E3D-DD2F-97EC-DC62-67B620D5E1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9481" y="2656399"/>
              <a:ext cx="252000" cy="252000"/>
            </a:xfrm>
            <a:prstGeom prst="diamond">
              <a:avLst/>
            </a:prstGeom>
            <a:solidFill>
              <a:srgbClr val="0A56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B278F00D-89F2-0CB6-51D0-DFDC8562973C}"/>
                </a:ext>
              </a:extLst>
            </p:cNvPr>
            <p:cNvSpPr txBox="1"/>
            <p:nvPr/>
          </p:nvSpPr>
          <p:spPr>
            <a:xfrm>
              <a:off x="5626113" y="2664414"/>
              <a:ext cx="8194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A569F"/>
                  </a:solidFill>
                  <a:latin typeface="Arial Narrow" panose="020B0606020202030204" pitchFamily="34" charset="0"/>
                </a:rPr>
                <a:t>25/09/2026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35910FE5-6BE2-2480-A2A7-9FC966D58C48}"/>
              </a:ext>
            </a:extLst>
          </p:cNvPr>
          <p:cNvGrpSpPr/>
          <p:nvPr/>
        </p:nvGrpSpPr>
        <p:grpSpPr>
          <a:xfrm>
            <a:off x="7990399" y="3360675"/>
            <a:ext cx="1034995" cy="276999"/>
            <a:chOff x="7501662" y="3370272"/>
            <a:chExt cx="1034995" cy="276999"/>
          </a:xfrm>
        </p:grpSpPr>
        <p:sp>
          <p:nvSpPr>
            <p:cNvPr id="76" name="Rombo 75">
              <a:extLst>
                <a:ext uri="{FF2B5EF4-FFF2-40B4-BE49-F238E27FC236}">
                  <a16:creationId xmlns:a16="http://schemas.microsoft.com/office/drawing/2014/main" id="{101CE90F-5EE4-B485-D925-0E8D56A6E6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01662" y="3385674"/>
              <a:ext cx="252000" cy="252000"/>
            </a:xfrm>
            <a:prstGeom prst="diamond">
              <a:avLst/>
            </a:prstGeom>
            <a:solidFill>
              <a:srgbClr val="EA58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CCFD40D0-C6F9-4494-80F9-E8232EDB9E78}"/>
                </a:ext>
              </a:extLst>
            </p:cNvPr>
            <p:cNvSpPr txBox="1"/>
            <p:nvPr/>
          </p:nvSpPr>
          <p:spPr>
            <a:xfrm>
              <a:off x="7717202" y="3370272"/>
              <a:ext cx="8194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EA5803"/>
                  </a:solidFill>
                  <a:latin typeface="Arial Narrow" panose="020B0606020202030204" pitchFamily="34" charset="0"/>
                </a:rPr>
                <a:t>16/10/2026</a:t>
              </a:r>
            </a:p>
          </p:txBody>
        </p:sp>
      </p:grpSp>
      <p:sp>
        <p:nvSpPr>
          <p:cNvPr id="89" name="CuadroTexto 88">
            <a:extLst>
              <a:ext uri="{FF2B5EF4-FFF2-40B4-BE49-F238E27FC236}">
                <a16:creationId xmlns:a16="http://schemas.microsoft.com/office/drawing/2014/main" id="{DB380DE1-7EEB-C945-97D4-82BE2F8EF253}"/>
              </a:ext>
            </a:extLst>
          </p:cNvPr>
          <p:cNvSpPr txBox="1"/>
          <p:nvPr/>
        </p:nvSpPr>
        <p:spPr>
          <a:xfrm>
            <a:off x="9850605" y="4043765"/>
            <a:ext cx="812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633699"/>
                </a:solidFill>
                <a:latin typeface="Arial Narrow" panose="020B0606020202030204" pitchFamily="34" charset="0"/>
              </a:rPr>
              <a:t>06/11/2026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A02C198E-A18B-6D77-2ABE-5139D5E38DD2}"/>
              </a:ext>
            </a:extLst>
          </p:cNvPr>
          <p:cNvSpPr txBox="1"/>
          <p:nvPr/>
        </p:nvSpPr>
        <p:spPr>
          <a:xfrm>
            <a:off x="10652327" y="5039849"/>
            <a:ext cx="812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BB0E13"/>
                </a:solidFill>
                <a:latin typeface="Arial Narrow" panose="020B0606020202030204" pitchFamily="34" charset="0"/>
              </a:rPr>
              <a:t>27/11/2026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7E3F5788-63B2-568C-742A-676F4A1EFD9F}"/>
              </a:ext>
            </a:extLst>
          </p:cNvPr>
          <p:cNvSpPr txBox="1"/>
          <p:nvPr/>
        </p:nvSpPr>
        <p:spPr>
          <a:xfrm>
            <a:off x="577154" y="101025"/>
            <a:ext cx="685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Roadmap General del Proyecto GATI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7D22C01F-CE87-0694-6845-5D4F73EFDA18}"/>
              </a:ext>
            </a:extLst>
          </p:cNvPr>
          <p:cNvCxnSpPr>
            <a:cxnSpLocks/>
          </p:cNvCxnSpPr>
          <p:nvPr/>
        </p:nvCxnSpPr>
        <p:spPr>
          <a:xfrm flipV="1">
            <a:off x="5285759" y="1440266"/>
            <a:ext cx="0" cy="3722562"/>
          </a:xfrm>
          <a:prstGeom prst="line">
            <a:avLst/>
          </a:prstGeom>
          <a:ln w="34925" cmpd="sng">
            <a:solidFill>
              <a:srgbClr val="FF0000"/>
            </a:solidFill>
            <a:prstDash val="sysDash"/>
            <a:headEnd type="diamond" w="lg" len="lg"/>
            <a:tailEnd type="diamond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96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n 105">
            <a:extLst>
              <a:ext uri="{FF2B5EF4-FFF2-40B4-BE49-F238E27FC236}">
                <a16:creationId xmlns:a16="http://schemas.microsoft.com/office/drawing/2014/main" id="{7DB8C2F2-938E-565C-3FD0-376B09FAC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08" name="Imagen 107">
            <a:extLst>
              <a:ext uri="{FF2B5EF4-FFF2-40B4-BE49-F238E27FC236}">
                <a16:creationId xmlns:a16="http://schemas.microsoft.com/office/drawing/2014/main" id="{6FE0DB37-C7DD-45DE-B791-DC0292DEA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CAF02E0-EB92-B4F8-0F34-39BCC8DC9F21}"/>
              </a:ext>
            </a:extLst>
          </p:cNvPr>
          <p:cNvSpPr/>
          <p:nvPr/>
        </p:nvSpPr>
        <p:spPr>
          <a:xfrm>
            <a:off x="251460" y="1135380"/>
            <a:ext cx="5722620" cy="2225040"/>
          </a:xfrm>
          <a:prstGeom prst="roundRect">
            <a:avLst>
              <a:gd name="adj" fmla="val 4338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61A21ECE-65DB-0164-B1CB-A30C3FB0923C}"/>
              </a:ext>
            </a:extLst>
          </p:cNvPr>
          <p:cNvSpPr/>
          <p:nvPr/>
        </p:nvSpPr>
        <p:spPr>
          <a:xfrm>
            <a:off x="465365" y="1785827"/>
            <a:ext cx="2362200" cy="756013"/>
          </a:xfrm>
          <a:prstGeom prst="roundRect">
            <a:avLst>
              <a:gd name="adj" fmla="val 11627"/>
            </a:avLst>
          </a:prstGeom>
          <a:solidFill>
            <a:srgbClr val="E0F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0DA3886-12BA-8CFF-B81C-E98C73AB206E}"/>
              </a:ext>
            </a:extLst>
          </p:cNvPr>
          <p:cNvSpPr/>
          <p:nvPr/>
        </p:nvSpPr>
        <p:spPr>
          <a:xfrm>
            <a:off x="6156960" y="1135380"/>
            <a:ext cx="5783580" cy="2225040"/>
          </a:xfrm>
          <a:prstGeom prst="roundRect">
            <a:avLst>
              <a:gd name="adj" fmla="val 4338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E59C63-2884-40FE-0EA7-8C8FD6572D6A}"/>
              </a:ext>
            </a:extLst>
          </p:cNvPr>
          <p:cNvSpPr txBox="1"/>
          <p:nvPr/>
        </p:nvSpPr>
        <p:spPr>
          <a:xfrm>
            <a:off x="335311" y="321007"/>
            <a:ext cx="685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Conclusión Semanal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6FCBB02-FC76-286C-4528-BBDED423D2D1}"/>
              </a:ext>
            </a:extLst>
          </p:cNvPr>
          <p:cNvSpPr/>
          <p:nvPr/>
        </p:nvSpPr>
        <p:spPr>
          <a:xfrm>
            <a:off x="251460" y="3429000"/>
            <a:ext cx="5722620" cy="2225040"/>
          </a:xfrm>
          <a:prstGeom prst="roundRect">
            <a:avLst>
              <a:gd name="adj" fmla="val 4338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A11E3BF-B840-620C-833D-37CF94183233}"/>
              </a:ext>
            </a:extLst>
          </p:cNvPr>
          <p:cNvSpPr/>
          <p:nvPr/>
        </p:nvSpPr>
        <p:spPr>
          <a:xfrm>
            <a:off x="6156960" y="3429000"/>
            <a:ext cx="5783580" cy="2225040"/>
          </a:xfrm>
          <a:prstGeom prst="roundRect">
            <a:avLst>
              <a:gd name="adj" fmla="val 4338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E69DAFD3-14E9-0094-11F3-AAD60EB8830B}"/>
              </a:ext>
            </a:extLst>
          </p:cNvPr>
          <p:cNvSpPr/>
          <p:nvPr/>
        </p:nvSpPr>
        <p:spPr>
          <a:xfrm>
            <a:off x="251459" y="1146810"/>
            <a:ext cx="5722621" cy="499110"/>
          </a:xfrm>
          <a:prstGeom prst="round2SameRect">
            <a:avLst>
              <a:gd name="adj1" fmla="val 20319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AF71FB9-7510-1728-02C1-E6026F4F9A19}"/>
              </a:ext>
            </a:extLst>
          </p:cNvPr>
          <p:cNvSpPr txBox="1"/>
          <p:nvPr/>
        </p:nvSpPr>
        <p:spPr>
          <a:xfrm>
            <a:off x="815162" y="1223546"/>
            <a:ext cx="18582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Estado del proyecto</a:t>
            </a:r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6A3CE9C2-3792-89D5-A049-A40FBB0F5EDB}"/>
              </a:ext>
            </a:extLst>
          </p:cNvPr>
          <p:cNvSpPr>
            <a:spLocks noChangeAspect="1"/>
          </p:cNvSpPr>
          <p:nvPr/>
        </p:nvSpPr>
        <p:spPr>
          <a:xfrm>
            <a:off x="335311" y="1194823"/>
            <a:ext cx="396000" cy="396000"/>
          </a:xfrm>
          <a:prstGeom prst="flowChartConnector">
            <a:avLst/>
          </a:prstGeom>
          <a:solidFill>
            <a:srgbClr val="B1C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D22AD84-B158-37EB-2098-92E80F70D3D9}"/>
              </a:ext>
            </a:extLst>
          </p:cNvPr>
          <p:cNvSpPr txBox="1"/>
          <p:nvPr/>
        </p:nvSpPr>
        <p:spPr>
          <a:xfrm>
            <a:off x="328816" y="122354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01</a:t>
            </a:r>
          </a:p>
        </p:txBody>
      </p:sp>
      <p:pic>
        <p:nvPicPr>
          <p:cNvPr id="19" name="Gráfico 18" descr="Clipboard con relleno sólido">
            <a:extLst>
              <a:ext uri="{FF2B5EF4-FFF2-40B4-BE49-F238E27FC236}">
                <a16:creationId xmlns:a16="http://schemas.microsoft.com/office/drawing/2014/main" id="{A74B83AA-A2F2-8E04-B2F9-1078CFD25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9589" y="1158823"/>
            <a:ext cx="432000" cy="432000"/>
          </a:xfrm>
          <a:prstGeom prst="rect">
            <a:avLst/>
          </a:prstGeom>
        </p:spPr>
      </p:pic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E749A4B-77FF-7FDC-9D40-1A3C324F68F5}"/>
              </a:ext>
            </a:extLst>
          </p:cNvPr>
          <p:cNvSpPr/>
          <p:nvPr/>
        </p:nvSpPr>
        <p:spPr>
          <a:xfrm>
            <a:off x="1138703" y="2078954"/>
            <a:ext cx="1458796" cy="356716"/>
          </a:xfrm>
          <a:prstGeom prst="roundRect">
            <a:avLst>
              <a:gd name="adj" fmla="val 23709"/>
            </a:avLst>
          </a:prstGeom>
          <a:gradFill flip="none" rotWithShape="1">
            <a:gsLst>
              <a:gs pos="100000">
                <a:schemeClr val="accent3">
                  <a:lumMod val="20000"/>
                  <a:lumOff val="80000"/>
                </a:schemeClr>
              </a:gs>
              <a:gs pos="560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ED69483-5002-1CD4-6579-6467764AF16A}"/>
              </a:ext>
            </a:extLst>
          </p:cNvPr>
          <p:cNvSpPr txBox="1"/>
          <p:nvPr/>
        </p:nvSpPr>
        <p:spPr>
          <a:xfrm>
            <a:off x="1323870" y="2097116"/>
            <a:ext cx="1079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EN CURSO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4C97AFF-90A7-C2BD-76F6-236794D32A8B}"/>
              </a:ext>
            </a:extLst>
          </p:cNvPr>
          <p:cNvSpPr txBox="1"/>
          <p:nvPr/>
        </p:nvSpPr>
        <p:spPr>
          <a:xfrm>
            <a:off x="1051524" y="1785827"/>
            <a:ext cx="1121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accent3"/>
                </a:solidFill>
                <a:latin typeface="Aptos Narrow" panose="020B0004020202020204" pitchFamily="34" charset="0"/>
              </a:rPr>
              <a:t>Estado general</a:t>
            </a:r>
          </a:p>
        </p:txBody>
      </p:sp>
      <p:pic>
        <p:nvPicPr>
          <p:cNvPr id="24" name="Gráfico 23" descr="Single gear contorno">
            <a:extLst>
              <a:ext uri="{FF2B5EF4-FFF2-40B4-BE49-F238E27FC236}">
                <a16:creationId xmlns:a16="http://schemas.microsoft.com/office/drawing/2014/main" id="{11F2A478-BF14-F5F6-B7BE-F5A9672A46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344" y="1817370"/>
            <a:ext cx="540000" cy="540000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1E8757DC-F32C-3E2D-5799-6EFE5B619DBF}"/>
              </a:ext>
            </a:extLst>
          </p:cNvPr>
          <p:cNvSpPr txBox="1"/>
          <p:nvPr/>
        </p:nvSpPr>
        <p:spPr>
          <a:xfrm>
            <a:off x="347128" y="2557968"/>
            <a:ext cx="2436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El proyecto continúa avanzando dentro</a:t>
            </a:r>
          </a:p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del rango de tolerancia definido, aunque</a:t>
            </a:r>
          </a:p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durante la Semana 3 se registró un</a:t>
            </a:r>
          </a:p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cumplimiento inferior al planificado.</a:t>
            </a:r>
            <a:endParaRPr lang="es-CL" sz="1100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21A628E-9C84-769E-542C-52972DF79248}"/>
              </a:ext>
            </a:extLst>
          </p:cNvPr>
          <p:cNvCxnSpPr>
            <a:cxnSpLocks/>
          </p:cNvCxnSpPr>
          <p:nvPr/>
        </p:nvCxnSpPr>
        <p:spPr>
          <a:xfrm>
            <a:off x="2928257" y="2076845"/>
            <a:ext cx="0" cy="816646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5214B566-6163-9264-1202-80612DFE39C2}"/>
              </a:ext>
            </a:extLst>
          </p:cNvPr>
          <p:cNvCxnSpPr>
            <a:cxnSpLocks/>
          </p:cNvCxnSpPr>
          <p:nvPr/>
        </p:nvCxnSpPr>
        <p:spPr>
          <a:xfrm>
            <a:off x="3861707" y="2076845"/>
            <a:ext cx="0" cy="816646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598B8660-EF4F-F38A-5458-A425A2000EA3}"/>
              </a:ext>
            </a:extLst>
          </p:cNvPr>
          <p:cNvCxnSpPr>
            <a:cxnSpLocks/>
          </p:cNvCxnSpPr>
          <p:nvPr/>
        </p:nvCxnSpPr>
        <p:spPr>
          <a:xfrm>
            <a:off x="4786993" y="2062826"/>
            <a:ext cx="0" cy="816646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0CAF68A-3717-9AD9-0A65-8A6D5358F19E}"/>
              </a:ext>
            </a:extLst>
          </p:cNvPr>
          <p:cNvSpPr txBox="1"/>
          <p:nvPr/>
        </p:nvSpPr>
        <p:spPr>
          <a:xfrm>
            <a:off x="2971808" y="2136619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Abadi" panose="020B0604020104020204" pitchFamily="34" charset="0"/>
              </a:rPr>
              <a:t>19%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647AFD-6CDA-B718-F70C-E2AD8252DAEC}"/>
              </a:ext>
            </a:extLst>
          </p:cNvPr>
          <p:cNvSpPr txBox="1"/>
          <p:nvPr/>
        </p:nvSpPr>
        <p:spPr>
          <a:xfrm>
            <a:off x="3924406" y="2119662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Abadi" panose="020B0604020104020204" pitchFamily="34" charset="0"/>
              </a:rPr>
              <a:t>15%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0B95AE7-A567-1BC4-9DF7-EDF5A3392FD3}"/>
              </a:ext>
            </a:extLst>
          </p:cNvPr>
          <p:cNvSpPr txBox="1"/>
          <p:nvPr/>
        </p:nvSpPr>
        <p:spPr>
          <a:xfrm>
            <a:off x="2957619" y="2578858"/>
            <a:ext cx="905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002060"/>
                </a:solidFill>
                <a:latin typeface="Aptos Narrow" panose="020B0004020202020204" pitchFamily="34" charset="0"/>
              </a:rPr>
              <a:t>Planificado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5879C67-1B9A-7BEE-DA84-03D5EAA2BCBB}"/>
              </a:ext>
            </a:extLst>
          </p:cNvPr>
          <p:cNvSpPr txBox="1"/>
          <p:nvPr/>
        </p:nvSpPr>
        <p:spPr>
          <a:xfrm>
            <a:off x="4101229" y="2578858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002060"/>
                </a:solidFill>
                <a:latin typeface="Aptos Narrow" panose="020B0004020202020204" pitchFamily="34" charset="0"/>
              </a:rPr>
              <a:t>Real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65E696C3-0C95-31E3-0F3C-51DD256E95A8}"/>
              </a:ext>
            </a:extLst>
          </p:cNvPr>
          <p:cNvSpPr/>
          <p:nvPr/>
        </p:nvSpPr>
        <p:spPr>
          <a:xfrm>
            <a:off x="4874261" y="2084158"/>
            <a:ext cx="962812" cy="802627"/>
          </a:xfrm>
          <a:prstGeom prst="roundRect">
            <a:avLst>
              <a:gd name="adj" fmla="val 10723"/>
            </a:avLst>
          </a:prstGeom>
          <a:solidFill>
            <a:srgbClr val="FEF5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A34B1E8-6A6A-8C56-E47A-3EEE5C9B1FCA}"/>
              </a:ext>
            </a:extLst>
          </p:cNvPr>
          <p:cNvSpPr txBox="1"/>
          <p:nvPr/>
        </p:nvSpPr>
        <p:spPr>
          <a:xfrm>
            <a:off x="4880403" y="2097116"/>
            <a:ext cx="966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C00000"/>
                </a:solidFill>
                <a:latin typeface="Abadi" panose="020B0604020104020204" pitchFamily="34" charset="0"/>
              </a:rPr>
              <a:t>-4pp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66B5DB3-A115-C314-DDC3-20318E774C19}"/>
              </a:ext>
            </a:extLst>
          </p:cNvPr>
          <p:cNvSpPr txBox="1"/>
          <p:nvPr/>
        </p:nvSpPr>
        <p:spPr>
          <a:xfrm>
            <a:off x="4932499" y="2574879"/>
            <a:ext cx="889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002060"/>
                </a:solidFill>
                <a:latin typeface="Aptos Narrow" panose="020B0004020202020204" pitchFamily="34" charset="0"/>
              </a:rPr>
              <a:t>Desviación</a:t>
            </a:r>
          </a:p>
        </p:txBody>
      </p:sp>
      <p:sp>
        <p:nvSpPr>
          <p:cNvPr id="43" name="Rectángulo: esquinas superiores redondeadas 42">
            <a:extLst>
              <a:ext uri="{FF2B5EF4-FFF2-40B4-BE49-F238E27FC236}">
                <a16:creationId xmlns:a16="http://schemas.microsoft.com/office/drawing/2014/main" id="{3E42BF1D-B98E-60FD-7D27-2D69A13ABE79}"/>
              </a:ext>
            </a:extLst>
          </p:cNvPr>
          <p:cNvSpPr/>
          <p:nvPr/>
        </p:nvSpPr>
        <p:spPr>
          <a:xfrm>
            <a:off x="6156958" y="1146810"/>
            <a:ext cx="5783580" cy="499110"/>
          </a:xfrm>
          <a:prstGeom prst="round2SameRect">
            <a:avLst>
              <a:gd name="adj1" fmla="val 18493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7E1EE26-165D-D9D2-76A7-748EDFBB5CA0}"/>
              </a:ext>
            </a:extLst>
          </p:cNvPr>
          <p:cNvSpPr txBox="1"/>
          <p:nvPr/>
        </p:nvSpPr>
        <p:spPr>
          <a:xfrm>
            <a:off x="6720660" y="1223546"/>
            <a:ext cx="2416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Resultado de la semana</a:t>
            </a:r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5AF22261-3BCD-1BCC-ED21-25A248DD7BC8}"/>
              </a:ext>
            </a:extLst>
          </p:cNvPr>
          <p:cNvSpPr>
            <a:spLocks noChangeAspect="1"/>
          </p:cNvSpPr>
          <p:nvPr/>
        </p:nvSpPr>
        <p:spPr>
          <a:xfrm>
            <a:off x="6240810" y="1194823"/>
            <a:ext cx="400218" cy="396000"/>
          </a:xfrm>
          <a:prstGeom prst="flowChartConnector">
            <a:avLst/>
          </a:prstGeom>
          <a:solidFill>
            <a:srgbClr val="B1C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536D778-7E97-4879-A039-1D1E5FE5AC42}"/>
              </a:ext>
            </a:extLst>
          </p:cNvPr>
          <p:cNvSpPr txBox="1"/>
          <p:nvPr/>
        </p:nvSpPr>
        <p:spPr>
          <a:xfrm>
            <a:off x="6234314" y="1223546"/>
            <a:ext cx="397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02</a:t>
            </a:r>
          </a:p>
        </p:txBody>
      </p:sp>
      <p:pic>
        <p:nvPicPr>
          <p:cNvPr id="53" name="Gráfico 52" descr="Bullseye con relleno sólido">
            <a:extLst>
              <a:ext uri="{FF2B5EF4-FFF2-40B4-BE49-F238E27FC236}">
                <a16:creationId xmlns:a16="http://schemas.microsoft.com/office/drawing/2014/main" id="{D5990D93-7DD2-1631-E23C-E43D87E1E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26954" y="1134027"/>
            <a:ext cx="435600" cy="435600"/>
          </a:xfrm>
          <a:prstGeom prst="rect">
            <a:avLst/>
          </a:prstGeom>
        </p:spPr>
      </p:pic>
      <p:sp>
        <p:nvSpPr>
          <p:cNvPr id="55" name="Arco de bloque 54">
            <a:extLst>
              <a:ext uri="{FF2B5EF4-FFF2-40B4-BE49-F238E27FC236}">
                <a16:creationId xmlns:a16="http://schemas.microsoft.com/office/drawing/2014/main" id="{1934F253-46E0-302A-4742-D7621122346F}"/>
              </a:ext>
            </a:extLst>
          </p:cNvPr>
          <p:cNvSpPr>
            <a:spLocks noChangeAspect="1"/>
          </p:cNvSpPr>
          <p:nvPr/>
        </p:nvSpPr>
        <p:spPr>
          <a:xfrm rot="16200000">
            <a:off x="6352554" y="1749626"/>
            <a:ext cx="1410221" cy="1443045"/>
          </a:xfrm>
          <a:prstGeom prst="blockArc">
            <a:avLst>
              <a:gd name="adj1" fmla="val 7431030"/>
              <a:gd name="adj2" fmla="val 149382"/>
              <a:gd name="adj3" fmla="val 14305"/>
            </a:avLst>
          </a:prstGeom>
          <a:solidFill>
            <a:srgbClr val="D5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57" name="Arco de bloque 56">
            <a:extLst>
              <a:ext uri="{FF2B5EF4-FFF2-40B4-BE49-F238E27FC236}">
                <a16:creationId xmlns:a16="http://schemas.microsoft.com/office/drawing/2014/main" id="{02EBCEC4-CA4A-5D95-1D93-719D6FF4C150}"/>
              </a:ext>
            </a:extLst>
          </p:cNvPr>
          <p:cNvSpPr>
            <a:spLocks noChangeAspect="1"/>
          </p:cNvSpPr>
          <p:nvPr/>
        </p:nvSpPr>
        <p:spPr>
          <a:xfrm rot="1672868">
            <a:off x="6360454" y="1763645"/>
            <a:ext cx="1410221" cy="1443045"/>
          </a:xfrm>
          <a:prstGeom prst="blockArc">
            <a:avLst>
              <a:gd name="adj1" fmla="val 14801048"/>
              <a:gd name="adj2" fmla="val 149382"/>
              <a:gd name="adj3" fmla="val 1430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F1C6F20-C14D-181C-FE7F-487D4AA23B89}"/>
              </a:ext>
            </a:extLst>
          </p:cNvPr>
          <p:cNvSpPr txBox="1"/>
          <p:nvPr/>
        </p:nvSpPr>
        <p:spPr>
          <a:xfrm>
            <a:off x="6599798" y="2040261"/>
            <a:ext cx="10246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>
                <a:latin typeface="Aptos Narrow" panose="020B0004020202020204" pitchFamily="34" charset="0"/>
              </a:rPr>
              <a:t>33%</a:t>
            </a:r>
          </a:p>
          <a:p>
            <a:pPr algn="ctr"/>
            <a:r>
              <a:rPr lang="es-CL" sz="1100" b="1" dirty="0">
                <a:latin typeface="Aptos Narrow" panose="020B0004020202020204" pitchFamily="34" charset="0"/>
              </a:rPr>
              <a:t>Cumplimiento</a:t>
            </a:r>
          </a:p>
          <a:p>
            <a:pPr algn="ctr"/>
            <a:r>
              <a:rPr lang="es-CL" sz="1100" b="1" dirty="0">
                <a:latin typeface="Aptos Narrow" panose="020B0004020202020204" pitchFamily="34" charset="0"/>
              </a:rPr>
              <a:t>semanal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C4AA35C-5DF0-B4C0-C191-84AAD208A839}"/>
              </a:ext>
            </a:extLst>
          </p:cNvPr>
          <p:cNvSpPr txBox="1"/>
          <p:nvPr/>
        </p:nvSpPr>
        <p:spPr>
          <a:xfrm>
            <a:off x="7997860" y="1633686"/>
            <a:ext cx="36687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1100">
                <a:solidFill>
                  <a:srgbClr val="002060"/>
                </a:solidFill>
                <a:latin typeface="Aptos Narrow" panose="020B0004020202020204" pitchFamily="34" charset="0"/>
              </a:defRPr>
            </a:lvl1pPr>
          </a:lstStyle>
          <a:p>
            <a:r>
              <a:rPr lang="es-MX" sz="1400" dirty="0"/>
              <a:t>Se completaron 2 de 6 compromisos</a:t>
            </a:r>
          </a:p>
          <a:p>
            <a:r>
              <a:rPr lang="es-MX" sz="1400" dirty="0"/>
              <a:t>planificados, correspondientes a la</a:t>
            </a:r>
          </a:p>
          <a:p>
            <a:r>
              <a:rPr lang="es-MX" sz="1400" dirty="0"/>
              <a:t>documentación del proceso AS-IS y la</a:t>
            </a:r>
          </a:p>
          <a:p>
            <a:r>
              <a:rPr lang="es-MX" sz="1400" dirty="0"/>
              <a:t>definición preliminar del proceso TO-BE.</a:t>
            </a:r>
            <a:endParaRPr lang="es-CL" sz="1400" dirty="0"/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A0651C52-CFA9-135F-A3E5-1B6178801815}"/>
              </a:ext>
            </a:extLst>
          </p:cNvPr>
          <p:cNvSpPr/>
          <p:nvPr/>
        </p:nvSpPr>
        <p:spPr>
          <a:xfrm>
            <a:off x="8078307" y="2577543"/>
            <a:ext cx="1119208" cy="674265"/>
          </a:xfrm>
          <a:prstGeom prst="roundRect">
            <a:avLst>
              <a:gd name="adj" fmla="val 11627"/>
            </a:avLst>
          </a:prstGeom>
          <a:solidFill>
            <a:srgbClr val="E0F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C612A60-11E6-819F-FA3C-B6CCF0C2DA6F}"/>
              </a:ext>
            </a:extLst>
          </p:cNvPr>
          <p:cNvSpPr txBox="1"/>
          <p:nvPr/>
        </p:nvSpPr>
        <p:spPr>
          <a:xfrm>
            <a:off x="8205420" y="2524159"/>
            <a:ext cx="8662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>
                <a:solidFill>
                  <a:srgbClr val="10833B"/>
                </a:solidFill>
              </a:rPr>
              <a:t>2</a:t>
            </a:r>
            <a:endParaRPr lang="es-CL" sz="2000" b="1" dirty="0">
              <a:solidFill>
                <a:srgbClr val="10833B"/>
              </a:solidFill>
            </a:endParaRPr>
          </a:p>
          <a:p>
            <a:pPr algn="ctr"/>
            <a:r>
              <a:rPr lang="es-CL" sz="1400" b="1" dirty="0">
                <a:solidFill>
                  <a:srgbClr val="10833B"/>
                </a:solidFill>
                <a:latin typeface="Aptos Narrow" panose="020B0004020202020204" pitchFamily="34" charset="0"/>
              </a:rPr>
              <a:t>Cerrados</a:t>
            </a:r>
            <a:endParaRPr lang="es-CL" b="1" dirty="0">
              <a:solidFill>
                <a:srgbClr val="10833B"/>
              </a:solidFill>
              <a:latin typeface="Aptos Narrow" panose="020B0004020202020204" pitchFamily="34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1EF099C0-3363-F8B6-4D7B-5CA53CA205E1}"/>
              </a:ext>
            </a:extLst>
          </p:cNvPr>
          <p:cNvSpPr/>
          <p:nvPr/>
        </p:nvSpPr>
        <p:spPr>
          <a:xfrm>
            <a:off x="9324628" y="2588558"/>
            <a:ext cx="1187599" cy="674265"/>
          </a:xfrm>
          <a:prstGeom prst="roundRect">
            <a:avLst>
              <a:gd name="adj" fmla="val 11627"/>
            </a:avLst>
          </a:prstGeom>
          <a:solidFill>
            <a:srgbClr val="FD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2EE13F41-B336-B253-C193-D2872C8AC894}"/>
              </a:ext>
            </a:extLst>
          </p:cNvPr>
          <p:cNvSpPr/>
          <p:nvPr/>
        </p:nvSpPr>
        <p:spPr>
          <a:xfrm>
            <a:off x="10621354" y="2588557"/>
            <a:ext cx="1152415" cy="674265"/>
          </a:xfrm>
          <a:prstGeom prst="roundRect">
            <a:avLst>
              <a:gd name="adj" fmla="val 11627"/>
            </a:avLst>
          </a:prstGeom>
          <a:solidFill>
            <a:srgbClr val="FDE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1F643442-AEF3-3772-5973-ACDDB265E840}"/>
              </a:ext>
            </a:extLst>
          </p:cNvPr>
          <p:cNvSpPr txBox="1"/>
          <p:nvPr/>
        </p:nvSpPr>
        <p:spPr>
          <a:xfrm>
            <a:off x="9414187" y="2532703"/>
            <a:ext cx="10084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>
                <a:solidFill>
                  <a:srgbClr val="FFC000"/>
                </a:solidFill>
              </a:rPr>
              <a:t>0</a:t>
            </a:r>
            <a:endParaRPr lang="es-CL" sz="2000" b="1" dirty="0">
              <a:solidFill>
                <a:srgbClr val="FFC000"/>
              </a:solidFill>
            </a:endParaRPr>
          </a:p>
          <a:p>
            <a:pPr algn="ctr"/>
            <a:r>
              <a:rPr lang="es-CL" sz="1400" b="1" dirty="0">
                <a:solidFill>
                  <a:srgbClr val="FFC000"/>
                </a:solidFill>
                <a:latin typeface="Aptos Narrow" panose="020B0004020202020204" pitchFamily="34" charset="0"/>
              </a:rPr>
              <a:t>En Proceso</a:t>
            </a:r>
            <a:endParaRPr lang="es-CL" b="1" dirty="0">
              <a:solidFill>
                <a:srgbClr val="FFC000"/>
              </a:solidFill>
              <a:latin typeface="Aptos Narrow" panose="020B0004020202020204" pitchFamily="34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A31D2C27-9D29-6699-C6CD-0A9297724887}"/>
              </a:ext>
            </a:extLst>
          </p:cNvPr>
          <p:cNvSpPr txBox="1"/>
          <p:nvPr/>
        </p:nvSpPr>
        <p:spPr>
          <a:xfrm>
            <a:off x="10710174" y="2532703"/>
            <a:ext cx="10193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>
                <a:solidFill>
                  <a:srgbClr val="C00000"/>
                </a:solidFill>
              </a:rPr>
              <a:t>4</a:t>
            </a:r>
            <a:endParaRPr lang="es-CL" sz="2000" b="1" dirty="0">
              <a:solidFill>
                <a:srgbClr val="C00000"/>
              </a:solidFill>
            </a:endParaRPr>
          </a:p>
          <a:p>
            <a:pPr algn="ctr"/>
            <a:r>
              <a:rPr lang="es-CL" sz="1400" b="1" dirty="0">
                <a:solidFill>
                  <a:srgbClr val="C00000"/>
                </a:solidFill>
                <a:latin typeface="Aptos Narrow" panose="020B0004020202020204" pitchFamily="34" charset="0"/>
              </a:rPr>
              <a:t>Pendientes</a:t>
            </a:r>
            <a:endParaRPr lang="es-CL" b="1" dirty="0">
              <a:solidFill>
                <a:srgbClr val="C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72" name="Rectángulo: esquinas superiores redondeadas 71">
            <a:extLst>
              <a:ext uri="{FF2B5EF4-FFF2-40B4-BE49-F238E27FC236}">
                <a16:creationId xmlns:a16="http://schemas.microsoft.com/office/drawing/2014/main" id="{EBAC5F81-6FA3-7861-68A8-F56152D6FAA8}"/>
              </a:ext>
            </a:extLst>
          </p:cNvPr>
          <p:cNvSpPr/>
          <p:nvPr/>
        </p:nvSpPr>
        <p:spPr>
          <a:xfrm>
            <a:off x="251459" y="3433071"/>
            <a:ext cx="5722621" cy="499110"/>
          </a:xfrm>
          <a:prstGeom prst="round2SameRect">
            <a:avLst>
              <a:gd name="adj1" fmla="val 20319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D90497F-4433-8941-E9A5-0C69E1275942}"/>
              </a:ext>
            </a:extLst>
          </p:cNvPr>
          <p:cNvSpPr txBox="1"/>
          <p:nvPr/>
        </p:nvSpPr>
        <p:spPr>
          <a:xfrm>
            <a:off x="815162" y="3476827"/>
            <a:ext cx="1898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Principal desviación</a:t>
            </a:r>
          </a:p>
        </p:txBody>
      </p:sp>
      <p:sp>
        <p:nvSpPr>
          <p:cNvPr id="76" name="Diagrama de flujo: conector 75">
            <a:extLst>
              <a:ext uri="{FF2B5EF4-FFF2-40B4-BE49-F238E27FC236}">
                <a16:creationId xmlns:a16="http://schemas.microsoft.com/office/drawing/2014/main" id="{57E08A6E-24C7-E84D-229A-85050F8EE997}"/>
              </a:ext>
            </a:extLst>
          </p:cNvPr>
          <p:cNvSpPr>
            <a:spLocks noChangeAspect="1"/>
          </p:cNvSpPr>
          <p:nvPr/>
        </p:nvSpPr>
        <p:spPr>
          <a:xfrm>
            <a:off x="335311" y="3448104"/>
            <a:ext cx="396000" cy="396000"/>
          </a:xfrm>
          <a:prstGeom prst="flowChartConnector">
            <a:avLst/>
          </a:prstGeom>
          <a:solidFill>
            <a:srgbClr val="B1C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3A8EDACE-4E67-6A36-EDDC-C45177EA870C}"/>
              </a:ext>
            </a:extLst>
          </p:cNvPr>
          <p:cNvSpPr txBox="1"/>
          <p:nvPr/>
        </p:nvSpPr>
        <p:spPr>
          <a:xfrm>
            <a:off x="328816" y="347682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03</a:t>
            </a:r>
          </a:p>
        </p:txBody>
      </p:sp>
      <p:pic>
        <p:nvPicPr>
          <p:cNvPr id="82" name="Gráfico 81" descr="Warning contorno">
            <a:extLst>
              <a:ext uri="{FF2B5EF4-FFF2-40B4-BE49-F238E27FC236}">
                <a16:creationId xmlns:a16="http://schemas.microsoft.com/office/drawing/2014/main" id="{52781B7A-981C-201F-94A8-E3151EACA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1268" y="3430104"/>
            <a:ext cx="432000" cy="432000"/>
          </a:xfrm>
          <a:prstGeom prst="rect">
            <a:avLst/>
          </a:prstGeom>
        </p:spPr>
      </p:pic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AA05578C-1B23-6816-18D8-3B166F4083E9}"/>
              </a:ext>
            </a:extLst>
          </p:cNvPr>
          <p:cNvSpPr/>
          <p:nvPr/>
        </p:nvSpPr>
        <p:spPr>
          <a:xfrm>
            <a:off x="391724" y="4011984"/>
            <a:ext cx="2894002" cy="1529272"/>
          </a:xfrm>
          <a:prstGeom prst="roundRect">
            <a:avLst>
              <a:gd name="adj" fmla="val 9379"/>
            </a:avLst>
          </a:prstGeom>
          <a:solidFill>
            <a:srgbClr val="FDE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D62DFE0C-ED72-7344-1D77-FEF92B511D95}"/>
              </a:ext>
            </a:extLst>
          </p:cNvPr>
          <p:cNvSpPr txBox="1"/>
          <p:nvPr/>
        </p:nvSpPr>
        <p:spPr>
          <a:xfrm>
            <a:off x="391724" y="4111541"/>
            <a:ext cx="2943434" cy="1369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rgbClr val="C00000"/>
                </a:solidFill>
                <a:latin typeface="Aptos Narrow" panose="020B0004020202020204" pitchFamily="34" charset="0"/>
              </a:rPr>
              <a:t>Requisitos no completados</a:t>
            </a:r>
          </a:p>
          <a:p>
            <a:endParaRPr lang="es-MX" sz="1400" b="1" dirty="0">
              <a:latin typeface="Aptos Narrow" panose="020B0004020202020204" pitchFamily="34" charset="0"/>
            </a:endParaRPr>
          </a:p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No se finalizó el levantamiento de requisitos</a:t>
            </a:r>
          </a:p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funcionales y no funcionales dentro del plazo</a:t>
            </a:r>
          </a:p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establecido, afectando actividades dependientes</a:t>
            </a:r>
          </a:p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como la identificación de actores y casos de uso</a:t>
            </a:r>
          </a:p>
          <a:p>
            <a:r>
              <a:rPr lang="es-MX" sz="1100" dirty="0">
                <a:solidFill>
                  <a:srgbClr val="002060"/>
                </a:solidFill>
                <a:latin typeface="Aptos Narrow" panose="020B0004020202020204" pitchFamily="34" charset="0"/>
              </a:rPr>
              <a:t>y la actualización de la ERS.</a:t>
            </a:r>
            <a:endParaRPr lang="es-CL" sz="1100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93B535D3-AD18-6FCC-99AE-C1000AB7AA99}"/>
              </a:ext>
            </a:extLst>
          </p:cNvPr>
          <p:cNvSpPr/>
          <p:nvPr/>
        </p:nvSpPr>
        <p:spPr>
          <a:xfrm>
            <a:off x="3357751" y="4031708"/>
            <a:ext cx="2550988" cy="1529272"/>
          </a:xfrm>
          <a:prstGeom prst="roundRect">
            <a:avLst>
              <a:gd name="adj" fmla="val 6457"/>
            </a:avLst>
          </a:prstGeom>
          <a:solidFill>
            <a:srgbClr val="D5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000B598A-4A82-9132-92E3-CE540C9A049B}"/>
              </a:ext>
            </a:extLst>
          </p:cNvPr>
          <p:cNvSpPr txBox="1"/>
          <p:nvPr/>
        </p:nvSpPr>
        <p:spPr>
          <a:xfrm>
            <a:off x="3425990" y="4010464"/>
            <a:ext cx="25235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b="1" dirty="0">
                <a:solidFill>
                  <a:schemeClr val="accent1"/>
                </a:solidFill>
                <a:latin typeface="Arial Narrow" panose="020B0606020202030204" pitchFamily="34" charset="0"/>
              </a:rPr>
              <a:t>Impacto</a:t>
            </a:r>
            <a:r>
              <a:rPr lang="es-MX" sz="1050" dirty="0">
                <a:latin typeface="Aptos Narrow" panose="020B0004020202020204" pitchFamily="34" charset="0"/>
              </a:rPr>
              <a:t> </a:t>
            </a:r>
          </a:p>
          <a:p>
            <a:endParaRPr lang="es-MX" sz="1050" dirty="0">
              <a:latin typeface="Aptos Narrow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>
                <a:latin typeface="Aptos Narrow" panose="020B0004020202020204" pitchFamily="34" charset="0"/>
              </a:rPr>
              <a:t>Riesgo de desplazamiento de actividades asociadas al H-02.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>
                <a:latin typeface="Aptos Narrow" panose="020B0004020202020204" pitchFamily="34" charset="0"/>
              </a:rPr>
              <a:t>Posible afectación en la fecha de inicio del desarrollo (H-03) si no se regularizan los pendientes.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>
                <a:latin typeface="Aptos Narrow" panose="020B0004020202020204" pitchFamily="34" charset="0"/>
              </a:rPr>
              <a:t>Requiere acciones correctivas y seguimiento cercano.</a:t>
            </a:r>
            <a:endParaRPr lang="es-CL" sz="1100" dirty="0">
              <a:latin typeface="Aptos Narrow" panose="020B0004020202020204" pitchFamily="34" charset="0"/>
            </a:endParaRPr>
          </a:p>
        </p:txBody>
      </p:sp>
      <p:sp>
        <p:nvSpPr>
          <p:cNvPr id="90" name="Rectángulo: esquinas superiores redondeadas 89">
            <a:extLst>
              <a:ext uri="{FF2B5EF4-FFF2-40B4-BE49-F238E27FC236}">
                <a16:creationId xmlns:a16="http://schemas.microsoft.com/office/drawing/2014/main" id="{5B998E70-DC88-1282-701F-30CD3A9FC804}"/>
              </a:ext>
            </a:extLst>
          </p:cNvPr>
          <p:cNvSpPr/>
          <p:nvPr/>
        </p:nvSpPr>
        <p:spPr>
          <a:xfrm>
            <a:off x="6179893" y="3431382"/>
            <a:ext cx="5760645" cy="499110"/>
          </a:xfrm>
          <a:prstGeom prst="round2SameRect">
            <a:avLst>
              <a:gd name="adj1" fmla="val 18493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53BC7A8B-D336-3B1A-40CA-52B7E8BDA8D0}"/>
              </a:ext>
            </a:extLst>
          </p:cNvPr>
          <p:cNvSpPr txBox="1"/>
          <p:nvPr/>
        </p:nvSpPr>
        <p:spPr>
          <a:xfrm>
            <a:off x="6743595" y="3517175"/>
            <a:ext cx="2416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Foco próxima semana</a:t>
            </a:r>
          </a:p>
        </p:txBody>
      </p:sp>
      <p:sp>
        <p:nvSpPr>
          <p:cNvPr id="94" name="Diagrama de flujo: conector 93">
            <a:extLst>
              <a:ext uri="{FF2B5EF4-FFF2-40B4-BE49-F238E27FC236}">
                <a16:creationId xmlns:a16="http://schemas.microsoft.com/office/drawing/2014/main" id="{E7BF84D9-48F1-E42C-4BCF-57000F8A17F1}"/>
              </a:ext>
            </a:extLst>
          </p:cNvPr>
          <p:cNvSpPr>
            <a:spLocks noChangeAspect="1"/>
          </p:cNvSpPr>
          <p:nvPr/>
        </p:nvSpPr>
        <p:spPr>
          <a:xfrm>
            <a:off x="6263745" y="3488452"/>
            <a:ext cx="400218" cy="396000"/>
          </a:xfrm>
          <a:prstGeom prst="flowChartConnector">
            <a:avLst/>
          </a:prstGeom>
          <a:solidFill>
            <a:srgbClr val="B1C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0549E346-8E2F-84A4-E797-75B2788FB779}"/>
              </a:ext>
            </a:extLst>
          </p:cNvPr>
          <p:cNvSpPr txBox="1"/>
          <p:nvPr/>
        </p:nvSpPr>
        <p:spPr>
          <a:xfrm>
            <a:off x="6257249" y="3517175"/>
            <a:ext cx="397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04</a:t>
            </a:r>
          </a:p>
        </p:txBody>
      </p:sp>
      <p:pic>
        <p:nvPicPr>
          <p:cNvPr id="98" name="Gráfico 97" descr="Bullseye con relleno sólido">
            <a:extLst>
              <a:ext uri="{FF2B5EF4-FFF2-40B4-BE49-F238E27FC236}">
                <a16:creationId xmlns:a16="http://schemas.microsoft.com/office/drawing/2014/main" id="{5E8BB2CB-678A-C6C1-C7DA-053F872B8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49889" y="3427656"/>
            <a:ext cx="435600" cy="435600"/>
          </a:xfrm>
          <a:prstGeom prst="rect">
            <a:avLst/>
          </a:prstGeom>
        </p:spPr>
      </p:pic>
      <p:sp>
        <p:nvSpPr>
          <p:cNvPr id="99" name="CuadroTexto 98">
            <a:extLst>
              <a:ext uri="{FF2B5EF4-FFF2-40B4-BE49-F238E27FC236}">
                <a16:creationId xmlns:a16="http://schemas.microsoft.com/office/drawing/2014/main" id="{20AEECB0-DD95-5C5A-13E9-3A49D2616A84}"/>
              </a:ext>
            </a:extLst>
          </p:cNvPr>
          <p:cNvSpPr txBox="1"/>
          <p:nvPr/>
        </p:nvSpPr>
        <p:spPr>
          <a:xfrm>
            <a:off x="6563878" y="4066317"/>
            <a:ext cx="51908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Completar el levantamiento de requisitos funcionales y no funcionales.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Consolidar y actualizar la 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Finalizar la identificación de actores y casos de uso principales.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Registrar y gestionar las desviaciones detectadas.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Revisar el impacto en la planificación y definir medidas de recuperación.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accent1"/>
                </a:solidFill>
                <a:latin typeface="Arial Narrow" panose="020B0606020202030204" pitchFamily="34" charset="0"/>
              </a:rPr>
              <a:t>Mantener el alineamiento con el equipo de Soporte Informático.</a:t>
            </a:r>
            <a:endParaRPr lang="es-CL" sz="1400" dirty="0">
              <a:solidFill>
                <a:schemeClr val="accent1"/>
              </a:solidFill>
              <a:latin typeface="Arial Narrow" panose="020B0606020202030204" pitchFamily="34" charset="0"/>
            </a:endParaRPr>
          </a:p>
        </p:txBody>
      </p:sp>
      <p:sp>
        <p:nvSpPr>
          <p:cNvPr id="100" name="Rectángulo: esquinas redondeadas 99">
            <a:extLst>
              <a:ext uri="{FF2B5EF4-FFF2-40B4-BE49-F238E27FC236}">
                <a16:creationId xmlns:a16="http://schemas.microsoft.com/office/drawing/2014/main" id="{10E8C2A2-4712-9D92-3945-1C2AD1EA6629}"/>
              </a:ext>
            </a:extLst>
          </p:cNvPr>
          <p:cNvSpPr/>
          <p:nvPr/>
        </p:nvSpPr>
        <p:spPr>
          <a:xfrm>
            <a:off x="251459" y="5742220"/>
            <a:ext cx="11689079" cy="5214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FCC268DF-483F-F7EF-C62B-6A9DB79650FC}"/>
              </a:ext>
            </a:extLst>
          </p:cNvPr>
          <p:cNvSpPr txBox="1"/>
          <p:nvPr/>
        </p:nvSpPr>
        <p:spPr>
          <a:xfrm>
            <a:off x="778472" y="5828068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chemeClr val="bg1"/>
                </a:solidFill>
                <a:latin typeface="Arial Narrow" panose="020B0606020202030204" pitchFamily="34" charset="0"/>
              </a:rPr>
              <a:t>Conclusión</a:t>
            </a:r>
          </a:p>
        </p:txBody>
      </p: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87D48F52-020C-44DE-66CD-B9014C2B60D9}"/>
              </a:ext>
            </a:extLst>
          </p:cNvPr>
          <p:cNvCxnSpPr/>
          <p:nvPr/>
        </p:nvCxnSpPr>
        <p:spPr>
          <a:xfrm>
            <a:off x="2344081" y="5828068"/>
            <a:ext cx="0" cy="3433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9137290A-F1E4-6D06-DABF-6CD25F0C4ED7}"/>
              </a:ext>
            </a:extLst>
          </p:cNvPr>
          <p:cNvSpPr txBox="1"/>
          <p:nvPr/>
        </p:nvSpPr>
        <p:spPr>
          <a:xfrm>
            <a:off x="2403012" y="5730776"/>
            <a:ext cx="7848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chemeClr val="bg1"/>
                </a:solidFill>
                <a:latin typeface="Arial Narrow" panose="020B0606020202030204" pitchFamily="34" charset="0"/>
              </a:rPr>
              <a:t>El proyecto mantiene una condición controlada, pero la Semana 4 será clave para recuperar el cumplimiento de H-02</a:t>
            </a:r>
          </a:p>
          <a:p>
            <a:r>
              <a:rPr lang="es-MX" sz="1400" dirty="0">
                <a:solidFill>
                  <a:schemeClr val="bg1"/>
                </a:solidFill>
                <a:latin typeface="Arial Narrow" panose="020B0606020202030204" pitchFamily="34" charset="0"/>
              </a:rPr>
              <a:t>y evitar que la desviación actual afecte el inicio del desarrollo.</a:t>
            </a:r>
            <a:endParaRPr lang="es-CL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B57B7D39-00B5-594A-8755-9C15326AC3E8}"/>
              </a:ext>
            </a:extLst>
          </p:cNvPr>
          <p:cNvGrpSpPr/>
          <p:nvPr/>
        </p:nvGrpSpPr>
        <p:grpSpPr>
          <a:xfrm>
            <a:off x="388383" y="6330732"/>
            <a:ext cx="4541575" cy="479526"/>
            <a:chOff x="362021" y="6264961"/>
            <a:chExt cx="4541575" cy="479526"/>
          </a:xfrm>
        </p:grpSpPr>
        <p:pic>
          <p:nvPicPr>
            <p:cNvPr id="110" name="Imagen 109">
              <a:extLst>
                <a:ext uri="{FF2B5EF4-FFF2-40B4-BE49-F238E27FC236}">
                  <a16:creationId xmlns:a16="http://schemas.microsoft.com/office/drawing/2014/main" id="{2C43446C-AF3F-A36D-CC8E-790A088B2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BCD5CBB1-2A4E-E92F-4FE0-0BFD718D9C8E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06</a:t>
              </a:r>
            </a:p>
          </p:txBody>
        </p: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F6184C4D-D188-8CE6-289F-4D031B4D1837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FD16F5FC-AD5B-0BD2-EA98-EBC86965147C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DF14B103-24A1-1B8C-7FD9-DF6BA9E53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18665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925</Words>
  <Application>Microsoft Office PowerPoint</Application>
  <PresentationFormat>Panorámica</PresentationFormat>
  <Paragraphs>248</Paragraphs>
  <Slides>6</Slides>
  <Notes>4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Vínculos</vt:lpstr>
      </vt:variant>
      <vt:variant>
        <vt:i4>13</vt:i4>
      </vt:variant>
      <vt:variant>
        <vt:lpstr>Títulos de diapositiva</vt:lpstr>
      </vt:variant>
      <vt:variant>
        <vt:i4>6</vt:i4>
      </vt:variant>
    </vt:vector>
  </HeadingPairs>
  <TitlesOfParts>
    <vt:vector size="26" baseType="lpstr">
      <vt:lpstr>Abadi</vt:lpstr>
      <vt:lpstr>Aptos</vt:lpstr>
      <vt:lpstr>Aptos Display</vt:lpstr>
      <vt:lpstr>Aptos Narrow</vt:lpstr>
      <vt:lpstr>Arial</vt:lpstr>
      <vt:lpstr>Arial Narrow</vt:lpstr>
      <vt:lpstr>Tema de Office</vt:lpstr>
      <vt:lpstr>file:///C:\Users\carlo\Desktop\CAPSTONE\PLAN_MAESTRO.xlsx!Dashboard!F3C2</vt:lpstr>
      <vt:lpstr>file:///C:\Users\carlo\Desktop\CAPSTONE\PLAN_MAESTRO.xlsx!Dashboard!F3C7</vt:lpstr>
      <vt:lpstr>file:///C:\Users\carlo\Desktop\CAPSTONE\PLAN_MAESTRO.xlsx!Dashboard!F3C8</vt:lpstr>
      <vt:lpstr>file:///C:\Users\carlo\Desktop\CAPSTONE\PLAN_MAESTRO.xlsx!Dashboard!F3C10</vt:lpstr>
      <vt:lpstr>file:///C:\Users\carlo\Desktop\CAPSTONE\PLAN_MAESTRO.xlsx!Dashboard!F3C3</vt:lpstr>
      <vt:lpstr>file:///C:\Users\carlo\Desktop\CAPSTONE\PLAN_MAESTRO.xlsx!Dashboard!F3C4</vt:lpstr>
      <vt:lpstr>file:///C:\Users\carlo\Desktop\CAPSTONE\PLAN_MAESTRO.xlsx!Dashboard!F4C5</vt:lpstr>
      <vt:lpstr>file:///C:\Users\carlo\Desktop\CAPSTONE\PLAN_MAESTRO.xlsx!Dashboard!F3C1</vt:lpstr>
      <vt:lpstr>file:///C:\Users\carlo\Desktop\CAPSTONE\PLAN_MAESTRO.xlsx!Dashboard!F3C1</vt:lpstr>
      <vt:lpstr>file:///C:\Users\carlo\Desktop\CAPSTONE\PLAN_MAESTRO.xlsx!Dashboard!F3C9</vt:lpstr>
      <vt:lpstr>file:///C:\Users\carlo\Desktop\CAPSTONE\PLAN_MAESTRO.xlsx!Dashboard!F3C11</vt:lpstr>
      <vt:lpstr>file:///C:\Users\carlo\Desktop\CAPSTONE\PLAN_MAESTRO.xlsx!Dashboard!%5bPLAN_MAESTRO.xlsx%5dDashboard%20Gráfico%205</vt:lpstr>
      <vt:lpstr>file:///C:\Users\carlo\Desktop\CAPSTONE\PLAN_MAESTRO.xlsx!Dashboard!F3C10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araya</dc:creator>
  <cp:lastModifiedBy>ruben mansilla</cp:lastModifiedBy>
  <cp:revision>23</cp:revision>
  <dcterms:created xsi:type="dcterms:W3CDTF">2026-08-24T16:52:46Z</dcterms:created>
  <dcterms:modified xsi:type="dcterms:W3CDTF">2026-09-13T18:25:40Z</dcterms:modified>
</cp:coreProperties>
</file>