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8"/>
  </p:notesMasterIdLst>
  <p:sldIdLst>
    <p:sldId id="256" r:id="rId2"/>
    <p:sldId id="257" r:id="rId3"/>
    <p:sldId id="259" r:id="rId4"/>
    <p:sldId id="258" r:id="rId5"/>
    <p:sldId id="260" r:id="rId6"/>
    <p:sldId id="261" r:id="rId7"/>
  </p:sldIdLst>
  <p:sldSz cx="104394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DF8"/>
    <a:srgbClr val="156082"/>
    <a:srgbClr val="F5F7F9"/>
    <a:srgbClr val="EEF3F6"/>
    <a:srgbClr val="EFE9E4"/>
    <a:srgbClr val="E6EDF1"/>
    <a:srgbClr val="EAEEF1"/>
    <a:srgbClr val="93B9D3"/>
    <a:srgbClr val="3362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941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5FA812-7500-4845-BEBA-5DA80ADC7E60}" type="datetimeFigureOut">
              <a:rPr lang="es-CL" smtClean="0"/>
              <a:t>23-09-2026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108200" y="1143000"/>
            <a:ext cx="26416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7F5C10-7DA0-4482-9236-290EEE191F1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03752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7F5C10-7DA0-4482-9236-290EEE191F1B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386538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25CEB-395D-BDDA-6FB7-F2F3265D6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1D0E8E2-7FBB-AF7C-D789-84D774347F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94DC34F-8E08-6F54-ADFE-A40E62E13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A1A0A6F-68B9-3AF0-3101-EABD75E189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7F5C10-7DA0-4482-9236-290EEE191F1B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81157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6003B-6B17-7ED2-A11E-3316E317D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8234942-0623-3E69-6685-AA24492C20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0072E3B-42B2-35EC-9BCD-B2DDF30056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A3069F9-155C-8BC1-B8BF-492820F3D2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7F5C10-7DA0-4482-9236-290EEE191F1B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018910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693E9-8B55-30F6-B79B-2041781A7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AE48BEF-5ED1-BD36-5D20-2EBC4A843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17DE215-F4A9-1AEB-C33A-8B54E0B770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9E4643A-0DC9-658E-1B57-A2D5B55562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7F5C10-7DA0-4482-9236-290EEE191F1B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588376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554F7-7CBD-4233-E092-A764E07F7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2BB836F-A752-3592-CF5D-35C1BD9DEB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BC07911-AE18-1C9D-EA22-5310B91D82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6CB8C38-50EC-5958-4E18-21C3FD1285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7F5C10-7DA0-4482-9236-290EEE191F1B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953290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C28F5-C8EB-3921-2EE4-98C163538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874364F-FC1D-461C-D448-0FE7C82439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15C1981-EF4D-CC27-BB5D-454A72D81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886FD45-A375-2859-B360-511A684004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7F5C10-7DA0-4482-9236-290EEE191F1B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14848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2955" y="1995312"/>
            <a:ext cx="8873490" cy="4244622"/>
          </a:xfrm>
        </p:spPr>
        <p:txBody>
          <a:bodyPr anchor="b"/>
          <a:lstStyle>
            <a:lvl1pPr algn="ctr">
              <a:defRPr sz="685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4925" y="6403623"/>
            <a:ext cx="7829550" cy="2943577"/>
          </a:xfrm>
        </p:spPr>
        <p:txBody>
          <a:bodyPr/>
          <a:lstStyle>
            <a:lvl1pPr marL="0" indent="0" algn="ctr">
              <a:buNone/>
              <a:defRPr sz="2740"/>
            </a:lvl1pPr>
            <a:lvl2pPr marL="521985" indent="0" algn="ctr">
              <a:buNone/>
              <a:defRPr sz="2283"/>
            </a:lvl2pPr>
            <a:lvl3pPr marL="1043970" indent="0" algn="ctr">
              <a:buNone/>
              <a:defRPr sz="2055"/>
            </a:lvl3pPr>
            <a:lvl4pPr marL="1565956" indent="0" algn="ctr">
              <a:buNone/>
              <a:defRPr sz="1827"/>
            </a:lvl4pPr>
            <a:lvl5pPr marL="2087941" indent="0" algn="ctr">
              <a:buNone/>
              <a:defRPr sz="1827"/>
            </a:lvl5pPr>
            <a:lvl6pPr marL="2609926" indent="0" algn="ctr">
              <a:buNone/>
              <a:defRPr sz="1827"/>
            </a:lvl6pPr>
            <a:lvl7pPr marL="3131911" indent="0" algn="ctr">
              <a:buNone/>
              <a:defRPr sz="1827"/>
            </a:lvl7pPr>
            <a:lvl8pPr marL="3653897" indent="0" algn="ctr">
              <a:buNone/>
              <a:defRPr sz="1827"/>
            </a:lvl8pPr>
            <a:lvl9pPr marL="4175882" indent="0" algn="ctr">
              <a:buNone/>
              <a:defRPr sz="1827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4B222-0159-45E5-A793-25FAF74BE226}" type="datetimeFigureOut">
              <a:rPr lang="es-CL" smtClean="0"/>
              <a:t>23-09-2026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C622-B294-4AFA-B5EA-5E452935A3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72401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4B222-0159-45E5-A793-25FAF74BE226}" type="datetimeFigureOut">
              <a:rPr lang="es-CL" smtClean="0"/>
              <a:t>23-09-2026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C622-B294-4AFA-B5EA-5E452935A3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63525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272" y="3039537"/>
            <a:ext cx="9003983" cy="5071532"/>
          </a:xfrm>
        </p:spPr>
        <p:txBody>
          <a:bodyPr anchor="b"/>
          <a:lstStyle>
            <a:lvl1pPr>
              <a:defRPr sz="685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2272" y="8159048"/>
            <a:ext cx="9003983" cy="2666999"/>
          </a:xfrm>
        </p:spPr>
        <p:txBody>
          <a:bodyPr/>
          <a:lstStyle>
            <a:lvl1pPr marL="0" indent="0">
              <a:buNone/>
              <a:defRPr sz="2740">
                <a:solidFill>
                  <a:schemeClr val="tx1">
                    <a:tint val="82000"/>
                  </a:schemeClr>
                </a:solidFill>
              </a:defRPr>
            </a:lvl1pPr>
            <a:lvl2pPr marL="521985" indent="0">
              <a:buNone/>
              <a:defRPr sz="2283">
                <a:solidFill>
                  <a:schemeClr val="tx1">
                    <a:tint val="82000"/>
                  </a:schemeClr>
                </a:solidFill>
              </a:defRPr>
            </a:lvl2pPr>
            <a:lvl3pPr marL="1043970" indent="0">
              <a:buNone/>
              <a:defRPr sz="2055">
                <a:solidFill>
                  <a:schemeClr val="tx1">
                    <a:tint val="82000"/>
                  </a:schemeClr>
                </a:solidFill>
              </a:defRPr>
            </a:lvl3pPr>
            <a:lvl4pPr marL="1565956" indent="0">
              <a:buNone/>
              <a:defRPr sz="1827">
                <a:solidFill>
                  <a:schemeClr val="tx1">
                    <a:tint val="82000"/>
                  </a:schemeClr>
                </a:solidFill>
              </a:defRPr>
            </a:lvl4pPr>
            <a:lvl5pPr marL="2087941" indent="0">
              <a:buNone/>
              <a:defRPr sz="1827">
                <a:solidFill>
                  <a:schemeClr val="tx1">
                    <a:tint val="82000"/>
                  </a:schemeClr>
                </a:solidFill>
              </a:defRPr>
            </a:lvl5pPr>
            <a:lvl6pPr marL="2609926" indent="0">
              <a:buNone/>
              <a:defRPr sz="1827">
                <a:solidFill>
                  <a:schemeClr val="tx1">
                    <a:tint val="82000"/>
                  </a:schemeClr>
                </a:solidFill>
              </a:defRPr>
            </a:lvl6pPr>
            <a:lvl7pPr marL="3131911" indent="0">
              <a:buNone/>
              <a:defRPr sz="1827">
                <a:solidFill>
                  <a:schemeClr val="tx1">
                    <a:tint val="82000"/>
                  </a:schemeClr>
                </a:solidFill>
              </a:defRPr>
            </a:lvl7pPr>
            <a:lvl8pPr marL="3653897" indent="0">
              <a:buNone/>
              <a:defRPr sz="1827">
                <a:solidFill>
                  <a:schemeClr val="tx1">
                    <a:tint val="82000"/>
                  </a:schemeClr>
                </a:solidFill>
              </a:defRPr>
            </a:lvl8pPr>
            <a:lvl9pPr marL="4175882" indent="0">
              <a:buNone/>
              <a:defRPr sz="182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4B222-0159-45E5-A793-25FAF74BE226}" type="datetimeFigureOut">
              <a:rPr lang="es-CL" smtClean="0"/>
              <a:t>23-09-2026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C622-B294-4AFA-B5EA-5E452935A3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83006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7709" y="3245556"/>
            <a:ext cx="4436745" cy="773571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84946" y="3245556"/>
            <a:ext cx="4436745" cy="773571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4B222-0159-45E5-A793-25FAF74BE226}" type="datetimeFigureOut">
              <a:rPr lang="es-CL" smtClean="0"/>
              <a:t>23-09-2026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C622-B294-4AFA-B5EA-5E452935A3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83470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068" y="649114"/>
            <a:ext cx="9003983" cy="2356556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070" y="2988734"/>
            <a:ext cx="4416355" cy="1464732"/>
          </a:xfrm>
        </p:spPr>
        <p:txBody>
          <a:bodyPr anchor="b"/>
          <a:lstStyle>
            <a:lvl1pPr marL="0" indent="0">
              <a:buNone/>
              <a:defRPr sz="2740" b="1"/>
            </a:lvl1pPr>
            <a:lvl2pPr marL="521985" indent="0">
              <a:buNone/>
              <a:defRPr sz="2283" b="1"/>
            </a:lvl2pPr>
            <a:lvl3pPr marL="1043970" indent="0">
              <a:buNone/>
              <a:defRPr sz="2055" b="1"/>
            </a:lvl3pPr>
            <a:lvl4pPr marL="1565956" indent="0">
              <a:buNone/>
              <a:defRPr sz="1827" b="1"/>
            </a:lvl4pPr>
            <a:lvl5pPr marL="2087941" indent="0">
              <a:buNone/>
              <a:defRPr sz="1827" b="1"/>
            </a:lvl5pPr>
            <a:lvl6pPr marL="2609926" indent="0">
              <a:buNone/>
              <a:defRPr sz="1827" b="1"/>
            </a:lvl6pPr>
            <a:lvl7pPr marL="3131911" indent="0">
              <a:buNone/>
              <a:defRPr sz="1827" b="1"/>
            </a:lvl7pPr>
            <a:lvl8pPr marL="3653897" indent="0">
              <a:buNone/>
              <a:defRPr sz="1827" b="1"/>
            </a:lvl8pPr>
            <a:lvl9pPr marL="4175882" indent="0">
              <a:buNone/>
              <a:defRPr sz="1827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0" y="4453467"/>
            <a:ext cx="4416355" cy="6550379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84947" y="2988734"/>
            <a:ext cx="4438105" cy="1464732"/>
          </a:xfrm>
        </p:spPr>
        <p:txBody>
          <a:bodyPr anchor="b"/>
          <a:lstStyle>
            <a:lvl1pPr marL="0" indent="0">
              <a:buNone/>
              <a:defRPr sz="2740" b="1"/>
            </a:lvl1pPr>
            <a:lvl2pPr marL="521985" indent="0">
              <a:buNone/>
              <a:defRPr sz="2283" b="1"/>
            </a:lvl2pPr>
            <a:lvl3pPr marL="1043970" indent="0">
              <a:buNone/>
              <a:defRPr sz="2055" b="1"/>
            </a:lvl3pPr>
            <a:lvl4pPr marL="1565956" indent="0">
              <a:buNone/>
              <a:defRPr sz="1827" b="1"/>
            </a:lvl4pPr>
            <a:lvl5pPr marL="2087941" indent="0">
              <a:buNone/>
              <a:defRPr sz="1827" b="1"/>
            </a:lvl5pPr>
            <a:lvl6pPr marL="2609926" indent="0">
              <a:buNone/>
              <a:defRPr sz="1827" b="1"/>
            </a:lvl6pPr>
            <a:lvl7pPr marL="3131911" indent="0">
              <a:buNone/>
              <a:defRPr sz="1827" b="1"/>
            </a:lvl7pPr>
            <a:lvl8pPr marL="3653897" indent="0">
              <a:buNone/>
              <a:defRPr sz="1827" b="1"/>
            </a:lvl8pPr>
            <a:lvl9pPr marL="4175882" indent="0">
              <a:buNone/>
              <a:defRPr sz="1827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84947" y="4453467"/>
            <a:ext cx="4438105" cy="6550379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4B222-0159-45E5-A793-25FAF74BE226}" type="datetimeFigureOut">
              <a:rPr lang="es-CL" smtClean="0"/>
              <a:t>23-09-2026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C622-B294-4AFA-B5EA-5E452935A3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48451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4B222-0159-45E5-A793-25FAF74BE226}" type="datetimeFigureOut">
              <a:rPr lang="es-CL" smtClean="0"/>
              <a:t>23-09-2026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C622-B294-4AFA-B5EA-5E452935A3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81539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4B222-0159-45E5-A793-25FAF74BE226}" type="datetimeFigureOut">
              <a:rPr lang="es-CL" smtClean="0"/>
              <a:t>23-09-2026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C622-B294-4AFA-B5EA-5E452935A3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41448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069" y="812800"/>
            <a:ext cx="3366978" cy="2844800"/>
          </a:xfrm>
        </p:spPr>
        <p:txBody>
          <a:bodyPr anchor="b"/>
          <a:lstStyle>
            <a:lvl1pPr>
              <a:defRPr sz="3653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8105" y="1755425"/>
            <a:ext cx="5284946" cy="8664222"/>
          </a:xfrm>
        </p:spPr>
        <p:txBody>
          <a:bodyPr/>
          <a:lstStyle>
            <a:lvl1pPr>
              <a:defRPr sz="3653"/>
            </a:lvl1pPr>
            <a:lvl2pPr>
              <a:defRPr sz="3197"/>
            </a:lvl2pPr>
            <a:lvl3pPr>
              <a:defRPr sz="2740"/>
            </a:lvl3pPr>
            <a:lvl4pPr>
              <a:defRPr sz="2283"/>
            </a:lvl4pPr>
            <a:lvl5pPr>
              <a:defRPr sz="2283"/>
            </a:lvl5pPr>
            <a:lvl6pPr>
              <a:defRPr sz="2283"/>
            </a:lvl6pPr>
            <a:lvl7pPr>
              <a:defRPr sz="2283"/>
            </a:lvl7pPr>
            <a:lvl8pPr>
              <a:defRPr sz="2283"/>
            </a:lvl8pPr>
            <a:lvl9pPr>
              <a:defRPr sz="2283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9069" y="3657600"/>
            <a:ext cx="3366978" cy="6776156"/>
          </a:xfrm>
        </p:spPr>
        <p:txBody>
          <a:bodyPr/>
          <a:lstStyle>
            <a:lvl1pPr marL="0" indent="0">
              <a:buNone/>
              <a:defRPr sz="1827"/>
            </a:lvl1pPr>
            <a:lvl2pPr marL="521985" indent="0">
              <a:buNone/>
              <a:defRPr sz="1598"/>
            </a:lvl2pPr>
            <a:lvl3pPr marL="1043970" indent="0">
              <a:buNone/>
              <a:defRPr sz="1370"/>
            </a:lvl3pPr>
            <a:lvl4pPr marL="1565956" indent="0">
              <a:buNone/>
              <a:defRPr sz="1142"/>
            </a:lvl4pPr>
            <a:lvl5pPr marL="2087941" indent="0">
              <a:buNone/>
              <a:defRPr sz="1142"/>
            </a:lvl5pPr>
            <a:lvl6pPr marL="2609926" indent="0">
              <a:buNone/>
              <a:defRPr sz="1142"/>
            </a:lvl6pPr>
            <a:lvl7pPr marL="3131911" indent="0">
              <a:buNone/>
              <a:defRPr sz="1142"/>
            </a:lvl7pPr>
            <a:lvl8pPr marL="3653897" indent="0">
              <a:buNone/>
              <a:defRPr sz="1142"/>
            </a:lvl8pPr>
            <a:lvl9pPr marL="4175882" indent="0">
              <a:buNone/>
              <a:defRPr sz="1142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4B222-0159-45E5-A793-25FAF74BE226}" type="datetimeFigureOut">
              <a:rPr lang="es-CL" smtClean="0"/>
              <a:t>23-09-2026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C622-B294-4AFA-B5EA-5E452935A3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12534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069" y="812800"/>
            <a:ext cx="3366978" cy="2844800"/>
          </a:xfrm>
        </p:spPr>
        <p:txBody>
          <a:bodyPr anchor="b"/>
          <a:lstStyle>
            <a:lvl1pPr>
              <a:defRPr sz="3653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38105" y="1755425"/>
            <a:ext cx="5284946" cy="8664222"/>
          </a:xfrm>
        </p:spPr>
        <p:txBody>
          <a:bodyPr anchor="t"/>
          <a:lstStyle>
            <a:lvl1pPr marL="0" indent="0">
              <a:buNone/>
              <a:defRPr sz="3653"/>
            </a:lvl1pPr>
            <a:lvl2pPr marL="521985" indent="0">
              <a:buNone/>
              <a:defRPr sz="3197"/>
            </a:lvl2pPr>
            <a:lvl3pPr marL="1043970" indent="0">
              <a:buNone/>
              <a:defRPr sz="2740"/>
            </a:lvl3pPr>
            <a:lvl4pPr marL="1565956" indent="0">
              <a:buNone/>
              <a:defRPr sz="2283"/>
            </a:lvl4pPr>
            <a:lvl5pPr marL="2087941" indent="0">
              <a:buNone/>
              <a:defRPr sz="2283"/>
            </a:lvl5pPr>
            <a:lvl6pPr marL="2609926" indent="0">
              <a:buNone/>
              <a:defRPr sz="2283"/>
            </a:lvl6pPr>
            <a:lvl7pPr marL="3131911" indent="0">
              <a:buNone/>
              <a:defRPr sz="2283"/>
            </a:lvl7pPr>
            <a:lvl8pPr marL="3653897" indent="0">
              <a:buNone/>
              <a:defRPr sz="2283"/>
            </a:lvl8pPr>
            <a:lvl9pPr marL="4175882" indent="0">
              <a:buNone/>
              <a:defRPr sz="2283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9069" y="3657600"/>
            <a:ext cx="3366978" cy="6776156"/>
          </a:xfrm>
        </p:spPr>
        <p:txBody>
          <a:bodyPr/>
          <a:lstStyle>
            <a:lvl1pPr marL="0" indent="0">
              <a:buNone/>
              <a:defRPr sz="1827"/>
            </a:lvl1pPr>
            <a:lvl2pPr marL="521985" indent="0">
              <a:buNone/>
              <a:defRPr sz="1598"/>
            </a:lvl2pPr>
            <a:lvl3pPr marL="1043970" indent="0">
              <a:buNone/>
              <a:defRPr sz="1370"/>
            </a:lvl3pPr>
            <a:lvl4pPr marL="1565956" indent="0">
              <a:buNone/>
              <a:defRPr sz="1142"/>
            </a:lvl4pPr>
            <a:lvl5pPr marL="2087941" indent="0">
              <a:buNone/>
              <a:defRPr sz="1142"/>
            </a:lvl5pPr>
            <a:lvl6pPr marL="2609926" indent="0">
              <a:buNone/>
              <a:defRPr sz="1142"/>
            </a:lvl6pPr>
            <a:lvl7pPr marL="3131911" indent="0">
              <a:buNone/>
              <a:defRPr sz="1142"/>
            </a:lvl7pPr>
            <a:lvl8pPr marL="3653897" indent="0">
              <a:buNone/>
              <a:defRPr sz="1142"/>
            </a:lvl8pPr>
            <a:lvl9pPr marL="4175882" indent="0">
              <a:buNone/>
              <a:defRPr sz="1142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4B222-0159-45E5-A793-25FAF74BE226}" type="datetimeFigureOut">
              <a:rPr lang="es-CL" smtClean="0"/>
              <a:t>23-09-2026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C622-B294-4AFA-B5EA-5E452935A3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86201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4B222-0159-45E5-A793-25FAF74BE226}" type="datetimeFigureOut">
              <a:rPr lang="es-CL" smtClean="0"/>
              <a:t>23-09-2026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C622-B294-4AFA-B5EA-5E452935A3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74386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70696" y="649111"/>
            <a:ext cx="2250996" cy="10332156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7710" y="649111"/>
            <a:ext cx="6622494" cy="10332156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4B222-0159-45E5-A793-25FAF74BE226}" type="datetimeFigureOut">
              <a:rPr lang="es-CL" smtClean="0"/>
              <a:t>23-09-2026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1C622-B294-4AFA-B5EA-5E452935A3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23067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709" y="649114"/>
            <a:ext cx="9003983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709" y="3245556"/>
            <a:ext cx="9003983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7709" y="11300181"/>
            <a:ext cx="234886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7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A4B222-0159-45E5-A793-25FAF74BE226}" type="datetimeFigureOut">
              <a:rPr lang="es-CL" smtClean="0"/>
              <a:t>23-09-2026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8051" y="11300181"/>
            <a:ext cx="3523298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7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72826" y="11300181"/>
            <a:ext cx="234886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7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B1C622-B294-4AFA-B5EA-5E452935A3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71615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43970" rtl="0" eaLnBrk="1" latinLnBrk="0" hangingPunct="1">
        <a:lnSpc>
          <a:spcPct val="90000"/>
        </a:lnSpc>
        <a:spcBef>
          <a:spcPct val="0"/>
        </a:spcBef>
        <a:buNone/>
        <a:defRPr sz="50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0993" indent="-260993" algn="l" defTabSz="1043970" rtl="0" eaLnBrk="1" latinLnBrk="0" hangingPunct="1">
        <a:lnSpc>
          <a:spcPct val="90000"/>
        </a:lnSpc>
        <a:spcBef>
          <a:spcPts val="1142"/>
        </a:spcBef>
        <a:buFont typeface="Arial" panose="020B0604020202020204" pitchFamily="34" charset="0"/>
        <a:buChar char="•"/>
        <a:defRPr sz="3197" kern="1200">
          <a:solidFill>
            <a:schemeClr val="tx1"/>
          </a:solidFill>
          <a:latin typeface="+mn-lt"/>
          <a:ea typeface="+mn-ea"/>
          <a:cs typeface="+mn-cs"/>
        </a:defRPr>
      </a:lvl1pPr>
      <a:lvl2pPr marL="782978" indent="-260993" algn="l" defTabSz="1043970" rtl="0" eaLnBrk="1" latinLnBrk="0" hangingPunct="1">
        <a:lnSpc>
          <a:spcPct val="90000"/>
        </a:lnSpc>
        <a:spcBef>
          <a:spcPts val="571"/>
        </a:spcBef>
        <a:buFont typeface="Arial" panose="020B0604020202020204" pitchFamily="34" charset="0"/>
        <a:buChar char="•"/>
        <a:defRPr sz="2740" kern="1200">
          <a:solidFill>
            <a:schemeClr val="tx1"/>
          </a:solidFill>
          <a:latin typeface="+mn-lt"/>
          <a:ea typeface="+mn-ea"/>
          <a:cs typeface="+mn-cs"/>
        </a:defRPr>
      </a:lvl2pPr>
      <a:lvl3pPr marL="1304963" indent="-260993" algn="l" defTabSz="1043970" rtl="0" eaLnBrk="1" latinLnBrk="0" hangingPunct="1">
        <a:lnSpc>
          <a:spcPct val="90000"/>
        </a:lnSpc>
        <a:spcBef>
          <a:spcPts val="571"/>
        </a:spcBef>
        <a:buFont typeface="Arial" panose="020B0604020202020204" pitchFamily="34" charset="0"/>
        <a:buChar char="•"/>
        <a:defRPr sz="2283" kern="1200">
          <a:solidFill>
            <a:schemeClr val="tx1"/>
          </a:solidFill>
          <a:latin typeface="+mn-lt"/>
          <a:ea typeface="+mn-ea"/>
          <a:cs typeface="+mn-cs"/>
        </a:defRPr>
      </a:lvl3pPr>
      <a:lvl4pPr marL="1826948" indent="-260993" algn="l" defTabSz="1043970" rtl="0" eaLnBrk="1" latinLnBrk="0" hangingPunct="1">
        <a:lnSpc>
          <a:spcPct val="90000"/>
        </a:lnSpc>
        <a:spcBef>
          <a:spcPts val="571"/>
        </a:spcBef>
        <a:buFont typeface="Arial" panose="020B0604020202020204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4pPr>
      <a:lvl5pPr marL="2348934" indent="-260993" algn="l" defTabSz="1043970" rtl="0" eaLnBrk="1" latinLnBrk="0" hangingPunct="1">
        <a:lnSpc>
          <a:spcPct val="90000"/>
        </a:lnSpc>
        <a:spcBef>
          <a:spcPts val="571"/>
        </a:spcBef>
        <a:buFont typeface="Arial" panose="020B0604020202020204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5pPr>
      <a:lvl6pPr marL="2870919" indent="-260993" algn="l" defTabSz="1043970" rtl="0" eaLnBrk="1" latinLnBrk="0" hangingPunct="1">
        <a:lnSpc>
          <a:spcPct val="90000"/>
        </a:lnSpc>
        <a:spcBef>
          <a:spcPts val="571"/>
        </a:spcBef>
        <a:buFont typeface="Arial" panose="020B0604020202020204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6pPr>
      <a:lvl7pPr marL="3392904" indent="-260993" algn="l" defTabSz="1043970" rtl="0" eaLnBrk="1" latinLnBrk="0" hangingPunct="1">
        <a:lnSpc>
          <a:spcPct val="90000"/>
        </a:lnSpc>
        <a:spcBef>
          <a:spcPts val="571"/>
        </a:spcBef>
        <a:buFont typeface="Arial" panose="020B0604020202020204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7pPr>
      <a:lvl8pPr marL="3914889" indent="-260993" algn="l" defTabSz="1043970" rtl="0" eaLnBrk="1" latinLnBrk="0" hangingPunct="1">
        <a:lnSpc>
          <a:spcPct val="90000"/>
        </a:lnSpc>
        <a:spcBef>
          <a:spcPts val="571"/>
        </a:spcBef>
        <a:buFont typeface="Arial" panose="020B0604020202020204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8pPr>
      <a:lvl9pPr marL="4436875" indent="-260993" algn="l" defTabSz="1043970" rtl="0" eaLnBrk="1" latinLnBrk="0" hangingPunct="1">
        <a:lnSpc>
          <a:spcPct val="90000"/>
        </a:lnSpc>
        <a:spcBef>
          <a:spcPts val="571"/>
        </a:spcBef>
        <a:buFont typeface="Arial" panose="020B0604020202020204" pitchFamily="34" charset="0"/>
        <a:buChar char="•"/>
        <a:defRPr sz="20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4397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1pPr>
      <a:lvl2pPr marL="521985" algn="l" defTabSz="104397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2pPr>
      <a:lvl3pPr marL="1043970" algn="l" defTabSz="104397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3pPr>
      <a:lvl4pPr marL="1565956" algn="l" defTabSz="104397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4pPr>
      <a:lvl5pPr marL="2087941" algn="l" defTabSz="104397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5pPr>
      <a:lvl6pPr marL="2609926" algn="l" defTabSz="104397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6pPr>
      <a:lvl7pPr marL="3131911" algn="l" defTabSz="104397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7pPr>
      <a:lvl8pPr marL="3653897" algn="l" defTabSz="104397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8pPr>
      <a:lvl9pPr marL="4175882" algn="l" defTabSz="1043970" rtl="0" eaLnBrk="1" latinLnBrk="0" hangingPunct="1">
        <a:defRPr sz="20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11.svg"/><Relationship Id="rId5" Type="http://schemas.openxmlformats.org/officeDocument/2006/relationships/image" Target="../media/image3.svg"/><Relationship Id="rId10" Type="http://schemas.openxmlformats.org/officeDocument/2006/relationships/image" Target="../media/image10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12" Type="http://schemas.openxmlformats.org/officeDocument/2006/relationships/image" Target="../media/image1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14.svg"/><Relationship Id="rId5" Type="http://schemas.openxmlformats.org/officeDocument/2006/relationships/image" Target="../media/image3.svg"/><Relationship Id="rId10" Type="http://schemas.openxmlformats.org/officeDocument/2006/relationships/image" Target="../media/image13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17.svg"/><Relationship Id="rId5" Type="http://schemas.openxmlformats.org/officeDocument/2006/relationships/image" Target="../media/image3.svg"/><Relationship Id="rId10" Type="http://schemas.openxmlformats.org/officeDocument/2006/relationships/image" Target="../media/image16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20.svg"/><Relationship Id="rId5" Type="http://schemas.openxmlformats.org/officeDocument/2006/relationships/image" Target="../media/image3.svg"/><Relationship Id="rId10" Type="http://schemas.openxmlformats.org/officeDocument/2006/relationships/image" Target="../media/image19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12" Type="http://schemas.openxmlformats.org/officeDocument/2006/relationships/image" Target="../media/image2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8.svg"/><Relationship Id="rId5" Type="http://schemas.openxmlformats.org/officeDocument/2006/relationships/image" Target="../media/image3.svg"/><Relationship Id="rId10" Type="http://schemas.openxmlformats.org/officeDocument/2006/relationships/image" Target="../media/image16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C55330A4-2171-38EA-4393-E46A2F02D36E}"/>
              </a:ext>
            </a:extLst>
          </p:cNvPr>
          <p:cNvSpPr/>
          <p:nvPr/>
        </p:nvSpPr>
        <p:spPr>
          <a:xfrm>
            <a:off x="283840" y="137159"/>
            <a:ext cx="9885047" cy="621030"/>
          </a:xfrm>
          <a:prstGeom prst="roundRect">
            <a:avLst>
              <a:gd name="adj" fmla="val 12986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67DCB5E-FDB9-0FBB-932D-2C5036F41F7F}"/>
              </a:ext>
            </a:extLst>
          </p:cNvPr>
          <p:cNvSpPr txBox="1"/>
          <p:nvPr/>
        </p:nvSpPr>
        <p:spPr>
          <a:xfrm>
            <a:off x="396240" y="173415"/>
            <a:ext cx="42594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200" b="1" spc="-150" dirty="0">
                <a:solidFill>
                  <a:schemeClr val="bg1"/>
                </a:solidFill>
                <a:latin typeface="Aptos Narrow" panose="020B0004020202020204" pitchFamily="34" charset="0"/>
              </a:rPr>
              <a:t>Escenario de Calidad N.º  1</a:t>
            </a:r>
          </a:p>
        </p:txBody>
      </p:sp>
      <p:sp>
        <p:nvSpPr>
          <p:cNvPr id="13" name="Rectángulo: esquinas superiores redondeadas 12">
            <a:extLst>
              <a:ext uri="{FF2B5EF4-FFF2-40B4-BE49-F238E27FC236}">
                <a16:creationId xmlns:a16="http://schemas.microsoft.com/office/drawing/2014/main" id="{AF6FBA9A-8AA9-3A71-A313-DCC60928C3CD}"/>
              </a:ext>
            </a:extLst>
          </p:cNvPr>
          <p:cNvSpPr/>
          <p:nvPr/>
        </p:nvSpPr>
        <p:spPr>
          <a:xfrm rot="5400000">
            <a:off x="9023955" y="-386743"/>
            <a:ext cx="621031" cy="1668833"/>
          </a:xfrm>
          <a:prstGeom prst="round2SameRect">
            <a:avLst>
              <a:gd name="adj1" fmla="val 14593"/>
              <a:gd name="adj2" fmla="val 0"/>
            </a:avLst>
          </a:prstGeom>
          <a:solidFill>
            <a:srgbClr val="93B9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4C89985-4D26-2634-C1AC-351EA2057B4A}"/>
              </a:ext>
            </a:extLst>
          </p:cNvPr>
          <p:cNvSpPr txBox="1"/>
          <p:nvPr/>
        </p:nvSpPr>
        <p:spPr>
          <a:xfrm>
            <a:off x="8677398" y="234969"/>
            <a:ext cx="1478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>
                <a:solidFill>
                  <a:srgbClr val="002060"/>
                </a:solidFill>
              </a:rPr>
              <a:t>ID: EC-01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7F895AFB-5583-0356-B8D4-1A01DDB5ECBC}"/>
              </a:ext>
            </a:extLst>
          </p:cNvPr>
          <p:cNvSpPr/>
          <p:nvPr/>
        </p:nvSpPr>
        <p:spPr>
          <a:xfrm>
            <a:off x="283840" y="794444"/>
            <a:ext cx="9885047" cy="2053530"/>
          </a:xfrm>
          <a:prstGeom prst="roundRect">
            <a:avLst>
              <a:gd name="adj" fmla="val 3680"/>
            </a:avLst>
          </a:prstGeom>
          <a:solidFill>
            <a:srgbClr val="93B9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Rectángulo: esquinas superiores redondeadas 17">
            <a:extLst>
              <a:ext uri="{FF2B5EF4-FFF2-40B4-BE49-F238E27FC236}">
                <a16:creationId xmlns:a16="http://schemas.microsoft.com/office/drawing/2014/main" id="{8D615BE1-B079-B866-4C0B-52B9BBAC42C3}"/>
              </a:ext>
            </a:extLst>
          </p:cNvPr>
          <p:cNvSpPr/>
          <p:nvPr/>
        </p:nvSpPr>
        <p:spPr>
          <a:xfrm rot="5400000">
            <a:off x="5906790" y="-1412778"/>
            <a:ext cx="2053530" cy="6470664"/>
          </a:xfrm>
          <a:prstGeom prst="round2SameRect">
            <a:avLst>
              <a:gd name="adj1" fmla="val 4338"/>
              <a:gd name="adj2" fmla="val 0"/>
            </a:avLst>
          </a:prstGeom>
          <a:solidFill>
            <a:srgbClr val="E6ED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2BA02BDD-ED78-BC2B-0691-AA996CED2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827033"/>
              </p:ext>
            </p:extLst>
          </p:nvPr>
        </p:nvGraphicFramePr>
        <p:xfrm>
          <a:off x="270513" y="794444"/>
          <a:ext cx="9871720" cy="209426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460846">
                  <a:extLst>
                    <a:ext uri="{9D8B030D-6E8A-4147-A177-3AD203B41FA5}">
                      <a16:colId xmlns:a16="http://schemas.microsoft.com/office/drawing/2014/main" val="342308650"/>
                    </a:ext>
                  </a:extLst>
                </a:gridCol>
                <a:gridCol w="6410874">
                  <a:extLst>
                    <a:ext uri="{9D8B030D-6E8A-4147-A177-3AD203B41FA5}">
                      <a16:colId xmlns:a16="http://schemas.microsoft.com/office/drawing/2014/main" val="766914880"/>
                    </a:ext>
                  </a:extLst>
                </a:gridCol>
              </a:tblGrid>
              <a:tr h="567681">
                <a:tc>
                  <a:txBody>
                    <a:bodyPr/>
                    <a:lstStyle/>
                    <a:p>
                      <a:r>
                        <a:rPr lang="es-CL" sz="2000" b="1" dirty="0">
                          <a:latin typeface="Aptos Narrow" panose="020B0004020202020204" pitchFamily="34" charset="0"/>
                        </a:rPr>
                        <a:t>Atributo de calidad asociado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dirty="0">
                          <a:latin typeface="Aptos Narrow" panose="020B0004020202020204" pitchFamily="34" charset="0"/>
                        </a:rPr>
                        <a:t>Seguridad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71048687"/>
                  </a:ext>
                </a:extLst>
              </a:tr>
              <a:tr h="657906">
                <a:tc>
                  <a:txBody>
                    <a:bodyPr/>
                    <a:lstStyle/>
                    <a:p>
                      <a:r>
                        <a:rPr lang="es-CL" sz="2000" b="1" dirty="0"/>
                        <a:t>Subcaracterística</a:t>
                      </a:r>
                      <a:endParaRPr lang="es-CL" b="1" dirty="0"/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dirty="0">
                          <a:latin typeface="Aptos Narrow" panose="020B0004020202020204" pitchFamily="34" charset="0"/>
                        </a:rPr>
                        <a:t>Autenticación y autorización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31532976"/>
                  </a:ext>
                </a:extLst>
              </a:tr>
              <a:tr h="827943">
                <a:tc>
                  <a:txBody>
                    <a:bodyPr/>
                    <a:lstStyle/>
                    <a:p>
                      <a:r>
                        <a:rPr lang="es-CL" sz="2000" b="1" dirty="0"/>
                        <a:t>Descripción</a:t>
                      </a:r>
                      <a:endParaRPr lang="es-CL" b="1" dirty="0"/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700" dirty="0">
                          <a:latin typeface="Aptos Narrow" panose="020B0004020202020204" pitchFamily="34" charset="0"/>
                        </a:rPr>
                        <a:t>El sistema debe impedir que los usuarios accedan a módulos y operaciones que no correspondan a su rol, incluso cuando hayan iniciado sesión correctamente.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77338791"/>
                  </a:ext>
                </a:extLst>
              </a:tr>
            </a:tbl>
          </a:graphicData>
        </a:graphic>
      </p:graphicFrame>
      <p:sp>
        <p:nvSpPr>
          <p:cNvPr id="20" name="Rectángulo: esquinas superiores redondeadas 19">
            <a:extLst>
              <a:ext uri="{FF2B5EF4-FFF2-40B4-BE49-F238E27FC236}">
                <a16:creationId xmlns:a16="http://schemas.microsoft.com/office/drawing/2014/main" id="{D5B97550-17DB-BA35-96F3-795BD5B82876}"/>
              </a:ext>
            </a:extLst>
          </p:cNvPr>
          <p:cNvSpPr/>
          <p:nvPr/>
        </p:nvSpPr>
        <p:spPr>
          <a:xfrm rot="16200000">
            <a:off x="379502" y="5172759"/>
            <a:ext cx="740229" cy="897249"/>
          </a:xfrm>
          <a:prstGeom prst="round2SameRect">
            <a:avLst>
              <a:gd name="adj1" fmla="val 791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2" name="Gráfico 21" descr="Circular flowchart con relleno sólido">
            <a:extLst>
              <a:ext uri="{FF2B5EF4-FFF2-40B4-BE49-F238E27FC236}">
                <a16:creationId xmlns:a16="http://schemas.microsoft.com/office/drawing/2014/main" id="{71E145CA-4A71-935D-CC51-AF67AFE7DA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184" y="5251269"/>
            <a:ext cx="720000" cy="720000"/>
          </a:xfrm>
          <a:prstGeom prst="rect">
            <a:avLst/>
          </a:prstGeom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CF8556D3-570B-6937-7086-C7BBEEFAC9F8}"/>
              </a:ext>
            </a:extLst>
          </p:cNvPr>
          <p:cNvSpPr/>
          <p:nvPr/>
        </p:nvSpPr>
        <p:spPr>
          <a:xfrm>
            <a:off x="1221611" y="5251268"/>
            <a:ext cx="2272389" cy="740229"/>
          </a:xfrm>
          <a:prstGeom prst="rect">
            <a:avLst/>
          </a:prstGeom>
          <a:solidFill>
            <a:srgbClr val="3362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spc="-150" dirty="0">
                <a:latin typeface="Aptos Narrow" panose="020B0004020202020204" pitchFamily="34" charset="0"/>
              </a:rPr>
              <a:t>Fuente del Estimulo</a:t>
            </a:r>
          </a:p>
        </p:txBody>
      </p:sp>
      <p:sp>
        <p:nvSpPr>
          <p:cNvPr id="25" name="Rectángulo: esquinas superiores redondeadas 24">
            <a:extLst>
              <a:ext uri="{FF2B5EF4-FFF2-40B4-BE49-F238E27FC236}">
                <a16:creationId xmlns:a16="http://schemas.microsoft.com/office/drawing/2014/main" id="{CDCA3F06-C02F-81A4-0D5C-8C6D77CA187E}"/>
              </a:ext>
            </a:extLst>
          </p:cNvPr>
          <p:cNvSpPr/>
          <p:nvPr/>
        </p:nvSpPr>
        <p:spPr>
          <a:xfrm rot="16200000">
            <a:off x="340153" y="6001372"/>
            <a:ext cx="818926" cy="897249"/>
          </a:xfrm>
          <a:prstGeom prst="round2SameRect">
            <a:avLst>
              <a:gd name="adj1" fmla="val 791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7" name="Rectángulo: esquinas superiores redondeadas 26">
            <a:extLst>
              <a:ext uri="{FF2B5EF4-FFF2-40B4-BE49-F238E27FC236}">
                <a16:creationId xmlns:a16="http://schemas.microsoft.com/office/drawing/2014/main" id="{B9DE0975-655D-5AC0-B7C1-EF892CB8AC3F}"/>
              </a:ext>
            </a:extLst>
          </p:cNvPr>
          <p:cNvSpPr/>
          <p:nvPr/>
        </p:nvSpPr>
        <p:spPr>
          <a:xfrm rot="16200000">
            <a:off x="372533" y="6813767"/>
            <a:ext cx="754168" cy="897249"/>
          </a:xfrm>
          <a:prstGeom prst="round2SameRect">
            <a:avLst>
              <a:gd name="adj1" fmla="val 791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9" name="Rectángulo: esquinas superiores redondeadas 28">
            <a:extLst>
              <a:ext uri="{FF2B5EF4-FFF2-40B4-BE49-F238E27FC236}">
                <a16:creationId xmlns:a16="http://schemas.microsoft.com/office/drawing/2014/main" id="{9D5C1AD2-002D-2F4D-4DA7-B0092FE30CB5}"/>
              </a:ext>
            </a:extLst>
          </p:cNvPr>
          <p:cNvSpPr/>
          <p:nvPr/>
        </p:nvSpPr>
        <p:spPr>
          <a:xfrm rot="16200000">
            <a:off x="372532" y="7593783"/>
            <a:ext cx="754168" cy="897249"/>
          </a:xfrm>
          <a:prstGeom prst="round2SameRect">
            <a:avLst>
              <a:gd name="adj1" fmla="val 791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1" name="Rectángulo: esquinas superiores redondeadas 30">
            <a:extLst>
              <a:ext uri="{FF2B5EF4-FFF2-40B4-BE49-F238E27FC236}">
                <a16:creationId xmlns:a16="http://schemas.microsoft.com/office/drawing/2014/main" id="{818646F5-13A8-B3E1-5233-639CE9E79136}"/>
              </a:ext>
            </a:extLst>
          </p:cNvPr>
          <p:cNvSpPr/>
          <p:nvPr/>
        </p:nvSpPr>
        <p:spPr>
          <a:xfrm rot="16200000">
            <a:off x="229385" y="8516947"/>
            <a:ext cx="1040464" cy="897249"/>
          </a:xfrm>
          <a:prstGeom prst="round2SameRect">
            <a:avLst>
              <a:gd name="adj1" fmla="val 791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3" name="Rectángulo: esquinas superiores redondeadas 32">
            <a:extLst>
              <a:ext uri="{FF2B5EF4-FFF2-40B4-BE49-F238E27FC236}">
                <a16:creationId xmlns:a16="http://schemas.microsoft.com/office/drawing/2014/main" id="{BE377627-BE79-ABFC-0205-F751A63CB696}"/>
              </a:ext>
            </a:extLst>
          </p:cNvPr>
          <p:cNvSpPr/>
          <p:nvPr/>
        </p:nvSpPr>
        <p:spPr>
          <a:xfrm rot="16200000">
            <a:off x="324173" y="9508607"/>
            <a:ext cx="850889" cy="897249"/>
          </a:xfrm>
          <a:prstGeom prst="round2SameRect">
            <a:avLst>
              <a:gd name="adj1" fmla="val 791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35" name="Gráfico 34" descr="Signal con relleno sólido">
            <a:extLst>
              <a:ext uri="{FF2B5EF4-FFF2-40B4-BE49-F238E27FC236}">
                <a16:creationId xmlns:a16="http://schemas.microsoft.com/office/drawing/2014/main" id="{4685B175-99EA-2299-3E55-8171DE2D90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735" y="9646920"/>
            <a:ext cx="573220" cy="573220"/>
          </a:xfrm>
          <a:prstGeom prst="rect">
            <a:avLst/>
          </a:prstGeom>
        </p:spPr>
      </p:pic>
      <p:pic>
        <p:nvPicPr>
          <p:cNvPr id="37" name="Gráfico 36" descr="Document con relleno sólido">
            <a:extLst>
              <a:ext uri="{FF2B5EF4-FFF2-40B4-BE49-F238E27FC236}">
                <a16:creationId xmlns:a16="http://schemas.microsoft.com/office/drawing/2014/main" id="{BD71C738-DD90-6920-20F0-9B2C1AAB18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5866" y="8700060"/>
            <a:ext cx="569567" cy="569567"/>
          </a:xfrm>
          <a:prstGeom prst="rect">
            <a:avLst/>
          </a:prstGeom>
        </p:spPr>
      </p:pic>
      <p:pic>
        <p:nvPicPr>
          <p:cNvPr id="39" name="Gráfico 38" descr="Single gear con relleno sólido">
            <a:extLst>
              <a:ext uri="{FF2B5EF4-FFF2-40B4-BE49-F238E27FC236}">
                <a16:creationId xmlns:a16="http://schemas.microsoft.com/office/drawing/2014/main" id="{0B0BEF1F-036A-DBD7-0F98-AF4B521012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6240" y="7760370"/>
            <a:ext cx="600062" cy="600062"/>
          </a:xfrm>
          <a:prstGeom prst="rect">
            <a:avLst/>
          </a:prstGeom>
        </p:spPr>
      </p:pic>
      <p:pic>
        <p:nvPicPr>
          <p:cNvPr id="41" name="Gráfico 40" descr="Blockchain con relleno sólido">
            <a:extLst>
              <a:ext uri="{FF2B5EF4-FFF2-40B4-BE49-F238E27FC236}">
                <a16:creationId xmlns:a16="http://schemas.microsoft.com/office/drawing/2014/main" id="{313C3706-B275-E430-AF19-21D28C20E9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5866" y="7006201"/>
            <a:ext cx="512380" cy="512380"/>
          </a:xfrm>
          <a:prstGeom prst="rect">
            <a:avLst/>
          </a:prstGeom>
        </p:spPr>
      </p:pic>
      <p:pic>
        <p:nvPicPr>
          <p:cNvPr id="43" name="Gráfico 42" descr="Lightning bolt con relleno sólido">
            <a:extLst>
              <a:ext uri="{FF2B5EF4-FFF2-40B4-BE49-F238E27FC236}">
                <a16:creationId xmlns:a16="http://schemas.microsoft.com/office/drawing/2014/main" id="{11D14AB3-4C63-9651-BDD9-C6D1DE7A36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6735" y="6176010"/>
            <a:ext cx="570642" cy="570642"/>
          </a:xfrm>
          <a:prstGeom prst="rect">
            <a:avLst/>
          </a:prstGeom>
        </p:spPr>
      </p:pic>
      <p:sp>
        <p:nvSpPr>
          <p:cNvPr id="45" name="Rectángulo 44">
            <a:extLst>
              <a:ext uri="{FF2B5EF4-FFF2-40B4-BE49-F238E27FC236}">
                <a16:creationId xmlns:a16="http://schemas.microsoft.com/office/drawing/2014/main" id="{26EA8CFD-CD52-436A-4591-6DA292C68F07}"/>
              </a:ext>
            </a:extLst>
          </p:cNvPr>
          <p:cNvSpPr/>
          <p:nvPr/>
        </p:nvSpPr>
        <p:spPr>
          <a:xfrm>
            <a:off x="1221610" y="6040533"/>
            <a:ext cx="2272389" cy="818927"/>
          </a:xfrm>
          <a:prstGeom prst="rect">
            <a:avLst/>
          </a:prstGeom>
          <a:solidFill>
            <a:srgbClr val="3362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spc="-150" dirty="0">
                <a:latin typeface="Aptos Narrow" panose="020B0004020202020204" pitchFamily="34" charset="0"/>
              </a:rPr>
              <a:t>Estimulo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7676C6B0-0F96-67F1-54B6-572E9ADB7E4C}"/>
              </a:ext>
            </a:extLst>
          </p:cNvPr>
          <p:cNvSpPr/>
          <p:nvPr/>
        </p:nvSpPr>
        <p:spPr>
          <a:xfrm>
            <a:off x="1221610" y="6885307"/>
            <a:ext cx="2272389" cy="754169"/>
          </a:xfrm>
          <a:prstGeom prst="rect">
            <a:avLst/>
          </a:prstGeom>
          <a:solidFill>
            <a:srgbClr val="3362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spc="-150" dirty="0">
                <a:latin typeface="Aptos Narrow" panose="020B0004020202020204" pitchFamily="34" charset="0"/>
              </a:rPr>
              <a:t>Artefacto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D839C2FB-6867-E557-C63B-3CB1445DE18D}"/>
              </a:ext>
            </a:extLst>
          </p:cNvPr>
          <p:cNvSpPr/>
          <p:nvPr/>
        </p:nvSpPr>
        <p:spPr>
          <a:xfrm>
            <a:off x="1221610" y="7665322"/>
            <a:ext cx="2272389" cy="754169"/>
          </a:xfrm>
          <a:prstGeom prst="rect">
            <a:avLst/>
          </a:prstGeom>
          <a:solidFill>
            <a:srgbClr val="3362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spc="-150" dirty="0">
                <a:latin typeface="Aptos Narrow" panose="020B0004020202020204" pitchFamily="34" charset="0"/>
              </a:rPr>
              <a:t>Ambiente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3B98E3A9-24DE-0EB0-1437-64305FD66BFF}"/>
              </a:ext>
            </a:extLst>
          </p:cNvPr>
          <p:cNvSpPr/>
          <p:nvPr/>
        </p:nvSpPr>
        <p:spPr>
          <a:xfrm>
            <a:off x="1221610" y="8445337"/>
            <a:ext cx="2272389" cy="1040465"/>
          </a:xfrm>
          <a:prstGeom prst="rect">
            <a:avLst/>
          </a:prstGeom>
          <a:solidFill>
            <a:srgbClr val="3362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spc="-150" dirty="0">
                <a:latin typeface="Aptos Narrow" panose="020B0004020202020204" pitchFamily="34" charset="0"/>
              </a:rPr>
              <a:t>Respuesta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C1260738-287E-14CD-FF83-147F4B7FE8D9}"/>
              </a:ext>
            </a:extLst>
          </p:cNvPr>
          <p:cNvSpPr/>
          <p:nvPr/>
        </p:nvSpPr>
        <p:spPr>
          <a:xfrm>
            <a:off x="1221610" y="9531787"/>
            <a:ext cx="2272389" cy="850889"/>
          </a:xfrm>
          <a:prstGeom prst="rect">
            <a:avLst/>
          </a:prstGeom>
          <a:solidFill>
            <a:srgbClr val="3362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spc="-150" dirty="0">
                <a:latin typeface="Aptos Narrow" panose="020B0004020202020204" pitchFamily="34" charset="0"/>
              </a:rPr>
              <a:t>Medida de Respuesta</a:t>
            </a:r>
          </a:p>
        </p:txBody>
      </p:sp>
      <p:sp>
        <p:nvSpPr>
          <p:cNvPr id="54" name="Rectángulo: esquinas superiores redondeadas 53">
            <a:extLst>
              <a:ext uri="{FF2B5EF4-FFF2-40B4-BE49-F238E27FC236}">
                <a16:creationId xmlns:a16="http://schemas.microsoft.com/office/drawing/2014/main" id="{E7034A0F-1A22-4949-3F0C-FA3C2CE73E82}"/>
              </a:ext>
            </a:extLst>
          </p:cNvPr>
          <p:cNvSpPr/>
          <p:nvPr/>
        </p:nvSpPr>
        <p:spPr>
          <a:xfrm rot="5400000">
            <a:off x="6473011" y="2295624"/>
            <a:ext cx="740229" cy="6651521"/>
          </a:xfrm>
          <a:prstGeom prst="round2SameRect">
            <a:avLst>
              <a:gd name="adj1" fmla="val 9737"/>
              <a:gd name="adj2" fmla="val 0"/>
            </a:avLst>
          </a:prstGeom>
          <a:solidFill>
            <a:srgbClr val="EAE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s-CL" sz="1600" dirty="0">
                <a:solidFill>
                  <a:schemeClr val="tx1"/>
                </a:solidFill>
              </a:rPr>
              <a:t>Usuario autenticado de GATI.</a:t>
            </a:r>
            <a:endParaRPr lang="es-CL" sz="15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56" name="Rectángulo: esquinas superiores redondeadas 55">
            <a:extLst>
              <a:ext uri="{FF2B5EF4-FFF2-40B4-BE49-F238E27FC236}">
                <a16:creationId xmlns:a16="http://schemas.microsoft.com/office/drawing/2014/main" id="{AD73FE0D-18C1-E988-613E-1B2351D65F81}"/>
              </a:ext>
            </a:extLst>
          </p:cNvPr>
          <p:cNvSpPr/>
          <p:nvPr/>
        </p:nvSpPr>
        <p:spPr>
          <a:xfrm rot="5400000">
            <a:off x="6433661" y="3124236"/>
            <a:ext cx="818927" cy="6651521"/>
          </a:xfrm>
          <a:prstGeom prst="round2SameRect">
            <a:avLst>
              <a:gd name="adj1" fmla="val 9737"/>
              <a:gd name="adj2" fmla="val 0"/>
            </a:avLst>
          </a:prstGeom>
          <a:solidFill>
            <a:srgbClr val="EAE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s-CL" sz="1600" dirty="0">
                <a:solidFill>
                  <a:schemeClr val="tx1"/>
                </a:solidFill>
              </a:rPr>
              <a:t>Un Técnico de Soporte intenta acceder a una funcionalidad administrativa que no está habilitada para su rol.</a:t>
            </a:r>
            <a:endParaRPr lang="es-CL" sz="15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58" name="Rectángulo: esquinas superiores redondeadas 57">
            <a:extLst>
              <a:ext uri="{FF2B5EF4-FFF2-40B4-BE49-F238E27FC236}">
                <a16:creationId xmlns:a16="http://schemas.microsoft.com/office/drawing/2014/main" id="{C94AD753-6BCE-7FEA-1FA3-BAD1202574D2}"/>
              </a:ext>
            </a:extLst>
          </p:cNvPr>
          <p:cNvSpPr/>
          <p:nvPr/>
        </p:nvSpPr>
        <p:spPr>
          <a:xfrm rot="5400000">
            <a:off x="6466424" y="3937016"/>
            <a:ext cx="753398" cy="6651521"/>
          </a:xfrm>
          <a:prstGeom prst="round2SameRect">
            <a:avLst>
              <a:gd name="adj1" fmla="val 9737"/>
              <a:gd name="adj2" fmla="val 0"/>
            </a:avLst>
          </a:prstGeom>
          <a:solidFill>
            <a:srgbClr val="EAE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s-CL" sz="1600" dirty="0">
                <a:solidFill>
                  <a:schemeClr val="tx1"/>
                </a:solidFill>
              </a:rPr>
              <a:t>API central de GATI y componente de autorización.</a:t>
            </a:r>
            <a:endParaRPr lang="es-CL" sz="15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60" name="Rectángulo: esquinas superiores redondeadas 59">
            <a:extLst>
              <a:ext uri="{FF2B5EF4-FFF2-40B4-BE49-F238E27FC236}">
                <a16:creationId xmlns:a16="http://schemas.microsoft.com/office/drawing/2014/main" id="{0C3E1C6C-9798-5D61-5584-F05A993EF229}"/>
              </a:ext>
            </a:extLst>
          </p:cNvPr>
          <p:cNvSpPr/>
          <p:nvPr/>
        </p:nvSpPr>
        <p:spPr>
          <a:xfrm rot="5400000">
            <a:off x="6473009" y="4716646"/>
            <a:ext cx="740230" cy="6651521"/>
          </a:xfrm>
          <a:prstGeom prst="round2SameRect">
            <a:avLst>
              <a:gd name="adj1" fmla="val 9737"/>
              <a:gd name="adj2" fmla="val 0"/>
            </a:avLst>
          </a:prstGeom>
          <a:solidFill>
            <a:srgbClr val="EAE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s-CL" sz="1600" dirty="0">
                <a:solidFill>
                  <a:schemeClr val="tx1"/>
                </a:solidFill>
              </a:rPr>
              <a:t>Operación normal, con una sesión de usuario activa.</a:t>
            </a:r>
            <a:endParaRPr lang="es-CL" sz="15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62" name="Rectángulo: esquinas superiores redondeadas 61">
            <a:extLst>
              <a:ext uri="{FF2B5EF4-FFF2-40B4-BE49-F238E27FC236}">
                <a16:creationId xmlns:a16="http://schemas.microsoft.com/office/drawing/2014/main" id="{6A2E5C47-5BE4-A83B-3C25-889FD845F66D}"/>
              </a:ext>
            </a:extLst>
          </p:cNvPr>
          <p:cNvSpPr/>
          <p:nvPr/>
        </p:nvSpPr>
        <p:spPr>
          <a:xfrm rot="5400000">
            <a:off x="6322891" y="5639809"/>
            <a:ext cx="1040466" cy="6651521"/>
          </a:xfrm>
          <a:prstGeom prst="round2SameRect">
            <a:avLst>
              <a:gd name="adj1" fmla="val 9737"/>
              <a:gd name="adj2" fmla="val 0"/>
            </a:avLst>
          </a:prstGeom>
          <a:solidFill>
            <a:srgbClr val="EAE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s-CL" sz="1600" dirty="0">
                <a:solidFill>
                  <a:schemeClr val="tx1"/>
                </a:solidFill>
              </a:rPr>
              <a:t>GATI valida la sesión y los permisos asociados al usuario. Si el rol no autoriza la operación solicitada, el sistema deniega el acceso y evita ejecutar la acción.</a:t>
            </a:r>
            <a:endParaRPr lang="es-CL" sz="15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64" name="Rectángulo: esquinas superiores redondeadas 63">
            <a:extLst>
              <a:ext uri="{FF2B5EF4-FFF2-40B4-BE49-F238E27FC236}">
                <a16:creationId xmlns:a16="http://schemas.microsoft.com/office/drawing/2014/main" id="{81975234-3549-C130-1BF5-F9C2BB658037}"/>
              </a:ext>
            </a:extLst>
          </p:cNvPr>
          <p:cNvSpPr/>
          <p:nvPr/>
        </p:nvSpPr>
        <p:spPr>
          <a:xfrm rot="5400000">
            <a:off x="6417679" y="6631472"/>
            <a:ext cx="850890" cy="6651521"/>
          </a:xfrm>
          <a:prstGeom prst="round2SameRect">
            <a:avLst>
              <a:gd name="adj1" fmla="val 9737"/>
              <a:gd name="adj2" fmla="val 0"/>
            </a:avLst>
          </a:prstGeom>
          <a:solidFill>
            <a:srgbClr val="EAE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s-CL" sz="1600" dirty="0">
                <a:solidFill>
                  <a:schemeClr val="tx1"/>
                </a:solidFill>
              </a:rPr>
              <a:t>Las pruebas deben verificar que ninguna solicitud realizada sin una sesión válida o sin los permisos correspondientes permita acceder a la funcionalidad protegida o modificar sus datos.</a:t>
            </a:r>
            <a:endParaRPr lang="es-CL" sz="15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0623C65B-2D7E-BBB6-E861-04372CF4D87B}"/>
              </a:ext>
            </a:extLst>
          </p:cNvPr>
          <p:cNvSpPr/>
          <p:nvPr/>
        </p:nvSpPr>
        <p:spPr>
          <a:xfrm>
            <a:off x="302188" y="10497809"/>
            <a:ext cx="9848350" cy="1459222"/>
          </a:xfrm>
          <a:prstGeom prst="roundRect">
            <a:avLst>
              <a:gd name="adj" fmla="val 9044"/>
            </a:avLst>
          </a:prstGeom>
          <a:solidFill>
            <a:srgbClr val="93B9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66" name="Rectángulo: esquinas redondeadas 65">
            <a:extLst>
              <a:ext uri="{FF2B5EF4-FFF2-40B4-BE49-F238E27FC236}">
                <a16:creationId xmlns:a16="http://schemas.microsoft.com/office/drawing/2014/main" id="{75B80A1D-CE3B-E207-E588-770C0AF108C1}"/>
              </a:ext>
            </a:extLst>
          </p:cNvPr>
          <p:cNvSpPr/>
          <p:nvPr/>
        </p:nvSpPr>
        <p:spPr>
          <a:xfrm>
            <a:off x="292416" y="2926006"/>
            <a:ext cx="9848350" cy="2204368"/>
          </a:xfrm>
          <a:prstGeom prst="roundRect">
            <a:avLst>
              <a:gd name="adj" fmla="val 6158"/>
            </a:avLst>
          </a:prstGeom>
          <a:solidFill>
            <a:schemeClr val="bg1"/>
          </a:solidFill>
          <a:ln>
            <a:solidFill>
              <a:srgbClr val="93B9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68" name="Gráfico 67" descr="Bullseye con relleno sólido">
            <a:extLst>
              <a:ext uri="{FF2B5EF4-FFF2-40B4-BE49-F238E27FC236}">
                <a16:creationId xmlns:a16="http://schemas.microsoft.com/office/drawing/2014/main" id="{81CA8725-2E4E-51B8-689F-C114579ECE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8184" y="10752316"/>
            <a:ext cx="914400" cy="914400"/>
          </a:xfrm>
          <a:prstGeom prst="rect">
            <a:avLst/>
          </a:prstGeom>
        </p:spPr>
      </p:pic>
      <p:sp>
        <p:nvSpPr>
          <p:cNvPr id="69" name="CuadroTexto 68">
            <a:extLst>
              <a:ext uri="{FF2B5EF4-FFF2-40B4-BE49-F238E27FC236}">
                <a16:creationId xmlns:a16="http://schemas.microsoft.com/office/drawing/2014/main" id="{80073B39-3B67-859D-7F1F-8A6AB43FC2D7}"/>
              </a:ext>
            </a:extLst>
          </p:cNvPr>
          <p:cNvSpPr txBox="1"/>
          <p:nvPr/>
        </p:nvSpPr>
        <p:spPr>
          <a:xfrm>
            <a:off x="1282584" y="10873477"/>
            <a:ext cx="17142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2000" b="1" dirty="0">
                <a:solidFill>
                  <a:srgbClr val="002060"/>
                </a:solidFill>
              </a:rPr>
              <a:t>Requisitos </a:t>
            </a:r>
          </a:p>
          <a:p>
            <a:pPr algn="ctr"/>
            <a:r>
              <a:rPr lang="es-CL" sz="2000" b="1" dirty="0">
                <a:solidFill>
                  <a:srgbClr val="002060"/>
                </a:solidFill>
              </a:rPr>
              <a:t>relacionados</a:t>
            </a:r>
          </a:p>
        </p:txBody>
      </p:sp>
      <p:pic>
        <p:nvPicPr>
          <p:cNvPr id="71" name="Gráfico 70" descr="User con relleno sólido">
            <a:extLst>
              <a:ext uri="{FF2B5EF4-FFF2-40B4-BE49-F238E27FC236}">
                <a16:creationId xmlns:a16="http://schemas.microsoft.com/office/drawing/2014/main" id="{806C3580-A677-AFC4-740F-1439AAB7E6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7804" y="3102102"/>
            <a:ext cx="1440000" cy="1440000"/>
          </a:xfrm>
          <a:prstGeom prst="rect">
            <a:avLst/>
          </a:prstGeom>
        </p:spPr>
      </p:pic>
      <p:pic>
        <p:nvPicPr>
          <p:cNvPr id="73" name="Gráfico 72" descr="No sign con relleno sólido">
            <a:extLst>
              <a:ext uri="{FF2B5EF4-FFF2-40B4-BE49-F238E27FC236}">
                <a16:creationId xmlns:a16="http://schemas.microsoft.com/office/drawing/2014/main" id="{F7A233D1-BCF7-2BB7-284F-0F5A23AF2C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44194" y="3068635"/>
            <a:ext cx="1368000" cy="1368000"/>
          </a:xfrm>
          <a:prstGeom prst="rect">
            <a:avLst/>
          </a:prstGeom>
        </p:spPr>
      </p:pic>
      <p:cxnSp>
        <p:nvCxnSpPr>
          <p:cNvPr id="75" name="Conector recto de flecha 74">
            <a:extLst>
              <a:ext uri="{FF2B5EF4-FFF2-40B4-BE49-F238E27FC236}">
                <a16:creationId xmlns:a16="http://schemas.microsoft.com/office/drawing/2014/main" id="{F3D7536E-0BB3-1427-63AC-ED7C1B24C51A}"/>
              </a:ext>
            </a:extLst>
          </p:cNvPr>
          <p:cNvCxnSpPr>
            <a:cxnSpLocks/>
          </p:cNvCxnSpPr>
          <p:nvPr/>
        </p:nvCxnSpPr>
        <p:spPr>
          <a:xfrm>
            <a:off x="2597785" y="3944773"/>
            <a:ext cx="1636395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CuadroTexto 78">
            <a:extLst>
              <a:ext uri="{FF2B5EF4-FFF2-40B4-BE49-F238E27FC236}">
                <a16:creationId xmlns:a16="http://schemas.microsoft.com/office/drawing/2014/main" id="{78DCD51F-16C8-C276-27C1-BE00C5509D4A}"/>
              </a:ext>
            </a:extLst>
          </p:cNvPr>
          <p:cNvSpPr txBox="1"/>
          <p:nvPr/>
        </p:nvSpPr>
        <p:spPr>
          <a:xfrm>
            <a:off x="2901995" y="3525138"/>
            <a:ext cx="1027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>
                <a:solidFill>
                  <a:srgbClr val="002060"/>
                </a:solidFill>
                <a:latin typeface="Aptos Narrow" panose="020B0004020202020204" pitchFamily="34" charset="0"/>
              </a:rPr>
              <a:t>Estimulo</a:t>
            </a:r>
          </a:p>
        </p:txBody>
      </p:sp>
      <p:cxnSp>
        <p:nvCxnSpPr>
          <p:cNvPr id="80" name="Conector recto de flecha 79">
            <a:extLst>
              <a:ext uri="{FF2B5EF4-FFF2-40B4-BE49-F238E27FC236}">
                <a16:creationId xmlns:a16="http://schemas.microsoft.com/office/drawing/2014/main" id="{48571FD3-36BE-9A08-5F0E-8B75786A6734}"/>
              </a:ext>
            </a:extLst>
          </p:cNvPr>
          <p:cNvCxnSpPr>
            <a:cxnSpLocks/>
          </p:cNvCxnSpPr>
          <p:nvPr/>
        </p:nvCxnSpPr>
        <p:spPr>
          <a:xfrm>
            <a:off x="6462649" y="3944773"/>
            <a:ext cx="1636395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CuadroTexto 80">
            <a:extLst>
              <a:ext uri="{FF2B5EF4-FFF2-40B4-BE49-F238E27FC236}">
                <a16:creationId xmlns:a16="http://schemas.microsoft.com/office/drawing/2014/main" id="{1BB2A8FA-6493-ADCD-ED49-B023FA7FFCE6}"/>
              </a:ext>
            </a:extLst>
          </p:cNvPr>
          <p:cNvSpPr txBox="1"/>
          <p:nvPr/>
        </p:nvSpPr>
        <p:spPr>
          <a:xfrm>
            <a:off x="6646899" y="3520692"/>
            <a:ext cx="1193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>
                <a:solidFill>
                  <a:srgbClr val="002060"/>
                </a:solidFill>
                <a:latin typeface="Aptos Narrow" panose="020B0004020202020204" pitchFamily="34" charset="0"/>
              </a:rPr>
              <a:t>Respuesta</a:t>
            </a:r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FE623C1B-C9AF-59EB-D96A-6EAF27438876}"/>
              </a:ext>
            </a:extLst>
          </p:cNvPr>
          <p:cNvSpPr txBox="1"/>
          <p:nvPr/>
        </p:nvSpPr>
        <p:spPr>
          <a:xfrm>
            <a:off x="3099302" y="10593746"/>
            <a:ext cx="636950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600" dirty="0">
                <a:latin typeface="Aptos Narrow" panose="020B0004020202020204" pitchFamily="34" charset="0"/>
              </a:rPr>
              <a:t>RF-01 — Autenticación y Autorización de Usuarios;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600" dirty="0">
                <a:latin typeface="Aptos Narrow" panose="020B0004020202020204" pitchFamily="34" charset="0"/>
              </a:rPr>
              <a:t>RF-14 — Gestión de Perfiles y Cuentas de Usuario;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1600" dirty="0">
                <a:latin typeface="Aptos Narrow" panose="020B0004020202020204" pitchFamily="34" charset="0"/>
              </a:rPr>
              <a:t>RNF-15 — Seguridad, Autenticación y </a:t>
            </a:r>
            <a:r>
              <a:rPr lang="es-CL" sz="1600" dirty="0" err="1">
                <a:latin typeface="Aptos Narrow" panose="020B0004020202020204" pitchFamily="34" charset="0"/>
              </a:rPr>
              <a:t>Hashing</a:t>
            </a:r>
            <a:r>
              <a:rPr lang="es-CL" sz="1600" dirty="0">
                <a:latin typeface="Aptos Narrow" panose="020B0004020202020204" pitchFamily="34" charset="0"/>
              </a:rPr>
              <a:t> de Contraseñas. </a:t>
            </a:r>
          </a:p>
          <a:p>
            <a:r>
              <a:rPr lang="es-CL" sz="1600" dirty="0">
                <a:latin typeface="Aptos Narrow" panose="020B0004020202020204" pitchFamily="34" charset="0"/>
              </a:rPr>
              <a:t>La </a:t>
            </a:r>
            <a:r>
              <a:rPr lang="es-CL" sz="1600" dirty="0" err="1">
                <a:latin typeface="Aptos Narrow" panose="020B0004020202020204" pitchFamily="34" charset="0"/>
              </a:rPr>
              <a:t>ERS</a:t>
            </a:r>
            <a:r>
              <a:rPr lang="es-CL" sz="1600" dirty="0">
                <a:latin typeface="Aptos Narrow" panose="020B0004020202020204" pitchFamily="34" charset="0"/>
              </a:rPr>
              <a:t> establece un esquema de acceso basado en roles y exige una sesión </a:t>
            </a:r>
          </a:p>
          <a:p>
            <a:r>
              <a:rPr lang="es-CL" sz="1600" dirty="0">
                <a:latin typeface="Aptos Narrow" panose="020B0004020202020204" pitchFamily="34" charset="0"/>
              </a:rPr>
              <a:t>válida y autorizada para acceder a los módulos de GATI.</a:t>
            </a: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5B14A5F1-3BF6-EFB4-28C4-07B2DD8B111B}"/>
              </a:ext>
            </a:extLst>
          </p:cNvPr>
          <p:cNvSpPr txBox="1"/>
          <p:nvPr/>
        </p:nvSpPr>
        <p:spPr>
          <a:xfrm>
            <a:off x="581136" y="4353550"/>
            <a:ext cx="21133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b="1" dirty="0">
                <a:latin typeface="Aptos Narrow" panose="020B0004020202020204" pitchFamily="34" charset="0"/>
              </a:rPr>
              <a:t>Usuario autenticado</a:t>
            </a:r>
          </a:p>
          <a:p>
            <a:pPr algn="ctr"/>
            <a:r>
              <a:rPr lang="es-CL" b="1" dirty="0">
                <a:latin typeface="Aptos Narrow" panose="020B0004020202020204" pitchFamily="34" charset="0"/>
              </a:rPr>
              <a:t>(sin permisos)</a:t>
            </a: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05595E6E-C47A-4275-286B-4DEB4A7CF9B1}"/>
              </a:ext>
            </a:extLst>
          </p:cNvPr>
          <p:cNvSpPr txBox="1"/>
          <p:nvPr/>
        </p:nvSpPr>
        <p:spPr>
          <a:xfrm>
            <a:off x="7505188" y="4353550"/>
            <a:ext cx="24519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b="1" dirty="0">
                <a:latin typeface="Aptos Narrow" panose="020B0004020202020204" pitchFamily="34" charset="0"/>
              </a:rPr>
              <a:t>Acceso denegado</a:t>
            </a:r>
            <a:br>
              <a:rPr lang="es-CL" b="1" dirty="0">
                <a:latin typeface="Aptos Narrow" panose="020B0004020202020204" pitchFamily="34" charset="0"/>
              </a:rPr>
            </a:br>
            <a:r>
              <a:rPr lang="es-CL" b="1" dirty="0">
                <a:latin typeface="Aptos Narrow" panose="020B0004020202020204" pitchFamily="34" charset="0"/>
              </a:rPr>
              <a:t>Operación no ejecutada</a:t>
            </a:r>
          </a:p>
        </p:txBody>
      </p:sp>
      <p:sp>
        <p:nvSpPr>
          <p:cNvPr id="86" name="Rectángulo: esquinas redondeadas 85">
            <a:extLst>
              <a:ext uri="{FF2B5EF4-FFF2-40B4-BE49-F238E27FC236}">
                <a16:creationId xmlns:a16="http://schemas.microsoft.com/office/drawing/2014/main" id="{35A426F3-978D-F223-BD8E-24158C4DE2E3}"/>
              </a:ext>
            </a:extLst>
          </p:cNvPr>
          <p:cNvSpPr/>
          <p:nvPr/>
        </p:nvSpPr>
        <p:spPr>
          <a:xfrm>
            <a:off x="4383842" y="3280852"/>
            <a:ext cx="1958846" cy="1439999"/>
          </a:xfrm>
          <a:prstGeom prst="roundRect">
            <a:avLst/>
          </a:prstGeom>
          <a:solidFill>
            <a:srgbClr val="E6EDF8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88" name="Gráfico 87" descr="Server con relleno sólido">
            <a:extLst>
              <a:ext uri="{FF2B5EF4-FFF2-40B4-BE49-F238E27FC236}">
                <a16:creationId xmlns:a16="http://schemas.microsoft.com/office/drawing/2014/main" id="{71B23BFA-7238-E533-A5FB-3B85B44485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73186" y="3323111"/>
            <a:ext cx="914400" cy="773385"/>
          </a:xfrm>
          <a:prstGeom prst="rect">
            <a:avLst/>
          </a:prstGeom>
        </p:spPr>
      </p:pic>
      <p:sp>
        <p:nvSpPr>
          <p:cNvPr id="89" name="CuadroTexto 88">
            <a:extLst>
              <a:ext uri="{FF2B5EF4-FFF2-40B4-BE49-F238E27FC236}">
                <a16:creationId xmlns:a16="http://schemas.microsoft.com/office/drawing/2014/main" id="{C457E3EE-11D8-58A0-C73A-2EE59879E444}"/>
              </a:ext>
            </a:extLst>
          </p:cNvPr>
          <p:cNvSpPr txBox="1"/>
          <p:nvPr/>
        </p:nvSpPr>
        <p:spPr>
          <a:xfrm>
            <a:off x="4519957" y="4066290"/>
            <a:ext cx="1686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1600" b="1" dirty="0">
                <a:solidFill>
                  <a:srgbClr val="002060"/>
                </a:solidFill>
                <a:latin typeface="Aptos Narrow" panose="020B0004020202020204" pitchFamily="34" charset="0"/>
              </a:rPr>
              <a:t>GATI</a:t>
            </a:r>
          </a:p>
          <a:p>
            <a:pPr algn="ctr"/>
            <a:r>
              <a:rPr lang="es-CL" sz="1600" b="1" dirty="0">
                <a:solidFill>
                  <a:srgbClr val="002060"/>
                </a:solidFill>
                <a:latin typeface="Aptos Narrow" panose="020B0004020202020204" pitchFamily="34" charset="0"/>
              </a:rPr>
              <a:t>API y autorización</a:t>
            </a:r>
          </a:p>
        </p:txBody>
      </p:sp>
    </p:spTree>
    <p:extLst>
      <p:ext uri="{BB962C8B-B14F-4D97-AF65-F5344CB8AC3E}">
        <p14:creationId xmlns:p14="http://schemas.microsoft.com/office/powerpoint/2010/main" val="299248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7ABBA-CE48-7715-40BA-BA140BB5A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158324FE-397C-04B7-283B-DDB430342E27}"/>
              </a:ext>
            </a:extLst>
          </p:cNvPr>
          <p:cNvSpPr/>
          <p:nvPr/>
        </p:nvSpPr>
        <p:spPr>
          <a:xfrm>
            <a:off x="283840" y="137159"/>
            <a:ext cx="9885047" cy="621030"/>
          </a:xfrm>
          <a:prstGeom prst="roundRect">
            <a:avLst>
              <a:gd name="adj" fmla="val 12986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8D38329-053D-28EB-32FF-D40878DEF23F}"/>
              </a:ext>
            </a:extLst>
          </p:cNvPr>
          <p:cNvSpPr txBox="1"/>
          <p:nvPr/>
        </p:nvSpPr>
        <p:spPr>
          <a:xfrm>
            <a:off x="396240" y="173415"/>
            <a:ext cx="42242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200" b="1" spc="-150" dirty="0">
                <a:solidFill>
                  <a:schemeClr val="bg1"/>
                </a:solidFill>
                <a:latin typeface="Aptos Narrow" panose="020B0004020202020204" pitchFamily="34" charset="0"/>
              </a:rPr>
              <a:t>Escenario de Calidad N.º  2</a:t>
            </a:r>
          </a:p>
        </p:txBody>
      </p:sp>
      <p:sp>
        <p:nvSpPr>
          <p:cNvPr id="13" name="Rectángulo: esquinas superiores redondeadas 12">
            <a:extLst>
              <a:ext uri="{FF2B5EF4-FFF2-40B4-BE49-F238E27FC236}">
                <a16:creationId xmlns:a16="http://schemas.microsoft.com/office/drawing/2014/main" id="{1753D950-29D5-BC94-64D1-B3424372E6B4}"/>
              </a:ext>
            </a:extLst>
          </p:cNvPr>
          <p:cNvSpPr/>
          <p:nvPr/>
        </p:nvSpPr>
        <p:spPr>
          <a:xfrm rot="5400000">
            <a:off x="9023955" y="-386743"/>
            <a:ext cx="621031" cy="1668833"/>
          </a:xfrm>
          <a:prstGeom prst="round2SameRect">
            <a:avLst>
              <a:gd name="adj1" fmla="val 14593"/>
              <a:gd name="adj2" fmla="val 0"/>
            </a:avLst>
          </a:prstGeom>
          <a:solidFill>
            <a:srgbClr val="93B9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AB037DF-ABA2-C296-B6AE-9273E8E0AB10}"/>
              </a:ext>
            </a:extLst>
          </p:cNvPr>
          <p:cNvSpPr txBox="1"/>
          <p:nvPr/>
        </p:nvSpPr>
        <p:spPr>
          <a:xfrm>
            <a:off x="8677398" y="234969"/>
            <a:ext cx="1478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>
                <a:solidFill>
                  <a:srgbClr val="002060"/>
                </a:solidFill>
              </a:rPr>
              <a:t>ID: EC-02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86238460-D9BE-F0AE-F4D2-D772DBFE0C05}"/>
              </a:ext>
            </a:extLst>
          </p:cNvPr>
          <p:cNvSpPr/>
          <p:nvPr/>
        </p:nvSpPr>
        <p:spPr>
          <a:xfrm>
            <a:off x="283840" y="794444"/>
            <a:ext cx="9885047" cy="2053530"/>
          </a:xfrm>
          <a:prstGeom prst="roundRect">
            <a:avLst>
              <a:gd name="adj" fmla="val 3680"/>
            </a:avLst>
          </a:prstGeom>
          <a:solidFill>
            <a:srgbClr val="93B9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Rectángulo: esquinas superiores redondeadas 17">
            <a:extLst>
              <a:ext uri="{FF2B5EF4-FFF2-40B4-BE49-F238E27FC236}">
                <a16:creationId xmlns:a16="http://schemas.microsoft.com/office/drawing/2014/main" id="{42CA4A0F-E6FA-9987-D152-EDF918C4CD88}"/>
              </a:ext>
            </a:extLst>
          </p:cNvPr>
          <p:cNvSpPr/>
          <p:nvPr/>
        </p:nvSpPr>
        <p:spPr>
          <a:xfrm rot="5400000">
            <a:off x="5906790" y="-1412778"/>
            <a:ext cx="2053530" cy="6470664"/>
          </a:xfrm>
          <a:prstGeom prst="round2SameRect">
            <a:avLst>
              <a:gd name="adj1" fmla="val 4338"/>
              <a:gd name="adj2" fmla="val 0"/>
            </a:avLst>
          </a:prstGeom>
          <a:solidFill>
            <a:srgbClr val="E6ED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955405DD-FB13-51C7-9008-71CEA5FFCF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942624"/>
              </p:ext>
            </p:extLst>
          </p:nvPr>
        </p:nvGraphicFramePr>
        <p:xfrm>
          <a:off x="270513" y="794444"/>
          <a:ext cx="9871720" cy="209426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460846">
                  <a:extLst>
                    <a:ext uri="{9D8B030D-6E8A-4147-A177-3AD203B41FA5}">
                      <a16:colId xmlns:a16="http://schemas.microsoft.com/office/drawing/2014/main" val="342308650"/>
                    </a:ext>
                  </a:extLst>
                </a:gridCol>
                <a:gridCol w="6410874">
                  <a:extLst>
                    <a:ext uri="{9D8B030D-6E8A-4147-A177-3AD203B41FA5}">
                      <a16:colId xmlns:a16="http://schemas.microsoft.com/office/drawing/2014/main" val="766914880"/>
                    </a:ext>
                  </a:extLst>
                </a:gridCol>
              </a:tblGrid>
              <a:tr h="567681">
                <a:tc>
                  <a:txBody>
                    <a:bodyPr/>
                    <a:lstStyle/>
                    <a:p>
                      <a:r>
                        <a:rPr lang="es-CL" sz="2000" b="1" dirty="0">
                          <a:latin typeface="Aptos Narrow" panose="020B0004020202020204" pitchFamily="34" charset="0"/>
                        </a:rPr>
                        <a:t>Atributo de calidad asociado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dirty="0">
                          <a:latin typeface="Aptos Narrow" panose="020B0004020202020204" pitchFamily="34" charset="0"/>
                        </a:rPr>
                        <a:t>Integridad de la información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71048687"/>
                  </a:ext>
                </a:extLst>
              </a:tr>
              <a:tr h="657906">
                <a:tc>
                  <a:txBody>
                    <a:bodyPr/>
                    <a:lstStyle/>
                    <a:p>
                      <a:r>
                        <a:rPr lang="es-CL" sz="2000" b="1" dirty="0"/>
                        <a:t>Subcaracterística</a:t>
                      </a:r>
                      <a:endParaRPr lang="es-CL" b="1" dirty="0"/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dirty="0">
                          <a:latin typeface="Aptos Narrow" panose="020B0004020202020204" pitchFamily="34" charset="0"/>
                        </a:rPr>
                        <a:t>Trazabilidad y auditabilidad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31532976"/>
                  </a:ext>
                </a:extLst>
              </a:tr>
              <a:tr h="827943">
                <a:tc>
                  <a:txBody>
                    <a:bodyPr/>
                    <a:lstStyle/>
                    <a:p>
                      <a:r>
                        <a:rPr lang="es-CL" sz="2000" b="1" dirty="0"/>
                        <a:t>Descripción</a:t>
                      </a:r>
                      <a:endParaRPr lang="es-CL" b="1" dirty="0"/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700" dirty="0">
                          <a:latin typeface="Aptos Narrow" panose="020B0004020202020204" pitchFamily="34" charset="0"/>
                        </a:rPr>
                        <a:t>GATI debe conservar un historial confiable de las operaciones realizadas sobre los activos, permitiendo identificar el movimiento, su fecha y hora, y el usuario responsable.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77338791"/>
                  </a:ext>
                </a:extLst>
              </a:tr>
            </a:tbl>
          </a:graphicData>
        </a:graphic>
      </p:graphicFrame>
      <p:sp>
        <p:nvSpPr>
          <p:cNvPr id="20" name="Rectángulo: esquinas superiores redondeadas 19">
            <a:extLst>
              <a:ext uri="{FF2B5EF4-FFF2-40B4-BE49-F238E27FC236}">
                <a16:creationId xmlns:a16="http://schemas.microsoft.com/office/drawing/2014/main" id="{84D8FF2C-5B97-069E-AFAE-4D0207A5E6CF}"/>
              </a:ext>
            </a:extLst>
          </p:cNvPr>
          <p:cNvSpPr/>
          <p:nvPr/>
        </p:nvSpPr>
        <p:spPr>
          <a:xfrm rot="16200000">
            <a:off x="379502" y="5172759"/>
            <a:ext cx="740229" cy="897249"/>
          </a:xfrm>
          <a:prstGeom prst="round2SameRect">
            <a:avLst>
              <a:gd name="adj1" fmla="val 791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2" name="Gráfico 21" descr="Circular flowchart con relleno sólido">
            <a:extLst>
              <a:ext uri="{FF2B5EF4-FFF2-40B4-BE49-F238E27FC236}">
                <a16:creationId xmlns:a16="http://schemas.microsoft.com/office/drawing/2014/main" id="{ED251C11-CCCC-316E-0E8F-C85DCB0F14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184" y="5251269"/>
            <a:ext cx="720000" cy="720000"/>
          </a:xfrm>
          <a:prstGeom prst="rect">
            <a:avLst/>
          </a:prstGeom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8279B819-C2E4-B522-2D36-ECA2A14DBF63}"/>
              </a:ext>
            </a:extLst>
          </p:cNvPr>
          <p:cNvSpPr/>
          <p:nvPr/>
        </p:nvSpPr>
        <p:spPr>
          <a:xfrm>
            <a:off x="1221611" y="5251268"/>
            <a:ext cx="2272389" cy="740229"/>
          </a:xfrm>
          <a:prstGeom prst="rect">
            <a:avLst/>
          </a:prstGeom>
          <a:solidFill>
            <a:srgbClr val="3362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spc="-150" dirty="0">
                <a:latin typeface="Aptos Narrow" panose="020B0004020202020204" pitchFamily="34" charset="0"/>
              </a:rPr>
              <a:t>Fuente del Estimulo</a:t>
            </a:r>
          </a:p>
        </p:txBody>
      </p:sp>
      <p:sp>
        <p:nvSpPr>
          <p:cNvPr id="25" name="Rectángulo: esquinas superiores redondeadas 24">
            <a:extLst>
              <a:ext uri="{FF2B5EF4-FFF2-40B4-BE49-F238E27FC236}">
                <a16:creationId xmlns:a16="http://schemas.microsoft.com/office/drawing/2014/main" id="{BA2BBCB0-BDA2-20A9-41F4-C3E32C2E8871}"/>
              </a:ext>
            </a:extLst>
          </p:cNvPr>
          <p:cNvSpPr/>
          <p:nvPr/>
        </p:nvSpPr>
        <p:spPr>
          <a:xfrm rot="16200000">
            <a:off x="340153" y="6001372"/>
            <a:ext cx="818926" cy="897249"/>
          </a:xfrm>
          <a:prstGeom prst="round2SameRect">
            <a:avLst>
              <a:gd name="adj1" fmla="val 791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7" name="Rectángulo: esquinas superiores redondeadas 26">
            <a:extLst>
              <a:ext uri="{FF2B5EF4-FFF2-40B4-BE49-F238E27FC236}">
                <a16:creationId xmlns:a16="http://schemas.microsoft.com/office/drawing/2014/main" id="{ED2E94BF-2ACF-9CDB-2270-F3F01A0CECCC}"/>
              </a:ext>
            </a:extLst>
          </p:cNvPr>
          <p:cNvSpPr/>
          <p:nvPr/>
        </p:nvSpPr>
        <p:spPr>
          <a:xfrm rot="16200000">
            <a:off x="372533" y="6813767"/>
            <a:ext cx="754168" cy="897249"/>
          </a:xfrm>
          <a:prstGeom prst="round2SameRect">
            <a:avLst>
              <a:gd name="adj1" fmla="val 791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9" name="Rectángulo: esquinas superiores redondeadas 28">
            <a:extLst>
              <a:ext uri="{FF2B5EF4-FFF2-40B4-BE49-F238E27FC236}">
                <a16:creationId xmlns:a16="http://schemas.microsoft.com/office/drawing/2014/main" id="{B97E2A3E-B829-3ABD-EF64-82D9B77D81B0}"/>
              </a:ext>
            </a:extLst>
          </p:cNvPr>
          <p:cNvSpPr/>
          <p:nvPr/>
        </p:nvSpPr>
        <p:spPr>
          <a:xfrm rot="16200000">
            <a:off x="372532" y="7593783"/>
            <a:ext cx="754168" cy="897249"/>
          </a:xfrm>
          <a:prstGeom prst="round2SameRect">
            <a:avLst>
              <a:gd name="adj1" fmla="val 791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1" name="Rectángulo: esquinas superiores redondeadas 30">
            <a:extLst>
              <a:ext uri="{FF2B5EF4-FFF2-40B4-BE49-F238E27FC236}">
                <a16:creationId xmlns:a16="http://schemas.microsoft.com/office/drawing/2014/main" id="{03B9E890-83AC-5DE2-64DF-9942048FAD75}"/>
              </a:ext>
            </a:extLst>
          </p:cNvPr>
          <p:cNvSpPr/>
          <p:nvPr/>
        </p:nvSpPr>
        <p:spPr>
          <a:xfrm rot="16200000">
            <a:off x="229385" y="8516947"/>
            <a:ext cx="1040464" cy="897249"/>
          </a:xfrm>
          <a:prstGeom prst="round2SameRect">
            <a:avLst>
              <a:gd name="adj1" fmla="val 791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3" name="Rectángulo: esquinas superiores redondeadas 32">
            <a:extLst>
              <a:ext uri="{FF2B5EF4-FFF2-40B4-BE49-F238E27FC236}">
                <a16:creationId xmlns:a16="http://schemas.microsoft.com/office/drawing/2014/main" id="{C67D5057-8C42-0FFB-9DF0-C67BE41097CF}"/>
              </a:ext>
            </a:extLst>
          </p:cNvPr>
          <p:cNvSpPr/>
          <p:nvPr/>
        </p:nvSpPr>
        <p:spPr>
          <a:xfrm rot="16200000">
            <a:off x="324173" y="9508607"/>
            <a:ext cx="850889" cy="897249"/>
          </a:xfrm>
          <a:prstGeom prst="round2SameRect">
            <a:avLst>
              <a:gd name="adj1" fmla="val 791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35" name="Gráfico 34" descr="Signal con relleno sólido">
            <a:extLst>
              <a:ext uri="{FF2B5EF4-FFF2-40B4-BE49-F238E27FC236}">
                <a16:creationId xmlns:a16="http://schemas.microsoft.com/office/drawing/2014/main" id="{6D9E7054-2EB0-8E18-51AE-89F406D3CF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735" y="9646920"/>
            <a:ext cx="573220" cy="573220"/>
          </a:xfrm>
          <a:prstGeom prst="rect">
            <a:avLst/>
          </a:prstGeom>
        </p:spPr>
      </p:pic>
      <p:pic>
        <p:nvPicPr>
          <p:cNvPr id="37" name="Gráfico 36" descr="Document con relleno sólido">
            <a:extLst>
              <a:ext uri="{FF2B5EF4-FFF2-40B4-BE49-F238E27FC236}">
                <a16:creationId xmlns:a16="http://schemas.microsoft.com/office/drawing/2014/main" id="{AF76DBD7-CC19-6808-1BB4-0E2822A411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5866" y="8700060"/>
            <a:ext cx="569567" cy="569567"/>
          </a:xfrm>
          <a:prstGeom prst="rect">
            <a:avLst/>
          </a:prstGeom>
        </p:spPr>
      </p:pic>
      <p:pic>
        <p:nvPicPr>
          <p:cNvPr id="39" name="Gráfico 38" descr="Single gear con relleno sólido">
            <a:extLst>
              <a:ext uri="{FF2B5EF4-FFF2-40B4-BE49-F238E27FC236}">
                <a16:creationId xmlns:a16="http://schemas.microsoft.com/office/drawing/2014/main" id="{DD5CE69A-B3DE-4D35-FF49-F89D5FDD6F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6240" y="7760370"/>
            <a:ext cx="600062" cy="600062"/>
          </a:xfrm>
          <a:prstGeom prst="rect">
            <a:avLst/>
          </a:prstGeom>
        </p:spPr>
      </p:pic>
      <p:pic>
        <p:nvPicPr>
          <p:cNvPr id="41" name="Gráfico 40" descr="Blockchain con relleno sólido">
            <a:extLst>
              <a:ext uri="{FF2B5EF4-FFF2-40B4-BE49-F238E27FC236}">
                <a16:creationId xmlns:a16="http://schemas.microsoft.com/office/drawing/2014/main" id="{86A2DFAD-980F-FD0D-21F6-9045C77F5A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5866" y="7006201"/>
            <a:ext cx="512380" cy="512380"/>
          </a:xfrm>
          <a:prstGeom prst="rect">
            <a:avLst/>
          </a:prstGeom>
        </p:spPr>
      </p:pic>
      <p:pic>
        <p:nvPicPr>
          <p:cNvPr id="43" name="Gráfico 42" descr="Lightning bolt con relleno sólido">
            <a:extLst>
              <a:ext uri="{FF2B5EF4-FFF2-40B4-BE49-F238E27FC236}">
                <a16:creationId xmlns:a16="http://schemas.microsoft.com/office/drawing/2014/main" id="{A29ECB42-79B1-D766-AEC6-B0EFB1E68C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6735" y="6176010"/>
            <a:ext cx="570642" cy="570642"/>
          </a:xfrm>
          <a:prstGeom prst="rect">
            <a:avLst/>
          </a:prstGeom>
        </p:spPr>
      </p:pic>
      <p:sp>
        <p:nvSpPr>
          <p:cNvPr id="45" name="Rectángulo 44">
            <a:extLst>
              <a:ext uri="{FF2B5EF4-FFF2-40B4-BE49-F238E27FC236}">
                <a16:creationId xmlns:a16="http://schemas.microsoft.com/office/drawing/2014/main" id="{C1875206-89FE-BD63-2AC7-C1BFBB2221AE}"/>
              </a:ext>
            </a:extLst>
          </p:cNvPr>
          <p:cNvSpPr/>
          <p:nvPr/>
        </p:nvSpPr>
        <p:spPr>
          <a:xfrm>
            <a:off x="1221610" y="6040533"/>
            <a:ext cx="2272389" cy="818927"/>
          </a:xfrm>
          <a:prstGeom prst="rect">
            <a:avLst/>
          </a:prstGeom>
          <a:solidFill>
            <a:srgbClr val="3362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spc="-150" dirty="0">
                <a:latin typeface="Aptos Narrow" panose="020B0004020202020204" pitchFamily="34" charset="0"/>
              </a:rPr>
              <a:t>Estimulo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2FBBE93F-0834-34B2-8FC4-4C14A695C27A}"/>
              </a:ext>
            </a:extLst>
          </p:cNvPr>
          <p:cNvSpPr/>
          <p:nvPr/>
        </p:nvSpPr>
        <p:spPr>
          <a:xfrm>
            <a:off x="1221610" y="6885307"/>
            <a:ext cx="2272389" cy="754169"/>
          </a:xfrm>
          <a:prstGeom prst="rect">
            <a:avLst/>
          </a:prstGeom>
          <a:solidFill>
            <a:srgbClr val="3362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spc="-150" dirty="0">
                <a:latin typeface="Aptos Narrow" panose="020B0004020202020204" pitchFamily="34" charset="0"/>
              </a:rPr>
              <a:t>Artefacto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5884D664-F6E5-9F43-9A8E-A74E852DFBB6}"/>
              </a:ext>
            </a:extLst>
          </p:cNvPr>
          <p:cNvSpPr/>
          <p:nvPr/>
        </p:nvSpPr>
        <p:spPr>
          <a:xfrm>
            <a:off x="1221610" y="7665322"/>
            <a:ext cx="2272389" cy="754169"/>
          </a:xfrm>
          <a:prstGeom prst="rect">
            <a:avLst/>
          </a:prstGeom>
          <a:solidFill>
            <a:srgbClr val="3362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spc="-150" dirty="0">
                <a:latin typeface="Aptos Narrow" panose="020B0004020202020204" pitchFamily="34" charset="0"/>
              </a:rPr>
              <a:t>Ambiente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712E8C9F-F71D-F96D-592B-B1AE74F8EC7C}"/>
              </a:ext>
            </a:extLst>
          </p:cNvPr>
          <p:cNvSpPr/>
          <p:nvPr/>
        </p:nvSpPr>
        <p:spPr>
          <a:xfrm>
            <a:off x="1221610" y="8445337"/>
            <a:ext cx="2272389" cy="1040465"/>
          </a:xfrm>
          <a:prstGeom prst="rect">
            <a:avLst/>
          </a:prstGeom>
          <a:solidFill>
            <a:srgbClr val="3362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spc="-150" dirty="0">
                <a:latin typeface="Aptos Narrow" panose="020B0004020202020204" pitchFamily="34" charset="0"/>
              </a:rPr>
              <a:t>Respuesta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7D639649-6CC6-94FE-72EF-959828FD8952}"/>
              </a:ext>
            </a:extLst>
          </p:cNvPr>
          <p:cNvSpPr/>
          <p:nvPr/>
        </p:nvSpPr>
        <p:spPr>
          <a:xfrm>
            <a:off x="1221610" y="9531787"/>
            <a:ext cx="2272389" cy="850889"/>
          </a:xfrm>
          <a:prstGeom prst="rect">
            <a:avLst/>
          </a:prstGeom>
          <a:solidFill>
            <a:srgbClr val="3362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spc="-150" dirty="0">
                <a:latin typeface="Aptos Narrow" panose="020B0004020202020204" pitchFamily="34" charset="0"/>
              </a:rPr>
              <a:t>Medida de Respuesta</a:t>
            </a:r>
          </a:p>
        </p:txBody>
      </p:sp>
      <p:sp>
        <p:nvSpPr>
          <p:cNvPr id="54" name="Rectángulo: esquinas superiores redondeadas 53">
            <a:extLst>
              <a:ext uri="{FF2B5EF4-FFF2-40B4-BE49-F238E27FC236}">
                <a16:creationId xmlns:a16="http://schemas.microsoft.com/office/drawing/2014/main" id="{60AB38A4-39B1-9A0B-26D1-02EE7E8B6CA6}"/>
              </a:ext>
            </a:extLst>
          </p:cNvPr>
          <p:cNvSpPr/>
          <p:nvPr/>
        </p:nvSpPr>
        <p:spPr>
          <a:xfrm rot="5400000">
            <a:off x="6473011" y="2295624"/>
            <a:ext cx="740229" cy="6651521"/>
          </a:xfrm>
          <a:prstGeom prst="round2SameRect">
            <a:avLst>
              <a:gd name="adj1" fmla="val 9737"/>
              <a:gd name="adj2" fmla="val 0"/>
            </a:avLst>
          </a:prstGeom>
          <a:solidFill>
            <a:srgbClr val="EAE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s-CL" sz="1600" dirty="0">
                <a:solidFill>
                  <a:schemeClr val="tx1"/>
                </a:solidFill>
                <a:latin typeface="Aptos Narrow" panose="020B0004020202020204" pitchFamily="34" charset="0"/>
              </a:rPr>
              <a:t>Administrador o Técnico de Soporte autorizado.</a:t>
            </a:r>
            <a:endParaRPr lang="es-CL" sz="15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56" name="Rectángulo: esquinas superiores redondeadas 55">
            <a:extLst>
              <a:ext uri="{FF2B5EF4-FFF2-40B4-BE49-F238E27FC236}">
                <a16:creationId xmlns:a16="http://schemas.microsoft.com/office/drawing/2014/main" id="{611D75B6-5AFD-B8B0-07AD-F9FE913BE70B}"/>
              </a:ext>
            </a:extLst>
          </p:cNvPr>
          <p:cNvSpPr/>
          <p:nvPr/>
        </p:nvSpPr>
        <p:spPr>
          <a:xfrm rot="5400000">
            <a:off x="6433661" y="3124236"/>
            <a:ext cx="818927" cy="6651521"/>
          </a:xfrm>
          <a:prstGeom prst="round2SameRect">
            <a:avLst>
              <a:gd name="adj1" fmla="val 9737"/>
              <a:gd name="adj2" fmla="val 0"/>
            </a:avLst>
          </a:prstGeom>
          <a:solidFill>
            <a:srgbClr val="EAE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s-CL" sz="1600" dirty="0">
                <a:solidFill>
                  <a:schemeClr val="tx1"/>
                </a:solidFill>
                <a:latin typeface="Aptos Narrow" panose="020B0004020202020204" pitchFamily="34" charset="0"/>
              </a:rPr>
              <a:t>El usuario confirma una asignación o devolución de un activo.</a:t>
            </a:r>
            <a:endParaRPr lang="es-CL" sz="15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58" name="Rectángulo: esquinas superiores redondeadas 57">
            <a:extLst>
              <a:ext uri="{FF2B5EF4-FFF2-40B4-BE49-F238E27FC236}">
                <a16:creationId xmlns:a16="http://schemas.microsoft.com/office/drawing/2014/main" id="{90A4AB3D-F431-9072-FBEA-D05A0D6E4AAF}"/>
              </a:ext>
            </a:extLst>
          </p:cNvPr>
          <p:cNvSpPr/>
          <p:nvPr/>
        </p:nvSpPr>
        <p:spPr>
          <a:xfrm rot="5400000">
            <a:off x="6466424" y="3937016"/>
            <a:ext cx="753398" cy="6651521"/>
          </a:xfrm>
          <a:prstGeom prst="round2SameRect">
            <a:avLst>
              <a:gd name="adj1" fmla="val 9737"/>
              <a:gd name="adj2" fmla="val 0"/>
            </a:avLst>
          </a:prstGeom>
          <a:solidFill>
            <a:srgbClr val="EAE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s-CL" sz="1600" dirty="0">
                <a:solidFill>
                  <a:schemeClr val="tx1"/>
                </a:solidFill>
                <a:latin typeface="Aptos Narrow" panose="020B0004020202020204" pitchFamily="34" charset="0"/>
              </a:rPr>
              <a:t>API central, módulo de asignaciones y devoluciones, historial de movimientos y Cloud </a:t>
            </a:r>
            <a:r>
              <a:rPr lang="es-CL" sz="1600" dirty="0" err="1">
                <a:solidFill>
                  <a:schemeClr val="tx1"/>
                </a:solidFill>
                <a:latin typeface="Aptos Narrow" panose="020B0004020202020204" pitchFamily="34" charset="0"/>
              </a:rPr>
              <a:t>Firestore</a:t>
            </a:r>
            <a:r>
              <a:rPr lang="es-CL" sz="1600" dirty="0">
                <a:solidFill>
                  <a:schemeClr val="tx1"/>
                </a:solidFill>
                <a:latin typeface="Aptos Narrow" panose="020B0004020202020204" pitchFamily="34" charset="0"/>
              </a:rPr>
              <a:t>.</a:t>
            </a:r>
            <a:endParaRPr lang="es-CL" sz="15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60" name="Rectángulo: esquinas superiores redondeadas 59">
            <a:extLst>
              <a:ext uri="{FF2B5EF4-FFF2-40B4-BE49-F238E27FC236}">
                <a16:creationId xmlns:a16="http://schemas.microsoft.com/office/drawing/2014/main" id="{BFA244C3-A7D4-BA71-C8A5-AD5758ACD0C6}"/>
              </a:ext>
            </a:extLst>
          </p:cNvPr>
          <p:cNvSpPr/>
          <p:nvPr/>
        </p:nvSpPr>
        <p:spPr>
          <a:xfrm rot="5400000">
            <a:off x="6473009" y="4716646"/>
            <a:ext cx="740230" cy="6651521"/>
          </a:xfrm>
          <a:prstGeom prst="round2SameRect">
            <a:avLst>
              <a:gd name="adj1" fmla="val 9737"/>
              <a:gd name="adj2" fmla="val 0"/>
            </a:avLst>
          </a:prstGeom>
          <a:solidFill>
            <a:srgbClr val="EAE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s-CL" sz="1600" dirty="0">
                <a:solidFill>
                  <a:schemeClr val="tx1"/>
                </a:solidFill>
                <a:latin typeface="Aptos Narrow" panose="020B0004020202020204" pitchFamily="34" charset="0"/>
              </a:rPr>
              <a:t>Operación normal, con el activo registrado y el usuario autorizado.</a:t>
            </a:r>
            <a:endParaRPr lang="es-CL" sz="15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62" name="Rectángulo: esquinas superiores redondeadas 61">
            <a:extLst>
              <a:ext uri="{FF2B5EF4-FFF2-40B4-BE49-F238E27FC236}">
                <a16:creationId xmlns:a16="http://schemas.microsoft.com/office/drawing/2014/main" id="{D98267F0-A5CB-A5EE-8306-E05FB72B8013}"/>
              </a:ext>
            </a:extLst>
          </p:cNvPr>
          <p:cNvSpPr/>
          <p:nvPr/>
        </p:nvSpPr>
        <p:spPr>
          <a:xfrm rot="5400000">
            <a:off x="6322891" y="5639809"/>
            <a:ext cx="1040466" cy="6651521"/>
          </a:xfrm>
          <a:prstGeom prst="round2SameRect">
            <a:avLst>
              <a:gd name="adj1" fmla="val 9737"/>
              <a:gd name="adj2" fmla="val 0"/>
            </a:avLst>
          </a:prstGeom>
          <a:solidFill>
            <a:srgbClr val="EAE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s-CL" sz="1500" dirty="0">
                <a:solidFill>
                  <a:schemeClr val="tx1"/>
                </a:solidFill>
                <a:latin typeface="Aptos Narrow" panose="020B0004020202020204" pitchFamily="34" charset="0"/>
              </a:rPr>
              <a:t>El sistema valida el estado del activo, procesa la operación, actualiza la información correspondiente y registra el movimiento en el historial con la fecha y hora generadas por el servidor y el identificador del usuario responsable. La operación queda disponible para su consulta posterior.</a:t>
            </a:r>
          </a:p>
        </p:txBody>
      </p:sp>
      <p:sp>
        <p:nvSpPr>
          <p:cNvPr id="64" name="Rectángulo: esquinas superiores redondeadas 63">
            <a:extLst>
              <a:ext uri="{FF2B5EF4-FFF2-40B4-BE49-F238E27FC236}">
                <a16:creationId xmlns:a16="http://schemas.microsoft.com/office/drawing/2014/main" id="{E9C208F6-F9AC-E036-38E9-10A552E2490D}"/>
              </a:ext>
            </a:extLst>
          </p:cNvPr>
          <p:cNvSpPr/>
          <p:nvPr/>
        </p:nvSpPr>
        <p:spPr>
          <a:xfrm rot="5400000">
            <a:off x="6417679" y="6631472"/>
            <a:ext cx="850890" cy="6651521"/>
          </a:xfrm>
          <a:prstGeom prst="round2SameRect">
            <a:avLst>
              <a:gd name="adj1" fmla="val 9737"/>
              <a:gd name="adj2" fmla="val 0"/>
            </a:avLst>
          </a:prstGeom>
          <a:solidFill>
            <a:srgbClr val="EAE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s-CL" sz="1400" dirty="0">
                <a:solidFill>
                  <a:schemeClr val="tx1"/>
                </a:solidFill>
                <a:latin typeface="Aptos Narrow" panose="020B0004020202020204" pitchFamily="34" charset="0"/>
              </a:rPr>
              <a:t>Cada movimiento confirmado debe contar con el identificador del activo, la operación realizada, la fecha y hora del servidor y el identificador del usuario responsable. Las pruebas deben comprobar que el historial permite reconstruir las asignaciones y devoluciones efectuadas.</a:t>
            </a:r>
          </a:p>
        </p:txBody>
      </p: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550FF072-8E11-5BB1-17EF-778B90474ED3}"/>
              </a:ext>
            </a:extLst>
          </p:cNvPr>
          <p:cNvSpPr/>
          <p:nvPr/>
        </p:nvSpPr>
        <p:spPr>
          <a:xfrm>
            <a:off x="270513" y="10497809"/>
            <a:ext cx="9848350" cy="1459222"/>
          </a:xfrm>
          <a:prstGeom prst="roundRect">
            <a:avLst>
              <a:gd name="adj" fmla="val 9044"/>
            </a:avLst>
          </a:prstGeom>
          <a:solidFill>
            <a:srgbClr val="93B9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28950" lvl="6" indent="-285750">
              <a:buFont typeface="Arial" panose="020B0604020202020204" pitchFamily="34" charset="0"/>
              <a:buChar char="•"/>
            </a:pPr>
            <a:r>
              <a:rPr lang="es-CL" sz="1600" dirty="0">
                <a:solidFill>
                  <a:schemeClr val="tx1"/>
                </a:solidFill>
                <a:latin typeface="Aptos Narrow" panose="020B0004020202020204" pitchFamily="34" charset="0"/>
              </a:rPr>
              <a:t>RF-06 — Desglose e Historial Detallado de Hardware; </a:t>
            </a:r>
          </a:p>
          <a:p>
            <a:pPr marL="3028950" lvl="6" indent="-285750">
              <a:buFont typeface="Arial" panose="020B0604020202020204" pitchFamily="34" charset="0"/>
              <a:buChar char="•"/>
            </a:pPr>
            <a:r>
              <a:rPr lang="es-CL" sz="1600" dirty="0">
                <a:solidFill>
                  <a:schemeClr val="tx1"/>
                </a:solidFill>
                <a:latin typeface="Aptos Narrow" panose="020B0004020202020204" pitchFamily="34" charset="0"/>
              </a:rPr>
              <a:t>RF-09 — Ejecución de Asignaciones y Devoluciones Transaccionales; </a:t>
            </a:r>
          </a:p>
          <a:p>
            <a:pPr marL="3028950" lvl="6" indent="-285750">
              <a:buFont typeface="Arial" panose="020B0604020202020204" pitchFamily="34" charset="0"/>
              <a:buChar char="•"/>
            </a:pPr>
            <a:r>
              <a:rPr lang="es-CL" sz="1600" dirty="0">
                <a:solidFill>
                  <a:schemeClr val="tx1"/>
                </a:solidFill>
                <a:latin typeface="Aptos Narrow" panose="020B0004020202020204" pitchFamily="34" charset="0"/>
              </a:rPr>
              <a:t>RF-10 — Generación Automática y Vista Previa de Actas; </a:t>
            </a:r>
          </a:p>
          <a:p>
            <a:pPr marL="3028950" lvl="6" indent="-285750">
              <a:buFont typeface="Arial" panose="020B0604020202020204" pitchFamily="34" charset="0"/>
              <a:buChar char="•"/>
            </a:pPr>
            <a:r>
              <a:rPr lang="es-CL" sz="1600" dirty="0">
                <a:solidFill>
                  <a:schemeClr val="tx1"/>
                </a:solidFill>
                <a:latin typeface="Aptos Narrow" panose="020B0004020202020204" pitchFamily="34" charset="0"/>
              </a:rPr>
              <a:t>RNF-18 — Trazabilidad e Integridad de Auditoría. </a:t>
            </a:r>
          </a:p>
          <a:p>
            <a:pPr lvl="6"/>
            <a:r>
              <a:rPr lang="es-CL" sz="1600" dirty="0">
                <a:solidFill>
                  <a:schemeClr val="tx1"/>
                </a:solidFill>
                <a:latin typeface="Aptos Narrow" panose="020B0004020202020204" pitchFamily="34" charset="0"/>
              </a:rPr>
              <a:t>La </a:t>
            </a:r>
            <a:r>
              <a:rPr lang="es-CL" sz="1600" dirty="0" err="1">
                <a:solidFill>
                  <a:schemeClr val="tx1"/>
                </a:solidFill>
                <a:latin typeface="Aptos Narrow" panose="020B0004020202020204" pitchFamily="34" charset="0"/>
              </a:rPr>
              <a:t>ERS</a:t>
            </a:r>
            <a:r>
              <a:rPr lang="es-CL" sz="1600" dirty="0">
                <a:solidFill>
                  <a:schemeClr val="tx1"/>
                </a:solidFill>
                <a:latin typeface="Aptos Narrow" panose="020B0004020202020204" pitchFamily="34" charset="0"/>
              </a:rPr>
              <a:t> exige conservar los movimientos del inventario con fecha y hora generadas por el servidor y el identificador del usuario responsable.</a:t>
            </a:r>
          </a:p>
        </p:txBody>
      </p:sp>
      <p:sp>
        <p:nvSpPr>
          <p:cNvPr id="66" name="Rectángulo: esquinas redondeadas 65">
            <a:extLst>
              <a:ext uri="{FF2B5EF4-FFF2-40B4-BE49-F238E27FC236}">
                <a16:creationId xmlns:a16="http://schemas.microsoft.com/office/drawing/2014/main" id="{DCFA5DCB-56B4-2C5A-A678-015A5CFB83A4}"/>
              </a:ext>
            </a:extLst>
          </p:cNvPr>
          <p:cNvSpPr/>
          <p:nvPr/>
        </p:nvSpPr>
        <p:spPr>
          <a:xfrm>
            <a:off x="292416" y="2926006"/>
            <a:ext cx="9848350" cy="2204368"/>
          </a:xfrm>
          <a:prstGeom prst="roundRect">
            <a:avLst>
              <a:gd name="adj" fmla="val 6158"/>
            </a:avLst>
          </a:prstGeom>
          <a:solidFill>
            <a:schemeClr val="bg1"/>
          </a:solidFill>
          <a:ln>
            <a:solidFill>
              <a:srgbClr val="93B9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68" name="Gráfico 67" descr="Bullseye con relleno sólido">
            <a:extLst>
              <a:ext uri="{FF2B5EF4-FFF2-40B4-BE49-F238E27FC236}">
                <a16:creationId xmlns:a16="http://schemas.microsoft.com/office/drawing/2014/main" id="{0BE9AF70-2691-0EAB-51A9-897BBCB8DC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8184" y="10752316"/>
            <a:ext cx="914400" cy="914400"/>
          </a:xfrm>
          <a:prstGeom prst="rect">
            <a:avLst/>
          </a:prstGeom>
        </p:spPr>
      </p:pic>
      <p:sp>
        <p:nvSpPr>
          <p:cNvPr id="69" name="CuadroTexto 68">
            <a:extLst>
              <a:ext uri="{FF2B5EF4-FFF2-40B4-BE49-F238E27FC236}">
                <a16:creationId xmlns:a16="http://schemas.microsoft.com/office/drawing/2014/main" id="{06A7983B-E9A0-BAA5-3E66-5E1CCCC4E75D}"/>
              </a:ext>
            </a:extLst>
          </p:cNvPr>
          <p:cNvSpPr txBox="1"/>
          <p:nvPr/>
        </p:nvSpPr>
        <p:spPr>
          <a:xfrm>
            <a:off x="1282584" y="10873477"/>
            <a:ext cx="17142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2000" b="1" dirty="0">
                <a:solidFill>
                  <a:srgbClr val="002060"/>
                </a:solidFill>
              </a:rPr>
              <a:t>Requisitos </a:t>
            </a:r>
          </a:p>
          <a:p>
            <a:pPr algn="ctr"/>
            <a:r>
              <a:rPr lang="es-CL" sz="2000" b="1" dirty="0">
                <a:solidFill>
                  <a:srgbClr val="002060"/>
                </a:solidFill>
              </a:rPr>
              <a:t>relacionados</a:t>
            </a:r>
          </a:p>
        </p:txBody>
      </p:sp>
      <p:cxnSp>
        <p:nvCxnSpPr>
          <p:cNvPr id="75" name="Conector recto de flecha 74">
            <a:extLst>
              <a:ext uri="{FF2B5EF4-FFF2-40B4-BE49-F238E27FC236}">
                <a16:creationId xmlns:a16="http://schemas.microsoft.com/office/drawing/2014/main" id="{1F0D6402-6238-8CC7-7FE0-470E19801F8E}"/>
              </a:ext>
            </a:extLst>
          </p:cNvPr>
          <p:cNvCxnSpPr>
            <a:cxnSpLocks/>
          </p:cNvCxnSpPr>
          <p:nvPr/>
        </p:nvCxnSpPr>
        <p:spPr>
          <a:xfrm>
            <a:off x="2597785" y="3944773"/>
            <a:ext cx="1636395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CuadroTexto 78">
            <a:extLst>
              <a:ext uri="{FF2B5EF4-FFF2-40B4-BE49-F238E27FC236}">
                <a16:creationId xmlns:a16="http://schemas.microsoft.com/office/drawing/2014/main" id="{AE891619-2FF8-44A6-BC29-25C45DABC8B6}"/>
              </a:ext>
            </a:extLst>
          </p:cNvPr>
          <p:cNvSpPr txBox="1"/>
          <p:nvPr/>
        </p:nvSpPr>
        <p:spPr>
          <a:xfrm>
            <a:off x="2901995" y="3525138"/>
            <a:ext cx="1027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>
                <a:solidFill>
                  <a:srgbClr val="002060"/>
                </a:solidFill>
                <a:latin typeface="Aptos Narrow" panose="020B0004020202020204" pitchFamily="34" charset="0"/>
              </a:rPr>
              <a:t>Estimulo</a:t>
            </a:r>
          </a:p>
        </p:txBody>
      </p:sp>
      <p:cxnSp>
        <p:nvCxnSpPr>
          <p:cNvPr id="80" name="Conector recto de flecha 79">
            <a:extLst>
              <a:ext uri="{FF2B5EF4-FFF2-40B4-BE49-F238E27FC236}">
                <a16:creationId xmlns:a16="http://schemas.microsoft.com/office/drawing/2014/main" id="{8935A356-CA5B-9475-29B6-1A2C41F7CAF8}"/>
              </a:ext>
            </a:extLst>
          </p:cNvPr>
          <p:cNvCxnSpPr>
            <a:cxnSpLocks/>
          </p:cNvCxnSpPr>
          <p:nvPr/>
        </p:nvCxnSpPr>
        <p:spPr>
          <a:xfrm>
            <a:off x="6462649" y="3944773"/>
            <a:ext cx="1636395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CuadroTexto 80">
            <a:extLst>
              <a:ext uri="{FF2B5EF4-FFF2-40B4-BE49-F238E27FC236}">
                <a16:creationId xmlns:a16="http://schemas.microsoft.com/office/drawing/2014/main" id="{B3E402E6-A27C-5D35-1A7E-BB7359F9172B}"/>
              </a:ext>
            </a:extLst>
          </p:cNvPr>
          <p:cNvSpPr txBox="1"/>
          <p:nvPr/>
        </p:nvSpPr>
        <p:spPr>
          <a:xfrm>
            <a:off x="6646899" y="3520692"/>
            <a:ext cx="1193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>
                <a:solidFill>
                  <a:srgbClr val="002060"/>
                </a:solidFill>
                <a:latin typeface="Aptos Narrow" panose="020B0004020202020204" pitchFamily="34" charset="0"/>
              </a:rPr>
              <a:t>Respuesta</a:t>
            </a: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23572360-B3DB-FD0F-C76D-91A4DA7AE89B}"/>
              </a:ext>
            </a:extLst>
          </p:cNvPr>
          <p:cNvSpPr txBox="1"/>
          <p:nvPr/>
        </p:nvSpPr>
        <p:spPr>
          <a:xfrm>
            <a:off x="569685" y="4140104"/>
            <a:ext cx="21275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b="1" dirty="0">
                <a:latin typeface="Aptos Narrow" panose="020B0004020202020204" pitchFamily="34" charset="0"/>
              </a:rPr>
              <a:t>Usuario autorizado</a:t>
            </a:r>
          </a:p>
          <a:p>
            <a:pPr algn="ctr"/>
            <a:r>
              <a:rPr lang="es-CL" dirty="0">
                <a:latin typeface="Aptos Narrow" panose="020B0004020202020204" pitchFamily="34" charset="0"/>
              </a:rPr>
              <a:t>Confirma asignación </a:t>
            </a:r>
          </a:p>
          <a:p>
            <a:pPr algn="ctr"/>
            <a:r>
              <a:rPr lang="es-CL" dirty="0">
                <a:latin typeface="Aptos Narrow" panose="020B0004020202020204" pitchFamily="34" charset="0"/>
              </a:rPr>
              <a:t>o devolución</a:t>
            </a:r>
            <a:endParaRPr lang="es-CL" b="1" dirty="0">
              <a:latin typeface="Aptos Narrow" panose="020B0004020202020204" pitchFamily="34" charset="0"/>
            </a:endParaRP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DFFF1CCC-4510-9185-C52D-EC1E045DD4B8}"/>
              </a:ext>
            </a:extLst>
          </p:cNvPr>
          <p:cNvSpPr txBox="1"/>
          <p:nvPr/>
        </p:nvSpPr>
        <p:spPr>
          <a:xfrm>
            <a:off x="7486820" y="4353550"/>
            <a:ext cx="24886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b="1" dirty="0">
                <a:latin typeface="Aptos Narrow" panose="020B0004020202020204" pitchFamily="34" charset="0"/>
              </a:rPr>
              <a:t>Movimiento registrado</a:t>
            </a:r>
            <a:br>
              <a:rPr lang="es-CL" dirty="0">
                <a:latin typeface="Aptos Narrow" panose="020B0004020202020204" pitchFamily="34" charset="0"/>
              </a:rPr>
            </a:br>
            <a:r>
              <a:rPr lang="es-CL" dirty="0">
                <a:latin typeface="Aptos Narrow" panose="020B0004020202020204" pitchFamily="34" charset="0"/>
              </a:rPr>
              <a:t>Trazabilidad conservada</a:t>
            </a:r>
          </a:p>
        </p:txBody>
      </p:sp>
      <p:sp>
        <p:nvSpPr>
          <p:cNvPr id="86" name="Rectángulo: esquinas redondeadas 85">
            <a:extLst>
              <a:ext uri="{FF2B5EF4-FFF2-40B4-BE49-F238E27FC236}">
                <a16:creationId xmlns:a16="http://schemas.microsoft.com/office/drawing/2014/main" id="{236397DB-11E2-E96A-7295-02A7D2E57984}"/>
              </a:ext>
            </a:extLst>
          </p:cNvPr>
          <p:cNvSpPr/>
          <p:nvPr/>
        </p:nvSpPr>
        <p:spPr>
          <a:xfrm>
            <a:off x="4383842" y="3280852"/>
            <a:ext cx="1958846" cy="1439999"/>
          </a:xfrm>
          <a:prstGeom prst="roundRect">
            <a:avLst/>
          </a:prstGeom>
          <a:solidFill>
            <a:srgbClr val="E6EDF8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88" name="Gráfico 87" descr="Server con relleno sólido">
            <a:extLst>
              <a:ext uri="{FF2B5EF4-FFF2-40B4-BE49-F238E27FC236}">
                <a16:creationId xmlns:a16="http://schemas.microsoft.com/office/drawing/2014/main" id="{748ABEE2-C28A-4EAD-A4D3-721350FD0C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73186" y="3323111"/>
            <a:ext cx="914400" cy="773385"/>
          </a:xfrm>
          <a:prstGeom prst="rect">
            <a:avLst/>
          </a:prstGeom>
        </p:spPr>
      </p:pic>
      <p:sp>
        <p:nvSpPr>
          <p:cNvPr id="89" name="CuadroTexto 88">
            <a:extLst>
              <a:ext uri="{FF2B5EF4-FFF2-40B4-BE49-F238E27FC236}">
                <a16:creationId xmlns:a16="http://schemas.microsoft.com/office/drawing/2014/main" id="{2C5FB3B4-1C20-E088-9C32-F7A65887A305}"/>
              </a:ext>
            </a:extLst>
          </p:cNvPr>
          <p:cNvSpPr txBox="1"/>
          <p:nvPr/>
        </p:nvSpPr>
        <p:spPr>
          <a:xfrm>
            <a:off x="4401692" y="4066290"/>
            <a:ext cx="19231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1600" b="1" dirty="0">
                <a:solidFill>
                  <a:srgbClr val="002060"/>
                </a:solidFill>
                <a:latin typeface="Aptos Narrow" panose="020B0004020202020204" pitchFamily="34" charset="0"/>
              </a:rPr>
              <a:t>GATI</a:t>
            </a:r>
          </a:p>
          <a:p>
            <a:pPr algn="ctr"/>
            <a:r>
              <a:rPr lang="es-CL" sz="1600" b="1" dirty="0">
                <a:solidFill>
                  <a:srgbClr val="002060"/>
                </a:solidFill>
                <a:latin typeface="Aptos Narrow" panose="020B0004020202020204" pitchFamily="34" charset="0"/>
              </a:rPr>
              <a:t>Inventario e historial</a:t>
            </a:r>
          </a:p>
        </p:txBody>
      </p:sp>
      <p:pic>
        <p:nvPicPr>
          <p:cNvPr id="3" name="Gráfico 2" descr="Shield Tick con relleno sólido">
            <a:extLst>
              <a:ext uri="{FF2B5EF4-FFF2-40B4-BE49-F238E27FC236}">
                <a16:creationId xmlns:a16="http://schemas.microsoft.com/office/drawing/2014/main" id="{E427D3CA-2E5E-7F1F-A8B4-1AAC77ADA1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9249" y="3182096"/>
            <a:ext cx="914400" cy="914400"/>
          </a:xfrm>
          <a:prstGeom prst="rect">
            <a:avLst/>
          </a:prstGeom>
        </p:spPr>
      </p:pic>
      <p:pic>
        <p:nvPicPr>
          <p:cNvPr id="5" name="Gráfico 4" descr="Clipboard Checked con relleno sólido">
            <a:extLst>
              <a:ext uri="{FF2B5EF4-FFF2-40B4-BE49-F238E27FC236}">
                <a16:creationId xmlns:a16="http://schemas.microsoft.com/office/drawing/2014/main" id="{4BDF08CF-8D88-4DB0-C9A5-732C082A86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73964" y="324815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564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4E3A2-3CE4-F36E-EA2F-C6D80EB0F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1DBC313E-67FB-0DD9-F714-95AFF98586B4}"/>
              </a:ext>
            </a:extLst>
          </p:cNvPr>
          <p:cNvSpPr/>
          <p:nvPr/>
        </p:nvSpPr>
        <p:spPr>
          <a:xfrm>
            <a:off x="283840" y="137159"/>
            <a:ext cx="9885047" cy="621030"/>
          </a:xfrm>
          <a:prstGeom prst="roundRect">
            <a:avLst>
              <a:gd name="adj" fmla="val 12986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1ED66B3-0DE7-92CB-3C57-F10707CA7115}"/>
              </a:ext>
            </a:extLst>
          </p:cNvPr>
          <p:cNvSpPr txBox="1"/>
          <p:nvPr/>
        </p:nvSpPr>
        <p:spPr>
          <a:xfrm>
            <a:off x="396240" y="173415"/>
            <a:ext cx="42242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200" b="1" spc="-150" dirty="0">
                <a:solidFill>
                  <a:schemeClr val="bg1"/>
                </a:solidFill>
                <a:latin typeface="Aptos Narrow" panose="020B0004020202020204" pitchFamily="34" charset="0"/>
              </a:rPr>
              <a:t>Escenario de Calidad N.º  3</a:t>
            </a:r>
          </a:p>
        </p:txBody>
      </p:sp>
      <p:sp>
        <p:nvSpPr>
          <p:cNvPr id="13" name="Rectángulo: esquinas superiores redondeadas 12">
            <a:extLst>
              <a:ext uri="{FF2B5EF4-FFF2-40B4-BE49-F238E27FC236}">
                <a16:creationId xmlns:a16="http://schemas.microsoft.com/office/drawing/2014/main" id="{549CCB8F-89D6-CBE9-500F-9558898311D7}"/>
              </a:ext>
            </a:extLst>
          </p:cNvPr>
          <p:cNvSpPr/>
          <p:nvPr/>
        </p:nvSpPr>
        <p:spPr>
          <a:xfrm rot="5400000">
            <a:off x="9023955" y="-386743"/>
            <a:ext cx="621031" cy="1668833"/>
          </a:xfrm>
          <a:prstGeom prst="round2SameRect">
            <a:avLst>
              <a:gd name="adj1" fmla="val 14593"/>
              <a:gd name="adj2" fmla="val 0"/>
            </a:avLst>
          </a:prstGeom>
          <a:solidFill>
            <a:srgbClr val="93B9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7AC30E3-E2DD-8E6A-0F41-489E7B264A18}"/>
              </a:ext>
            </a:extLst>
          </p:cNvPr>
          <p:cNvSpPr txBox="1"/>
          <p:nvPr/>
        </p:nvSpPr>
        <p:spPr>
          <a:xfrm>
            <a:off x="8677398" y="234969"/>
            <a:ext cx="1478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>
                <a:solidFill>
                  <a:srgbClr val="002060"/>
                </a:solidFill>
              </a:rPr>
              <a:t>ID: EC-03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CECC0D0D-91B1-613B-D21E-60FEBB8E88C0}"/>
              </a:ext>
            </a:extLst>
          </p:cNvPr>
          <p:cNvSpPr/>
          <p:nvPr/>
        </p:nvSpPr>
        <p:spPr>
          <a:xfrm>
            <a:off x="283840" y="794444"/>
            <a:ext cx="9885047" cy="2053530"/>
          </a:xfrm>
          <a:prstGeom prst="roundRect">
            <a:avLst>
              <a:gd name="adj" fmla="val 3680"/>
            </a:avLst>
          </a:prstGeom>
          <a:solidFill>
            <a:srgbClr val="93B9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Rectángulo: esquinas superiores redondeadas 17">
            <a:extLst>
              <a:ext uri="{FF2B5EF4-FFF2-40B4-BE49-F238E27FC236}">
                <a16:creationId xmlns:a16="http://schemas.microsoft.com/office/drawing/2014/main" id="{C7983B71-9201-812C-B83F-B5A4472D99C3}"/>
              </a:ext>
            </a:extLst>
          </p:cNvPr>
          <p:cNvSpPr/>
          <p:nvPr/>
        </p:nvSpPr>
        <p:spPr>
          <a:xfrm rot="5400000">
            <a:off x="5906790" y="-1412778"/>
            <a:ext cx="2053530" cy="6470664"/>
          </a:xfrm>
          <a:prstGeom prst="round2SameRect">
            <a:avLst>
              <a:gd name="adj1" fmla="val 4338"/>
              <a:gd name="adj2" fmla="val 0"/>
            </a:avLst>
          </a:prstGeom>
          <a:solidFill>
            <a:srgbClr val="E6ED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A738F047-EF3B-D05B-C355-78AFA8C6D2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097202"/>
              </p:ext>
            </p:extLst>
          </p:nvPr>
        </p:nvGraphicFramePr>
        <p:xfrm>
          <a:off x="270513" y="794444"/>
          <a:ext cx="9871720" cy="205353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460846">
                  <a:extLst>
                    <a:ext uri="{9D8B030D-6E8A-4147-A177-3AD203B41FA5}">
                      <a16:colId xmlns:a16="http://schemas.microsoft.com/office/drawing/2014/main" val="342308650"/>
                    </a:ext>
                  </a:extLst>
                </a:gridCol>
                <a:gridCol w="6410874">
                  <a:extLst>
                    <a:ext uri="{9D8B030D-6E8A-4147-A177-3AD203B41FA5}">
                      <a16:colId xmlns:a16="http://schemas.microsoft.com/office/drawing/2014/main" val="766914880"/>
                    </a:ext>
                  </a:extLst>
                </a:gridCol>
              </a:tblGrid>
              <a:tr h="567681">
                <a:tc>
                  <a:txBody>
                    <a:bodyPr/>
                    <a:lstStyle/>
                    <a:p>
                      <a:r>
                        <a:rPr lang="es-CL" sz="2000" b="1" dirty="0">
                          <a:latin typeface="Aptos Narrow" panose="020B0004020202020204" pitchFamily="34" charset="0"/>
                        </a:rPr>
                        <a:t>Atributo de calidad asociado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Compatibilidad</a:t>
                      </a:r>
                      <a:endParaRPr lang="es-CL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71048687"/>
                  </a:ext>
                </a:extLst>
              </a:tr>
              <a:tr h="657906">
                <a:tc>
                  <a:txBody>
                    <a:bodyPr/>
                    <a:lstStyle/>
                    <a:p>
                      <a:r>
                        <a:rPr lang="es-CL" sz="2000" b="1" dirty="0"/>
                        <a:t>Subcaracterística</a:t>
                      </a:r>
                      <a:endParaRPr lang="es-CL" b="1" dirty="0"/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Interoperabilidad</a:t>
                      </a:r>
                      <a:endParaRPr lang="es-CL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31532976"/>
                  </a:ext>
                </a:extLst>
              </a:tr>
              <a:tr h="827943">
                <a:tc>
                  <a:txBody>
                    <a:bodyPr/>
                    <a:lstStyle/>
                    <a:p>
                      <a:r>
                        <a:rPr lang="es-CL" sz="2000" b="1" dirty="0"/>
                        <a:t>Descripción</a:t>
                      </a:r>
                      <a:endParaRPr lang="es-CL" b="1" dirty="0"/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500" dirty="0"/>
                        <a:t>GATI debe intercambiar información de órdenes de compra con el Sistema de Compras mediante una interfaz segura y un formato de datos estructurado, controlando los errores de comunicación y validación.</a:t>
                      </a:r>
                      <a:endParaRPr lang="es-CL" sz="1500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77338791"/>
                  </a:ext>
                </a:extLst>
              </a:tr>
            </a:tbl>
          </a:graphicData>
        </a:graphic>
      </p:graphicFrame>
      <p:sp>
        <p:nvSpPr>
          <p:cNvPr id="20" name="Rectángulo: esquinas superiores redondeadas 19">
            <a:extLst>
              <a:ext uri="{FF2B5EF4-FFF2-40B4-BE49-F238E27FC236}">
                <a16:creationId xmlns:a16="http://schemas.microsoft.com/office/drawing/2014/main" id="{2A96E647-7EC2-96EA-6724-B7684E42ADC8}"/>
              </a:ext>
            </a:extLst>
          </p:cNvPr>
          <p:cNvSpPr/>
          <p:nvPr/>
        </p:nvSpPr>
        <p:spPr>
          <a:xfrm rot="16200000">
            <a:off x="379502" y="5172759"/>
            <a:ext cx="740229" cy="897249"/>
          </a:xfrm>
          <a:prstGeom prst="round2SameRect">
            <a:avLst>
              <a:gd name="adj1" fmla="val 791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2" name="Gráfico 21" descr="Circular flowchart con relleno sólido">
            <a:extLst>
              <a:ext uri="{FF2B5EF4-FFF2-40B4-BE49-F238E27FC236}">
                <a16:creationId xmlns:a16="http://schemas.microsoft.com/office/drawing/2014/main" id="{57342E73-B748-2EDC-7DCC-67553E280F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184" y="5251269"/>
            <a:ext cx="720000" cy="720000"/>
          </a:xfrm>
          <a:prstGeom prst="rect">
            <a:avLst/>
          </a:prstGeom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F0339ABF-975A-83C3-1485-7B5DAC739CD3}"/>
              </a:ext>
            </a:extLst>
          </p:cNvPr>
          <p:cNvSpPr/>
          <p:nvPr/>
        </p:nvSpPr>
        <p:spPr>
          <a:xfrm>
            <a:off x="1221611" y="5251268"/>
            <a:ext cx="2272389" cy="740229"/>
          </a:xfrm>
          <a:prstGeom prst="rect">
            <a:avLst/>
          </a:prstGeom>
          <a:solidFill>
            <a:srgbClr val="3362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spc="-150" dirty="0">
                <a:latin typeface="Aptos Narrow" panose="020B0004020202020204" pitchFamily="34" charset="0"/>
              </a:rPr>
              <a:t>Fuente del Estimulo</a:t>
            </a:r>
          </a:p>
        </p:txBody>
      </p:sp>
      <p:sp>
        <p:nvSpPr>
          <p:cNvPr id="25" name="Rectángulo: esquinas superiores redondeadas 24">
            <a:extLst>
              <a:ext uri="{FF2B5EF4-FFF2-40B4-BE49-F238E27FC236}">
                <a16:creationId xmlns:a16="http://schemas.microsoft.com/office/drawing/2014/main" id="{C70E969B-56FF-583F-1164-3BBA82BA6A40}"/>
              </a:ext>
            </a:extLst>
          </p:cNvPr>
          <p:cNvSpPr/>
          <p:nvPr/>
        </p:nvSpPr>
        <p:spPr>
          <a:xfrm rot="16200000">
            <a:off x="340153" y="6001372"/>
            <a:ext cx="818926" cy="897249"/>
          </a:xfrm>
          <a:prstGeom prst="round2SameRect">
            <a:avLst>
              <a:gd name="adj1" fmla="val 791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7" name="Rectángulo: esquinas superiores redondeadas 26">
            <a:extLst>
              <a:ext uri="{FF2B5EF4-FFF2-40B4-BE49-F238E27FC236}">
                <a16:creationId xmlns:a16="http://schemas.microsoft.com/office/drawing/2014/main" id="{873C6EC0-44B6-A512-93D7-798F5326B64D}"/>
              </a:ext>
            </a:extLst>
          </p:cNvPr>
          <p:cNvSpPr/>
          <p:nvPr/>
        </p:nvSpPr>
        <p:spPr>
          <a:xfrm rot="16200000">
            <a:off x="372533" y="6813767"/>
            <a:ext cx="754168" cy="897249"/>
          </a:xfrm>
          <a:prstGeom prst="round2SameRect">
            <a:avLst>
              <a:gd name="adj1" fmla="val 791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9" name="Rectángulo: esquinas superiores redondeadas 28">
            <a:extLst>
              <a:ext uri="{FF2B5EF4-FFF2-40B4-BE49-F238E27FC236}">
                <a16:creationId xmlns:a16="http://schemas.microsoft.com/office/drawing/2014/main" id="{20EF78BC-E5B3-0785-BC63-DCFE5C969EEB}"/>
              </a:ext>
            </a:extLst>
          </p:cNvPr>
          <p:cNvSpPr/>
          <p:nvPr/>
        </p:nvSpPr>
        <p:spPr>
          <a:xfrm rot="16200000">
            <a:off x="372532" y="7593783"/>
            <a:ext cx="754168" cy="897249"/>
          </a:xfrm>
          <a:prstGeom prst="round2SameRect">
            <a:avLst>
              <a:gd name="adj1" fmla="val 791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1" name="Rectángulo: esquinas superiores redondeadas 30">
            <a:extLst>
              <a:ext uri="{FF2B5EF4-FFF2-40B4-BE49-F238E27FC236}">
                <a16:creationId xmlns:a16="http://schemas.microsoft.com/office/drawing/2014/main" id="{69F85252-B0DD-DEF0-F55F-DC5CDC7589A7}"/>
              </a:ext>
            </a:extLst>
          </p:cNvPr>
          <p:cNvSpPr/>
          <p:nvPr/>
        </p:nvSpPr>
        <p:spPr>
          <a:xfrm rot="16200000">
            <a:off x="229385" y="8516947"/>
            <a:ext cx="1040464" cy="897249"/>
          </a:xfrm>
          <a:prstGeom prst="round2SameRect">
            <a:avLst>
              <a:gd name="adj1" fmla="val 791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3" name="Rectángulo: esquinas superiores redondeadas 32">
            <a:extLst>
              <a:ext uri="{FF2B5EF4-FFF2-40B4-BE49-F238E27FC236}">
                <a16:creationId xmlns:a16="http://schemas.microsoft.com/office/drawing/2014/main" id="{586FF305-DDF4-19D9-2FBD-C1ADB24524AB}"/>
              </a:ext>
            </a:extLst>
          </p:cNvPr>
          <p:cNvSpPr/>
          <p:nvPr/>
        </p:nvSpPr>
        <p:spPr>
          <a:xfrm rot="16200000">
            <a:off x="324173" y="9508607"/>
            <a:ext cx="850889" cy="897249"/>
          </a:xfrm>
          <a:prstGeom prst="round2SameRect">
            <a:avLst>
              <a:gd name="adj1" fmla="val 791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35" name="Gráfico 34" descr="Signal con relleno sólido">
            <a:extLst>
              <a:ext uri="{FF2B5EF4-FFF2-40B4-BE49-F238E27FC236}">
                <a16:creationId xmlns:a16="http://schemas.microsoft.com/office/drawing/2014/main" id="{CA0E6E78-ABC9-7BBC-7051-5349D053A7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735" y="9646920"/>
            <a:ext cx="573220" cy="573220"/>
          </a:xfrm>
          <a:prstGeom prst="rect">
            <a:avLst/>
          </a:prstGeom>
        </p:spPr>
      </p:pic>
      <p:pic>
        <p:nvPicPr>
          <p:cNvPr id="37" name="Gráfico 36" descr="Document con relleno sólido">
            <a:extLst>
              <a:ext uri="{FF2B5EF4-FFF2-40B4-BE49-F238E27FC236}">
                <a16:creationId xmlns:a16="http://schemas.microsoft.com/office/drawing/2014/main" id="{5AE32592-FBC5-EBC5-DF53-E30B77C770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5866" y="8700060"/>
            <a:ext cx="569567" cy="569567"/>
          </a:xfrm>
          <a:prstGeom prst="rect">
            <a:avLst/>
          </a:prstGeom>
        </p:spPr>
      </p:pic>
      <p:pic>
        <p:nvPicPr>
          <p:cNvPr id="39" name="Gráfico 38" descr="Single gear con relleno sólido">
            <a:extLst>
              <a:ext uri="{FF2B5EF4-FFF2-40B4-BE49-F238E27FC236}">
                <a16:creationId xmlns:a16="http://schemas.microsoft.com/office/drawing/2014/main" id="{EF2F8509-873C-91E2-07AA-B4DE68C577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6240" y="7760370"/>
            <a:ext cx="600062" cy="600062"/>
          </a:xfrm>
          <a:prstGeom prst="rect">
            <a:avLst/>
          </a:prstGeom>
        </p:spPr>
      </p:pic>
      <p:pic>
        <p:nvPicPr>
          <p:cNvPr id="41" name="Gráfico 40" descr="Blockchain con relleno sólido">
            <a:extLst>
              <a:ext uri="{FF2B5EF4-FFF2-40B4-BE49-F238E27FC236}">
                <a16:creationId xmlns:a16="http://schemas.microsoft.com/office/drawing/2014/main" id="{17D7BF2D-2B8E-D4D4-26DA-C39D21EFA0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5866" y="7006201"/>
            <a:ext cx="512380" cy="512380"/>
          </a:xfrm>
          <a:prstGeom prst="rect">
            <a:avLst/>
          </a:prstGeom>
        </p:spPr>
      </p:pic>
      <p:pic>
        <p:nvPicPr>
          <p:cNvPr id="43" name="Gráfico 42" descr="Lightning bolt con relleno sólido">
            <a:extLst>
              <a:ext uri="{FF2B5EF4-FFF2-40B4-BE49-F238E27FC236}">
                <a16:creationId xmlns:a16="http://schemas.microsoft.com/office/drawing/2014/main" id="{03C3D1CE-771C-B202-C328-BED82AA9DB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6735" y="6176010"/>
            <a:ext cx="570642" cy="570642"/>
          </a:xfrm>
          <a:prstGeom prst="rect">
            <a:avLst/>
          </a:prstGeom>
        </p:spPr>
      </p:pic>
      <p:sp>
        <p:nvSpPr>
          <p:cNvPr id="45" name="Rectángulo 44">
            <a:extLst>
              <a:ext uri="{FF2B5EF4-FFF2-40B4-BE49-F238E27FC236}">
                <a16:creationId xmlns:a16="http://schemas.microsoft.com/office/drawing/2014/main" id="{07E8DF3B-FF79-7574-C748-883F6A259A74}"/>
              </a:ext>
            </a:extLst>
          </p:cNvPr>
          <p:cNvSpPr/>
          <p:nvPr/>
        </p:nvSpPr>
        <p:spPr>
          <a:xfrm>
            <a:off x="1221610" y="6040533"/>
            <a:ext cx="2272389" cy="818927"/>
          </a:xfrm>
          <a:prstGeom prst="rect">
            <a:avLst/>
          </a:prstGeom>
          <a:solidFill>
            <a:srgbClr val="3362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spc="-150" dirty="0">
                <a:latin typeface="Aptos Narrow" panose="020B0004020202020204" pitchFamily="34" charset="0"/>
              </a:rPr>
              <a:t>Estimulo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93A99A0E-0A6F-2872-B503-7A71B17C3A35}"/>
              </a:ext>
            </a:extLst>
          </p:cNvPr>
          <p:cNvSpPr/>
          <p:nvPr/>
        </p:nvSpPr>
        <p:spPr>
          <a:xfrm>
            <a:off x="1221610" y="6885307"/>
            <a:ext cx="2272389" cy="754169"/>
          </a:xfrm>
          <a:prstGeom prst="rect">
            <a:avLst/>
          </a:prstGeom>
          <a:solidFill>
            <a:srgbClr val="3362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spc="-150" dirty="0">
                <a:latin typeface="Aptos Narrow" panose="020B0004020202020204" pitchFamily="34" charset="0"/>
              </a:rPr>
              <a:t>Artefacto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F51BF903-DD01-1BCB-BA5E-D21356C22949}"/>
              </a:ext>
            </a:extLst>
          </p:cNvPr>
          <p:cNvSpPr/>
          <p:nvPr/>
        </p:nvSpPr>
        <p:spPr>
          <a:xfrm>
            <a:off x="1221610" y="7665322"/>
            <a:ext cx="2272389" cy="754169"/>
          </a:xfrm>
          <a:prstGeom prst="rect">
            <a:avLst/>
          </a:prstGeom>
          <a:solidFill>
            <a:srgbClr val="3362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spc="-150" dirty="0">
                <a:latin typeface="Aptos Narrow" panose="020B0004020202020204" pitchFamily="34" charset="0"/>
              </a:rPr>
              <a:t>Ambiente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4FEB2C50-550D-8329-B9CC-3FED8B1A7BE2}"/>
              </a:ext>
            </a:extLst>
          </p:cNvPr>
          <p:cNvSpPr/>
          <p:nvPr/>
        </p:nvSpPr>
        <p:spPr>
          <a:xfrm>
            <a:off x="1221610" y="8445337"/>
            <a:ext cx="2272389" cy="1040465"/>
          </a:xfrm>
          <a:prstGeom prst="rect">
            <a:avLst/>
          </a:prstGeom>
          <a:solidFill>
            <a:srgbClr val="3362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spc="-150" dirty="0">
                <a:latin typeface="Aptos Narrow" panose="020B0004020202020204" pitchFamily="34" charset="0"/>
              </a:rPr>
              <a:t>Respuesta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F5AA18A6-BBB6-4CFA-B819-83BE1C637AF4}"/>
              </a:ext>
            </a:extLst>
          </p:cNvPr>
          <p:cNvSpPr/>
          <p:nvPr/>
        </p:nvSpPr>
        <p:spPr>
          <a:xfrm>
            <a:off x="1221610" y="9531787"/>
            <a:ext cx="2272389" cy="850889"/>
          </a:xfrm>
          <a:prstGeom prst="rect">
            <a:avLst/>
          </a:prstGeom>
          <a:solidFill>
            <a:srgbClr val="3362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spc="-150" dirty="0">
                <a:latin typeface="Aptos Narrow" panose="020B0004020202020204" pitchFamily="34" charset="0"/>
              </a:rPr>
              <a:t>Medida de Respuesta</a:t>
            </a:r>
          </a:p>
        </p:txBody>
      </p:sp>
      <p:sp>
        <p:nvSpPr>
          <p:cNvPr id="54" name="Rectángulo: esquinas superiores redondeadas 53">
            <a:extLst>
              <a:ext uri="{FF2B5EF4-FFF2-40B4-BE49-F238E27FC236}">
                <a16:creationId xmlns:a16="http://schemas.microsoft.com/office/drawing/2014/main" id="{F817D3DC-80BB-44EF-5D0F-BF3300199273}"/>
              </a:ext>
            </a:extLst>
          </p:cNvPr>
          <p:cNvSpPr/>
          <p:nvPr/>
        </p:nvSpPr>
        <p:spPr>
          <a:xfrm rot="5400000">
            <a:off x="6473011" y="2295624"/>
            <a:ext cx="740229" cy="6651521"/>
          </a:xfrm>
          <a:prstGeom prst="round2SameRect">
            <a:avLst>
              <a:gd name="adj1" fmla="val 9737"/>
              <a:gd name="adj2" fmla="val 0"/>
            </a:avLst>
          </a:prstGeom>
          <a:solidFill>
            <a:srgbClr val="EAE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s-CL" sz="1600" dirty="0">
                <a:solidFill>
                  <a:schemeClr val="tx1"/>
                </a:solidFill>
              </a:rPr>
              <a:t>Administrador o mecanismo de sincronización definido para GATI.</a:t>
            </a:r>
            <a:endParaRPr lang="es-CL" sz="15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56" name="Rectángulo: esquinas superiores redondeadas 55">
            <a:extLst>
              <a:ext uri="{FF2B5EF4-FFF2-40B4-BE49-F238E27FC236}">
                <a16:creationId xmlns:a16="http://schemas.microsoft.com/office/drawing/2014/main" id="{1E853F81-A938-EC53-7E67-EC188B843DF2}"/>
              </a:ext>
            </a:extLst>
          </p:cNvPr>
          <p:cNvSpPr/>
          <p:nvPr/>
        </p:nvSpPr>
        <p:spPr>
          <a:xfrm rot="5400000">
            <a:off x="6433661" y="3124236"/>
            <a:ext cx="818927" cy="6651521"/>
          </a:xfrm>
          <a:prstGeom prst="round2SameRect">
            <a:avLst>
              <a:gd name="adj1" fmla="val 9737"/>
              <a:gd name="adj2" fmla="val 0"/>
            </a:avLst>
          </a:prstGeom>
          <a:solidFill>
            <a:srgbClr val="EAE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s-CL" sz="1600" dirty="0">
                <a:solidFill>
                  <a:schemeClr val="tx1"/>
                </a:solidFill>
              </a:rPr>
              <a:t>Se inicia una consulta de órdenes de compra y el Sistema de Compras devuelve una respuesta válida, una respuesta con formato incorrecto o un error de comunicación.</a:t>
            </a:r>
            <a:endParaRPr lang="es-CL" sz="15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58" name="Rectángulo: esquinas superiores redondeadas 57">
            <a:extLst>
              <a:ext uri="{FF2B5EF4-FFF2-40B4-BE49-F238E27FC236}">
                <a16:creationId xmlns:a16="http://schemas.microsoft.com/office/drawing/2014/main" id="{F19F8491-24C3-83A3-F33C-63780B0B8E84}"/>
              </a:ext>
            </a:extLst>
          </p:cNvPr>
          <p:cNvSpPr/>
          <p:nvPr/>
        </p:nvSpPr>
        <p:spPr>
          <a:xfrm rot="5400000">
            <a:off x="6466424" y="3937016"/>
            <a:ext cx="753398" cy="6651521"/>
          </a:xfrm>
          <a:prstGeom prst="round2SameRect">
            <a:avLst>
              <a:gd name="adj1" fmla="val 9737"/>
              <a:gd name="adj2" fmla="val 0"/>
            </a:avLst>
          </a:prstGeom>
          <a:solidFill>
            <a:srgbClr val="EAE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s-CL" sz="1600" dirty="0">
                <a:solidFill>
                  <a:schemeClr val="tx1"/>
                </a:solidFill>
              </a:rPr>
              <a:t>Componente de integración de GATI y API del Sistema de Compras.</a:t>
            </a:r>
            <a:endParaRPr lang="es-CL" sz="15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60" name="Rectángulo: esquinas superiores redondeadas 59">
            <a:extLst>
              <a:ext uri="{FF2B5EF4-FFF2-40B4-BE49-F238E27FC236}">
                <a16:creationId xmlns:a16="http://schemas.microsoft.com/office/drawing/2014/main" id="{454FCBDD-A7E1-B72C-683F-78FB6DB2CFB5}"/>
              </a:ext>
            </a:extLst>
          </p:cNvPr>
          <p:cNvSpPr/>
          <p:nvPr/>
        </p:nvSpPr>
        <p:spPr>
          <a:xfrm rot="5400000">
            <a:off x="6473009" y="4716646"/>
            <a:ext cx="740230" cy="6651521"/>
          </a:xfrm>
          <a:prstGeom prst="round2SameRect">
            <a:avLst>
              <a:gd name="adj1" fmla="val 9737"/>
              <a:gd name="adj2" fmla="val 0"/>
            </a:avLst>
          </a:prstGeom>
          <a:solidFill>
            <a:srgbClr val="EAE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s-CL" sz="1600" dirty="0">
                <a:solidFill>
                  <a:schemeClr val="tx1"/>
                </a:solidFill>
              </a:rPr>
              <a:t>Ejecución de una sincronización manual o programada.</a:t>
            </a:r>
            <a:endParaRPr lang="es-CL" sz="15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62" name="Rectángulo: esquinas superiores redondeadas 61">
            <a:extLst>
              <a:ext uri="{FF2B5EF4-FFF2-40B4-BE49-F238E27FC236}">
                <a16:creationId xmlns:a16="http://schemas.microsoft.com/office/drawing/2014/main" id="{353190AC-6833-143B-2412-0AD650832EFB}"/>
              </a:ext>
            </a:extLst>
          </p:cNvPr>
          <p:cNvSpPr/>
          <p:nvPr/>
        </p:nvSpPr>
        <p:spPr>
          <a:xfrm rot="5400000">
            <a:off x="6322891" y="5639809"/>
            <a:ext cx="1040466" cy="6651521"/>
          </a:xfrm>
          <a:prstGeom prst="round2SameRect">
            <a:avLst>
              <a:gd name="adj1" fmla="val 9737"/>
              <a:gd name="adj2" fmla="val 0"/>
            </a:avLst>
          </a:prstGeom>
          <a:solidFill>
            <a:srgbClr val="EAE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s-CL" sz="1600" dirty="0">
                <a:solidFill>
                  <a:schemeClr val="tx1"/>
                </a:solidFill>
              </a:rPr>
              <a:t>GATI realiza la petición mediante HTTPS, recibe la respuesta en JSON y valida su estructura antes de incorporar la información. Si la API no responde o los datos recibidos no son válidos, cancela la sincronización, mantiene el inventario inalterado e informa el error.</a:t>
            </a:r>
            <a:endParaRPr lang="es-CL" sz="15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64" name="Rectángulo: esquinas superiores redondeadas 63">
            <a:extLst>
              <a:ext uri="{FF2B5EF4-FFF2-40B4-BE49-F238E27FC236}">
                <a16:creationId xmlns:a16="http://schemas.microsoft.com/office/drawing/2014/main" id="{AA176007-4078-80D7-E6B0-9E22C7B4A529}"/>
              </a:ext>
            </a:extLst>
          </p:cNvPr>
          <p:cNvSpPr/>
          <p:nvPr/>
        </p:nvSpPr>
        <p:spPr>
          <a:xfrm rot="5400000">
            <a:off x="6417679" y="6631472"/>
            <a:ext cx="850890" cy="6651521"/>
          </a:xfrm>
          <a:prstGeom prst="round2SameRect">
            <a:avLst>
              <a:gd name="adj1" fmla="val 9737"/>
              <a:gd name="adj2" fmla="val 0"/>
            </a:avLst>
          </a:prstGeom>
          <a:solidFill>
            <a:srgbClr val="EAE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s-CL" sz="1500" dirty="0">
                <a:solidFill>
                  <a:schemeClr val="tx1"/>
                </a:solidFill>
              </a:rPr>
              <a:t>Las pruebas deben comprobar que las respuestas válidas se procesan según el contrato de integración y que las respuestas inválidas o las fallas de comunicación no incorporan registros incorrectos ni modifican el inventario.</a:t>
            </a:r>
            <a:endParaRPr lang="es-CL" sz="15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E84AD287-315C-448A-8094-809BCFDBE5F3}"/>
              </a:ext>
            </a:extLst>
          </p:cNvPr>
          <p:cNvSpPr/>
          <p:nvPr/>
        </p:nvSpPr>
        <p:spPr>
          <a:xfrm>
            <a:off x="302188" y="10497809"/>
            <a:ext cx="9848350" cy="1459222"/>
          </a:xfrm>
          <a:prstGeom prst="roundRect">
            <a:avLst>
              <a:gd name="adj" fmla="val 9044"/>
            </a:avLst>
          </a:prstGeom>
          <a:solidFill>
            <a:srgbClr val="93B9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28950" lvl="6" indent="-285750">
              <a:buFont typeface="Arial" panose="020B0604020202020204" pitchFamily="34" charset="0"/>
              <a:buChar char="•"/>
            </a:pPr>
            <a:r>
              <a:rPr lang="es-CL" sz="1600" dirty="0">
                <a:solidFill>
                  <a:schemeClr val="tx1"/>
                </a:solidFill>
                <a:latin typeface="Aptos Narrow" panose="020B0004020202020204" pitchFamily="34" charset="0"/>
              </a:rPr>
              <a:t>RF-04 — Sincronización e Integración de Compras; </a:t>
            </a:r>
          </a:p>
          <a:p>
            <a:pPr marL="3028950" lvl="6" indent="-285750">
              <a:buFont typeface="Arial" panose="020B0604020202020204" pitchFamily="34" charset="0"/>
              <a:buChar char="•"/>
            </a:pPr>
            <a:r>
              <a:rPr lang="es-CL" sz="1600" dirty="0">
                <a:solidFill>
                  <a:schemeClr val="tx1"/>
                </a:solidFill>
                <a:latin typeface="Aptos Narrow" panose="020B0004020202020204" pitchFamily="34" charset="0"/>
              </a:rPr>
              <a:t>RNF-17 — Interoperabilidad y Comunicación API. </a:t>
            </a:r>
          </a:p>
          <a:p>
            <a:pPr lvl="6"/>
            <a:r>
              <a:rPr lang="es-CL" sz="1600" dirty="0">
                <a:solidFill>
                  <a:schemeClr val="tx1"/>
                </a:solidFill>
                <a:latin typeface="Aptos Narrow" panose="020B0004020202020204" pitchFamily="34" charset="0"/>
              </a:rPr>
              <a:t>La </a:t>
            </a:r>
            <a:r>
              <a:rPr lang="es-CL" sz="1600" dirty="0" err="1">
                <a:solidFill>
                  <a:schemeClr val="tx1"/>
                </a:solidFill>
                <a:latin typeface="Aptos Narrow" panose="020B0004020202020204" pitchFamily="34" charset="0"/>
              </a:rPr>
              <a:t>ERS</a:t>
            </a:r>
            <a:r>
              <a:rPr lang="es-CL" sz="1600" dirty="0">
                <a:solidFill>
                  <a:schemeClr val="tx1"/>
                </a:solidFill>
                <a:latin typeface="Aptos Narrow" panose="020B0004020202020204" pitchFamily="34" charset="0"/>
              </a:rPr>
              <a:t> establece la consulta al sistema externo, la recepción de información en JSON y el uso de HTTPS. También define que una falla de respuesta o un JSON inválido debe impedir la sincronización y mantener el inventario sin cambios</a:t>
            </a:r>
          </a:p>
        </p:txBody>
      </p:sp>
      <p:sp>
        <p:nvSpPr>
          <p:cNvPr id="66" name="Rectángulo: esquinas redondeadas 65">
            <a:extLst>
              <a:ext uri="{FF2B5EF4-FFF2-40B4-BE49-F238E27FC236}">
                <a16:creationId xmlns:a16="http://schemas.microsoft.com/office/drawing/2014/main" id="{684A6ED2-5848-7AC6-D177-92A1B0E69BEE}"/>
              </a:ext>
            </a:extLst>
          </p:cNvPr>
          <p:cNvSpPr/>
          <p:nvPr/>
        </p:nvSpPr>
        <p:spPr>
          <a:xfrm>
            <a:off x="292416" y="2926006"/>
            <a:ext cx="9848350" cy="2204368"/>
          </a:xfrm>
          <a:prstGeom prst="roundRect">
            <a:avLst>
              <a:gd name="adj" fmla="val 6158"/>
            </a:avLst>
          </a:prstGeom>
          <a:solidFill>
            <a:schemeClr val="bg1"/>
          </a:solidFill>
          <a:ln>
            <a:solidFill>
              <a:srgbClr val="93B9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68" name="Gráfico 67" descr="Bullseye con relleno sólido">
            <a:extLst>
              <a:ext uri="{FF2B5EF4-FFF2-40B4-BE49-F238E27FC236}">
                <a16:creationId xmlns:a16="http://schemas.microsoft.com/office/drawing/2014/main" id="{CCD1C22C-D532-E9F1-B34A-6D9FD52B8B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8184" y="10752316"/>
            <a:ext cx="914400" cy="914400"/>
          </a:xfrm>
          <a:prstGeom prst="rect">
            <a:avLst/>
          </a:prstGeom>
        </p:spPr>
      </p:pic>
      <p:sp>
        <p:nvSpPr>
          <p:cNvPr id="69" name="CuadroTexto 68">
            <a:extLst>
              <a:ext uri="{FF2B5EF4-FFF2-40B4-BE49-F238E27FC236}">
                <a16:creationId xmlns:a16="http://schemas.microsoft.com/office/drawing/2014/main" id="{1921A239-A95E-5BDA-4972-2E22A5193FC9}"/>
              </a:ext>
            </a:extLst>
          </p:cNvPr>
          <p:cNvSpPr txBox="1"/>
          <p:nvPr/>
        </p:nvSpPr>
        <p:spPr>
          <a:xfrm>
            <a:off x="1282584" y="10873477"/>
            <a:ext cx="17142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2000" b="1" dirty="0">
                <a:solidFill>
                  <a:srgbClr val="002060"/>
                </a:solidFill>
              </a:rPr>
              <a:t>Requisitos </a:t>
            </a:r>
          </a:p>
          <a:p>
            <a:pPr algn="ctr"/>
            <a:r>
              <a:rPr lang="es-CL" sz="2000" b="1" dirty="0">
                <a:solidFill>
                  <a:srgbClr val="002060"/>
                </a:solidFill>
              </a:rPr>
              <a:t>relacionados</a:t>
            </a:r>
          </a:p>
        </p:txBody>
      </p:sp>
      <p:cxnSp>
        <p:nvCxnSpPr>
          <p:cNvPr id="75" name="Conector recto de flecha 74">
            <a:extLst>
              <a:ext uri="{FF2B5EF4-FFF2-40B4-BE49-F238E27FC236}">
                <a16:creationId xmlns:a16="http://schemas.microsoft.com/office/drawing/2014/main" id="{C11A86D5-1A3A-0251-17E4-26C27D352FC4}"/>
              </a:ext>
            </a:extLst>
          </p:cNvPr>
          <p:cNvCxnSpPr>
            <a:cxnSpLocks/>
          </p:cNvCxnSpPr>
          <p:nvPr/>
        </p:nvCxnSpPr>
        <p:spPr>
          <a:xfrm>
            <a:off x="2597785" y="3944773"/>
            <a:ext cx="1636395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CuadroTexto 78">
            <a:extLst>
              <a:ext uri="{FF2B5EF4-FFF2-40B4-BE49-F238E27FC236}">
                <a16:creationId xmlns:a16="http://schemas.microsoft.com/office/drawing/2014/main" id="{6D0FA11C-DBC2-F4E3-C0A8-CAAE40D6096F}"/>
              </a:ext>
            </a:extLst>
          </p:cNvPr>
          <p:cNvSpPr txBox="1"/>
          <p:nvPr/>
        </p:nvSpPr>
        <p:spPr>
          <a:xfrm>
            <a:off x="2901995" y="3525138"/>
            <a:ext cx="1027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>
                <a:solidFill>
                  <a:srgbClr val="002060"/>
                </a:solidFill>
                <a:latin typeface="Aptos Narrow" panose="020B0004020202020204" pitchFamily="34" charset="0"/>
              </a:rPr>
              <a:t>Estimulo</a:t>
            </a:r>
          </a:p>
        </p:txBody>
      </p:sp>
      <p:cxnSp>
        <p:nvCxnSpPr>
          <p:cNvPr id="80" name="Conector recto de flecha 79">
            <a:extLst>
              <a:ext uri="{FF2B5EF4-FFF2-40B4-BE49-F238E27FC236}">
                <a16:creationId xmlns:a16="http://schemas.microsoft.com/office/drawing/2014/main" id="{714C9E60-3922-DDF0-06CB-C24B465EC6A6}"/>
              </a:ext>
            </a:extLst>
          </p:cNvPr>
          <p:cNvCxnSpPr>
            <a:cxnSpLocks/>
          </p:cNvCxnSpPr>
          <p:nvPr/>
        </p:nvCxnSpPr>
        <p:spPr>
          <a:xfrm>
            <a:off x="6462649" y="3944773"/>
            <a:ext cx="1636395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CuadroTexto 80">
            <a:extLst>
              <a:ext uri="{FF2B5EF4-FFF2-40B4-BE49-F238E27FC236}">
                <a16:creationId xmlns:a16="http://schemas.microsoft.com/office/drawing/2014/main" id="{E8F99348-3091-77C0-A4BF-A01EA45313BD}"/>
              </a:ext>
            </a:extLst>
          </p:cNvPr>
          <p:cNvSpPr txBox="1"/>
          <p:nvPr/>
        </p:nvSpPr>
        <p:spPr>
          <a:xfrm>
            <a:off x="6646899" y="3520692"/>
            <a:ext cx="1193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>
                <a:solidFill>
                  <a:srgbClr val="002060"/>
                </a:solidFill>
                <a:latin typeface="Aptos Narrow" panose="020B0004020202020204" pitchFamily="34" charset="0"/>
              </a:rPr>
              <a:t>Respuesta</a:t>
            </a: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974345C5-5D18-9440-1149-9059A6790EE8}"/>
              </a:ext>
            </a:extLst>
          </p:cNvPr>
          <p:cNvSpPr txBox="1"/>
          <p:nvPr/>
        </p:nvSpPr>
        <p:spPr>
          <a:xfrm>
            <a:off x="300991" y="4215130"/>
            <a:ext cx="2776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dirty="0">
                <a:latin typeface="Aptos Narrow" panose="020B0004020202020204" pitchFamily="34" charset="0"/>
              </a:rPr>
              <a:t>Sistema de compras</a:t>
            </a:r>
            <a:br>
              <a:rPr lang="es-CL" b="1" dirty="0">
                <a:latin typeface="Aptos Narrow" panose="020B0004020202020204" pitchFamily="34" charset="0"/>
              </a:rPr>
            </a:br>
            <a:r>
              <a:rPr lang="es-CL" dirty="0">
                <a:latin typeface="Aptos Narrow" panose="020B0004020202020204" pitchFamily="34" charset="0"/>
              </a:rPr>
              <a:t>Entrega datos de ordenes de compra</a:t>
            </a: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B2177EFC-8B3E-2E98-6BB3-5FF6EA152DB8}"/>
              </a:ext>
            </a:extLst>
          </p:cNvPr>
          <p:cNvSpPr txBox="1"/>
          <p:nvPr/>
        </p:nvSpPr>
        <p:spPr>
          <a:xfrm>
            <a:off x="7376859" y="4310448"/>
            <a:ext cx="26746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b="1" dirty="0">
                <a:latin typeface="Aptos Narrow" panose="020B0004020202020204" pitchFamily="34" charset="0"/>
              </a:rPr>
              <a:t>Datos validados</a:t>
            </a:r>
            <a:br>
              <a:rPr lang="es-CL" b="1" dirty="0">
                <a:latin typeface="Aptos Narrow" panose="020B0004020202020204" pitchFamily="34" charset="0"/>
              </a:rPr>
            </a:br>
            <a:r>
              <a:rPr lang="es-CL" dirty="0">
                <a:latin typeface="Aptos Narrow" panose="020B0004020202020204" pitchFamily="34" charset="0"/>
              </a:rPr>
              <a:t>Sincronización controlada</a:t>
            </a:r>
          </a:p>
        </p:txBody>
      </p:sp>
      <p:sp>
        <p:nvSpPr>
          <p:cNvPr id="86" name="Rectángulo: esquinas redondeadas 85">
            <a:extLst>
              <a:ext uri="{FF2B5EF4-FFF2-40B4-BE49-F238E27FC236}">
                <a16:creationId xmlns:a16="http://schemas.microsoft.com/office/drawing/2014/main" id="{04FCC6DB-8052-456C-7111-448F558DEAA3}"/>
              </a:ext>
            </a:extLst>
          </p:cNvPr>
          <p:cNvSpPr/>
          <p:nvPr/>
        </p:nvSpPr>
        <p:spPr>
          <a:xfrm>
            <a:off x="4383842" y="3280852"/>
            <a:ext cx="1958846" cy="1439999"/>
          </a:xfrm>
          <a:prstGeom prst="roundRect">
            <a:avLst/>
          </a:prstGeom>
          <a:solidFill>
            <a:srgbClr val="E6EDF8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87661EE7-04C6-6210-BA07-3D63715F4603}"/>
              </a:ext>
            </a:extLst>
          </p:cNvPr>
          <p:cNvSpPr txBox="1"/>
          <p:nvPr/>
        </p:nvSpPr>
        <p:spPr>
          <a:xfrm>
            <a:off x="4508482" y="4066290"/>
            <a:ext cx="17095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1600" b="1" dirty="0">
                <a:solidFill>
                  <a:srgbClr val="002060"/>
                </a:solidFill>
                <a:latin typeface="Aptos Narrow" panose="020B0004020202020204" pitchFamily="34" charset="0"/>
              </a:rPr>
              <a:t>GATI</a:t>
            </a:r>
          </a:p>
          <a:p>
            <a:pPr algn="ctr"/>
            <a:r>
              <a:rPr lang="es-CL" sz="1600" b="1" dirty="0">
                <a:solidFill>
                  <a:srgbClr val="002060"/>
                </a:solidFill>
                <a:latin typeface="Aptos Narrow" panose="020B0004020202020204" pitchFamily="34" charset="0"/>
              </a:rPr>
              <a:t>API de integración</a:t>
            </a:r>
          </a:p>
        </p:txBody>
      </p:sp>
      <p:pic>
        <p:nvPicPr>
          <p:cNvPr id="3" name="Gráfico 2" descr="Shopping cart con relleno sólido">
            <a:extLst>
              <a:ext uri="{FF2B5EF4-FFF2-40B4-BE49-F238E27FC236}">
                <a16:creationId xmlns:a16="http://schemas.microsoft.com/office/drawing/2014/main" id="{0DB5D5AB-452B-F0BD-681E-F1FCE864B3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97949" y="3311897"/>
            <a:ext cx="914400" cy="914400"/>
          </a:xfrm>
          <a:prstGeom prst="rect">
            <a:avLst/>
          </a:prstGeom>
        </p:spPr>
      </p:pic>
      <p:pic>
        <p:nvPicPr>
          <p:cNvPr id="7" name="Gráfico 6" descr="Shield Tick con relleno sólido">
            <a:extLst>
              <a:ext uri="{FF2B5EF4-FFF2-40B4-BE49-F238E27FC236}">
                <a16:creationId xmlns:a16="http://schemas.microsoft.com/office/drawing/2014/main" id="{CDDAEDE4-D31D-249F-FCE1-D7A0F6AF0C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56981" y="3246517"/>
            <a:ext cx="914400" cy="914400"/>
          </a:xfrm>
          <a:prstGeom prst="rect">
            <a:avLst/>
          </a:prstGeom>
        </p:spPr>
      </p:pic>
      <p:pic>
        <p:nvPicPr>
          <p:cNvPr id="9" name="Gráfico 8" descr="Sort con relleno sólido">
            <a:extLst>
              <a:ext uri="{FF2B5EF4-FFF2-40B4-BE49-F238E27FC236}">
                <a16:creationId xmlns:a16="http://schemas.microsoft.com/office/drawing/2014/main" id="{7812D05F-80AB-DD79-8A06-594E32D937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6200000">
            <a:off x="4844158" y="326824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49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0609B-BCEF-2E0C-9474-B9D808ACE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8F089D50-6383-9D28-DB6C-A896E4D024E8}"/>
              </a:ext>
            </a:extLst>
          </p:cNvPr>
          <p:cNvSpPr/>
          <p:nvPr/>
        </p:nvSpPr>
        <p:spPr>
          <a:xfrm>
            <a:off x="283840" y="137159"/>
            <a:ext cx="9885047" cy="621030"/>
          </a:xfrm>
          <a:prstGeom prst="roundRect">
            <a:avLst>
              <a:gd name="adj" fmla="val 12986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66506F2-F5B6-C9D0-5A50-FB0CF63AC71C}"/>
              </a:ext>
            </a:extLst>
          </p:cNvPr>
          <p:cNvSpPr txBox="1"/>
          <p:nvPr/>
        </p:nvSpPr>
        <p:spPr>
          <a:xfrm>
            <a:off x="396240" y="173415"/>
            <a:ext cx="42242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200" b="1" spc="-150" dirty="0">
                <a:solidFill>
                  <a:schemeClr val="bg1"/>
                </a:solidFill>
                <a:latin typeface="Aptos Narrow" panose="020B0004020202020204" pitchFamily="34" charset="0"/>
              </a:rPr>
              <a:t>Escenario de Calidad N.º  4</a:t>
            </a:r>
          </a:p>
        </p:txBody>
      </p:sp>
      <p:sp>
        <p:nvSpPr>
          <p:cNvPr id="13" name="Rectángulo: esquinas superiores redondeadas 12">
            <a:extLst>
              <a:ext uri="{FF2B5EF4-FFF2-40B4-BE49-F238E27FC236}">
                <a16:creationId xmlns:a16="http://schemas.microsoft.com/office/drawing/2014/main" id="{D4274AD9-A6F6-5467-2B00-955CA81F6192}"/>
              </a:ext>
            </a:extLst>
          </p:cNvPr>
          <p:cNvSpPr/>
          <p:nvPr/>
        </p:nvSpPr>
        <p:spPr>
          <a:xfrm rot="5400000">
            <a:off x="9023955" y="-386743"/>
            <a:ext cx="621031" cy="1668833"/>
          </a:xfrm>
          <a:prstGeom prst="round2SameRect">
            <a:avLst>
              <a:gd name="adj1" fmla="val 14593"/>
              <a:gd name="adj2" fmla="val 0"/>
            </a:avLst>
          </a:prstGeom>
          <a:solidFill>
            <a:srgbClr val="93B9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0E07B69-FE45-5EED-8B1D-599741CF17F9}"/>
              </a:ext>
            </a:extLst>
          </p:cNvPr>
          <p:cNvSpPr txBox="1"/>
          <p:nvPr/>
        </p:nvSpPr>
        <p:spPr>
          <a:xfrm>
            <a:off x="8677398" y="234969"/>
            <a:ext cx="1478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>
                <a:solidFill>
                  <a:srgbClr val="002060"/>
                </a:solidFill>
              </a:rPr>
              <a:t>ID: EC-04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BF7F5692-9B6D-F3FB-89CB-0D98B41123BC}"/>
              </a:ext>
            </a:extLst>
          </p:cNvPr>
          <p:cNvSpPr/>
          <p:nvPr/>
        </p:nvSpPr>
        <p:spPr>
          <a:xfrm>
            <a:off x="283840" y="794444"/>
            <a:ext cx="9885047" cy="2053530"/>
          </a:xfrm>
          <a:prstGeom prst="roundRect">
            <a:avLst>
              <a:gd name="adj" fmla="val 3680"/>
            </a:avLst>
          </a:prstGeom>
          <a:solidFill>
            <a:srgbClr val="93B9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Rectángulo: esquinas superiores redondeadas 17">
            <a:extLst>
              <a:ext uri="{FF2B5EF4-FFF2-40B4-BE49-F238E27FC236}">
                <a16:creationId xmlns:a16="http://schemas.microsoft.com/office/drawing/2014/main" id="{80239D7F-3CE2-3AC8-38A0-D885F83475F5}"/>
              </a:ext>
            </a:extLst>
          </p:cNvPr>
          <p:cNvSpPr/>
          <p:nvPr/>
        </p:nvSpPr>
        <p:spPr>
          <a:xfrm rot="5400000">
            <a:off x="5906790" y="-1412778"/>
            <a:ext cx="2053530" cy="6470664"/>
          </a:xfrm>
          <a:prstGeom prst="round2SameRect">
            <a:avLst>
              <a:gd name="adj1" fmla="val 4338"/>
              <a:gd name="adj2" fmla="val 0"/>
            </a:avLst>
          </a:prstGeom>
          <a:solidFill>
            <a:srgbClr val="E6ED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47CF6A26-F7BF-FD3F-A5E8-80BEDBC9F4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748380"/>
              </p:ext>
            </p:extLst>
          </p:nvPr>
        </p:nvGraphicFramePr>
        <p:xfrm>
          <a:off x="270513" y="794444"/>
          <a:ext cx="9871720" cy="205353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460846">
                  <a:extLst>
                    <a:ext uri="{9D8B030D-6E8A-4147-A177-3AD203B41FA5}">
                      <a16:colId xmlns:a16="http://schemas.microsoft.com/office/drawing/2014/main" val="342308650"/>
                    </a:ext>
                  </a:extLst>
                </a:gridCol>
                <a:gridCol w="6410874">
                  <a:extLst>
                    <a:ext uri="{9D8B030D-6E8A-4147-A177-3AD203B41FA5}">
                      <a16:colId xmlns:a16="http://schemas.microsoft.com/office/drawing/2014/main" val="766914880"/>
                    </a:ext>
                  </a:extLst>
                </a:gridCol>
              </a:tblGrid>
              <a:tr h="567681">
                <a:tc>
                  <a:txBody>
                    <a:bodyPr/>
                    <a:lstStyle/>
                    <a:p>
                      <a:r>
                        <a:rPr lang="es-CL" sz="2000" b="1" dirty="0">
                          <a:latin typeface="Aptos Narrow" panose="020B0004020202020204" pitchFamily="34" charset="0"/>
                        </a:rPr>
                        <a:t>Atributo de calidad asociado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Fiabilidad</a:t>
                      </a:r>
                      <a:endParaRPr lang="es-CL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71048687"/>
                  </a:ext>
                </a:extLst>
              </a:tr>
              <a:tr h="657906">
                <a:tc>
                  <a:txBody>
                    <a:bodyPr/>
                    <a:lstStyle/>
                    <a:p>
                      <a:r>
                        <a:rPr lang="es-CL" sz="2000" b="1" dirty="0"/>
                        <a:t>Subcaracterística</a:t>
                      </a:r>
                      <a:endParaRPr lang="es-CL" b="1" dirty="0"/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Disponibilidad operativa</a:t>
                      </a:r>
                      <a:endParaRPr lang="es-CL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31532976"/>
                  </a:ext>
                </a:extLst>
              </a:tr>
              <a:tr h="827943">
                <a:tc>
                  <a:txBody>
                    <a:bodyPr/>
                    <a:lstStyle/>
                    <a:p>
                      <a:r>
                        <a:rPr lang="es-CL" sz="2000" b="1" dirty="0"/>
                        <a:t>Descripción</a:t>
                      </a:r>
                      <a:endParaRPr lang="es-CL" b="1" dirty="0"/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dirty="0"/>
                        <a:t>GATI debe operar mediante conexión a los servicios centrales y evitar que una pérdida de conectividad se interprete como una operación completada correctamente.</a:t>
                      </a:r>
                      <a:endParaRPr lang="es-CL" sz="1600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77338791"/>
                  </a:ext>
                </a:extLst>
              </a:tr>
            </a:tbl>
          </a:graphicData>
        </a:graphic>
      </p:graphicFrame>
      <p:sp>
        <p:nvSpPr>
          <p:cNvPr id="20" name="Rectángulo: esquinas superiores redondeadas 19">
            <a:extLst>
              <a:ext uri="{FF2B5EF4-FFF2-40B4-BE49-F238E27FC236}">
                <a16:creationId xmlns:a16="http://schemas.microsoft.com/office/drawing/2014/main" id="{C6C8B71E-3CB0-E997-9A70-58FEF56AFB9B}"/>
              </a:ext>
            </a:extLst>
          </p:cNvPr>
          <p:cNvSpPr/>
          <p:nvPr/>
        </p:nvSpPr>
        <p:spPr>
          <a:xfrm rot="16200000">
            <a:off x="379502" y="5172759"/>
            <a:ext cx="740229" cy="897249"/>
          </a:xfrm>
          <a:prstGeom prst="round2SameRect">
            <a:avLst>
              <a:gd name="adj1" fmla="val 791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2" name="Gráfico 21" descr="Circular flowchart con relleno sólido">
            <a:extLst>
              <a:ext uri="{FF2B5EF4-FFF2-40B4-BE49-F238E27FC236}">
                <a16:creationId xmlns:a16="http://schemas.microsoft.com/office/drawing/2014/main" id="{A43F5FE9-032C-423A-7C67-F9CEAE26BD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184" y="5251269"/>
            <a:ext cx="720000" cy="720000"/>
          </a:xfrm>
          <a:prstGeom prst="rect">
            <a:avLst/>
          </a:prstGeom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0498FA43-4304-4475-C4E9-8F3356A28639}"/>
              </a:ext>
            </a:extLst>
          </p:cNvPr>
          <p:cNvSpPr/>
          <p:nvPr/>
        </p:nvSpPr>
        <p:spPr>
          <a:xfrm>
            <a:off x="1221611" y="5251268"/>
            <a:ext cx="2272389" cy="740229"/>
          </a:xfrm>
          <a:prstGeom prst="rect">
            <a:avLst/>
          </a:prstGeom>
          <a:solidFill>
            <a:srgbClr val="3362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spc="-150" dirty="0">
                <a:latin typeface="Aptos Narrow" panose="020B0004020202020204" pitchFamily="34" charset="0"/>
              </a:rPr>
              <a:t>Fuente del Estimulo</a:t>
            </a:r>
          </a:p>
        </p:txBody>
      </p:sp>
      <p:sp>
        <p:nvSpPr>
          <p:cNvPr id="25" name="Rectángulo: esquinas superiores redondeadas 24">
            <a:extLst>
              <a:ext uri="{FF2B5EF4-FFF2-40B4-BE49-F238E27FC236}">
                <a16:creationId xmlns:a16="http://schemas.microsoft.com/office/drawing/2014/main" id="{25768F50-E4FA-1B5D-1A65-3AF5B11814D9}"/>
              </a:ext>
            </a:extLst>
          </p:cNvPr>
          <p:cNvSpPr/>
          <p:nvPr/>
        </p:nvSpPr>
        <p:spPr>
          <a:xfrm rot="16200000">
            <a:off x="340153" y="6001372"/>
            <a:ext cx="818926" cy="897249"/>
          </a:xfrm>
          <a:prstGeom prst="round2SameRect">
            <a:avLst>
              <a:gd name="adj1" fmla="val 791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7" name="Rectángulo: esquinas superiores redondeadas 26">
            <a:extLst>
              <a:ext uri="{FF2B5EF4-FFF2-40B4-BE49-F238E27FC236}">
                <a16:creationId xmlns:a16="http://schemas.microsoft.com/office/drawing/2014/main" id="{B2F4A167-464E-7B8B-EF6D-1622DF38869D}"/>
              </a:ext>
            </a:extLst>
          </p:cNvPr>
          <p:cNvSpPr/>
          <p:nvPr/>
        </p:nvSpPr>
        <p:spPr>
          <a:xfrm rot="16200000">
            <a:off x="372533" y="6813767"/>
            <a:ext cx="754168" cy="897249"/>
          </a:xfrm>
          <a:prstGeom prst="round2SameRect">
            <a:avLst>
              <a:gd name="adj1" fmla="val 791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9" name="Rectángulo: esquinas superiores redondeadas 28">
            <a:extLst>
              <a:ext uri="{FF2B5EF4-FFF2-40B4-BE49-F238E27FC236}">
                <a16:creationId xmlns:a16="http://schemas.microsoft.com/office/drawing/2014/main" id="{87839D34-AF67-65F9-9E8D-19C351727D29}"/>
              </a:ext>
            </a:extLst>
          </p:cNvPr>
          <p:cNvSpPr/>
          <p:nvPr/>
        </p:nvSpPr>
        <p:spPr>
          <a:xfrm rot="16200000">
            <a:off x="372532" y="7593783"/>
            <a:ext cx="754168" cy="897249"/>
          </a:xfrm>
          <a:prstGeom prst="round2SameRect">
            <a:avLst>
              <a:gd name="adj1" fmla="val 791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1" name="Rectángulo: esquinas superiores redondeadas 30">
            <a:extLst>
              <a:ext uri="{FF2B5EF4-FFF2-40B4-BE49-F238E27FC236}">
                <a16:creationId xmlns:a16="http://schemas.microsoft.com/office/drawing/2014/main" id="{B9C3A3C4-421B-3FAB-9413-B3AD1DDFFAE8}"/>
              </a:ext>
            </a:extLst>
          </p:cNvPr>
          <p:cNvSpPr/>
          <p:nvPr/>
        </p:nvSpPr>
        <p:spPr>
          <a:xfrm rot="16200000">
            <a:off x="229385" y="8516947"/>
            <a:ext cx="1040464" cy="897249"/>
          </a:xfrm>
          <a:prstGeom prst="round2SameRect">
            <a:avLst>
              <a:gd name="adj1" fmla="val 791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3" name="Rectángulo: esquinas superiores redondeadas 32">
            <a:extLst>
              <a:ext uri="{FF2B5EF4-FFF2-40B4-BE49-F238E27FC236}">
                <a16:creationId xmlns:a16="http://schemas.microsoft.com/office/drawing/2014/main" id="{A10106BF-CE7B-F681-9EF9-2691D9EE73E1}"/>
              </a:ext>
            </a:extLst>
          </p:cNvPr>
          <p:cNvSpPr/>
          <p:nvPr/>
        </p:nvSpPr>
        <p:spPr>
          <a:xfrm rot="16200000">
            <a:off x="324173" y="9508607"/>
            <a:ext cx="850889" cy="897249"/>
          </a:xfrm>
          <a:prstGeom prst="round2SameRect">
            <a:avLst>
              <a:gd name="adj1" fmla="val 791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35" name="Gráfico 34" descr="Signal con relleno sólido">
            <a:extLst>
              <a:ext uri="{FF2B5EF4-FFF2-40B4-BE49-F238E27FC236}">
                <a16:creationId xmlns:a16="http://schemas.microsoft.com/office/drawing/2014/main" id="{F29EB8FB-C21B-CC4C-A833-AEB77785E8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735" y="9646920"/>
            <a:ext cx="573220" cy="573220"/>
          </a:xfrm>
          <a:prstGeom prst="rect">
            <a:avLst/>
          </a:prstGeom>
        </p:spPr>
      </p:pic>
      <p:pic>
        <p:nvPicPr>
          <p:cNvPr id="37" name="Gráfico 36" descr="Document con relleno sólido">
            <a:extLst>
              <a:ext uri="{FF2B5EF4-FFF2-40B4-BE49-F238E27FC236}">
                <a16:creationId xmlns:a16="http://schemas.microsoft.com/office/drawing/2014/main" id="{6A495BA5-121F-5ECB-92C9-06BE98D9CE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5866" y="8700060"/>
            <a:ext cx="569567" cy="569567"/>
          </a:xfrm>
          <a:prstGeom prst="rect">
            <a:avLst/>
          </a:prstGeom>
        </p:spPr>
      </p:pic>
      <p:pic>
        <p:nvPicPr>
          <p:cNvPr id="39" name="Gráfico 38" descr="Single gear con relleno sólido">
            <a:extLst>
              <a:ext uri="{FF2B5EF4-FFF2-40B4-BE49-F238E27FC236}">
                <a16:creationId xmlns:a16="http://schemas.microsoft.com/office/drawing/2014/main" id="{EF77B19C-E565-7A32-C420-11DD8B888E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6240" y="7760370"/>
            <a:ext cx="600062" cy="600062"/>
          </a:xfrm>
          <a:prstGeom prst="rect">
            <a:avLst/>
          </a:prstGeom>
        </p:spPr>
      </p:pic>
      <p:pic>
        <p:nvPicPr>
          <p:cNvPr id="41" name="Gráfico 40" descr="Blockchain con relleno sólido">
            <a:extLst>
              <a:ext uri="{FF2B5EF4-FFF2-40B4-BE49-F238E27FC236}">
                <a16:creationId xmlns:a16="http://schemas.microsoft.com/office/drawing/2014/main" id="{F2F2600C-6009-1130-9A5A-CAC6E69325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5866" y="7006201"/>
            <a:ext cx="512380" cy="512380"/>
          </a:xfrm>
          <a:prstGeom prst="rect">
            <a:avLst/>
          </a:prstGeom>
        </p:spPr>
      </p:pic>
      <p:pic>
        <p:nvPicPr>
          <p:cNvPr id="43" name="Gráfico 42" descr="Lightning bolt con relleno sólido">
            <a:extLst>
              <a:ext uri="{FF2B5EF4-FFF2-40B4-BE49-F238E27FC236}">
                <a16:creationId xmlns:a16="http://schemas.microsoft.com/office/drawing/2014/main" id="{C71C5C6E-9F8A-934D-8479-EB50581190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6735" y="6176010"/>
            <a:ext cx="570642" cy="570642"/>
          </a:xfrm>
          <a:prstGeom prst="rect">
            <a:avLst/>
          </a:prstGeom>
        </p:spPr>
      </p:pic>
      <p:sp>
        <p:nvSpPr>
          <p:cNvPr id="45" name="Rectángulo 44">
            <a:extLst>
              <a:ext uri="{FF2B5EF4-FFF2-40B4-BE49-F238E27FC236}">
                <a16:creationId xmlns:a16="http://schemas.microsoft.com/office/drawing/2014/main" id="{AA9E8442-5623-C352-DA43-E73567C28153}"/>
              </a:ext>
            </a:extLst>
          </p:cNvPr>
          <p:cNvSpPr/>
          <p:nvPr/>
        </p:nvSpPr>
        <p:spPr>
          <a:xfrm>
            <a:off x="1221610" y="6040533"/>
            <a:ext cx="2272389" cy="818927"/>
          </a:xfrm>
          <a:prstGeom prst="rect">
            <a:avLst/>
          </a:prstGeom>
          <a:solidFill>
            <a:srgbClr val="3362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spc="-150" dirty="0">
                <a:latin typeface="Aptos Narrow" panose="020B0004020202020204" pitchFamily="34" charset="0"/>
              </a:rPr>
              <a:t>Estimulo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16A8C956-9295-12FE-227C-4ECB6D121B29}"/>
              </a:ext>
            </a:extLst>
          </p:cNvPr>
          <p:cNvSpPr/>
          <p:nvPr/>
        </p:nvSpPr>
        <p:spPr>
          <a:xfrm>
            <a:off x="1221610" y="6885307"/>
            <a:ext cx="2272389" cy="754169"/>
          </a:xfrm>
          <a:prstGeom prst="rect">
            <a:avLst/>
          </a:prstGeom>
          <a:solidFill>
            <a:srgbClr val="3362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spc="-150" dirty="0">
                <a:latin typeface="Aptos Narrow" panose="020B0004020202020204" pitchFamily="34" charset="0"/>
              </a:rPr>
              <a:t>Artefacto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80DE3E38-DC63-16AB-2588-77FE3C6FBE8A}"/>
              </a:ext>
            </a:extLst>
          </p:cNvPr>
          <p:cNvSpPr/>
          <p:nvPr/>
        </p:nvSpPr>
        <p:spPr>
          <a:xfrm>
            <a:off x="1221610" y="7665322"/>
            <a:ext cx="2272389" cy="754169"/>
          </a:xfrm>
          <a:prstGeom prst="rect">
            <a:avLst/>
          </a:prstGeom>
          <a:solidFill>
            <a:srgbClr val="3362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spc="-150" dirty="0">
                <a:latin typeface="Aptos Narrow" panose="020B0004020202020204" pitchFamily="34" charset="0"/>
              </a:rPr>
              <a:t>Ambiente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ABE5738B-990E-C453-4941-6AB2653AD71A}"/>
              </a:ext>
            </a:extLst>
          </p:cNvPr>
          <p:cNvSpPr/>
          <p:nvPr/>
        </p:nvSpPr>
        <p:spPr>
          <a:xfrm>
            <a:off x="1221610" y="8445337"/>
            <a:ext cx="2272389" cy="1040465"/>
          </a:xfrm>
          <a:prstGeom prst="rect">
            <a:avLst/>
          </a:prstGeom>
          <a:solidFill>
            <a:srgbClr val="3362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spc="-150" dirty="0">
                <a:latin typeface="Aptos Narrow" panose="020B0004020202020204" pitchFamily="34" charset="0"/>
              </a:rPr>
              <a:t>Respuesta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20FA4875-E2F6-E0F9-86AF-9D08B18E6EA4}"/>
              </a:ext>
            </a:extLst>
          </p:cNvPr>
          <p:cNvSpPr/>
          <p:nvPr/>
        </p:nvSpPr>
        <p:spPr>
          <a:xfrm>
            <a:off x="1221610" y="9531787"/>
            <a:ext cx="2272389" cy="850889"/>
          </a:xfrm>
          <a:prstGeom prst="rect">
            <a:avLst/>
          </a:prstGeom>
          <a:solidFill>
            <a:srgbClr val="3362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spc="-150" dirty="0">
                <a:latin typeface="Aptos Narrow" panose="020B0004020202020204" pitchFamily="34" charset="0"/>
              </a:rPr>
              <a:t>Medida de Respuesta</a:t>
            </a:r>
          </a:p>
        </p:txBody>
      </p:sp>
      <p:sp>
        <p:nvSpPr>
          <p:cNvPr id="54" name="Rectángulo: esquinas superiores redondeadas 53">
            <a:extLst>
              <a:ext uri="{FF2B5EF4-FFF2-40B4-BE49-F238E27FC236}">
                <a16:creationId xmlns:a16="http://schemas.microsoft.com/office/drawing/2014/main" id="{6012D4AF-1391-A69C-545D-FD56F073BA82}"/>
              </a:ext>
            </a:extLst>
          </p:cNvPr>
          <p:cNvSpPr/>
          <p:nvPr/>
        </p:nvSpPr>
        <p:spPr>
          <a:xfrm rot="5400000">
            <a:off x="6473011" y="2295624"/>
            <a:ext cx="740229" cy="6651521"/>
          </a:xfrm>
          <a:prstGeom prst="round2SameRect">
            <a:avLst>
              <a:gd name="adj1" fmla="val 9737"/>
              <a:gd name="adj2" fmla="val 0"/>
            </a:avLst>
          </a:prstGeom>
          <a:solidFill>
            <a:srgbClr val="EAE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s-CL" sz="1600" dirty="0">
                <a:solidFill>
                  <a:schemeClr val="tx1"/>
                </a:solidFill>
              </a:rPr>
              <a:t>Infraestructura de red utilizada por el dispositivo del usuario.</a:t>
            </a:r>
            <a:endParaRPr lang="es-CL" sz="15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56" name="Rectángulo: esquinas superiores redondeadas 55">
            <a:extLst>
              <a:ext uri="{FF2B5EF4-FFF2-40B4-BE49-F238E27FC236}">
                <a16:creationId xmlns:a16="http://schemas.microsoft.com/office/drawing/2014/main" id="{2E5622C8-A15B-EEC8-386B-AB1EC3E10757}"/>
              </a:ext>
            </a:extLst>
          </p:cNvPr>
          <p:cNvSpPr/>
          <p:nvPr/>
        </p:nvSpPr>
        <p:spPr>
          <a:xfrm rot="5400000">
            <a:off x="6433661" y="3124236"/>
            <a:ext cx="818927" cy="6651521"/>
          </a:xfrm>
          <a:prstGeom prst="round2SameRect">
            <a:avLst>
              <a:gd name="adj1" fmla="val 9737"/>
              <a:gd name="adj2" fmla="val 0"/>
            </a:avLst>
          </a:prstGeom>
          <a:solidFill>
            <a:srgbClr val="EAE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s-CL" sz="1600" dirty="0">
                <a:solidFill>
                  <a:schemeClr val="tx1"/>
                </a:solidFill>
              </a:rPr>
              <a:t>Un Técnico de Soporte pierde la conexión a internet mientras intenta consultar un activo o registrar una operación desde la aplicación móvil.</a:t>
            </a:r>
            <a:endParaRPr lang="es-CL" sz="15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58" name="Rectángulo: esquinas superiores redondeadas 57">
            <a:extLst>
              <a:ext uri="{FF2B5EF4-FFF2-40B4-BE49-F238E27FC236}">
                <a16:creationId xmlns:a16="http://schemas.microsoft.com/office/drawing/2014/main" id="{77744125-7F8D-CDF1-4696-A323AD24DF8A}"/>
              </a:ext>
            </a:extLst>
          </p:cNvPr>
          <p:cNvSpPr/>
          <p:nvPr/>
        </p:nvSpPr>
        <p:spPr>
          <a:xfrm rot="5400000">
            <a:off x="6466424" y="3937016"/>
            <a:ext cx="753398" cy="6651521"/>
          </a:xfrm>
          <a:prstGeom prst="round2SameRect">
            <a:avLst>
              <a:gd name="adj1" fmla="val 9737"/>
              <a:gd name="adj2" fmla="val 0"/>
            </a:avLst>
          </a:prstGeom>
          <a:solidFill>
            <a:srgbClr val="EAE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s-CL" sz="1600" dirty="0">
                <a:solidFill>
                  <a:schemeClr val="tx1"/>
                </a:solidFill>
              </a:rPr>
              <a:t>Aplicación móvil de GATI y comunicación con la API central.</a:t>
            </a:r>
            <a:endParaRPr lang="es-CL" sz="15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60" name="Rectángulo: esquinas superiores redondeadas 59">
            <a:extLst>
              <a:ext uri="{FF2B5EF4-FFF2-40B4-BE49-F238E27FC236}">
                <a16:creationId xmlns:a16="http://schemas.microsoft.com/office/drawing/2014/main" id="{434C0DC5-CCE0-B952-EB62-C3366DC62E3F}"/>
              </a:ext>
            </a:extLst>
          </p:cNvPr>
          <p:cNvSpPr/>
          <p:nvPr/>
        </p:nvSpPr>
        <p:spPr>
          <a:xfrm rot="5400000">
            <a:off x="6473009" y="4716646"/>
            <a:ext cx="740230" cy="6651521"/>
          </a:xfrm>
          <a:prstGeom prst="round2SameRect">
            <a:avLst>
              <a:gd name="adj1" fmla="val 9737"/>
              <a:gd name="adj2" fmla="val 0"/>
            </a:avLst>
          </a:prstGeom>
          <a:solidFill>
            <a:srgbClr val="EAE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s-CL" sz="1600" dirty="0">
                <a:solidFill>
                  <a:schemeClr val="tx1"/>
                </a:solidFill>
              </a:rPr>
              <a:t>Uso en terreno, con conectividad </a:t>
            </a:r>
            <a:r>
              <a:rPr lang="es-CL" sz="1600" dirty="0" err="1">
                <a:solidFill>
                  <a:schemeClr val="tx1"/>
                </a:solidFill>
              </a:rPr>
              <a:t>Wi</a:t>
            </a:r>
            <a:r>
              <a:rPr lang="es-CL" sz="1600" dirty="0">
                <a:solidFill>
                  <a:schemeClr val="tx1"/>
                </a:solidFill>
              </a:rPr>
              <a:t>-Fi o red móvil interrumpida.</a:t>
            </a:r>
            <a:endParaRPr lang="es-CL" sz="15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62" name="Rectángulo: esquinas superiores redondeadas 61">
            <a:extLst>
              <a:ext uri="{FF2B5EF4-FFF2-40B4-BE49-F238E27FC236}">
                <a16:creationId xmlns:a16="http://schemas.microsoft.com/office/drawing/2014/main" id="{21BF3CD9-194C-F716-B292-9B1317EFEEF7}"/>
              </a:ext>
            </a:extLst>
          </p:cNvPr>
          <p:cNvSpPr/>
          <p:nvPr/>
        </p:nvSpPr>
        <p:spPr>
          <a:xfrm rot="5400000">
            <a:off x="6322891" y="5639809"/>
            <a:ext cx="1040466" cy="6651521"/>
          </a:xfrm>
          <a:prstGeom prst="round2SameRect">
            <a:avLst>
              <a:gd name="adj1" fmla="val 9737"/>
              <a:gd name="adj2" fmla="val 0"/>
            </a:avLst>
          </a:prstGeom>
          <a:solidFill>
            <a:srgbClr val="EAE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s-CL" sz="1600" dirty="0">
                <a:solidFill>
                  <a:schemeClr val="tx1"/>
                </a:solidFill>
              </a:rPr>
              <a:t>La aplicación informa que no puede completar la solicitud debido a la falta de conexión. No presenta como confirmada una operación cuya ejecución no haya sido verificada por los servicios centrales.</a:t>
            </a:r>
            <a:endParaRPr lang="es-CL" sz="15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64" name="Rectángulo: esquinas superiores redondeadas 63">
            <a:extLst>
              <a:ext uri="{FF2B5EF4-FFF2-40B4-BE49-F238E27FC236}">
                <a16:creationId xmlns:a16="http://schemas.microsoft.com/office/drawing/2014/main" id="{5D168822-6289-8273-1C9A-94C96F3F216D}"/>
              </a:ext>
            </a:extLst>
          </p:cNvPr>
          <p:cNvSpPr/>
          <p:nvPr/>
        </p:nvSpPr>
        <p:spPr>
          <a:xfrm rot="5400000">
            <a:off x="6417679" y="6631472"/>
            <a:ext cx="850890" cy="6651521"/>
          </a:xfrm>
          <a:prstGeom prst="round2SameRect">
            <a:avLst>
              <a:gd name="adj1" fmla="val 9737"/>
              <a:gd name="adj2" fmla="val 0"/>
            </a:avLst>
          </a:prstGeom>
          <a:solidFill>
            <a:srgbClr val="EAE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s-CL" sz="1500" dirty="0">
                <a:solidFill>
                  <a:schemeClr val="tx1"/>
                </a:solidFill>
              </a:rPr>
              <a:t>Durante las pruebas de interrupción de conectividad, la aplicación debe informar el problema y no mostrar confirmaciones de operaciones que no hayan sido verificadas como completadas.</a:t>
            </a:r>
            <a:endParaRPr lang="es-CL" sz="15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BDC7E610-C9A1-D237-7628-9951166E060C}"/>
              </a:ext>
            </a:extLst>
          </p:cNvPr>
          <p:cNvSpPr/>
          <p:nvPr/>
        </p:nvSpPr>
        <p:spPr>
          <a:xfrm>
            <a:off x="302188" y="10497809"/>
            <a:ext cx="9848350" cy="1459222"/>
          </a:xfrm>
          <a:prstGeom prst="roundRect">
            <a:avLst>
              <a:gd name="adj" fmla="val 9044"/>
            </a:avLst>
          </a:prstGeom>
          <a:solidFill>
            <a:srgbClr val="93B9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28950" lvl="6" indent="-285750">
              <a:buFont typeface="Arial" panose="020B0604020202020204" pitchFamily="34" charset="0"/>
              <a:buChar char="•"/>
            </a:pPr>
            <a:r>
              <a:rPr lang="es-CL" sz="1600" dirty="0">
                <a:solidFill>
                  <a:schemeClr val="tx1"/>
                </a:solidFill>
              </a:rPr>
              <a:t>RF-13 — Escaneo Inteligente y Búsqueda en Terreno; </a:t>
            </a:r>
          </a:p>
          <a:p>
            <a:pPr marL="3028950" lvl="6" indent="-285750">
              <a:buFont typeface="Arial" panose="020B0604020202020204" pitchFamily="34" charset="0"/>
              <a:buChar char="•"/>
            </a:pPr>
            <a:r>
              <a:rPr lang="es-CL" sz="1600" dirty="0">
                <a:solidFill>
                  <a:schemeClr val="tx1"/>
                </a:solidFill>
              </a:rPr>
              <a:t>RNF-22 — Disponibilidad y Dependencia de Red. </a:t>
            </a:r>
          </a:p>
          <a:p>
            <a:pPr lvl="6"/>
            <a:r>
              <a:rPr lang="es-CL" sz="1600" dirty="0">
                <a:solidFill>
                  <a:schemeClr val="tx1"/>
                </a:solidFill>
              </a:rPr>
              <a:t>La </a:t>
            </a:r>
            <a:r>
              <a:rPr lang="es-CL" sz="1600" dirty="0" err="1">
                <a:solidFill>
                  <a:schemeClr val="tx1"/>
                </a:solidFill>
              </a:rPr>
              <a:t>ERS</a:t>
            </a:r>
            <a:r>
              <a:rPr lang="es-CL" sz="1600" dirty="0">
                <a:solidFill>
                  <a:schemeClr val="tx1"/>
                </a:solidFill>
              </a:rPr>
              <a:t> establece que las aplicaciones web y móvil necesitan conexión a internet para consultar información, ejecutar transacciones y generar actas de manera sincrónica. No establece funcionamiento sin conexión.</a:t>
            </a:r>
          </a:p>
        </p:txBody>
      </p:sp>
      <p:sp>
        <p:nvSpPr>
          <p:cNvPr id="66" name="Rectángulo: esquinas redondeadas 65">
            <a:extLst>
              <a:ext uri="{FF2B5EF4-FFF2-40B4-BE49-F238E27FC236}">
                <a16:creationId xmlns:a16="http://schemas.microsoft.com/office/drawing/2014/main" id="{3C151BAD-3D87-AA51-924F-2418EF175667}"/>
              </a:ext>
            </a:extLst>
          </p:cNvPr>
          <p:cNvSpPr/>
          <p:nvPr/>
        </p:nvSpPr>
        <p:spPr>
          <a:xfrm>
            <a:off x="292416" y="2926006"/>
            <a:ext cx="9848350" cy="2204368"/>
          </a:xfrm>
          <a:prstGeom prst="roundRect">
            <a:avLst>
              <a:gd name="adj" fmla="val 6158"/>
            </a:avLst>
          </a:prstGeom>
          <a:solidFill>
            <a:schemeClr val="bg1"/>
          </a:solidFill>
          <a:ln>
            <a:solidFill>
              <a:srgbClr val="93B9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68" name="Gráfico 67" descr="Bullseye con relleno sólido">
            <a:extLst>
              <a:ext uri="{FF2B5EF4-FFF2-40B4-BE49-F238E27FC236}">
                <a16:creationId xmlns:a16="http://schemas.microsoft.com/office/drawing/2014/main" id="{6ED0E378-8C89-44F9-F82D-399AD9ACBD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8184" y="10752316"/>
            <a:ext cx="914400" cy="914400"/>
          </a:xfrm>
          <a:prstGeom prst="rect">
            <a:avLst/>
          </a:prstGeom>
        </p:spPr>
      </p:pic>
      <p:sp>
        <p:nvSpPr>
          <p:cNvPr id="69" name="CuadroTexto 68">
            <a:extLst>
              <a:ext uri="{FF2B5EF4-FFF2-40B4-BE49-F238E27FC236}">
                <a16:creationId xmlns:a16="http://schemas.microsoft.com/office/drawing/2014/main" id="{7F876EA9-6219-D233-D395-B51F00A1A1AC}"/>
              </a:ext>
            </a:extLst>
          </p:cNvPr>
          <p:cNvSpPr txBox="1"/>
          <p:nvPr/>
        </p:nvSpPr>
        <p:spPr>
          <a:xfrm>
            <a:off x="1282584" y="10873477"/>
            <a:ext cx="17142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2000" b="1" dirty="0">
                <a:solidFill>
                  <a:srgbClr val="002060"/>
                </a:solidFill>
              </a:rPr>
              <a:t>Requisitos </a:t>
            </a:r>
          </a:p>
          <a:p>
            <a:pPr algn="ctr"/>
            <a:r>
              <a:rPr lang="es-CL" sz="2000" b="1" dirty="0">
                <a:solidFill>
                  <a:srgbClr val="002060"/>
                </a:solidFill>
              </a:rPr>
              <a:t>relacionados</a:t>
            </a:r>
          </a:p>
        </p:txBody>
      </p:sp>
      <p:cxnSp>
        <p:nvCxnSpPr>
          <p:cNvPr id="75" name="Conector recto de flecha 74">
            <a:extLst>
              <a:ext uri="{FF2B5EF4-FFF2-40B4-BE49-F238E27FC236}">
                <a16:creationId xmlns:a16="http://schemas.microsoft.com/office/drawing/2014/main" id="{ED41CF5B-1BC5-7F01-07AD-1FC31DFC89C3}"/>
              </a:ext>
            </a:extLst>
          </p:cNvPr>
          <p:cNvCxnSpPr>
            <a:cxnSpLocks/>
          </p:cNvCxnSpPr>
          <p:nvPr/>
        </p:nvCxnSpPr>
        <p:spPr>
          <a:xfrm>
            <a:off x="2597785" y="3944773"/>
            <a:ext cx="1636395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CuadroTexto 78">
            <a:extLst>
              <a:ext uri="{FF2B5EF4-FFF2-40B4-BE49-F238E27FC236}">
                <a16:creationId xmlns:a16="http://schemas.microsoft.com/office/drawing/2014/main" id="{83955D33-4B71-C8F2-9C15-7965D00C590C}"/>
              </a:ext>
            </a:extLst>
          </p:cNvPr>
          <p:cNvSpPr txBox="1"/>
          <p:nvPr/>
        </p:nvSpPr>
        <p:spPr>
          <a:xfrm>
            <a:off x="2901995" y="3525138"/>
            <a:ext cx="1027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>
                <a:solidFill>
                  <a:srgbClr val="002060"/>
                </a:solidFill>
                <a:latin typeface="Aptos Narrow" panose="020B0004020202020204" pitchFamily="34" charset="0"/>
              </a:rPr>
              <a:t>Estimulo</a:t>
            </a:r>
          </a:p>
        </p:txBody>
      </p:sp>
      <p:cxnSp>
        <p:nvCxnSpPr>
          <p:cNvPr id="80" name="Conector recto de flecha 79">
            <a:extLst>
              <a:ext uri="{FF2B5EF4-FFF2-40B4-BE49-F238E27FC236}">
                <a16:creationId xmlns:a16="http://schemas.microsoft.com/office/drawing/2014/main" id="{839E900D-CC13-6D84-7C2B-9C350E43C4E6}"/>
              </a:ext>
            </a:extLst>
          </p:cNvPr>
          <p:cNvCxnSpPr>
            <a:cxnSpLocks/>
          </p:cNvCxnSpPr>
          <p:nvPr/>
        </p:nvCxnSpPr>
        <p:spPr>
          <a:xfrm>
            <a:off x="6462649" y="3944773"/>
            <a:ext cx="1636395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CuadroTexto 80">
            <a:extLst>
              <a:ext uri="{FF2B5EF4-FFF2-40B4-BE49-F238E27FC236}">
                <a16:creationId xmlns:a16="http://schemas.microsoft.com/office/drawing/2014/main" id="{3D0F81B4-BC09-01DE-6FF8-7B2670C24EBE}"/>
              </a:ext>
            </a:extLst>
          </p:cNvPr>
          <p:cNvSpPr txBox="1"/>
          <p:nvPr/>
        </p:nvSpPr>
        <p:spPr>
          <a:xfrm>
            <a:off x="6646899" y="3520692"/>
            <a:ext cx="1193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>
                <a:solidFill>
                  <a:srgbClr val="002060"/>
                </a:solidFill>
                <a:latin typeface="Aptos Narrow" panose="020B0004020202020204" pitchFamily="34" charset="0"/>
              </a:rPr>
              <a:t>Respuesta</a:t>
            </a: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B1638F8A-5F88-B908-21B7-007D92EF5BF9}"/>
              </a:ext>
            </a:extLst>
          </p:cNvPr>
          <p:cNvSpPr txBox="1"/>
          <p:nvPr/>
        </p:nvSpPr>
        <p:spPr>
          <a:xfrm>
            <a:off x="450013" y="4353550"/>
            <a:ext cx="23755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b="1" dirty="0">
                <a:latin typeface="Aptos Narrow" panose="020B0004020202020204" pitchFamily="34" charset="0"/>
              </a:rPr>
              <a:t>Conexión interrumpida</a:t>
            </a:r>
            <a:br>
              <a:rPr lang="es-CL" b="1" dirty="0">
                <a:latin typeface="Aptos Narrow" panose="020B0004020202020204" pitchFamily="34" charset="0"/>
              </a:rPr>
            </a:br>
            <a:r>
              <a:rPr lang="es-CL" dirty="0">
                <a:latin typeface="Aptos Narrow" panose="020B0004020202020204" pitchFamily="34" charset="0"/>
              </a:rPr>
              <a:t>Técnico en terreno</a:t>
            </a: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67D22A91-E718-4AB3-6F6D-4380E630528B}"/>
              </a:ext>
            </a:extLst>
          </p:cNvPr>
          <p:cNvSpPr txBox="1"/>
          <p:nvPr/>
        </p:nvSpPr>
        <p:spPr>
          <a:xfrm>
            <a:off x="7433057" y="4353550"/>
            <a:ext cx="25962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b="1" dirty="0">
                <a:latin typeface="Aptos Narrow" panose="020B0004020202020204" pitchFamily="34" charset="0"/>
              </a:rPr>
              <a:t>Error informado</a:t>
            </a:r>
            <a:br>
              <a:rPr lang="es-CL" b="1" dirty="0">
                <a:latin typeface="Aptos Narrow" panose="020B0004020202020204" pitchFamily="34" charset="0"/>
              </a:rPr>
            </a:br>
            <a:r>
              <a:rPr lang="es-CL" dirty="0">
                <a:latin typeface="Aptos Narrow" panose="020B0004020202020204" pitchFamily="34" charset="0"/>
              </a:rPr>
              <a:t>Operación no confirmada</a:t>
            </a:r>
          </a:p>
        </p:txBody>
      </p:sp>
      <p:sp>
        <p:nvSpPr>
          <p:cNvPr id="86" name="Rectángulo: esquinas redondeadas 85">
            <a:extLst>
              <a:ext uri="{FF2B5EF4-FFF2-40B4-BE49-F238E27FC236}">
                <a16:creationId xmlns:a16="http://schemas.microsoft.com/office/drawing/2014/main" id="{FFA1CB1D-DB7C-E5D9-B553-87FDD62A96E8}"/>
              </a:ext>
            </a:extLst>
          </p:cNvPr>
          <p:cNvSpPr/>
          <p:nvPr/>
        </p:nvSpPr>
        <p:spPr>
          <a:xfrm>
            <a:off x="4383842" y="3280852"/>
            <a:ext cx="1958846" cy="1439999"/>
          </a:xfrm>
          <a:prstGeom prst="roundRect">
            <a:avLst/>
          </a:prstGeom>
          <a:solidFill>
            <a:srgbClr val="E6EDF8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5FC1C7FB-14F2-FB6A-2ADA-9A12845D93E6}"/>
              </a:ext>
            </a:extLst>
          </p:cNvPr>
          <p:cNvSpPr txBox="1"/>
          <p:nvPr/>
        </p:nvSpPr>
        <p:spPr>
          <a:xfrm>
            <a:off x="4574814" y="4066290"/>
            <a:ext cx="15769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1600" b="1" dirty="0">
                <a:solidFill>
                  <a:srgbClr val="002060"/>
                </a:solidFill>
                <a:latin typeface="Aptos Narrow" panose="020B0004020202020204" pitchFamily="34" charset="0"/>
              </a:rPr>
              <a:t>GATI</a:t>
            </a:r>
          </a:p>
          <a:p>
            <a:pPr algn="ctr"/>
            <a:r>
              <a:rPr lang="es-CL" sz="1600" b="1" dirty="0">
                <a:solidFill>
                  <a:srgbClr val="002060"/>
                </a:solidFill>
                <a:latin typeface="Aptos Narrow" panose="020B0004020202020204" pitchFamily="34" charset="0"/>
              </a:rPr>
              <a:t>Aplicación Movil</a:t>
            </a:r>
          </a:p>
        </p:txBody>
      </p:sp>
      <p:pic>
        <p:nvPicPr>
          <p:cNvPr id="3" name="Gráfico 2" descr="Smart Phone con relleno sólido">
            <a:extLst>
              <a:ext uri="{FF2B5EF4-FFF2-40B4-BE49-F238E27FC236}">
                <a16:creationId xmlns:a16="http://schemas.microsoft.com/office/drawing/2014/main" id="{698983C1-5792-9EEA-20D8-400C4C7919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91700" y="3299576"/>
            <a:ext cx="756000" cy="756000"/>
          </a:xfrm>
          <a:prstGeom prst="rect">
            <a:avLst/>
          </a:prstGeom>
        </p:spPr>
      </p:pic>
      <p:pic>
        <p:nvPicPr>
          <p:cNvPr id="5" name="Gráfico 4" descr="Warning contorno">
            <a:extLst>
              <a:ext uri="{FF2B5EF4-FFF2-40B4-BE49-F238E27FC236}">
                <a16:creationId xmlns:a16="http://schemas.microsoft.com/office/drawing/2014/main" id="{6A865FE4-8499-7297-986A-FB6886CD38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420195" y="3299576"/>
            <a:ext cx="914400" cy="914400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888BB37-E9DF-748E-87B9-D9741C973166}"/>
              </a:ext>
            </a:extLst>
          </p:cNvPr>
          <p:cNvCxnSpPr>
            <a:cxnSpLocks/>
          </p:cNvCxnSpPr>
          <p:nvPr/>
        </p:nvCxnSpPr>
        <p:spPr>
          <a:xfrm>
            <a:off x="1198241" y="3401771"/>
            <a:ext cx="722119" cy="718078"/>
          </a:xfrm>
          <a:prstGeom prst="line">
            <a:avLst/>
          </a:prstGeom>
          <a:ln w="349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Gráfico 27" descr="Wi-Fi con relleno sólido">
            <a:extLst>
              <a:ext uri="{FF2B5EF4-FFF2-40B4-BE49-F238E27FC236}">
                <a16:creationId xmlns:a16="http://schemas.microsoft.com/office/drawing/2014/main" id="{3401F54B-5FE7-0EDF-A639-8AE6D12573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3179" y="3197685"/>
            <a:ext cx="1338603" cy="133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916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4F883-7235-27DD-FFCF-BA6977385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4B3A3558-D4BB-A453-2972-C78D0E052FFD}"/>
              </a:ext>
            </a:extLst>
          </p:cNvPr>
          <p:cNvSpPr/>
          <p:nvPr/>
        </p:nvSpPr>
        <p:spPr>
          <a:xfrm>
            <a:off x="283840" y="137159"/>
            <a:ext cx="9885047" cy="621030"/>
          </a:xfrm>
          <a:prstGeom prst="roundRect">
            <a:avLst>
              <a:gd name="adj" fmla="val 12986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9E9D54C-4077-88DE-991C-5139C3C214C4}"/>
              </a:ext>
            </a:extLst>
          </p:cNvPr>
          <p:cNvSpPr txBox="1"/>
          <p:nvPr/>
        </p:nvSpPr>
        <p:spPr>
          <a:xfrm>
            <a:off x="396240" y="173415"/>
            <a:ext cx="42242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200" b="1" spc="-150" dirty="0">
                <a:solidFill>
                  <a:schemeClr val="bg1"/>
                </a:solidFill>
                <a:latin typeface="Aptos Narrow" panose="020B0004020202020204" pitchFamily="34" charset="0"/>
              </a:rPr>
              <a:t>Escenario de Calidad N.º  5</a:t>
            </a:r>
          </a:p>
        </p:txBody>
      </p:sp>
      <p:sp>
        <p:nvSpPr>
          <p:cNvPr id="13" name="Rectángulo: esquinas superiores redondeadas 12">
            <a:extLst>
              <a:ext uri="{FF2B5EF4-FFF2-40B4-BE49-F238E27FC236}">
                <a16:creationId xmlns:a16="http://schemas.microsoft.com/office/drawing/2014/main" id="{B8B4E20F-4E48-E7D4-CCC5-5F5AF240794A}"/>
              </a:ext>
            </a:extLst>
          </p:cNvPr>
          <p:cNvSpPr/>
          <p:nvPr/>
        </p:nvSpPr>
        <p:spPr>
          <a:xfrm rot="5400000">
            <a:off x="9023955" y="-386743"/>
            <a:ext cx="621031" cy="1668833"/>
          </a:xfrm>
          <a:prstGeom prst="round2SameRect">
            <a:avLst>
              <a:gd name="adj1" fmla="val 14593"/>
              <a:gd name="adj2" fmla="val 0"/>
            </a:avLst>
          </a:prstGeom>
          <a:solidFill>
            <a:srgbClr val="93B9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AA2D958-AD74-A324-85C7-53310C1D11DA}"/>
              </a:ext>
            </a:extLst>
          </p:cNvPr>
          <p:cNvSpPr txBox="1"/>
          <p:nvPr/>
        </p:nvSpPr>
        <p:spPr>
          <a:xfrm>
            <a:off x="8677398" y="234969"/>
            <a:ext cx="1478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>
                <a:solidFill>
                  <a:srgbClr val="002060"/>
                </a:solidFill>
              </a:rPr>
              <a:t>ID: EC-05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B6C73655-704F-9ADB-F471-00A647DC9A41}"/>
              </a:ext>
            </a:extLst>
          </p:cNvPr>
          <p:cNvSpPr/>
          <p:nvPr/>
        </p:nvSpPr>
        <p:spPr>
          <a:xfrm>
            <a:off x="283840" y="794444"/>
            <a:ext cx="9885047" cy="2053530"/>
          </a:xfrm>
          <a:prstGeom prst="roundRect">
            <a:avLst>
              <a:gd name="adj" fmla="val 3680"/>
            </a:avLst>
          </a:prstGeom>
          <a:solidFill>
            <a:srgbClr val="93B9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Rectángulo: esquinas superiores redondeadas 17">
            <a:extLst>
              <a:ext uri="{FF2B5EF4-FFF2-40B4-BE49-F238E27FC236}">
                <a16:creationId xmlns:a16="http://schemas.microsoft.com/office/drawing/2014/main" id="{0209AE30-F978-BEAA-9F37-80282566B13E}"/>
              </a:ext>
            </a:extLst>
          </p:cNvPr>
          <p:cNvSpPr/>
          <p:nvPr/>
        </p:nvSpPr>
        <p:spPr>
          <a:xfrm rot="5400000">
            <a:off x="5906790" y="-1412778"/>
            <a:ext cx="2053530" cy="6470664"/>
          </a:xfrm>
          <a:prstGeom prst="round2SameRect">
            <a:avLst>
              <a:gd name="adj1" fmla="val 4338"/>
              <a:gd name="adj2" fmla="val 0"/>
            </a:avLst>
          </a:prstGeom>
          <a:solidFill>
            <a:srgbClr val="E6ED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C69202DA-7CE2-2F30-81BE-CBF0C06324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397996"/>
              </p:ext>
            </p:extLst>
          </p:nvPr>
        </p:nvGraphicFramePr>
        <p:xfrm>
          <a:off x="270513" y="794444"/>
          <a:ext cx="9871720" cy="205353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460846">
                  <a:extLst>
                    <a:ext uri="{9D8B030D-6E8A-4147-A177-3AD203B41FA5}">
                      <a16:colId xmlns:a16="http://schemas.microsoft.com/office/drawing/2014/main" val="342308650"/>
                    </a:ext>
                  </a:extLst>
                </a:gridCol>
                <a:gridCol w="6410874">
                  <a:extLst>
                    <a:ext uri="{9D8B030D-6E8A-4147-A177-3AD203B41FA5}">
                      <a16:colId xmlns:a16="http://schemas.microsoft.com/office/drawing/2014/main" val="766914880"/>
                    </a:ext>
                  </a:extLst>
                </a:gridCol>
              </a:tblGrid>
              <a:tr h="567681">
                <a:tc>
                  <a:txBody>
                    <a:bodyPr/>
                    <a:lstStyle/>
                    <a:p>
                      <a:r>
                        <a:rPr lang="es-CL" sz="2000" b="1" dirty="0">
                          <a:latin typeface="Aptos Narrow" panose="020B0004020202020204" pitchFamily="34" charset="0"/>
                        </a:rPr>
                        <a:t>Atributo de calidad asociado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Compatibilidad</a:t>
                      </a:r>
                      <a:endParaRPr lang="es-CL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71048687"/>
                  </a:ext>
                </a:extLst>
              </a:tr>
              <a:tr h="657906">
                <a:tc>
                  <a:txBody>
                    <a:bodyPr/>
                    <a:lstStyle/>
                    <a:p>
                      <a:r>
                        <a:rPr lang="es-CL" sz="2000" b="1" dirty="0"/>
                        <a:t>Subcaracterística</a:t>
                      </a:r>
                      <a:endParaRPr lang="es-CL" b="1" dirty="0"/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Adaptabilidad al entorno de ejecución</a:t>
                      </a:r>
                      <a:endParaRPr lang="es-CL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31532976"/>
                  </a:ext>
                </a:extLst>
              </a:tr>
              <a:tr h="827943">
                <a:tc>
                  <a:txBody>
                    <a:bodyPr/>
                    <a:lstStyle/>
                    <a:p>
                      <a:r>
                        <a:rPr lang="es-CL" sz="2000" b="1" dirty="0"/>
                        <a:t>Descripción</a:t>
                      </a:r>
                      <a:endParaRPr lang="es-CL" b="1" dirty="0"/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dirty="0"/>
                        <a:t>La aplicación móvil debe permitir que el Técnico de Soporte utilice las funciones de identificación de activos mediante la cámara de un dispositivo compatible.</a:t>
                      </a:r>
                      <a:endParaRPr lang="es-CL" sz="1600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77338791"/>
                  </a:ext>
                </a:extLst>
              </a:tr>
            </a:tbl>
          </a:graphicData>
        </a:graphic>
      </p:graphicFrame>
      <p:sp>
        <p:nvSpPr>
          <p:cNvPr id="20" name="Rectángulo: esquinas superiores redondeadas 19">
            <a:extLst>
              <a:ext uri="{FF2B5EF4-FFF2-40B4-BE49-F238E27FC236}">
                <a16:creationId xmlns:a16="http://schemas.microsoft.com/office/drawing/2014/main" id="{348F14C9-E475-CF56-CA46-FFACA36C1367}"/>
              </a:ext>
            </a:extLst>
          </p:cNvPr>
          <p:cNvSpPr/>
          <p:nvPr/>
        </p:nvSpPr>
        <p:spPr>
          <a:xfrm rot="16200000">
            <a:off x="379502" y="5172759"/>
            <a:ext cx="740229" cy="897249"/>
          </a:xfrm>
          <a:prstGeom prst="round2SameRect">
            <a:avLst>
              <a:gd name="adj1" fmla="val 791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2" name="Gráfico 21" descr="Circular flowchart con relleno sólido">
            <a:extLst>
              <a:ext uri="{FF2B5EF4-FFF2-40B4-BE49-F238E27FC236}">
                <a16:creationId xmlns:a16="http://schemas.microsoft.com/office/drawing/2014/main" id="{6CFE7CD5-71A9-73FC-527B-9356C6746E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184" y="5251269"/>
            <a:ext cx="720000" cy="720000"/>
          </a:xfrm>
          <a:prstGeom prst="rect">
            <a:avLst/>
          </a:prstGeom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FDAC58F5-A463-A43F-B0F5-1B5628C1F7D4}"/>
              </a:ext>
            </a:extLst>
          </p:cNvPr>
          <p:cNvSpPr/>
          <p:nvPr/>
        </p:nvSpPr>
        <p:spPr>
          <a:xfrm>
            <a:off x="1221611" y="5251268"/>
            <a:ext cx="2272389" cy="740229"/>
          </a:xfrm>
          <a:prstGeom prst="rect">
            <a:avLst/>
          </a:prstGeom>
          <a:solidFill>
            <a:srgbClr val="3362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spc="-150" dirty="0">
                <a:latin typeface="Aptos Narrow" panose="020B0004020202020204" pitchFamily="34" charset="0"/>
              </a:rPr>
              <a:t>Fuente del Estimulo</a:t>
            </a:r>
          </a:p>
        </p:txBody>
      </p:sp>
      <p:sp>
        <p:nvSpPr>
          <p:cNvPr id="25" name="Rectángulo: esquinas superiores redondeadas 24">
            <a:extLst>
              <a:ext uri="{FF2B5EF4-FFF2-40B4-BE49-F238E27FC236}">
                <a16:creationId xmlns:a16="http://schemas.microsoft.com/office/drawing/2014/main" id="{969FB458-7F21-6FD7-9057-9F4BCF5DB4F1}"/>
              </a:ext>
            </a:extLst>
          </p:cNvPr>
          <p:cNvSpPr/>
          <p:nvPr/>
        </p:nvSpPr>
        <p:spPr>
          <a:xfrm rot="16200000">
            <a:off x="340153" y="6001372"/>
            <a:ext cx="818926" cy="897249"/>
          </a:xfrm>
          <a:prstGeom prst="round2SameRect">
            <a:avLst>
              <a:gd name="adj1" fmla="val 791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7" name="Rectángulo: esquinas superiores redondeadas 26">
            <a:extLst>
              <a:ext uri="{FF2B5EF4-FFF2-40B4-BE49-F238E27FC236}">
                <a16:creationId xmlns:a16="http://schemas.microsoft.com/office/drawing/2014/main" id="{7D88EA09-24C2-77C4-43B6-2E1C9FBDABFD}"/>
              </a:ext>
            </a:extLst>
          </p:cNvPr>
          <p:cNvSpPr/>
          <p:nvPr/>
        </p:nvSpPr>
        <p:spPr>
          <a:xfrm rot="16200000">
            <a:off x="372533" y="6813767"/>
            <a:ext cx="754168" cy="897249"/>
          </a:xfrm>
          <a:prstGeom prst="round2SameRect">
            <a:avLst>
              <a:gd name="adj1" fmla="val 791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9" name="Rectángulo: esquinas superiores redondeadas 28">
            <a:extLst>
              <a:ext uri="{FF2B5EF4-FFF2-40B4-BE49-F238E27FC236}">
                <a16:creationId xmlns:a16="http://schemas.microsoft.com/office/drawing/2014/main" id="{25678303-FDE2-45CD-4106-6527CEAD03F1}"/>
              </a:ext>
            </a:extLst>
          </p:cNvPr>
          <p:cNvSpPr/>
          <p:nvPr/>
        </p:nvSpPr>
        <p:spPr>
          <a:xfrm rot="16200000">
            <a:off x="372532" y="7593783"/>
            <a:ext cx="754168" cy="897249"/>
          </a:xfrm>
          <a:prstGeom prst="round2SameRect">
            <a:avLst>
              <a:gd name="adj1" fmla="val 791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1" name="Rectángulo: esquinas superiores redondeadas 30">
            <a:extLst>
              <a:ext uri="{FF2B5EF4-FFF2-40B4-BE49-F238E27FC236}">
                <a16:creationId xmlns:a16="http://schemas.microsoft.com/office/drawing/2014/main" id="{339F16E3-B7C9-8730-2824-0A15A5CB7183}"/>
              </a:ext>
            </a:extLst>
          </p:cNvPr>
          <p:cNvSpPr/>
          <p:nvPr/>
        </p:nvSpPr>
        <p:spPr>
          <a:xfrm rot="16200000">
            <a:off x="229385" y="8516947"/>
            <a:ext cx="1040464" cy="897249"/>
          </a:xfrm>
          <a:prstGeom prst="round2SameRect">
            <a:avLst>
              <a:gd name="adj1" fmla="val 791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3" name="Rectángulo: esquinas superiores redondeadas 32">
            <a:extLst>
              <a:ext uri="{FF2B5EF4-FFF2-40B4-BE49-F238E27FC236}">
                <a16:creationId xmlns:a16="http://schemas.microsoft.com/office/drawing/2014/main" id="{627FBE40-5D55-BBC3-15F8-B02284A7B376}"/>
              </a:ext>
            </a:extLst>
          </p:cNvPr>
          <p:cNvSpPr/>
          <p:nvPr/>
        </p:nvSpPr>
        <p:spPr>
          <a:xfrm rot="16200000">
            <a:off x="324173" y="9508607"/>
            <a:ext cx="850889" cy="897249"/>
          </a:xfrm>
          <a:prstGeom prst="round2SameRect">
            <a:avLst>
              <a:gd name="adj1" fmla="val 791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35" name="Gráfico 34" descr="Signal con relleno sólido">
            <a:extLst>
              <a:ext uri="{FF2B5EF4-FFF2-40B4-BE49-F238E27FC236}">
                <a16:creationId xmlns:a16="http://schemas.microsoft.com/office/drawing/2014/main" id="{26B285F4-8CDB-ECCF-EFD8-AC46675D8F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735" y="9646920"/>
            <a:ext cx="573220" cy="573220"/>
          </a:xfrm>
          <a:prstGeom prst="rect">
            <a:avLst/>
          </a:prstGeom>
        </p:spPr>
      </p:pic>
      <p:pic>
        <p:nvPicPr>
          <p:cNvPr id="37" name="Gráfico 36" descr="Document con relleno sólido">
            <a:extLst>
              <a:ext uri="{FF2B5EF4-FFF2-40B4-BE49-F238E27FC236}">
                <a16:creationId xmlns:a16="http://schemas.microsoft.com/office/drawing/2014/main" id="{E024CB5E-3EFF-44C7-BA1F-6630AB99A5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5866" y="8700060"/>
            <a:ext cx="569567" cy="569567"/>
          </a:xfrm>
          <a:prstGeom prst="rect">
            <a:avLst/>
          </a:prstGeom>
        </p:spPr>
      </p:pic>
      <p:pic>
        <p:nvPicPr>
          <p:cNvPr id="39" name="Gráfico 38" descr="Single gear con relleno sólido">
            <a:extLst>
              <a:ext uri="{FF2B5EF4-FFF2-40B4-BE49-F238E27FC236}">
                <a16:creationId xmlns:a16="http://schemas.microsoft.com/office/drawing/2014/main" id="{8D6D7C52-359A-6075-3445-B26DBFC8A9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6240" y="7760370"/>
            <a:ext cx="600062" cy="600062"/>
          </a:xfrm>
          <a:prstGeom prst="rect">
            <a:avLst/>
          </a:prstGeom>
        </p:spPr>
      </p:pic>
      <p:pic>
        <p:nvPicPr>
          <p:cNvPr id="41" name="Gráfico 40" descr="Blockchain con relleno sólido">
            <a:extLst>
              <a:ext uri="{FF2B5EF4-FFF2-40B4-BE49-F238E27FC236}">
                <a16:creationId xmlns:a16="http://schemas.microsoft.com/office/drawing/2014/main" id="{ECC11E35-04A2-BC20-41E9-9F80A8C147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5866" y="7006201"/>
            <a:ext cx="512380" cy="512380"/>
          </a:xfrm>
          <a:prstGeom prst="rect">
            <a:avLst/>
          </a:prstGeom>
        </p:spPr>
      </p:pic>
      <p:pic>
        <p:nvPicPr>
          <p:cNvPr id="43" name="Gráfico 42" descr="Lightning bolt con relleno sólido">
            <a:extLst>
              <a:ext uri="{FF2B5EF4-FFF2-40B4-BE49-F238E27FC236}">
                <a16:creationId xmlns:a16="http://schemas.microsoft.com/office/drawing/2014/main" id="{B89B4A8E-4F88-EB28-623C-E6AD8789A5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6735" y="6176010"/>
            <a:ext cx="570642" cy="570642"/>
          </a:xfrm>
          <a:prstGeom prst="rect">
            <a:avLst/>
          </a:prstGeom>
        </p:spPr>
      </p:pic>
      <p:sp>
        <p:nvSpPr>
          <p:cNvPr id="45" name="Rectángulo 44">
            <a:extLst>
              <a:ext uri="{FF2B5EF4-FFF2-40B4-BE49-F238E27FC236}">
                <a16:creationId xmlns:a16="http://schemas.microsoft.com/office/drawing/2014/main" id="{84519CED-510C-CF59-DF68-93A05CC46670}"/>
              </a:ext>
            </a:extLst>
          </p:cNvPr>
          <p:cNvSpPr/>
          <p:nvPr/>
        </p:nvSpPr>
        <p:spPr>
          <a:xfrm>
            <a:off x="1221610" y="6040533"/>
            <a:ext cx="2272389" cy="818927"/>
          </a:xfrm>
          <a:prstGeom prst="rect">
            <a:avLst/>
          </a:prstGeom>
          <a:solidFill>
            <a:srgbClr val="3362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spc="-150" dirty="0">
                <a:latin typeface="Aptos Narrow" panose="020B0004020202020204" pitchFamily="34" charset="0"/>
              </a:rPr>
              <a:t>Estimulo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59078252-AAC4-986E-E4E6-BD062EBE7628}"/>
              </a:ext>
            </a:extLst>
          </p:cNvPr>
          <p:cNvSpPr/>
          <p:nvPr/>
        </p:nvSpPr>
        <p:spPr>
          <a:xfrm>
            <a:off x="1221610" y="6885307"/>
            <a:ext cx="2272389" cy="754169"/>
          </a:xfrm>
          <a:prstGeom prst="rect">
            <a:avLst/>
          </a:prstGeom>
          <a:solidFill>
            <a:srgbClr val="3362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spc="-150" dirty="0">
                <a:latin typeface="Aptos Narrow" panose="020B0004020202020204" pitchFamily="34" charset="0"/>
              </a:rPr>
              <a:t>Artefacto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B5F0A49B-EEE9-8800-886D-60F3EE341E91}"/>
              </a:ext>
            </a:extLst>
          </p:cNvPr>
          <p:cNvSpPr/>
          <p:nvPr/>
        </p:nvSpPr>
        <p:spPr>
          <a:xfrm>
            <a:off x="1221610" y="7665322"/>
            <a:ext cx="2272389" cy="754169"/>
          </a:xfrm>
          <a:prstGeom prst="rect">
            <a:avLst/>
          </a:prstGeom>
          <a:solidFill>
            <a:srgbClr val="3362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spc="-150" dirty="0">
                <a:latin typeface="Aptos Narrow" panose="020B0004020202020204" pitchFamily="34" charset="0"/>
              </a:rPr>
              <a:t>Ambiente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9C25DDD4-2496-9BBF-4DDC-A648442FF385}"/>
              </a:ext>
            </a:extLst>
          </p:cNvPr>
          <p:cNvSpPr/>
          <p:nvPr/>
        </p:nvSpPr>
        <p:spPr>
          <a:xfrm>
            <a:off x="1221610" y="8445337"/>
            <a:ext cx="2272389" cy="1040465"/>
          </a:xfrm>
          <a:prstGeom prst="rect">
            <a:avLst/>
          </a:prstGeom>
          <a:solidFill>
            <a:srgbClr val="3362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spc="-150" dirty="0">
                <a:latin typeface="Aptos Narrow" panose="020B0004020202020204" pitchFamily="34" charset="0"/>
              </a:rPr>
              <a:t>Respuesta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9B97DCF5-DE09-1527-6296-228838300D33}"/>
              </a:ext>
            </a:extLst>
          </p:cNvPr>
          <p:cNvSpPr/>
          <p:nvPr/>
        </p:nvSpPr>
        <p:spPr>
          <a:xfrm>
            <a:off x="1221610" y="9531787"/>
            <a:ext cx="2272389" cy="850889"/>
          </a:xfrm>
          <a:prstGeom prst="rect">
            <a:avLst/>
          </a:prstGeom>
          <a:solidFill>
            <a:srgbClr val="3362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spc="-150" dirty="0">
                <a:latin typeface="Aptos Narrow" panose="020B0004020202020204" pitchFamily="34" charset="0"/>
              </a:rPr>
              <a:t>Medida de Respuesta</a:t>
            </a:r>
          </a:p>
        </p:txBody>
      </p:sp>
      <p:sp>
        <p:nvSpPr>
          <p:cNvPr id="54" name="Rectángulo: esquinas superiores redondeadas 53">
            <a:extLst>
              <a:ext uri="{FF2B5EF4-FFF2-40B4-BE49-F238E27FC236}">
                <a16:creationId xmlns:a16="http://schemas.microsoft.com/office/drawing/2014/main" id="{AC67A67A-8278-7B18-E7D5-12CFE72A19CD}"/>
              </a:ext>
            </a:extLst>
          </p:cNvPr>
          <p:cNvSpPr/>
          <p:nvPr/>
        </p:nvSpPr>
        <p:spPr>
          <a:xfrm rot="5400000">
            <a:off x="6473011" y="2295624"/>
            <a:ext cx="740229" cy="6651521"/>
          </a:xfrm>
          <a:prstGeom prst="round2SameRect">
            <a:avLst>
              <a:gd name="adj1" fmla="val 9737"/>
              <a:gd name="adj2" fmla="val 0"/>
            </a:avLst>
          </a:prstGeom>
          <a:solidFill>
            <a:srgbClr val="EAE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s-CL" sz="1600" dirty="0">
                <a:solidFill>
                  <a:schemeClr val="tx1"/>
                </a:solidFill>
              </a:rPr>
              <a:t>Técnico de Soporte.</a:t>
            </a:r>
            <a:endParaRPr lang="es-CL" sz="15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56" name="Rectángulo: esquinas superiores redondeadas 55">
            <a:extLst>
              <a:ext uri="{FF2B5EF4-FFF2-40B4-BE49-F238E27FC236}">
                <a16:creationId xmlns:a16="http://schemas.microsoft.com/office/drawing/2014/main" id="{550166E0-07D8-8D4D-4D15-4C9075E3231C}"/>
              </a:ext>
            </a:extLst>
          </p:cNvPr>
          <p:cNvSpPr/>
          <p:nvPr/>
        </p:nvSpPr>
        <p:spPr>
          <a:xfrm rot="5400000">
            <a:off x="6433661" y="3124236"/>
            <a:ext cx="818927" cy="6651521"/>
          </a:xfrm>
          <a:prstGeom prst="round2SameRect">
            <a:avLst>
              <a:gd name="adj1" fmla="val 9737"/>
              <a:gd name="adj2" fmla="val 0"/>
            </a:avLst>
          </a:prstGeom>
          <a:solidFill>
            <a:srgbClr val="EAE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s-CL" sz="1600" dirty="0">
                <a:solidFill>
                  <a:schemeClr val="tx1"/>
                </a:solidFill>
              </a:rPr>
              <a:t>El usuario accede al módulo de escaneo y utiliza la cámara del dispositivo para leer el código QR o de barras de un activo.</a:t>
            </a:r>
            <a:endParaRPr lang="es-CL" sz="15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58" name="Rectángulo: esquinas superiores redondeadas 57">
            <a:extLst>
              <a:ext uri="{FF2B5EF4-FFF2-40B4-BE49-F238E27FC236}">
                <a16:creationId xmlns:a16="http://schemas.microsoft.com/office/drawing/2014/main" id="{71008068-7625-6A51-0722-C39C4BF92A94}"/>
              </a:ext>
            </a:extLst>
          </p:cNvPr>
          <p:cNvSpPr/>
          <p:nvPr/>
        </p:nvSpPr>
        <p:spPr>
          <a:xfrm rot="5400000">
            <a:off x="6466424" y="3937016"/>
            <a:ext cx="753398" cy="6651521"/>
          </a:xfrm>
          <a:prstGeom prst="round2SameRect">
            <a:avLst>
              <a:gd name="adj1" fmla="val 9737"/>
              <a:gd name="adj2" fmla="val 0"/>
            </a:avLst>
          </a:prstGeom>
          <a:solidFill>
            <a:srgbClr val="EAE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s-CL" sz="1600" dirty="0">
                <a:solidFill>
                  <a:schemeClr val="tx1"/>
                </a:solidFill>
              </a:rPr>
              <a:t>Aplicación móvil desarrollada con </a:t>
            </a:r>
            <a:r>
              <a:rPr lang="es-CL" sz="1600" dirty="0" err="1">
                <a:solidFill>
                  <a:schemeClr val="tx1"/>
                </a:solidFill>
              </a:rPr>
              <a:t>Ionic</a:t>
            </a:r>
            <a:r>
              <a:rPr lang="es-CL" sz="1600" dirty="0">
                <a:solidFill>
                  <a:schemeClr val="tx1"/>
                </a:solidFill>
              </a:rPr>
              <a:t>, Angular y Capacitor, e interfaz con la cámara del dispositivo.</a:t>
            </a:r>
            <a:endParaRPr lang="es-CL" sz="15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60" name="Rectángulo: esquinas superiores redondeadas 59">
            <a:extLst>
              <a:ext uri="{FF2B5EF4-FFF2-40B4-BE49-F238E27FC236}">
                <a16:creationId xmlns:a16="http://schemas.microsoft.com/office/drawing/2014/main" id="{E3755599-F610-54C0-76BD-455927E2593C}"/>
              </a:ext>
            </a:extLst>
          </p:cNvPr>
          <p:cNvSpPr/>
          <p:nvPr/>
        </p:nvSpPr>
        <p:spPr>
          <a:xfrm rot="5400000">
            <a:off x="6473009" y="4716646"/>
            <a:ext cx="740230" cy="6651521"/>
          </a:xfrm>
          <a:prstGeom prst="round2SameRect">
            <a:avLst>
              <a:gd name="adj1" fmla="val 9737"/>
              <a:gd name="adj2" fmla="val 0"/>
            </a:avLst>
          </a:prstGeom>
          <a:solidFill>
            <a:srgbClr val="EAE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s-CL" sz="1600" dirty="0">
                <a:solidFill>
                  <a:schemeClr val="tx1"/>
                </a:solidFill>
              </a:rPr>
              <a:t>Dispositivo móvil compatible, con la aplicación instalada y los permisos necesarios para utilizar la cámara.</a:t>
            </a:r>
            <a:endParaRPr lang="es-CL" sz="15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62" name="Rectángulo: esquinas superiores redondeadas 61">
            <a:extLst>
              <a:ext uri="{FF2B5EF4-FFF2-40B4-BE49-F238E27FC236}">
                <a16:creationId xmlns:a16="http://schemas.microsoft.com/office/drawing/2014/main" id="{200AA51F-5FA6-8E7F-7D26-2A297FAB9626}"/>
              </a:ext>
            </a:extLst>
          </p:cNvPr>
          <p:cNvSpPr/>
          <p:nvPr/>
        </p:nvSpPr>
        <p:spPr>
          <a:xfrm rot="5400000">
            <a:off x="6322891" y="5639809"/>
            <a:ext cx="1040466" cy="6651521"/>
          </a:xfrm>
          <a:prstGeom prst="round2SameRect">
            <a:avLst>
              <a:gd name="adj1" fmla="val 9737"/>
              <a:gd name="adj2" fmla="val 0"/>
            </a:avLst>
          </a:prstGeom>
          <a:solidFill>
            <a:srgbClr val="EAE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s-CL" sz="1500" dirty="0">
                <a:solidFill>
                  <a:schemeClr val="tx1"/>
                </a:solidFill>
              </a:rPr>
              <a:t>La aplicación accede a la cámara, permite capturar el código y procesa el identificador para realizar la búsqueda del activo. Si la lectura no permite identificar el código, informa el problema y mantiene disponible la alternativa de búsqueda manual prevista en el RF-13.</a:t>
            </a:r>
            <a:endParaRPr lang="es-CL" sz="15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64" name="Rectángulo: esquinas superiores redondeadas 63">
            <a:extLst>
              <a:ext uri="{FF2B5EF4-FFF2-40B4-BE49-F238E27FC236}">
                <a16:creationId xmlns:a16="http://schemas.microsoft.com/office/drawing/2014/main" id="{855E0832-F969-72DD-4E77-301E250C9AC0}"/>
              </a:ext>
            </a:extLst>
          </p:cNvPr>
          <p:cNvSpPr/>
          <p:nvPr/>
        </p:nvSpPr>
        <p:spPr>
          <a:xfrm rot="5400000">
            <a:off x="6417679" y="6631472"/>
            <a:ext cx="850890" cy="6651521"/>
          </a:xfrm>
          <a:prstGeom prst="round2SameRect">
            <a:avLst>
              <a:gd name="adj1" fmla="val 9737"/>
              <a:gd name="adj2" fmla="val 0"/>
            </a:avLst>
          </a:prstGeom>
          <a:solidFill>
            <a:srgbClr val="EAE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s-CL" sz="1500" dirty="0">
                <a:solidFill>
                  <a:schemeClr val="tx1"/>
                </a:solidFill>
              </a:rPr>
              <a:t>En los dispositivos definidos como compatibles, las pruebas deben verificar que la aplicación puede acceder a la cámara, leer un código válido y recuperar la información del activo. También debe comprobarse la alternativa de búsqueda manual cuando la lectura no resulte posible.</a:t>
            </a:r>
            <a:endParaRPr lang="es-CL" sz="15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C0D46BC5-3D51-92FB-D3AA-0FE9390E8E29}"/>
              </a:ext>
            </a:extLst>
          </p:cNvPr>
          <p:cNvSpPr/>
          <p:nvPr/>
        </p:nvSpPr>
        <p:spPr>
          <a:xfrm>
            <a:off x="302188" y="10497809"/>
            <a:ext cx="9848350" cy="1459222"/>
          </a:xfrm>
          <a:prstGeom prst="roundRect">
            <a:avLst>
              <a:gd name="adj" fmla="val 9044"/>
            </a:avLst>
          </a:prstGeom>
          <a:solidFill>
            <a:srgbClr val="93B9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28950" lvl="6" indent="-285750">
              <a:buFont typeface="Arial" panose="020B0604020202020204" pitchFamily="34" charset="0"/>
              <a:buChar char="•"/>
            </a:pPr>
            <a:r>
              <a:rPr lang="es-CL" sz="1600" dirty="0">
                <a:solidFill>
                  <a:schemeClr val="tx1"/>
                </a:solidFill>
              </a:rPr>
              <a:t>RF-13 — Escaneo Inteligente y Búsqueda en Terreno; </a:t>
            </a:r>
          </a:p>
          <a:p>
            <a:pPr marL="3028950" lvl="6" indent="-285750">
              <a:buFont typeface="Arial" panose="020B0604020202020204" pitchFamily="34" charset="0"/>
              <a:buChar char="•"/>
            </a:pPr>
            <a:r>
              <a:rPr lang="es-CL" sz="1600" dirty="0">
                <a:solidFill>
                  <a:schemeClr val="tx1"/>
                </a:solidFill>
              </a:rPr>
              <a:t>RNF-19 — Compatibilidad Multiplataforma. </a:t>
            </a:r>
          </a:p>
          <a:p>
            <a:pPr lvl="6"/>
            <a:r>
              <a:rPr lang="es-CL" sz="1600" dirty="0">
                <a:solidFill>
                  <a:schemeClr val="tx1"/>
                </a:solidFill>
              </a:rPr>
              <a:t>La </a:t>
            </a:r>
            <a:r>
              <a:rPr lang="es-CL" sz="1600" dirty="0" err="1">
                <a:solidFill>
                  <a:schemeClr val="tx1"/>
                </a:solidFill>
              </a:rPr>
              <a:t>ERS</a:t>
            </a:r>
            <a:r>
              <a:rPr lang="es-CL" sz="1600" dirty="0">
                <a:solidFill>
                  <a:schemeClr val="tx1"/>
                </a:solidFill>
              </a:rPr>
              <a:t> contempla el uso de la cámara del dispositivo móvil para leer códigos QR o de barras y define Angular, </a:t>
            </a:r>
            <a:r>
              <a:rPr lang="es-CL" sz="1600" dirty="0" err="1">
                <a:solidFill>
                  <a:schemeClr val="tx1"/>
                </a:solidFill>
              </a:rPr>
              <a:t>Ionic</a:t>
            </a:r>
            <a:r>
              <a:rPr lang="es-CL" sz="1600" dirty="0">
                <a:solidFill>
                  <a:schemeClr val="tx1"/>
                </a:solidFill>
              </a:rPr>
              <a:t> y Capacitor para la aplicación móvil.</a:t>
            </a:r>
          </a:p>
        </p:txBody>
      </p:sp>
      <p:sp>
        <p:nvSpPr>
          <p:cNvPr id="66" name="Rectángulo: esquinas redondeadas 65">
            <a:extLst>
              <a:ext uri="{FF2B5EF4-FFF2-40B4-BE49-F238E27FC236}">
                <a16:creationId xmlns:a16="http://schemas.microsoft.com/office/drawing/2014/main" id="{0E32701F-1D90-A128-3EF1-4E2D9F9B2F64}"/>
              </a:ext>
            </a:extLst>
          </p:cNvPr>
          <p:cNvSpPr/>
          <p:nvPr/>
        </p:nvSpPr>
        <p:spPr>
          <a:xfrm>
            <a:off x="292416" y="2926006"/>
            <a:ext cx="9848350" cy="2204368"/>
          </a:xfrm>
          <a:prstGeom prst="roundRect">
            <a:avLst>
              <a:gd name="adj" fmla="val 6158"/>
            </a:avLst>
          </a:prstGeom>
          <a:solidFill>
            <a:schemeClr val="bg1"/>
          </a:solidFill>
          <a:ln>
            <a:solidFill>
              <a:srgbClr val="93B9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68" name="Gráfico 67" descr="Bullseye con relleno sólido">
            <a:extLst>
              <a:ext uri="{FF2B5EF4-FFF2-40B4-BE49-F238E27FC236}">
                <a16:creationId xmlns:a16="http://schemas.microsoft.com/office/drawing/2014/main" id="{DFB68A87-F4E5-51B7-E159-6CF81EBEA5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8184" y="10752316"/>
            <a:ext cx="914400" cy="914400"/>
          </a:xfrm>
          <a:prstGeom prst="rect">
            <a:avLst/>
          </a:prstGeom>
        </p:spPr>
      </p:pic>
      <p:sp>
        <p:nvSpPr>
          <p:cNvPr id="69" name="CuadroTexto 68">
            <a:extLst>
              <a:ext uri="{FF2B5EF4-FFF2-40B4-BE49-F238E27FC236}">
                <a16:creationId xmlns:a16="http://schemas.microsoft.com/office/drawing/2014/main" id="{9876C874-7178-8624-683F-BB6F792A56FC}"/>
              </a:ext>
            </a:extLst>
          </p:cNvPr>
          <p:cNvSpPr txBox="1"/>
          <p:nvPr/>
        </p:nvSpPr>
        <p:spPr>
          <a:xfrm>
            <a:off x="1282584" y="10873477"/>
            <a:ext cx="17142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2000" b="1" dirty="0">
                <a:solidFill>
                  <a:srgbClr val="002060"/>
                </a:solidFill>
              </a:rPr>
              <a:t>Requisitos </a:t>
            </a:r>
          </a:p>
          <a:p>
            <a:pPr algn="ctr"/>
            <a:r>
              <a:rPr lang="es-CL" sz="2000" b="1" dirty="0">
                <a:solidFill>
                  <a:srgbClr val="002060"/>
                </a:solidFill>
              </a:rPr>
              <a:t>relacionados</a:t>
            </a:r>
          </a:p>
        </p:txBody>
      </p:sp>
      <p:cxnSp>
        <p:nvCxnSpPr>
          <p:cNvPr id="75" name="Conector recto de flecha 74">
            <a:extLst>
              <a:ext uri="{FF2B5EF4-FFF2-40B4-BE49-F238E27FC236}">
                <a16:creationId xmlns:a16="http://schemas.microsoft.com/office/drawing/2014/main" id="{23608842-E09D-D9EB-CC86-6A010B635900}"/>
              </a:ext>
            </a:extLst>
          </p:cNvPr>
          <p:cNvCxnSpPr>
            <a:cxnSpLocks/>
          </p:cNvCxnSpPr>
          <p:nvPr/>
        </p:nvCxnSpPr>
        <p:spPr>
          <a:xfrm>
            <a:off x="2597785" y="3944773"/>
            <a:ext cx="1636395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CuadroTexto 78">
            <a:extLst>
              <a:ext uri="{FF2B5EF4-FFF2-40B4-BE49-F238E27FC236}">
                <a16:creationId xmlns:a16="http://schemas.microsoft.com/office/drawing/2014/main" id="{990C9859-FAD1-D156-8082-E7058BC0467A}"/>
              </a:ext>
            </a:extLst>
          </p:cNvPr>
          <p:cNvSpPr txBox="1"/>
          <p:nvPr/>
        </p:nvSpPr>
        <p:spPr>
          <a:xfrm>
            <a:off x="2901995" y="3525138"/>
            <a:ext cx="1027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>
                <a:solidFill>
                  <a:srgbClr val="002060"/>
                </a:solidFill>
                <a:latin typeface="Aptos Narrow" panose="020B0004020202020204" pitchFamily="34" charset="0"/>
              </a:rPr>
              <a:t>Estimulo</a:t>
            </a:r>
          </a:p>
        </p:txBody>
      </p:sp>
      <p:cxnSp>
        <p:nvCxnSpPr>
          <p:cNvPr id="80" name="Conector recto de flecha 79">
            <a:extLst>
              <a:ext uri="{FF2B5EF4-FFF2-40B4-BE49-F238E27FC236}">
                <a16:creationId xmlns:a16="http://schemas.microsoft.com/office/drawing/2014/main" id="{CAD9E020-5965-3BBE-11DB-E05D0313EAD8}"/>
              </a:ext>
            </a:extLst>
          </p:cNvPr>
          <p:cNvCxnSpPr>
            <a:cxnSpLocks/>
          </p:cNvCxnSpPr>
          <p:nvPr/>
        </p:nvCxnSpPr>
        <p:spPr>
          <a:xfrm>
            <a:off x="6462649" y="3944773"/>
            <a:ext cx="1636395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CuadroTexto 80">
            <a:extLst>
              <a:ext uri="{FF2B5EF4-FFF2-40B4-BE49-F238E27FC236}">
                <a16:creationId xmlns:a16="http://schemas.microsoft.com/office/drawing/2014/main" id="{0D863D1A-B959-3D4C-6AA7-A7604DB9F6B9}"/>
              </a:ext>
            </a:extLst>
          </p:cNvPr>
          <p:cNvSpPr txBox="1"/>
          <p:nvPr/>
        </p:nvSpPr>
        <p:spPr>
          <a:xfrm>
            <a:off x="6646899" y="3520692"/>
            <a:ext cx="1193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>
                <a:solidFill>
                  <a:srgbClr val="002060"/>
                </a:solidFill>
                <a:latin typeface="Aptos Narrow" panose="020B0004020202020204" pitchFamily="34" charset="0"/>
              </a:rPr>
              <a:t>Respuesta</a:t>
            </a: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4CA84053-8D32-CCF8-F7F8-CC9B6C4EC6F8}"/>
              </a:ext>
            </a:extLst>
          </p:cNvPr>
          <p:cNvSpPr txBox="1"/>
          <p:nvPr/>
        </p:nvSpPr>
        <p:spPr>
          <a:xfrm>
            <a:off x="519863" y="4351558"/>
            <a:ext cx="19884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b="1" dirty="0">
                <a:latin typeface="Aptos Narrow" panose="020B0004020202020204" pitchFamily="34" charset="0"/>
              </a:rPr>
              <a:t>Técnico de Soporte</a:t>
            </a:r>
            <a:br>
              <a:rPr lang="es-CL" b="1" dirty="0">
                <a:latin typeface="Aptos Narrow" panose="020B0004020202020204" pitchFamily="34" charset="0"/>
              </a:rPr>
            </a:br>
            <a:r>
              <a:rPr lang="es-CL" dirty="0">
                <a:latin typeface="Aptos Narrow" panose="020B0004020202020204" pitchFamily="34" charset="0"/>
              </a:rPr>
              <a:t>Escanea código QR</a:t>
            </a: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C8034C3F-5319-A27A-732B-6EC32DAC0368}"/>
              </a:ext>
            </a:extLst>
          </p:cNvPr>
          <p:cNvSpPr txBox="1"/>
          <p:nvPr/>
        </p:nvSpPr>
        <p:spPr>
          <a:xfrm>
            <a:off x="7372847" y="4353550"/>
            <a:ext cx="27166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b="1" dirty="0">
                <a:latin typeface="Aptos Narrow" panose="020B0004020202020204" pitchFamily="34" charset="0"/>
              </a:rPr>
              <a:t>Activo identificado</a:t>
            </a:r>
            <a:br>
              <a:rPr lang="es-CL" b="1" dirty="0">
                <a:latin typeface="Aptos Narrow" panose="020B0004020202020204" pitchFamily="34" charset="0"/>
              </a:rPr>
            </a:br>
            <a:r>
              <a:rPr lang="es-CL" dirty="0">
                <a:latin typeface="Aptos Narrow" panose="020B0004020202020204" pitchFamily="34" charset="0"/>
              </a:rPr>
              <a:t>Ficha del activo disponible</a:t>
            </a:r>
          </a:p>
        </p:txBody>
      </p:sp>
      <p:sp>
        <p:nvSpPr>
          <p:cNvPr id="86" name="Rectángulo: esquinas redondeadas 85">
            <a:extLst>
              <a:ext uri="{FF2B5EF4-FFF2-40B4-BE49-F238E27FC236}">
                <a16:creationId xmlns:a16="http://schemas.microsoft.com/office/drawing/2014/main" id="{2F7B9375-1622-1222-6500-D3DC5C710D05}"/>
              </a:ext>
            </a:extLst>
          </p:cNvPr>
          <p:cNvSpPr/>
          <p:nvPr/>
        </p:nvSpPr>
        <p:spPr>
          <a:xfrm>
            <a:off x="4383842" y="3280852"/>
            <a:ext cx="1958846" cy="1439999"/>
          </a:xfrm>
          <a:prstGeom prst="roundRect">
            <a:avLst/>
          </a:prstGeom>
          <a:solidFill>
            <a:srgbClr val="E6EDF8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D7F9FF92-3E4C-3B9D-3D17-ECEF6E50383A}"/>
              </a:ext>
            </a:extLst>
          </p:cNvPr>
          <p:cNvSpPr txBox="1"/>
          <p:nvPr/>
        </p:nvSpPr>
        <p:spPr>
          <a:xfrm>
            <a:off x="4433525" y="4066290"/>
            <a:ext cx="18594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1600" b="1" dirty="0">
                <a:solidFill>
                  <a:srgbClr val="002060"/>
                </a:solidFill>
                <a:latin typeface="Aptos Narrow" panose="020B0004020202020204" pitchFamily="34" charset="0"/>
              </a:rPr>
              <a:t>GATI Mobile</a:t>
            </a:r>
          </a:p>
          <a:p>
            <a:pPr algn="ctr"/>
            <a:r>
              <a:rPr lang="es-CL" sz="1600" b="1" dirty="0">
                <a:solidFill>
                  <a:srgbClr val="002060"/>
                </a:solidFill>
                <a:latin typeface="Aptos Narrow" panose="020B0004020202020204" pitchFamily="34" charset="0"/>
              </a:rPr>
              <a:t>Cámara y búsqueda</a:t>
            </a:r>
          </a:p>
        </p:txBody>
      </p:sp>
      <p:pic>
        <p:nvPicPr>
          <p:cNvPr id="3" name="Gráfico 2" descr="QR Code con relleno sólido">
            <a:extLst>
              <a:ext uri="{FF2B5EF4-FFF2-40B4-BE49-F238E27FC236}">
                <a16:creationId xmlns:a16="http://schemas.microsoft.com/office/drawing/2014/main" id="{3A2F5020-FA49-412F-394A-0B6F86CE98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6760" y="3242484"/>
            <a:ext cx="1080000" cy="1080000"/>
          </a:xfrm>
          <a:prstGeom prst="rect">
            <a:avLst/>
          </a:prstGeom>
        </p:spPr>
      </p:pic>
      <p:pic>
        <p:nvPicPr>
          <p:cNvPr id="5" name="Gráfico 4" descr="Completed con relleno sólido">
            <a:extLst>
              <a:ext uri="{FF2B5EF4-FFF2-40B4-BE49-F238E27FC236}">
                <a16:creationId xmlns:a16="http://schemas.microsoft.com/office/drawing/2014/main" id="{CB635E78-C0E1-86C6-0EB8-A39F42DB84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64478" y="3160140"/>
            <a:ext cx="1283441" cy="1283441"/>
          </a:xfrm>
          <a:prstGeom prst="rect">
            <a:avLst/>
          </a:prstGeom>
        </p:spPr>
      </p:pic>
      <p:pic>
        <p:nvPicPr>
          <p:cNvPr id="7" name="Gráfico 6" descr="Smart Phone con relleno sólido">
            <a:extLst>
              <a:ext uri="{FF2B5EF4-FFF2-40B4-BE49-F238E27FC236}">
                <a16:creationId xmlns:a16="http://schemas.microsoft.com/office/drawing/2014/main" id="{8E9D7452-50D2-4346-10F4-E8BF14B0B1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91700" y="3299576"/>
            <a:ext cx="756000" cy="7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203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353B9-14CD-1FF3-32B4-7719782C4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961D0F9F-4B38-70E5-EF47-E54DFDDB0FE2}"/>
              </a:ext>
            </a:extLst>
          </p:cNvPr>
          <p:cNvSpPr/>
          <p:nvPr/>
        </p:nvSpPr>
        <p:spPr>
          <a:xfrm>
            <a:off x="283840" y="137159"/>
            <a:ext cx="9885047" cy="621030"/>
          </a:xfrm>
          <a:prstGeom prst="roundRect">
            <a:avLst>
              <a:gd name="adj" fmla="val 12986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4BAC585-C1A9-5D48-FAA6-58A1E1785E96}"/>
              </a:ext>
            </a:extLst>
          </p:cNvPr>
          <p:cNvSpPr txBox="1"/>
          <p:nvPr/>
        </p:nvSpPr>
        <p:spPr>
          <a:xfrm>
            <a:off x="396240" y="173415"/>
            <a:ext cx="42242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3200" b="1" spc="-150" dirty="0">
                <a:solidFill>
                  <a:schemeClr val="bg1"/>
                </a:solidFill>
                <a:latin typeface="Aptos Narrow" panose="020B0004020202020204" pitchFamily="34" charset="0"/>
              </a:rPr>
              <a:t>Escenario de Calidad N.º  6</a:t>
            </a:r>
          </a:p>
        </p:txBody>
      </p:sp>
      <p:sp>
        <p:nvSpPr>
          <p:cNvPr id="13" name="Rectángulo: esquinas superiores redondeadas 12">
            <a:extLst>
              <a:ext uri="{FF2B5EF4-FFF2-40B4-BE49-F238E27FC236}">
                <a16:creationId xmlns:a16="http://schemas.microsoft.com/office/drawing/2014/main" id="{861636EF-FF28-5D97-CD4A-BBB4B7C89BD7}"/>
              </a:ext>
            </a:extLst>
          </p:cNvPr>
          <p:cNvSpPr/>
          <p:nvPr/>
        </p:nvSpPr>
        <p:spPr>
          <a:xfrm rot="5400000">
            <a:off x="9023955" y="-386743"/>
            <a:ext cx="621031" cy="1668833"/>
          </a:xfrm>
          <a:prstGeom prst="round2SameRect">
            <a:avLst>
              <a:gd name="adj1" fmla="val 14593"/>
              <a:gd name="adj2" fmla="val 0"/>
            </a:avLst>
          </a:prstGeom>
          <a:solidFill>
            <a:srgbClr val="93B9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ACEB219-BC72-95AB-ACEB-B87FFB283E38}"/>
              </a:ext>
            </a:extLst>
          </p:cNvPr>
          <p:cNvSpPr txBox="1"/>
          <p:nvPr/>
        </p:nvSpPr>
        <p:spPr>
          <a:xfrm>
            <a:off x="8677398" y="234969"/>
            <a:ext cx="14781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b="1" dirty="0">
                <a:solidFill>
                  <a:srgbClr val="002060"/>
                </a:solidFill>
              </a:rPr>
              <a:t>ID: EC-06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9ED5BBCD-8BCB-F887-D98A-3A0235377C3B}"/>
              </a:ext>
            </a:extLst>
          </p:cNvPr>
          <p:cNvSpPr/>
          <p:nvPr/>
        </p:nvSpPr>
        <p:spPr>
          <a:xfrm>
            <a:off x="283840" y="794444"/>
            <a:ext cx="9885047" cy="2053530"/>
          </a:xfrm>
          <a:prstGeom prst="roundRect">
            <a:avLst>
              <a:gd name="adj" fmla="val 3680"/>
            </a:avLst>
          </a:prstGeom>
          <a:solidFill>
            <a:srgbClr val="93B9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Rectángulo: esquinas superiores redondeadas 17">
            <a:extLst>
              <a:ext uri="{FF2B5EF4-FFF2-40B4-BE49-F238E27FC236}">
                <a16:creationId xmlns:a16="http://schemas.microsoft.com/office/drawing/2014/main" id="{7DA0E975-0BCF-6A47-CB4B-CB81A3D4A831}"/>
              </a:ext>
            </a:extLst>
          </p:cNvPr>
          <p:cNvSpPr/>
          <p:nvPr/>
        </p:nvSpPr>
        <p:spPr>
          <a:xfrm rot="5400000">
            <a:off x="5906790" y="-1412778"/>
            <a:ext cx="2053530" cy="6470664"/>
          </a:xfrm>
          <a:prstGeom prst="round2SameRect">
            <a:avLst>
              <a:gd name="adj1" fmla="val 4338"/>
              <a:gd name="adj2" fmla="val 0"/>
            </a:avLst>
          </a:prstGeom>
          <a:solidFill>
            <a:srgbClr val="E6ED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aphicFrame>
        <p:nvGraphicFramePr>
          <p:cNvPr id="19" name="Tabla 18">
            <a:extLst>
              <a:ext uri="{FF2B5EF4-FFF2-40B4-BE49-F238E27FC236}">
                <a16:creationId xmlns:a16="http://schemas.microsoft.com/office/drawing/2014/main" id="{496D85C0-DDA0-8F1C-24AC-4744C41CE5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363433"/>
              </p:ext>
            </p:extLst>
          </p:nvPr>
        </p:nvGraphicFramePr>
        <p:xfrm>
          <a:off x="270513" y="794444"/>
          <a:ext cx="9871720" cy="205353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460846">
                  <a:extLst>
                    <a:ext uri="{9D8B030D-6E8A-4147-A177-3AD203B41FA5}">
                      <a16:colId xmlns:a16="http://schemas.microsoft.com/office/drawing/2014/main" val="342308650"/>
                    </a:ext>
                  </a:extLst>
                </a:gridCol>
                <a:gridCol w="6410874">
                  <a:extLst>
                    <a:ext uri="{9D8B030D-6E8A-4147-A177-3AD203B41FA5}">
                      <a16:colId xmlns:a16="http://schemas.microsoft.com/office/drawing/2014/main" val="766914880"/>
                    </a:ext>
                  </a:extLst>
                </a:gridCol>
              </a:tblGrid>
              <a:tr h="567681">
                <a:tc>
                  <a:txBody>
                    <a:bodyPr/>
                    <a:lstStyle/>
                    <a:p>
                      <a:r>
                        <a:rPr lang="es-CL" sz="2000" b="1" dirty="0">
                          <a:latin typeface="Aptos Narrow" panose="020B0004020202020204" pitchFamily="34" charset="0"/>
                        </a:rPr>
                        <a:t>Atributo de calidad asociado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Usabilidad</a:t>
                      </a:r>
                      <a:endParaRPr lang="es-CL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71048687"/>
                  </a:ext>
                </a:extLst>
              </a:tr>
              <a:tr h="657906">
                <a:tc>
                  <a:txBody>
                    <a:bodyPr/>
                    <a:lstStyle/>
                    <a:p>
                      <a:r>
                        <a:rPr lang="es-CL" sz="2000" b="1" dirty="0"/>
                        <a:t>Subcaracterística</a:t>
                      </a:r>
                      <a:endParaRPr lang="es-CL" b="1" dirty="0"/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dirty="0"/>
                        <a:t>Facilidad de operación</a:t>
                      </a:r>
                      <a:endParaRPr lang="es-CL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31532976"/>
                  </a:ext>
                </a:extLst>
              </a:tr>
              <a:tr h="827943">
                <a:tc>
                  <a:txBody>
                    <a:bodyPr/>
                    <a:lstStyle/>
                    <a:p>
                      <a:r>
                        <a:rPr lang="es-CL" sz="2000" b="1" dirty="0"/>
                        <a:t>Descripción</a:t>
                      </a:r>
                      <a:endParaRPr lang="es-CL" b="1" dirty="0"/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CL" sz="1600" dirty="0"/>
                        <a:t>La aplicación móvil debe facilitar la identificación y gestión de activos en terreno mediante una interfaz comprensible, controles adecuados para el uso táctil y mensajes claros ante errores.</a:t>
                      </a:r>
                      <a:endParaRPr lang="es-CL" sz="1600" dirty="0"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77338791"/>
                  </a:ext>
                </a:extLst>
              </a:tr>
            </a:tbl>
          </a:graphicData>
        </a:graphic>
      </p:graphicFrame>
      <p:sp>
        <p:nvSpPr>
          <p:cNvPr id="20" name="Rectángulo: esquinas superiores redondeadas 19">
            <a:extLst>
              <a:ext uri="{FF2B5EF4-FFF2-40B4-BE49-F238E27FC236}">
                <a16:creationId xmlns:a16="http://schemas.microsoft.com/office/drawing/2014/main" id="{18FA16AE-9A54-B567-5C8D-5F5952FF9EA2}"/>
              </a:ext>
            </a:extLst>
          </p:cNvPr>
          <p:cNvSpPr/>
          <p:nvPr/>
        </p:nvSpPr>
        <p:spPr>
          <a:xfrm rot="16200000">
            <a:off x="379502" y="5172759"/>
            <a:ext cx="740229" cy="897249"/>
          </a:xfrm>
          <a:prstGeom prst="round2SameRect">
            <a:avLst>
              <a:gd name="adj1" fmla="val 791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2" name="Gráfico 21" descr="Circular flowchart con relleno sólido">
            <a:extLst>
              <a:ext uri="{FF2B5EF4-FFF2-40B4-BE49-F238E27FC236}">
                <a16:creationId xmlns:a16="http://schemas.microsoft.com/office/drawing/2014/main" id="{57813483-6783-5BCF-692C-B7BE2C7EEB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184" y="5251269"/>
            <a:ext cx="720000" cy="720000"/>
          </a:xfrm>
          <a:prstGeom prst="rect">
            <a:avLst/>
          </a:prstGeom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74B059DC-BB59-98D1-5BF2-2B4BA5B9EE76}"/>
              </a:ext>
            </a:extLst>
          </p:cNvPr>
          <p:cNvSpPr/>
          <p:nvPr/>
        </p:nvSpPr>
        <p:spPr>
          <a:xfrm>
            <a:off x="1221611" y="5251268"/>
            <a:ext cx="2272389" cy="740229"/>
          </a:xfrm>
          <a:prstGeom prst="rect">
            <a:avLst/>
          </a:prstGeom>
          <a:solidFill>
            <a:srgbClr val="3362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spc="-150" dirty="0">
                <a:latin typeface="Aptos Narrow" panose="020B0004020202020204" pitchFamily="34" charset="0"/>
              </a:rPr>
              <a:t>Fuente del Estimulo</a:t>
            </a:r>
          </a:p>
        </p:txBody>
      </p:sp>
      <p:sp>
        <p:nvSpPr>
          <p:cNvPr id="25" name="Rectángulo: esquinas superiores redondeadas 24">
            <a:extLst>
              <a:ext uri="{FF2B5EF4-FFF2-40B4-BE49-F238E27FC236}">
                <a16:creationId xmlns:a16="http://schemas.microsoft.com/office/drawing/2014/main" id="{CA4C3AAC-FC18-CB31-B1B7-460DC9329043}"/>
              </a:ext>
            </a:extLst>
          </p:cNvPr>
          <p:cNvSpPr/>
          <p:nvPr/>
        </p:nvSpPr>
        <p:spPr>
          <a:xfrm rot="16200000">
            <a:off x="340153" y="6001372"/>
            <a:ext cx="818926" cy="897249"/>
          </a:xfrm>
          <a:prstGeom prst="round2SameRect">
            <a:avLst>
              <a:gd name="adj1" fmla="val 791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7" name="Rectángulo: esquinas superiores redondeadas 26">
            <a:extLst>
              <a:ext uri="{FF2B5EF4-FFF2-40B4-BE49-F238E27FC236}">
                <a16:creationId xmlns:a16="http://schemas.microsoft.com/office/drawing/2014/main" id="{8B206DC3-C92E-0C8C-A315-1CBFFCC4E907}"/>
              </a:ext>
            </a:extLst>
          </p:cNvPr>
          <p:cNvSpPr/>
          <p:nvPr/>
        </p:nvSpPr>
        <p:spPr>
          <a:xfrm rot="16200000">
            <a:off x="372533" y="6813767"/>
            <a:ext cx="754168" cy="897249"/>
          </a:xfrm>
          <a:prstGeom prst="round2SameRect">
            <a:avLst>
              <a:gd name="adj1" fmla="val 791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9" name="Rectángulo: esquinas superiores redondeadas 28">
            <a:extLst>
              <a:ext uri="{FF2B5EF4-FFF2-40B4-BE49-F238E27FC236}">
                <a16:creationId xmlns:a16="http://schemas.microsoft.com/office/drawing/2014/main" id="{823EEBBD-6E01-4A8B-5274-5235947D2FC4}"/>
              </a:ext>
            </a:extLst>
          </p:cNvPr>
          <p:cNvSpPr/>
          <p:nvPr/>
        </p:nvSpPr>
        <p:spPr>
          <a:xfrm rot="16200000">
            <a:off x="372532" y="7593783"/>
            <a:ext cx="754168" cy="897249"/>
          </a:xfrm>
          <a:prstGeom prst="round2SameRect">
            <a:avLst>
              <a:gd name="adj1" fmla="val 791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1" name="Rectángulo: esquinas superiores redondeadas 30">
            <a:extLst>
              <a:ext uri="{FF2B5EF4-FFF2-40B4-BE49-F238E27FC236}">
                <a16:creationId xmlns:a16="http://schemas.microsoft.com/office/drawing/2014/main" id="{A8A4F2E3-B34D-D699-4CEA-707F02076B20}"/>
              </a:ext>
            </a:extLst>
          </p:cNvPr>
          <p:cNvSpPr/>
          <p:nvPr/>
        </p:nvSpPr>
        <p:spPr>
          <a:xfrm rot="16200000">
            <a:off x="229385" y="8516947"/>
            <a:ext cx="1040464" cy="897249"/>
          </a:xfrm>
          <a:prstGeom prst="round2SameRect">
            <a:avLst>
              <a:gd name="adj1" fmla="val 791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3" name="Rectángulo: esquinas superiores redondeadas 32">
            <a:extLst>
              <a:ext uri="{FF2B5EF4-FFF2-40B4-BE49-F238E27FC236}">
                <a16:creationId xmlns:a16="http://schemas.microsoft.com/office/drawing/2014/main" id="{CD2376EC-C0FA-6CF0-17E3-41986C3F6496}"/>
              </a:ext>
            </a:extLst>
          </p:cNvPr>
          <p:cNvSpPr/>
          <p:nvPr/>
        </p:nvSpPr>
        <p:spPr>
          <a:xfrm rot="16200000">
            <a:off x="324173" y="9508607"/>
            <a:ext cx="850889" cy="897249"/>
          </a:xfrm>
          <a:prstGeom prst="round2SameRect">
            <a:avLst>
              <a:gd name="adj1" fmla="val 7917"/>
              <a:gd name="adj2" fmla="val 0"/>
            </a:avLst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35" name="Gráfico 34" descr="Signal con relleno sólido">
            <a:extLst>
              <a:ext uri="{FF2B5EF4-FFF2-40B4-BE49-F238E27FC236}">
                <a16:creationId xmlns:a16="http://schemas.microsoft.com/office/drawing/2014/main" id="{6CF01410-3500-2A4E-542B-AC01F80234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735" y="9646920"/>
            <a:ext cx="573220" cy="573220"/>
          </a:xfrm>
          <a:prstGeom prst="rect">
            <a:avLst/>
          </a:prstGeom>
        </p:spPr>
      </p:pic>
      <p:pic>
        <p:nvPicPr>
          <p:cNvPr id="37" name="Gráfico 36" descr="Document con relleno sólido">
            <a:extLst>
              <a:ext uri="{FF2B5EF4-FFF2-40B4-BE49-F238E27FC236}">
                <a16:creationId xmlns:a16="http://schemas.microsoft.com/office/drawing/2014/main" id="{2940259E-AD68-CE6D-25EE-EEEF284880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5866" y="8700060"/>
            <a:ext cx="569567" cy="569567"/>
          </a:xfrm>
          <a:prstGeom prst="rect">
            <a:avLst/>
          </a:prstGeom>
        </p:spPr>
      </p:pic>
      <p:pic>
        <p:nvPicPr>
          <p:cNvPr id="39" name="Gráfico 38" descr="Single gear con relleno sólido">
            <a:extLst>
              <a:ext uri="{FF2B5EF4-FFF2-40B4-BE49-F238E27FC236}">
                <a16:creationId xmlns:a16="http://schemas.microsoft.com/office/drawing/2014/main" id="{87CCBDA5-A067-FB12-263D-9A569C2391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6240" y="7760370"/>
            <a:ext cx="600062" cy="600062"/>
          </a:xfrm>
          <a:prstGeom prst="rect">
            <a:avLst/>
          </a:prstGeom>
        </p:spPr>
      </p:pic>
      <p:pic>
        <p:nvPicPr>
          <p:cNvPr id="41" name="Gráfico 40" descr="Blockchain con relleno sólido">
            <a:extLst>
              <a:ext uri="{FF2B5EF4-FFF2-40B4-BE49-F238E27FC236}">
                <a16:creationId xmlns:a16="http://schemas.microsoft.com/office/drawing/2014/main" id="{D9D06DAF-D1C8-FACC-CDE3-B8E9C37888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5866" y="7006201"/>
            <a:ext cx="512380" cy="512380"/>
          </a:xfrm>
          <a:prstGeom prst="rect">
            <a:avLst/>
          </a:prstGeom>
        </p:spPr>
      </p:pic>
      <p:pic>
        <p:nvPicPr>
          <p:cNvPr id="43" name="Gráfico 42" descr="Lightning bolt con relleno sólido">
            <a:extLst>
              <a:ext uri="{FF2B5EF4-FFF2-40B4-BE49-F238E27FC236}">
                <a16:creationId xmlns:a16="http://schemas.microsoft.com/office/drawing/2014/main" id="{E6110EFF-32B9-5AE5-9139-61EA8F31F4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6735" y="6176010"/>
            <a:ext cx="570642" cy="570642"/>
          </a:xfrm>
          <a:prstGeom prst="rect">
            <a:avLst/>
          </a:prstGeom>
        </p:spPr>
      </p:pic>
      <p:sp>
        <p:nvSpPr>
          <p:cNvPr id="45" name="Rectángulo 44">
            <a:extLst>
              <a:ext uri="{FF2B5EF4-FFF2-40B4-BE49-F238E27FC236}">
                <a16:creationId xmlns:a16="http://schemas.microsoft.com/office/drawing/2014/main" id="{9E4F7033-006E-58DE-8234-4823E412A25B}"/>
              </a:ext>
            </a:extLst>
          </p:cNvPr>
          <p:cNvSpPr/>
          <p:nvPr/>
        </p:nvSpPr>
        <p:spPr>
          <a:xfrm>
            <a:off x="1221610" y="6040533"/>
            <a:ext cx="2272389" cy="818927"/>
          </a:xfrm>
          <a:prstGeom prst="rect">
            <a:avLst/>
          </a:prstGeom>
          <a:solidFill>
            <a:srgbClr val="3362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spc="-150" dirty="0">
                <a:latin typeface="Aptos Narrow" panose="020B0004020202020204" pitchFamily="34" charset="0"/>
              </a:rPr>
              <a:t>Estimulo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81936D60-59A5-B6C7-7330-E892550F2435}"/>
              </a:ext>
            </a:extLst>
          </p:cNvPr>
          <p:cNvSpPr/>
          <p:nvPr/>
        </p:nvSpPr>
        <p:spPr>
          <a:xfrm>
            <a:off x="1221610" y="6885307"/>
            <a:ext cx="2272389" cy="754169"/>
          </a:xfrm>
          <a:prstGeom prst="rect">
            <a:avLst/>
          </a:prstGeom>
          <a:solidFill>
            <a:srgbClr val="3362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spc="-150" dirty="0">
                <a:latin typeface="Aptos Narrow" panose="020B0004020202020204" pitchFamily="34" charset="0"/>
              </a:rPr>
              <a:t>Artefacto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B90F70E1-075C-1594-6781-1F70F16F46A8}"/>
              </a:ext>
            </a:extLst>
          </p:cNvPr>
          <p:cNvSpPr/>
          <p:nvPr/>
        </p:nvSpPr>
        <p:spPr>
          <a:xfrm>
            <a:off x="1221610" y="7665322"/>
            <a:ext cx="2272389" cy="754169"/>
          </a:xfrm>
          <a:prstGeom prst="rect">
            <a:avLst/>
          </a:prstGeom>
          <a:solidFill>
            <a:srgbClr val="3362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spc="-150" dirty="0">
                <a:latin typeface="Aptos Narrow" panose="020B0004020202020204" pitchFamily="34" charset="0"/>
              </a:rPr>
              <a:t>Ambiente</a:t>
            </a:r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D183A528-B2AB-89FC-6B09-7B140F1E37B1}"/>
              </a:ext>
            </a:extLst>
          </p:cNvPr>
          <p:cNvSpPr/>
          <p:nvPr/>
        </p:nvSpPr>
        <p:spPr>
          <a:xfrm>
            <a:off x="1221610" y="8445337"/>
            <a:ext cx="2272389" cy="1040465"/>
          </a:xfrm>
          <a:prstGeom prst="rect">
            <a:avLst/>
          </a:prstGeom>
          <a:solidFill>
            <a:srgbClr val="3362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spc="-150" dirty="0">
                <a:latin typeface="Aptos Narrow" panose="020B0004020202020204" pitchFamily="34" charset="0"/>
              </a:rPr>
              <a:t>Respuesta</a:t>
            </a: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9436E190-620F-E214-B2B1-569BF006116B}"/>
              </a:ext>
            </a:extLst>
          </p:cNvPr>
          <p:cNvSpPr/>
          <p:nvPr/>
        </p:nvSpPr>
        <p:spPr>
          <a:xfrm>
            <a:off x="1221610" y="9531787"/>
            <a:ext cx="2272389" cy="850889"/>
          </a:xfrm>
          <a:prstGeom prst="rect">
            <a:avLst/>
          </a:prstGeom>
          <a:solidFill>
            <a:srgbClr val="3362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spc="-150" dirty="0">
                <a:latin typeface="Aptos Narrow" panose="020B0004020202020204" pitchFamily="34" charset="0"/>
              </a:rPr>
              <a:t>Medida de Respuesta</a:t>
            </a:r>
          </a:p>
        </p:txBody>
      </p:sp>
      <p:sp>
        <p:nvSpPr>
          <p:cNvPr id="54" name="Rectángulo: esquinas superiores redondeadas 53">
            <a:extLst>
              <a:ext uri="{FF2B5EF4-FFF2-40B4-BE49-F238E27FC236}">
                <a16:creationId xmlns:a16="http://schemas.microsoft.com/office/drawing/2014/main" id="{61F86234-6C2E-4CB2-2D3E-3295BAD700DF}"/>
              </a:ext>
            </a:extLst>
          </p:cNvPr>
          <p:cNvSpPr/>
          <p:nvPr/>
        </p:nvSpPr>
        <p:spPr>
          <a:xfrm rot="5400000">
            <a:off x="6473011" y="2295624"/>
            <a:ext cx="740229" cy="6651521"/>
          </a:xfrm>
          <a:prstGeom prst="round2SameRect">
            <a:avLst>
              <a:gd name="adj1" fmla="val 9737"/>
              <a:gd name="adj2" fmla="val 0"/>
            </a:avLst>
          </a:prstGeom>
          <a:solidFill>
            <a:srgbClr val="EAE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s-CL" sz="1600" dirty="0">
                <a:solidFill>
                  <a:schemeClr val="tx1"/>
                </a:solidFill>
              </a:rPr>
              <a:t>Técnico de Soporte.</a:t>
            </a:r>
            <a:endParaRPr lang="es-CL" sz="15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56" name="Rectángulo: esquinas superiores redondeadas 55">
            <a:extLst>
              <a:ext uri="{FF2B5EF4-FFF2-40B4-BE49-F238E27FC236}">
                <a16:creationId xmlns:a16="http://schemas.microsoft.com/office/drawing/2014/main" id="{1092022E-5660-BACB-88C9-0E909FF3DBF4}"/>
              </a:ext>
            </a:extLst>
          </p:cNvPr>
          <p:cNvSpPr/>
          <p:nvPr/>
        </p:nvSpPr>
        <p:spPr>
          <a:xfrm rot="5400000">
            <a:off x="6433661" y="3124236"/>
            <a:ext cx="818927" cy="6651521"/>
          </a:xfrm>
          <a:prstGeom prst="round2SameRect">
            <a:avLst>
              <a:gd name="adj1" fmla="val 9737"/>
              <a:gd name="adj2" fmla="val 0"/>
            </a:avLst>
          </a:prstGeom>
          <a:solidFill>
            <a:srgbClr val="EAE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s-CL" sz="1600" dirty="0">
                <a:solidFill>
                  <a:schemeClr val="tx1"/>
                </a:solidFill>
              </a:rPr>
              <a:t>El usuario escanea un activo y necesita consultar su ficha o iniciar una operación autorizada de asignación o devolución.</a:t>
            </a:r>
            <a:endParaRPr lang="es-CL" sz="15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58" name="Rectángulo: esquinas superiores redondeadas 57">
            <a:extLst>
              <a:ext uri="{FF2B5EF4-FFF2-40B4-BE49-F238E27FC236}">
                <a16:creationId xmlns:a16="http://schemas.microsoft.com/office/drawing/2014/main" id="{E6D2E826-F179-B64A-BFDB-A79DE7417E83}"/>
              </a:ext>
            </a:extLst>
          </p:cNvPr>
          <p:cNvSpPr/>
          <p:nvPr/>
        </p:nvSpPr>
        <p:spPr>
          <a:xfrm rot="5400000">
            <a:off x="6466424" y="3937016"/>
            <a:ext cx="753398" cy="6651521"/>
          </a:xfrm>
          <a:prstGeom prst="round2SameRect">
            <a:avLst>
              <a:gd name="adj1" fmla="val 9737"/>
              <a:gd name="adj2" fmla="val 0"/>
            </a:avLst>
          </a:prstGeom>
          <a:solidFill>
            <a:srgbClr val="EAE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s-CL" sz="1600" dirty="0">
                <a:solidFill>
                  <a:schemeClr val="tx1"/>
                </a:solidFill>
              </a:rPr>
              <a:t>Interfaz de usuario de la aplicación móvil de GATI.</a:t>
            </a:r>
            <a:endParaRPr lang="es-CL" sz="15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60" name="Rectángulo: esquinas superiores redondeadas 59">
            <a:extLst>
              <a:ext uri="{FF2B5EF4-FFF2-40B4-BE49-F238E27FC236}">
                <a16:creationId xmlns:a16="http://schemas.microsoft.com/office/drawing/2014/main" id="{25C20CA5-F42A-72D8-D895-76D43C9E7AC5}"/>
              </a:ext>
            </a:extLst>
          </p:cNvPr>
          <p:cNvSpPr/>
          <p:nvPr/>
        </p:nvSpPr>
        <p:spPr>
          <a:xfrm rot="5400000">
            <a:off x="6473009" y="4716646"/>
            <a:ext cx="740230" cy="6651521"/>
          </a:xfrm>
          <a:prstGeom prst="round2SameRect">
            <a:avLst>
              <a:gd name="adj1" fmla="val 9737"/>
              <a:gd name="adj2" fmla="val 0"/>
            </a:avLst>
          </a:prstGeom>
          <a:solidFill>
            <a:srgbClr val="EAE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s-CL" sz="1600" dirty="0">
                <a:solidFill>
                  <a:schemeClr val="tx1"/>
                </a:solidFill>
              </a:rPr>
              <a:t>Uso habitual de la aplicación durante actividades de soporte en terreno.</a:t>
            </a:r>
            <a:endParaRPr lang="es-CL" sz="15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62" name="Rectángulo: esquinas superiores redondeadas 61">
            <a:extLst>
              <a:ext uri="{FF2B5EF4-FFF2-40B4-BE49-F238E27FC236}">
                <a16:creationId xmlns:a16="http://schemas.microsoft.com/office/drawing/2014/main" id="{A1CA8EB1-6363-280A-9EDA-80D534D15965}"/>
              </a:ext>
            </a:extLst>
          </p:cNvPr>
          <p:cNvSpPr/>
          <p:nvPr/>
        </p:nvSpPr>
        <p:spPr>
          <a:xfrm rot="5400000">
            <a:off x="6322891" y="5639809"/>
            <a:ext cx="1040466" cy="6651521"/>
          </a:xfrm>
          <a:prstGeom prst="round2SameRect">
            <a:avLst>
              <a:gd name="adj1" fmla="val 9737"/>
              <a:gd name="adj2" fmla="val 0"/>
            </a:avLst>
          </a:prstGeom>
          <a:solidFill>
            <a:srgbClr val="EAE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s-CL" sz="1400" dirty="0">
                <a:solidFill>
                  <a:schemeClr val="tx1"/>
                </a:solidFill>
              </a:rPr>
              <a:t>La aplicación presenta la información del activo y las acciones disponibles de forma comprensible. Cuando corresponde, completa automáticamente los datos que ya posee el sistema para evitar digitaciones innecesarias. Ante un código no reconocido, un dato inválido o un conflicto de estado, muestra un mensaje que permite al usuario identificar el problema.</a:t>
            </a:r>
            <a:endParaRPr lang="es-CL" sz="14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64" name="Rectángulo: esquinas superiores redondeadas 63">
            <a:extLst>
              <a:ext uri="{FF2B5EF4-FFF2-40B4-BE49-F238E27FC236}">
                <a16:creationId xmlns:a16="http://schemas.microsoft.com/office/drawing/2014/main" id="{C6AF1993-B54F-0133-116B-2EDA83895A12}"/>
              </a:ext>
            </a:extLst>
          </p:cNvPr>
          <p:cNvSpPr/>
          <p:nvPr/>
        </p:nvSpPr>
        <p:spPr>
          <a:xfrm rot="5400000">
            <a:off x="6417679" y="6631472"/>
            <a:ext cx="850890" cy="6651521"/>
          </a:xfrm>
          <a:prstGeom prst="round2SameRect">
            <a:avLst>
              <a:gd name="adj1" fmla="val 9737"/>
              <a:gd name="adj2" fmla="val 0"/>
            </a:avLst>
          </a:prstGeom>
          <a:solidFill>
            <a:srgbClr val="EAEE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r>
              <a:rPr lang="es-CL" sz="1400" dirty="0">
                <a:solidFill>
                  <a:schemeClr val="tx1"/>
                </a:solidFill>
              </a:rPr>
              <a:t>Las pruebas de usabilidad deben comprobar que los usuarios representativos pueden identificar un activo, interpretar su estado y completar las operaciones previstas siguiendo el flujo de la interfaz. El porcentaje de éxito, el tiempo objetivo y el nivel de asistencia permitido quedan pendientes de definición en la </a:t>
            </a:r>
            <a:r>
              <a:rPr lang="es-CL" sz="1400" dirty="0" err="1">
                <a:solidFill>
                  <a:schemeClr val="tx1"/>
                </a:solidFill>
              </a:rPr>
              <a:t>ERS</a:t>
            </a:r>
            <a:r>
              <a:rPr lang="es-CL" sz="1400" dirty="0">
                <a:solidFill>
                  <a:schemeClr val="tx1"/>
                </a:solidFill>
              </a:rPr>
              <a:t>.</a:t>
            </a:r>
            <a:endParaRPr lang="es-CL" sz="1400" dirty="0">
              <a:solidFill>
                <a:schemeClr val="tx1"/>
              </a:solidFill>
              <a:latin typeface="Aptos Narrow" panose="020B0004020202020204" pitchFamily="34" charset="0"/>
            </a:endParaRPr>
          </a:p>
        </p:txBody>
      </p: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8FC6A0DC-4342-CB74-EB76-5B948B1B7034}"/>
              </a:ext>
            </a:extLst>
          </p:cNvPr>
          <p:cNvSpPr/>
          <p:nvPr/>
        </p:nvSpPr>
        <p:spPr>
          <a:xfrm>
            <a:off x="302188" y="10497809"/>
            <a:ext cx="9848350" cy="1459222"/>
          </a:xfrm>
          <a:prstGeom prst="roundRect">
            <a:avLst>
              <a:gd name="adj" fmla="val 9044"/>
            </a:avLst>
          </a:prstGeom>
          <a:solidFill>
            <a:srgbClr val="93B9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28950" lvl="6" indent="-285750">
              <a:buFont typeface="Arial" panose="020B0604020202020204" pitchFamily="34" charset="0"/>
              <a:buChar char="•"/>
            </a:pPr>
            <a:r>
              <a:rPr lang="es-CL" sz="1600" dirty="0">
                <a:solidFill>
                  <a:schemeClr val="tx1"/>
                </a:solidFill>
              </a:rPr>
              <a:t>RF-09 — Ejecución de Asignaciones y Devoluciones Transaccionales; </a:t>
            </a:r>
          </a:p>
          <a:p>
            <a:pPr marL="3028950" lvl="6" indent="-285750">
              <a:buFont typeface="Arial" panose="020B0604020202020204" pitchFamily="34" charset="0"/>
              <a:buChar char="•"/>
            </a:pPr>
            <a:r>
              <a:rPr lang="es-CL" sz="1600" dirty="0">
                <a:solidFill>
                  <a:schemeClr val="tx1"/>
                </a:solidFill>
              </a:rPr>
              <a:t>RF-13 — Escaneo Inteligente y Búsqueda en Terreno; </a:t>
            </a:r>
          </a:p>
          <a:p>
            <a:pPr marL="3028950" lvl="6" indent="-285750">
              <a:buFont typeface="Arial" panose="020B0604020202020204" pitchFamily="34" charset="0"/>
              <a:buChar char="•"/>
            </a:pPr>
            <a:r>
              <a:rPr lang="es-CL" sz="1600" dirty="0">
                <a:solidFill>
                  <a:schemeClr val="tx1"/>
                </a:solidFill>
              </a:rPr>
              <a:t>RNF-20 — Usabilidad e Interfaces Intuitivas. </a:t>
            </a:r>
          </a:p>
          <a:p>
            <a:pPr lvl="6"/>
            <a:r>
              <a:rPr lang="es-CL" sz="1600" dirty="0">
                <a:solidFill>
                  <a:schemeClr val="tx1"/>
                </a:solidFill>
              </a:rPr>
              <a:t>La </a:t>
            </a:r>
            <a:r>
              <a:rPr lang="es-CL" sz="1600" dirty="0" err="1">
                <a:solidFill>
                  <a:schemeClr val="tx1"/>
                </a:solidFill>
              </a:rPr>
              <a:t>ERS</a:t>
            </a:r>
            <a:r>
              <a:rPr lang="es-CL" sz="1600" dirty="0">
                <a:solidFill>
                  <a:schemeClr val="tx1"/>
                </a:solidFill>
              </a:rPr>
              <a:t> requiere una interfaz que facilite el escaneo y la asignación de equipos, reduzca los errores de digitación y presente alertas visuales claras. </a:t>
            </a:r>
          </a:p>
        </p:txBody>
      </p:sp>
      <p:sp>
        <p:nvSpPr>
          <p:cNvPr id="66" name="Rectángulo: esquinas redondeadas 65">
            <a:extLst>
              <a:ext uri="{FF2B5EF4-FFF2-40B4-BE49-F238E27FC236}">
                <a16:creationId xmlns:a16="http://schemas.microsoft.com/office/drawing/2014/main" id="{013458F7-64E4-B4A1-76E3-7CAED2DCB486}"/>
              </a:ext>
            </a:extLst>
          </p:cNvPr>
          <p:cNvSpPr/>
          <p:nvPr/>
        </p:nvSpPr>
        <p:spPr>
          <a:xfrm>
            <a:off x="292416" y="2926006"/>
            <a:ext cx="9848350" cy="2204368"/>
          </a:xfrm>
          <a:prstGeom prst="roundRect">
            <a:avLst>
              <a:gd name="adj" fmla="val 6158"/>
            </a:avLst>
          </a:prstGeom>
          <a:solidFill>
            <a:schemeClr val="bg1"/>
          </a:solidFill>
          <a:ln>
            <a:solidFill>
              <a:srgbClr val="93B9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68" name="Gráfico 67" descr="Bullseye con relleno sólido">
            <a:extLst>
              <a:ext uri="{FF2B5EF4-FFF2-40B4-BE49-F238E27FC236}">
                <a16:creationId xmlns:a16="http://schemas.microsoft.com/office/drawing/2014/main" id="{4C7288AF-7632-A063-257E-F9719169A4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8184" y="10752316"/>
            <a:ext cx="914400" cy="914400"/>
          </a:xfrm>
          <a:prstGeom prst="rect">
            <a:avLst/>
          </a:prstGeom>
        </p:spPr>
      </p:pic>
      <p:sp>
        <p:nvSpPr>
          <p:cNvPr id="69" name="CuadroTexto 68">
            <a:extLst>
              <a:ext uri="{FF2B5EF4-FFF2-40B4-BE49-F238E27FC236}">
                <a16:creationId xmlns:a16="http://schemas.microsoft.com/office/drawing/2014/main" id="{36C594F3-4442-82ED-DD79-DFA319EFA3AE}"/>
              </a:ext>
            </a:extLst>
          </p:cNvPr>
          <p:cNvSpPr txBox="1"/>
          <p:nvPr/>
        </p:nvSpPr>
        <p:spPr>
          <a:xfrm>
            <a:off x="1282584" y="10873477"/>
            <a:ext cx="17142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2000" b="1" dirty="0">
                <a:solidFill>
                  <a:srgbClr val="002060"/>
                </a:solidFill>
              </a:rPr>
              <a:t>Requisitos </a:t>
            </a:r>
          </a:p>
          <a:p>
            <a:pPr algn="ctr"/>
            <a:r>
              <a:rPr lang="es-CL" sz="2000" b="1" dirty="0">
                <a:solidFill>
                  <a:srgbClr val="002060"/>
                </a:solidFill>
              </a:rPr>
              <a:t>relacionados</a:t>
            </a:r>
          </a:p>
        </p:txBody>
      </p:sp>
      <p:cxnSp>
        <p:nvCxnSpPr>
          <p:cNvPr id="75" name="Conector recto de flecha 74">
            <a:extLst>
              <a:ext uri="{FF2B5EF4-FFF2-40B4-BE49-F238E27FC236}">
                <a16:creationId xmlns:a16="http://schemas.microsoft.com/office/drawing/2014/main" id="{8A339DF7-CC02-7A75-080B-98EF4879ED71}"/>
              </a:ext>
            </a:extLst>
          </p:cNvPr>
          <p:cNvCxnSpPr>
            <a:cxnSpLocks/>
          </p:cNvCxnSpPr>
          <p:nvPr/>
        </p:nvCxnSpPr>
        <p:spPr>
          <a:xfrm>
            <a:off x="2597785" y="3944773"/>
            <a:ext cx="1636395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CuadroTexto 78">
            <a:extLst>
              <a:ext uri="{FF2B5EF4-FFF2-40B4-BE49-F238E27FC236}">
                <a16:creationId xmlns:a16="http://schemas.microsoft.com/office/drawing/2014/main" id="{090AC8BB-AB13-E9F3-D5D8-C744DE7D6231}"/>
              </a:ext>
            </a:extLst>
          </p:cNvPr>
          <p:cNvSpPr txBox="1"/>
          <p:nvPr/>
        </p:nvSpPr>
        <p:spPr>
          <a:xfrm>
            <a:off x="2901995" y="3525138"/>
            <a:ext cx="1027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>
                <a:solidFill>
                  <a:srgbClr val="002060"/>
                </a:solidFill>
                <a:latin typeface="Aptos Narrow" panose="020B0004020202020204" pitchFamily="34" charset="0"/>
              </a:rPr>
              <a:t>Estimulo</a:t>
            </a:r>
          </a:p>
        </p:txBody>
      </p:sp>
      <p:cxnSp>
        <p:nvCxnSpPr>
          <p:cNvPr id="80" name="Conector recto de flecha 79">
            <a:extLst>
              <a:ext uri="{FF2B5EF4-FFF2-40B4-BE49-F238E27FC236}">
                <a16:creationId xmlns:a16="http://schemas.microsoft.com/office/drawing/2014/main" id="{C6B1C150-17E8-9E7E-3AC2-C52D8E6CAE9F}"/>
              </a:ext>
            </a:extLst>
          </p:cNvPr>
          <p:cNvCxnSpPr>
            <a:cxnSpLocks/>
          </p:cNvCxnSpPr>
          <p:nvPr/>
        </p:nvCxnSpPr>
        <p:spPr>
          <a:xfrm>
            <a:off x="6462649" y="3944773"/>
            <a:ext cx="1636395" cy="0"/>
          </a:xfrm>
          <a:prstGeom prst="straightConnector1">
            <a:avLst/>
          </a:prstGeom>
          <a:ln w="28575">
            <a:solidFill>
              <a:srgbClr val="00206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CuadroTexto 80">
            <a:extLst>
              <a:ext uri="{FF2B5EF4-FFF2-40B4-BE49-F238E27FC236}">
                <a16:creationId xmlns:a16="http://schemas.microsoft.com/office/drawing/2014/main" id="{AE2781A8-CC40-4BBE-9CFE-279DDC9C9660}"/>
              </a:ext>
            </a:extLst>
          </p:cNvPr>
          <p:cNvSpPr txBox="1"/>
          <p:nvPr/>
        </p:nvSpPr>
        <p:spPr>
          <a:xfrm>
            <a:off x="6646899" y="3520692"/>
            <a:ext cx="1193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>
                <a:solidFill>
                  <a:srgbClr val="002060"/>
                </a:solidFill>
                <a:latin typeface="Aptos Narrow" panose="020B0004020202020204" pitchFamily="34" charset="0"/>
              </a:rPr>
              <a:t>Respuesta</a:t>
            </a: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44C9E8CB-3CF8-F4AF-CBE8-9FC197ECB15B}"/>
              </a:ext>
            </a:extLst>
          </p:cNvPr>
          <p:cNvSpPr txBox="1"/>
          <p:nvPr/>
        </p:nvSpPr>
        <p:spPr>
          <a:xfrm>
            <a:off x="439107" y="4165402"/>
            <a:ext cx="22040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b="1" dirty="0">
                <a:latin typeface="Aptos Narrow" panose="020B0004020202020204" pitchFamily="34" charset="0"/>
              </a:rPr>
              <a:t>Técnico de Soporte</a:t>
            </a:r>
            <a:br>
              <a:rPr lang="es-CL" b="1" dirty="0">
                <a:latin typeface="Aptos Narrow" panose="020B0004020202020204" pitchFamily="34" charset="0"/>
              </a:rPr>
            </a:br>
            <a:r>
              <a:rPr lang="es-CL" dirty="0">
                <a:latin typeface="Aptos Narrow" panose="020B0004020202020204" pitchFamily="34" charset="0"/>
              </a:rPr>
              <a:t>Realiza una operación</a:t>
            </a:r>
            <a:br>
              <a:rPr lang="es-CL" dirty="0">
                <a:latin typeface="Aptos Narrow" panose="020B0004020202020204" pitchFamily="34" charset="0"/>
              </a:rPr>
            </a:br>
            <a:r>
              <a:rPr lang="es-CL" dirty="0">
                <a:latin typeface="Aptos Narrow" panose="020B0004020202020204" pitchFamily="34" charset="0"/>
              </a:rPr>
              <a:t>en terreno</a:t>
            </a: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5343DBDD-E78D-927D-17FB-686E18666B72}"/>
              </a:ext>
            </a:extLst>
          </p:cNvPr>
          <p:cNvSpPr txBox="1"/>
          <p:nvPr/>
        </p:nvSpPr>
        <p:spPr>
          <a:xfrm>
            <a:off x="7236691" y="4353550"/>
            <a:ext cx="29889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b="1" dirty="0">
                <a:latin typeface="Aptos Narrow" panose="020B0004020202020204" pitchFamily="34" charset="0"/>
              </a:rPr>
              <a:t>Operación Completada</a:t>
            </a:r>
            <a:br>
              <a:rPr lang="es-CL" b="1" dirty="0">
                <a:latin typeface="Aptos Narrow" panose="020B0004020202020204" pitchFamily="34" charset="0"/>
              </a:rPr>
            </a:br>
            <a:r>
              <a:rPr lang="es-CL" dirty="0">
                <a:latin typeface="Aptos Narrow" panose="020B0004020202020204" pitchFamily="34" charset="0"/>
              </a:rPr>
              <a:t>Confirmación clara al usuario</a:t>
            </a:r>
          </a:p>
        </p:txBody>
      </p:sp>
      <p:sp>
        <p:nvSpPr>
          <p:cNvPr id="86" name="Rectángulo: esquinas redondeadas 85">
            <a:extLst>
              <a:ext uri="{FF2B5EF4-FFF2-40B4-BE49-F238E27FC236}">
                <a16:creationId xmlns:a16="http://schemas.microsoft.com/office/drawing/2014/main" id="{6DD79BA6-F713-1624-E612-B2F62F42A820}"/>
              </a:ext>
            </a:extLst>
          </p:cNvPr>
          <p:cNvSpPr/>
          <p:nvPr/>
        </p:nvSpPr>
        <p:spPr>
          <a:xfrm>
            <a:off x="4383842" y="3280852"/>
            <a:ext cx="1958846" cy="1439999"/>
          </a:xfrm>
          <a:prstGeom prst="roundRect">
            <a:avLst/>
          </a:prstGeom>
          <a:solidFill>
            <a:srgbClr val="E6EDF8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7E93403B-4CA1-948D-A553-D2EA52A46407}"/>
              </a:ext>
            </a:extLst>
          </p:cNvPr>
          <p:cNvSpPr txBox="1"/>
          <p:nvPr/>
        </p:nvSpPr>
        <p:spPr>
          <a:xfrm>
            <a:off x="4340970" y="4066290"/>
            <a:ext cx="20445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L" sz="1600" b="1" dirty="0">
                <a:solidFill>
                  <a:srgbClr val="002060"/>
                </a:solidFill>
                <a:latin typeface="Aptos Narrow" panose="020B0004020202020204" pitchFamily="34" charset="0"/>
              </a:rPr>
              <a:t>GATI Mobile</a:t>
            </a:r>
          </a:p>
          <a:p>
            <a:pPr algn="ctr"/>
            <a:r>
              <a:rPr lang="es-CL" sz="1600" b="1" dirty="0">
                <a:solidFill>
                  <a:srgbClr val="002060"/>
                </a:solidFill>
                <a:latin typeface="Aptos Narrow" panose="020B0004020202020204" pitchFamily="34" charset="0"/>
              </a:rPr>
              <a:t>Interfaz táctil intuitiva</a:t>
            </a:r>
          </a:p>
        </p:txBody>
      </p:sp>
      <p:pic>
        <p:nvPicPr>
          <p:cNvPr id="7" name="Gráfico 6" descr="Smart Phone con relleno sólido">
            <a:extLst>
              <a:ext uri="{FF2B5EF4-FFF2-40B4-BE49-F238E27FC236}">
                <a16:creationId xmlns:a16="http://schemas.microsoft.com/office/drawing/2014/main" id="{BD9B4A23-E2CC-A846-648F-4D1A62E8DF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91700" y="3299576"/>
            <a:ext cx="756000" cy="756000"/>
          </a:xfrm>
          <a:prstGeom prst="rect">
            <a:avLst/>
          </a:prstGeom>
        </p:spPr>
      </p:pic>
      <p:pic>
        <p:nvPicPr>
          <p:cNvPr id="4" name="Gráfico 3" descr="User con relleno sólido">
            <a:extLst>
              <a:ext uri="{FF2B5EF4-FFF2-40B4-BE49-F238E27FC236}">
                <a16:creationId xmlns:a16="http://schemas.microsoft.com/office/drawing/2014/main" id="{172937D2-B47E-397B-CB03-04E7C08787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0355" y="3165358"/>
            <a:ext cx="1080000" cy="1080000"/>
          </a:xfrm>
          <a:prstGeom prst="rect">
            <a:avLst/>
          </a:prstGeom>
        </p:spPr>
      </p:pic>
      <p:pic>
        <p:nvPicPr>
          <p:cNvPr id="8" name="Gráfico 7" descr="Badge Tick1 con relleno sólido">
            <a:extLst>
              <a:ext uri="{FF2B5EF4-FFF2-40B4-BE49-F238E27FC236}">
                <a16:creationId xmlns:a16="http://schemas.microsoft.com/office/drawing/2014/main" id="{6DCA67F5-B71A-98BB-3A13-A73CF0D7A6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25606" y="3183982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012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216</TotalTime>
  <Words>1605</Words>
  <Application>Microsoft Office PowerPoint</Application>
  <PresentationFormat>Personalizado</PresentationFormat>
  <Paragraphs>200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Aptos Narrow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araya</dc:creator>
  <cp:lastModifiedBy>carlos araya</cp:lastModifiedBy>
  <cp:revision>13</cp:revision>
  <dcterms:created xsi:type="dcterms:W3CDTF">2026-09-23T16:38:57Z</dcterms:created>
  <dcterms:modified xsi:type="dcterms:W3CDTF">2026-09-23T20:15:45Z</dcterms:modified>
</cp:coreProperties>
</file>